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E5FAC">
              <a:alpha val="25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F7AC4">
              <a:alpha val="20000"/>
            </a:srgbClr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A8C4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DIRETORIA 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Delivery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4114800" cy="0"/>
          </a:xfrm>
          <a:prstGeom prst="line">
            <a:avLst/>
          </a:prstGeom>
          <a:noFill/>
          <a:ln w="25400">
            <a:solidFill>
              <a:srgbClr val="5BA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Estratégia, Modelo Operacional e Roadmap de IA  |  2026–2028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Multinacional Tecnologia &amp; Telecom  ·  33.000 colaboradores  ·  5 Unidades de Negócio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Gartner 2025–2026, McKinsey e Oliver Wyman. Estruturado com suporte de IA.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0332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Posicionamento Estratégico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87452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87452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9202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0756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0391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 Composição da Diretoria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288036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288036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29260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0815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0449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Visão, Missão e Proposta de Valor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" y="38862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" y="388620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11480" y="393192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873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0507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Estrutural — 4 Blocos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46320" y="86868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86868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46320" y="9144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52160" y="10332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20 Casos de Uso de IA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846320" y="187452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187452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46320" y="19202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207568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52160" y="20391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Transformação — 3 Horizontes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846320" y="288036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46320" y="288036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846320" y="29260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392" y="3081528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852160" y="30449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IA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846320" y="38862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846320" y="3886200"/>
            <a:ext cx="502920" cy="822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4846320" y="393192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2392" y="4087368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852160" y="40507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de Valor &amp; Próximos Passos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— Perspectiva VP Sênior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629400" y="128016"/>
            <a:ext cx="749808" cy="347472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29400" y="128016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434072" y="128016"/>
            <a:ext cx="749808" cy="347472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34072" y="128016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38744" y="128016"/>
            <a:ext cx="749808" cy="347472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38744" y="128016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Wyman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04672"/>
            <a:ext cx="64008" cy="658368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8412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acaba de assumir o perimetro mais poderoso e mais subestimado de todo o RH. 65% da funcao sob sua lideranca — e agora, com a Tech, voce passa a ser tambem a arquiteta do modelo digital do RH. Isso muda radicalmente seu posicionamento institucional.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572768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572768"/>
            <a:ext cx="416052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682496"/>
            <a:ext cx="1371600" cy="228600"/>
          </a:xfrm>
          <a:prstGeom prst="rect">
            <a:avLst/>
          </a:prstGeom>
          <a:solidFill>
            <a:srgbClr val="2E5FAC">
              <a:alpha val="18000"/>
            </a:srgbClr>
          </a:solidFill>
          <a:ln w="3810">
            <a:solidFill>
              <a:srgbClr val="2E5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9768" y="19568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do RH em reestruturação — mas a maioria trata a IA como suporte operacional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2414016"/>
            <a:ext cx="3913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4688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posição é a ruptura: enquanto o mercado usa IA para automatizar tarefas, você tem a oportunidade de redesenhar o modelo operacional inteiro. Funções com modelo AI-infused entregam 2× mais resultados críticos de negócio até 2027.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572768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572768"/>
            <a:ext cx="4160520" cy="54864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682496"/>
            <a:ext cx="1371600" cy="228600"/>
          </a:xfrm>
          <a:prstGeom prst="rect">
            <a:avLst/>
          </a:prstGeom>
          <a:solidFill>
            <a:srgbClr val="1F5C2E">
              <a:alpha val="18000"/>
            </a:srgbClr>
          </a:solidFill>
          <a:ln w="3810">
            <a:solidFill>
              <a:srgbClr val="1F5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Future of Work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18888" y="19568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para impacto estratégico passa obrigatoriamente pela eficiência operacional primeiro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18888" y="2414016"/>
            <a:ext cx="3913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688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redesenhar COEs, implantar STL Pods ou construir um AI Hub se a base operacional está sobrecarregada e reativa. Liberar capacidade operacional é o pré-requisito — não o objetivo final.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36976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36976"/>
            <a:ext cx="4160520" cy="5486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46704"/>
            <a:ext cx="1371600" cy="228600"/>
          </a:xfrm>
          <a:prstGeom prst="rect">
            <a:avLst/>
          </a:prstGeom>
          <a:solidFill>
            <a:srgbClr val="856404">
              <a:alpha val="18000"/>
            </a:srgbClr>
          </a:solidFill>
          <a:ln w="3810">
            <a:solidFill>
              <a:srgbClr val="8564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46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Wyman AI-Ready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29768" y="36210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 de RH com escopo transversal é um ativo estratégico — se tratada como produto, não como TI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" y="4078224"/>
            <a:ext cx="3913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41330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Organizações que posicionam sua função de HR Technology como Product Management — e não como suporte técnico — têm 3× mais adoção de ferramentas de RH e 40% menos retrabalho em projetos de transformação.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236976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236976"/>
            <a:ext cx="416052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346704"/>
            <a:ext cx="1371600" cy="228600"/>
          </a:xfrm>
          <a:prstGeom prst="rect">
            <a:avLst/>
          </a:prstGeom>
          <a:solidFill>
            <a:srgbClr val="6D2E46">
              <a:alpha val="18000"/>
            </a:srgbClr>
          </a:solidFill>
          <a:ln w="381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346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HR Ops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18888" y="36210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Ops não é retaguarda — é a espinha dorsal que viabiliza toda a transformação estratégica do RH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18888" y="4078224"/>
            <a:ext cx="3913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41330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Gartner é explícito: a HR Operations and Service Delivery Team, liderada por um HR COO, é o fundamento que libera o restante da função para atuar de forma estratégica. Sem ela sólida, os demais pilares não sustentam.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Contexto &amp; Posicionamento Estratégico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73152" cy="105156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Gartner 2025–2026: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RH que transformam para um modelo operacional infundido em IA serão 2× mais propensas a alcançar resultados críticos — produtividade e experiência do colaborador — até 2027.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137160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848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funções de RH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reestruturação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0848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00400" y="2724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RH sob esta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(323 de 500)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51760" cy="137160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848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35040" y="2724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impacto com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AI-infused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imperativo de transformação: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Ops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Não é mudança de nome — é mudança de identidade, missão e entrega de valor.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De HR Ops para Digital HR Solutions &amp; Delivery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03120" y="777240"/>
            <a:ext cx="32461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777240"/>
            <a:ext cx="3246120" cy="384048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7772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7772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691640" cy="502920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188720"/>
            <a:ext cx="3246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188720"/>
            <a:ext cx="3246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1188720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processos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188720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e entregar soluções digitais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1755648"/>
            <a:ext cx="1691640" cy="502920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1755648"/>
            <a:ext cx="3246120" cy="50292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755648"/>
            <a:ext cx="3246120" cy="50292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75564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1755648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Usuária do sistema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1755648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Arquiteta da plataforma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2322576"/>
            <a:ext cx="1691640" cy="502920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322576"/>
            <a:ext cx="3246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322576"/>
            <a:ext cx="3246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22576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2322576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ou pontual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2322576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gerenciados ativamente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322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2889504"/>
            <a:ext cx="1691640" cy="502920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2889504"/>
            <a:ext cx="3246120" cy="50292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2889504"/>
            <a:ext cx="3246120" cy="50292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895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48840" y="2889504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operacional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2889504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estratégico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760" y="3456432"/>
            <a:ext cx="1691640" cy="502920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3456432"/>
            <a:ext cx="3246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3456432"/>
            <a:ext cx="3246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48840" y="3456432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23560" y="3456432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Preditiva e inovadora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5760" y="4023360"/>
            <a:ext cx="1691640" cy="502920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4023360"/>
            <a:ext cx="3246120" cy="50292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4023360"/>
            <a:ext cx="3246120" cy="50292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23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48840" y="4023360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isolados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4023360"/>
            <a:ext cx="3154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produtos de RH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Escopo da Diretoria — 323 Colaboradores (65% do RH)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011680" cy="5943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961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68880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822960"/>
            <a:ext cx="20116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8961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Inicial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1460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14600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617720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822960"/>
            <a:ext cx="2011680" cy="594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9611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Jornada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66344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4663440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766560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66560" y="822960"/>
            <a:ext cx="2011680" cy="59436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89611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Pessoal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1228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812280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20040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2834640"/>
            <a:ext cx="2011680" cy="594360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90779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576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de Processos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65760" y="3886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33" name="Text 26"/>
          <p:cNvSpPr/>
          <p:nvPr/>
        </p:nvSpPr>
        <p:spPr>
          <a:xfrm>
            <a:off x="36576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2468880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468880" y="2834640"/>
            <a:ext cx="2011680" cy="594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907792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1460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de Pessoal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514600" y="3886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39" name="Text 31"/>
          <p:cNvSpPr/>
          <p:nvPr/>
        </p:nvSpPr>
        <p:spPr>
          <a:xfrm>
            <a:off x="251460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4617720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617720" y="2834640"/>
            <a:ext cx="201168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2907792"/>
            <a:ext cx="411480" cy="4114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66344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4663440" y="3886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200" dirty="0"/>
          </a:p>
        </p:txBody>
      </p:sp>
      <p:sp>
        <p:nvSpPr>
          <p:cNvPr id="45" name="Text 36"/>
          <p:cNvSpPr/>
          <p:nvPr/>
        </p:nvSpPr>
        <p:spPr>
          <a:xfrm>
            <a:off x="466344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766560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766560" y="2834640"/>
            <a:ext cx="2011680" cy="594360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907792"/>
            <a:ext cx="411480" cy="4114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81228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6812280" y="3886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51" name="Text 41"/>
          <p:cNvSpPr/>
          <p:nvPr/>
        </p:nvSpPr>
        <p:spPr>
          <a:xfrm>
            <a:off x="681228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52" name="Text 4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2E5FAC">
              <a:alpha val="2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8C4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 |  Visão, Missão &amp; Proposta de Valor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188720"/>
          </a:xfrm>
          <a:prstGeom prst="rect">
            <a:avLst/>
          </a:prstGeom>
          <a:solidFill>
            <a:srgbClr val="2E5FAC">
              <a:alpha val="85000"/>
            </a:srgbClr>
          </a:solidFill>
          <a:ln w="10160">
            <a:solidFill>
              <a:srgbClr val="5BA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 diretoria que transforma a experiência do colaborador em vantagem competitiva — entregando soluções digitais de RH com velocidade, precisão e inteligência, posicionando o RH como protagonista da era da 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011680" cy="2651760"/>
          </a:xfrm>
          <a:prstGeom prst="rect">
            <a:avLst/>
          </a:prstGeom>
          <a:solidFill>
            <a:srgbClr val="FFFFFF">
              <a:alpha val="92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57400"/>
            <a:ext cx="20116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fluida, personalizada e disponível 24/7 em todos os momentos da jornada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2057400"/>
            <a:ext cx="2011680" cy="2651760"/>
          </a:xfrm>
          <a:prstGeom prst="rect">
            <a:avLst/>
          </a:prstGeom>
          <a:solidFill>
            <a:srgbClr val="FFFFFF">
              <a:alpha val="92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2057400"/>
            <a:ext cx="2011680" cy="411480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32888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53288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informações e suporte de RH sem fricção, com respostas rápidas e preditivas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2057400"/>
            <a:ext cx="2011680" cy="2651760"/>
          </a:xfrm>
          <a:prstGeom prst="rect">
            <a:avLst/>
          </a:prstGeom>
          <a:solidFill>
            <a:srgbClr val="FFFFFF">
              <a:alpha val="92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057400"/>
            <a:ext cx="2011680" cy="41148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54296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0016" y="253288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diretoria que libera capacidade estratégica ao absorver e digitalizar a complexidade operacional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9984" y="2057400"/>
            <a:ext cx="2011680" cy="2651760"/>
          </a:xfrm>
          <a:prstGeom prst="rect">
            <a:avLst/>
          </a:prstGeom>
          <a:solidFill>
            <a:srgbClr val="FFFFFF">
              <a:alpha val="92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2057400"/>
            <a:ext cx="20116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775704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21424" y="253288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confiáveis, compliance garantido e custos de pessoal gerenciados com precisão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Modelo Estrutural — Diretoria + AI Innovation Hub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22960"/>
          </a:xfrm>
          <a:prstGeom prst="rect">
            <a:avLst/>
          </a:prstGeom>
          <a:solidFill>
            <a:srgbClr val="1F3864"/>
          </a:solidFill>
          <a:ln w="19050">
            <a:solidFill>
              <a:srgbClr val="5BA3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4864" cy="82296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HUB  —  Reporta ao CHRO  (âmbito empresa)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da IA na empresa · Redesenho do trabalho · Humano+Máquina · Representação no Conselho de IA · HR Innovation Command (Gartner)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850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 a Diretoria 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20116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64792"/>
            <a:ext cx="2011680" cy="56692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37944"/>
            <a:ext cx="438912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93192" y="23682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Employee Experience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3192" y="2843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 · Treinamento Inicial · Pesquisa &amp; Jornada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93192" y="32461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" y="3300984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e personalizar o ciclo de vida completo do colaborador — da candidatura ao offboarding.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3192" y="4599432"/>
            <a:ext cx="1874520" cy="256032"/>
          </a:xfrm>
          <a:prstGeom prst="rect">
            <a:avLst/>
          </a:prstGeom>
          <a:solidFill>
            <a:srgbClr val="2E5FAC">
              <a:alpha val="15000"/>
            </a:srgbClr>
          </a:solidFill>
          <a:ln w="3810">
            <a:solidFill>
              <a:srgbClr val="2E5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5994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executor de processos → designer de experiências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468880" y="1764792"/>
            <a:ext cx="20116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468880" y="1764792"/>
            <a:ext cx="201168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32888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37944"/>
            <a:ext cx="438912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542032" y="23682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 &amp; Compliance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542032" y="2843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Pessoal · SSO · Orçamento de Pessoal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542032" y="32461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42032" y="3300984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Excelência operacional com conformidade regulatória total: eSocial, CLT, PCMSO, PcD/Lei 8.213.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42032" y="4599432"/>
            <a:ext cx="1874520" cy="256032"/>
          </a:xfrm>
          <a:prstGeom prst="rect">
            <a:avLst/>
          </a:prstGeom>
          <a:solidFill>
            <a:srgbClr val="028090">
              <a:alpha val="15000"/>
            </a:srgbClr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60320" y="45994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área reativa → área preditiva e proativa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617720" y="1764792"/>
            <a:ext cx="20116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17720" y="1764792"/>
            <a:ext cx="2011680" cy="566928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81728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37944"/>
            <a:ext cx="438912" cy="4114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690872" y="23682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  (escopo transversal)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690872" y="2843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para TODO o RH: Ops, COEs, STLs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4690872" y="32461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690872" y="3300984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Arquitetar e entregar soluções tecnológicas para toda a função de RH — performance, cultura, remuneração, R&amp;S, aprendizagem e operações.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690872" y="4599432"/>
            <a:ext cx="1874520" cy="256032"/>
          </a:xfrm>
          <a:prstGeom prst="rect">
            <a:avLst/>
          </a:prstGeom>
          <a:solidFill>
            <a:srgbClr val="1F7AC4">
              <a:alpha val="15000"/>
            </a:srgbClr>
          </a:solidFill>
          <a:ln w="3810">
            <a:solidFill>
              <a:srgbClr val="1F7AC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709160" y="45994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suporte de TI → Product Management transversal do RH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6766560" y="1764792"/>
            <a:ext cx="20116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766560" y="1764792"/>
            <a:ext cx="2011680" cy="566928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830568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837944"/>
            <a:ext cx="438912" cy="41148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839712" y="23682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Delivery Hub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6839712" y="2843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de RH · Gov. de IA (âmbito RH) · Analytics &amp; HCI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6839712" y="32461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839712" y="3300984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portfólio de iniciativas, entrega ágil e inteligência de capital humano. Interface operacional com o AI Innovation Hub.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839712" y="4599432"/>
            <a:ext cx="1874520" cy="256032"/>
          </a:xfrm>
          <a:prstGeom prst="rect">
            <a:avLst/>
          </a:prstGeom>
          <a:solidFill>
            <a:srgbClr val="856404">
              <a:alpha val="15000"/>
            </a:srgbClr>
          </a:solidFill>
          <a:ln w="3810">
            <a:solidFill>
              <a:srgbClr val="856404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858000" y="45994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núcleo — construído ao longo de H1–H2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Tres Estruturas Distintas: Papeis, Ambitos e Entregas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743200" cy="3675888"/>
          </a:xfrm>
          <a:prstGeom prst="rect">
            <a:avLst/>
          </a:prstGeom>
          <a:solidFill>
            <a:srgbClr val="FFFFFF"/>
          </a:solidFill>
          <a:ln w="6350">
            <a:solidFill>
              <a:srgbClr val="1F7A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2743200" cy="658368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804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" y="786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" y="10698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Diretoria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" y="1426464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D8E8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1426464"/>
            <a:ext cx="45720" cy="46634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463040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0040" y="163677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funcao de RH - COEs, STLs, Ops e BPs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8600" y="1920240"/>
            <a:ext cx="2743200" cy="466344"/>
          </a:xfrm>
          <a:prstGeom prst="rect">
            <a:avLst/>
          </a:prstGeom>
          <a:solidFill>
            <a:srgbClr val="F0F5FC"/>
          </a:solidFill>
          <a:ln w="3175">
            <a:solidFill>
              <a:srgbClr val="D8E8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1920240"/>
            <a:ext cx="45720" cy="46634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1956816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0040" y="2130552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Plataformas, sistemas, agentes de IA e dados para RH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28600" y="2414016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D8E8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" y="2414016"/>
            <a:ext cx="45720" cy="46634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450592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20040" y="2624328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de solucoes de RH em todos os dominios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28600" y="2907792"/>
            <a:ext cx="2743200" cy="466344"/>
          </a:xfrm>
          <a:prstGeom prst="rect">
            <a:avLst/>
          </a:prstGeom>
          <a:solidFill>
            <a:srgbClr val="F0F5FC"/>
          </a:solidFill>
          <a:ln w="3175">
            <a:solidFill>
              <a:srgbClr val="D8E8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8600" y="2907792"/>
            <a:ext cx="45720" cy="46634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944368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20040" y="3118104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 . Tech Leads . Data Engineers . AI Engineers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3401568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D8E8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8600" y="3401568"/>
            <a:ext cx="45720" cy="46634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438144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Governanca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20040" y="361188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 por valor de negocio e criterios de adocao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28600" y="3895344"/>
            <a:ext cx="2743200" cy="466344"/>
          </a:xfrm>
          <a:prstGeom prst="rect">
            <a:avLst/>
          </a:prstGeom>
          <a:solidFill>
            <a:srgbClr val="F0F5FC"/>
          </a:solidFill>
          <a:ln w="3175">
            <a:solidFill>
              <a:srgbClr val="D8E8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28600" y="3895344"/>
            <a:ext cx="45720" cy="46634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3931920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20040" y="410565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. Cultura . ATS . LMS . HRIS . Agentes por dominio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200400" y="749808"/>
            <a:ext cx="2743200" cy="3675888"/>
          </a:xfrm>
          <a:prstGeom prst="rect">
            <a:avLst/>
          </a:prstGeom>
          <a:solidFill>
            <a:srgbClr val="FFFFFF"/>
          </a:solidFill>
          <a:ln w="6350">
            <a:solidFill>
              <a:srgbClr val="85640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200400" y="749808"/>
            <a:ext cx="2743200" cy="658368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804672"/>
            <a:ext cx="384048" cy="38404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310128" y="786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DELIVERY HUB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3310128" y="10698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Diretoria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200400" y="1426464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E8DFC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200400" y="1426464"/>
            <a:ext cx="45720" cy="46634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91840" y="1463040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Ambito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3291840" y="163677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diretoria - coordenacao de entregas e portfolio de RH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3200400" y="1920240"/>
            <a:ext cx="2743200" cy="466344"/>
          </a:xfrm>
          <a:prstGeom prst="rect">
            <a:avLst/>
          </a:prstGeom>
          <a:solidFill>
            <a:srgbClr val="FDFAF0"/>
          </a:solidFill>
          <a:ln w="3175">
            <a:solidFill>
              <a:srgbClr val="E8DFC0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200400" y="1920240"/>
            <a:ext cx="45720" cy="46634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91840" y="1956816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291840" y="2130552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agil de projetos, PMO de RH e inteligencia de capital humano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3200400" y="2414016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E8DFC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200400" y="2414016"/>
            <a:ext cx="45720" cy="46634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291840" y="2450592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3291840" y="2624328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e qualidade de entrega das iniciativas da diretoria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3200400" y="2907792"/>
            <a:ext cx="2743200" cy="466344"/>
          </a:xfrm>
          <a:prstGeom prst="rect">
            <a:avLst/>
          </a:prstGeom>
          <a:solidFill>
            <a:srgbClr val="FDFAF0"/>
          </a:solidFill>
          <a:ln w="3175">
            <a:solidFill>
              <a:srgbClr val="E8DFC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200400" y="2907792"/>
            <a:ext cx="45720" cy="46634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291840" y="2944368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3291840" y="3118104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PMO . Analistas de HCI . Especialistas em Entrega Agil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200400" y="3401568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E8DFC0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200400" y="3401568"/>
            <a:ext cx="45720" cy="46634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291840" y="3438144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Governanca</a:t>
            </a:r>
            <a:endParaRPr lang="en-US" sz="750" dirty="0"/>
          </a:p>
        </p:txBody>
      </p:sp>
      <p:sp>
        <p:nvSpPr>
          <p:cNvPr id="57" name="Text 53"/>
          <p:cNvSpPr/>
          <p:nvPr/>
        </p:nvSpPr>
        <p:spPr>
          <a:xfrm>
            <a:off x="3291840" y="361188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 iniciativas . Interface operacional com AI Hub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3200400" y="3895344"/>
            <a:ext cx="2743200" cy="466344"/>
          </a:xfrm>
          <a:prstGeom prst="rect">
            <a:avLst/>
          </a:prstGeom>
          <a:solidFill>
            <a:srgbClr val="FDFAF0"/>
          </a:solidFill>
          <a:ln w="3175">
            <a:solidFill>
              <a:srgbClr val="E8DFC0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200400" y="3895344"/>
            <a:ext cx="45720" cy="46634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3291840" y="3931920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3291840" y="410565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IA . Dashboards HCI . Coordenacao cross-areas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6172200" y="749808"/>
            <a:ext cx="2743200" cy="3675888"/>
          </a:xfrm>
          <a:prstGeom prst="rect">
            <a:avLst/>
          </a:prstGeom>
          <a:solidFill>
            <a:srgbClr val="FFFFFF"/>
          </a:solidFill>
          <a:ln w="15240">
            <a:solidFill>
              <a:srgbClr val="5BA3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Shape 59"/>
          <p:cNvSpPr/>
          <p:nvPr/>
        </p:nvSpPr>
        <p:spPr>
          <a:xfrm>
            <a:off x="6172200" y="749808"/>
            <a:ext cx="2743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804672"/>
            <a:ext cx="384048" cy="384048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6281928" y="786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HUB</a:t>
            </a:r>
            <a:endParaRPr lang="en-US" sz="1050" dirty="0"/>
          </a:p>
        </p:txBody>
      </p:sp>
      <p:sp>
        <p:nvSpPr>
          <p:cNvPr id="66" name="Text 61"/>
          <p:cNvSpPr/>
          <p:nvPr/>
        </p:nvSpPr>
        <p:spPr>
          <a:xfrm>
            <a:off x="6281928" y="10698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ao CHRO  .  Ambito empresa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6172200" y="1426464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5BA3D9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6172200" y="1426464"/>
            <a:ext cx="45720" cy="466344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6263640" y="1463040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Ambito</a:t>
            </a:r>
            <a:endParaRPr lang="en-US" sz="750" dirty="0"/>
          </a:p>
        </p:txBody>
      </p:sp>
      <p:sp>
        <p:nvSpPr>
          <p:cNvPr id="70" name="Text 65"/>
          <p:cNvSpPr/>
          <p:nvPr/>
        </p:nvSpPr>
        <p:spPr>
          <a:xfrm>
            <a:off x="6263640" y="163677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empresa - impacto da IA no trabalho e nas pessoas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6172200" y="1920240"/>
            <a:ext cx="2743200" cy="466344"/>
          </a:xfrm>
          <a:prstGeom prst="rect">
            <a:avLst/>
          </a:prstGeom>
          <a:solidFill>
            <a:srgbClr val="EFF4FC"/>
          </a:solidFill>
          <a:ln w="3175">
            <a:solidFill>
              <a:srgbClr val="5BA3D9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172200" y="1920240"/>
            <a:ext cx="45720" cy="466344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6263640" y="1956816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6263640" y="2130552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Redesenho do trabalho Humano+IA . futuro do trabalho . inovacao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6172200" y="2414016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5BA3D9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6172200" y="2414016"/>
            <a:ext cx="45720" cy="466344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6263640" y="2450592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750" dirty="0"/>
          </a:p>
        </p:txBody>
      </p:sp>
      <p:sp>
        <p:nvSpPr>
          <p:cNvPr id="78" name="Text 73"/>
          <p:cNvSpPr/>
          <p:nvPr/>
        </p:nvSpPr>
        <p:spPr>
          <a:xfrm>
            <a:off x="6263640" y="2624328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IA empresarial . experimentacao . Conselho de IA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6172200" y="2907792"/>
            <a:ext cx="2743200" cy="466344"/>
          </a:xfrm>
          <a:prstGeom prst="rect">
            <a:avLst/>
          </a:prstGeom>
          <a:solidFill>
            <a:srgbClr val="EFF4FC"/>
          </a:solidFill>
          <a:ln w="3175">
            <a:solidFill>
              <a:srgbClr val="5BA3D9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6172200" y="2907792"/>
            <a:ext cx="45720" cy="466344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6263640" y="2944368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50" dirty="0"/>
          </a:p>
        </p:txBody>
      </p:sp>
      <p:sp>
        <p:nvSpPr>
          <p:cNvPr id="82" name="Text 77"/>
          <p:cNvSpPr/>
          <p:nvPr/>
        </p:nvSpPr>
        <p:spPr>
          <a:xfrm>
            <a:off x="6263640" y="3118104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Leader . Head de Estrategia . Futuro do Trabalho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6172200" y="3401568"/>
            <a:ext cx="2743200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5BA3D9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172200" y="3401568"/>
            <a:ext cx="45720" cy="466344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263640" y="3438144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Governanca</a:t>
            </a:r>
            <a:endParaRPr lang="en-US" sz="750" dirty="0"/>
          </a:p>
        </p:txBody>
      </p:sp>
      <p:sp>
        <p:nvSpPr>
          <p:cNvPr id="86" name="Text 81"/>
          <p:cNvSpPr/>
          <p:nvPr/>
        </p:nvSpPr>
        <p:spPr>
          <a:xfrm>
            <a:off x="6263640" y="361188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 RH no Conselho de IA . define diretrizes etico-regulatorias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6172200" y="3895344"/>
            <a:ext cx="2743200" cy="466344"/>
          </a:xfrm>
          <a:prstGeom prst="rect">
            <a:avLst/>
          </a:prstGeom>
          <a:solidFill>
            <a:srgbClr val="EFF4FC"/>
          </a:solidFill>
          <a:ln w="3175">
            <a:solidFill>
              <a:srgbClr val="5BA3D9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6172200" y="3895344"/>
            <a:ext cx="45720" cy="466344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6263640" y="3931920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750" dirty="0"/>
          </a:p>
        </p:txBody>
      </p:sp>
      <p:sp>
        <p:nvSpPr>
          <p:cNvPr id="90" name="Text 85"/>
          <p:cNvSpPr/>
          <p:nvPr/>
        </p:nvSpPr>
        <p:spPr>
          <a:xfrm>
            <a:off x="6263640" y="410565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IA em cargos . Politica Humano+IA . Lab de IA . Reskilling</a:t>
            </a:r>
            <a:endParaRPr lang="en-US" sz="850" dirty="0"/>
          </a:p>
        </p:txBody>
      </p:sp>
      <p:sp>
        <p:nvSpPr>
          <p:cNvPr id="91" name="Text 86"/>
          <p:cNvSpPr/>
          <p:nvPr/>
        </p:nvSpPr>
        <p:spPr>
          <a:xfrm>
            <a:off x="2871216" y="265176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</a:t>
            </a:r>
            <a:endParaRPr lang="en-US" sz="1800" dirty="0"/>
          </a:p>
        </p:txBody>
      </p:sp>
      <p:sp>
        <p:nvSpPr>
          <p:cNvPr id="92" name="Text 87"/>
          <p:cNvSpPr/>
          <p:nvPr/>
        </p:nvSpPr>
        <p:spPr>
          <a:xfrm>
            <a:off x="5843016" y="265176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</a:t>
            </a:r>
            <a:endParaRPr lang="en-US" sz="1800" dirty="0"/>
          </a:p>
        </p:txBody>
      </p:sp>
      <p:sp>
        <p:nvSpPr>
          <p:cNvPr id="93" name="Shape 88"/>
          <p:cNvSpPr/>
          <p:nvPr/>
        </p:nvSpPr>
        <p:spPr>
          <a:xfrm>
            <a:off x="228600" y="4480560"/>
            <a:ext cx="8686800" cy="310896"/>
          </a:xfrm>
          <a:prstGeom prst="rect">
            <a:avLst/>
          </a:prstGeom>
          <a:solidFill>
            <a:srgbClr val="1F3864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228600" y="4480560"/>
            <a:ext cx="54864" cy="310896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365760" y="451713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</a:t>
            </a:r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entrega as plataformas.  </a:t>
            </a:r>
            <a:pPr indent="0" marL="0">
              <a:buNone/>
            </a:pPr>
            <a:r>
              <a:rPr lang="en-US" sz="1000" b="1" dirty="0">
                <a:solidFill>
                  <a:srgbClr val="F4C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Delivery Hub</a:t>
            </a:r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coordena a execucao.  </a:t>
            </a:r>
            <a:pPr indent="0" marL="0">
              <a:buNone/>
            </a:pPr>
            <a:r>
              <a:rPr lang="en-US" sz="100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Hub</a:t>
            </a:r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 o futuro.</a:t>
            </a:r>
            <a:endParaRPr lang="en-US" sz="1000" dirty="0"/>
          </a:p>
        </p:txBody>
      </p:sp>
      <p:sp>
        <p:nvSpPr>
          <p:cNvPr id="96" name="Text 9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Estrategia 2026-2028</a:t>
            </a:r>
            <a:endParaRPr lang="en-US" sz="800" dirty="0"/>
          </a:p>
        </p:txBody>
      </p:sp>
      <p:sp>
        <p:nvSpPr>
          <p:cNvPr id="97" name="Text 92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Portfólio de Casos de Uso de IA — 20 Use Cases + HR Tech Transversal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02920" cy="91440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59936" y="850392"/>
            <a:ext cx="365760" cy="36576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9936" y="850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877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6112" y="1170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Intelligence · Predição Quality of Hire · Agente Pré-Boarding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09160" y="804672"/>
            <a:ext cx="41605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804672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51560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449056" y="85039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49056" y="850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85232" y="877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Inicial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285232" y="1170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Dinâmicas · Role-Play com IA · Transfer of Learning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" y="1856232"/>
            <a:ext cx="41605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1856232"/>
            <a:ext cx="50292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384048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059936" y="1901952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059936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6112" y="1929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Jornada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96112" y="22219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Contínuo · Predição Turnover · Hiperpersonalização EX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709160" y="1856232"/>
            <a:ext cx="41605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1856232"/>
            <a:ext cx="502920" cy="91440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03120"/>
            <a:ext cx="384048" cy="3840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449056" y="1901952"/>
            <a:ext cx="365760" cy="365760"/>
          </a:xfrm>
          <a:prstGeom prst="ellipse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449056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285232" y="1929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Pessoal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285232" y="22219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Trabalhista · Gestão Documental · Simulação CCT/Encargos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320040" y="2907792"/>
            <a:ext cx="41605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" y="2907792"/>
            <a:ext cx="502920" cy="914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54680"/>
            <a:ext cx="384048" cy="38404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059936" y="2953512"/>
            <a:ext cx="365760" cy="36576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059936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96112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de Pessoal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896112" y="32735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Planning Dinâmico · Make vs. Buy vs. Automate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709160" y="2907792"/>
            <a:ext cx="41605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09160" y="2907792"/>
            <a:ext cx="502920" cy="9144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154680"/>
            <a:ext cx="384048" cy="38404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449056" y="2953512"/>
            <a:ext cx="365760" cy="36576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449056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5285232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285232" y="32735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Absenteísmo · Conformidade PcD/Lei 8.213 · Saúde por Jornada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320040" y="3959352"/>
            <a:ext cx="85039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320040" y="3959352"/>
            <a:ext cx="502920" cy="841248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187952"/>
            <a:ext cx="384048" cy="384048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8348472" y="4005072"/>
            <a:ext cx="365760" cy="365760"/>
          </a:xfrm>
          <a:prstGeom prst="ellipse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8348472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Text 42"/>
          <p:cNvSpPr/>
          <p:nvPr/>
        </p:nvSpPr>
        <p:spPr>
          <a:xfrm>
            <a:off x="896112" y="40325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  (todos os domínios de RH)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896112" y="43251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Cultura &amp; Clima · Remuneração · Aprendizagem · R&amp;S · Operações  |  HR Tech como Produto · RAG Políticas · Unified EX Layer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na Jornada do Colaborador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Verticais  .  Areas Transversais  .  Camadas Habilitadoras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040880" y="91440"/>
            <a:ext cx="146304" cy="14630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(pontual)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046720" y="91440"/>
            <a:ext cx="146304" cy="14630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914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pilares RH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040880" y="365760"/>
            <a:ext cx="146304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3657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(continua)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365760"/>
            <a:ext cx="146304" cy="14630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3657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habilitadora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749808"/>
            <a:ext cx="1298448" cy="457200"/>
          </a:xfrm>
          <a:prstGeom prst="rect">
            <a:avLst/>
          </a:prstGeom>
          <a:solidFill>
            <a:srgbClr val="1A3A5C"/>
          </a:solidFill>
          <a:ln w="5080">
            <a:solidFill>
              <a:srgbClr val="2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73152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ATRACAO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SELECAO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36192" y="78638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09344" y="749808"/>
            <a:ext cx="1444752" cy="457200"/>
          </a:xfrm>
          <a:prstGeom prst="rect">
            <a:avLst/>
          </a:prstGeom>
          <a:solidFill>
            <a:srgbClr val="1B4060"/>
          </a:solidFill>
          <a:ln w="5080">
            <a:solidFill>
              <a:srgbClr val="2A5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7315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0" y="78638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90672" y="749808"/>
            <a:ext cx="1444752" cy="457200"/>
          </a:xfrm>
          <a:prstGeom prst="rect">
            <a:avLst/>
          </a:prstGeom>
          <a:solidFill>
            <a:srgbClr val="1C4666"/>
          </a:solidFill>
          <a:ln w="5080">
            <a:solidFill>
              <a:srgbClr val="2A5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7315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8848" y="78638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749808"/>
            <a:ext cx="1444752" cy="457200"/>
          </a:xfrm>
          <a:prstGeom prst="rect">
            <a:avLst/>
          </a:prstGeom>
          <a:solidFill>
            <a:srgbClr val="1D4C6C"/>
          </a:solidFill>
          <a:ln w="5080">
            <a:solidFill>
              <a:srgbClr val="2A5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7315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RETENCAO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80176" y="78638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749808"/>
            <a:ext cx="1298448" cy="457200"/>
          </a:xfrm>
          <a:prstGeom prst="rect">
            <a:avLst/>
          </a:prstGeom>
          <a:solidFill>
            <a:srgbClr val="1E5272"/>
          </a:solidFill>
          <a:ln w="5080">
            <a:solidFill>
              <a:srgbClr val="2A5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73152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CARREIRA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15200" y="78638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88352" y="749808"/>
            <a:ext cx="1389888" cy="457200"/>
          </a:xfrm>
          <a:prstGeom prst="rect">
            <a:avLst/>
          </a:prstGeom>
          <a:solidFill>
            <a:srgbClr val="1F5878"/>
          </a:solidFill>
          <a:ln w="5080">
            <a:solidFill>
              <a:srgbClr val="2A5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7315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ALUMNI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118872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VERTICAIS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1389888"/>
            <a:ext cx="1298448" cy="1353312"/>
          </a:xfrm>
          <a:prstGeom prst="rect">
            <a:avLst/>
          </a:prstGeom>
          <a:solidFill>
            <a:srgbClr val="2E5FAC">
              <a:alpha val="12000"/>
            </a:srgbClr>
          </a:solidFill>
          <a:ln w="7620">
            <a:solidFill>
              <a:srgbClr val="2E5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1389888"/>
            <a:ext cx="1298448" cy="310896"/>
          </a:xfrm>
          <a:prstGeom prst="rect">
            <a:avLst/>
          </a:prstGeom>
          <a:solidFill>
            <a:srgbClr val="2E5FAC">
              <a:alpha val="5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139903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pessoas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" y="1764792"/>
            <a:ext cx="91440" cy="914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74650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" y="2011680"/>
            <a:ext cx="91440" cy="914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99339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Pré-Boarding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9184" y="2258568"/>
            <a:ext cx="91440" cy="914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240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Hire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" y="2505456"/>
            <a:ext cx="91440" cy="914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48716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Intel.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609344" y="1389888"/>
            <a:ext cx="1444752" cy="1353312"/>
          </a:xfrm>
          <a:prstGeom prst="rect">
            <a:avLst/>
          </a:prstGeom>
          <a:solidFill>
            <a:srgbClr val="028090">
              <a:alpha val="12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09344" y="1389888"/>
            <a:ext cx="1444752" cy="31089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55064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Trein. Inicial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pessoas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64208" y="1764792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92224" y="174650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64208" y="201168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92224" y="19933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por BU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64208" y="225856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92224" y="22402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IA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64208" y="250545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92224" y="2487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090672" y="1389888"/>
            <a:ext cx="1444752" cy="1353312"/>
          </a:xfrm>
          <a:prstGeom prst="rect">
            <a:avLst/>
          </a:prstGeom>
          <a:solidFill>
            <a:srgbClr val="6D2E46">
              <a:alpha val="12000"/>
            </a:srgbClr>
          </a:solidFill>
          <a:ln w="7620">
            <a:solidFill>
              <a:srgbClr val="6D2E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90672" y="1389888"/>
            <a:ext cx="1444752" cy="310896"/>
          </a:xfrm>
          <a:prstGeom prst="rect">
            <a:avLst/>
          </a:prstGeom>
          <a:solidFill>
            <a:srgbClr val="6D2E46">
              <a:alpha val="5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Desenv.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STLs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145536" y="1764792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174650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145536" y="2011680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19933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145536" y="2258568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22402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45536" y="2505456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73552" y="2487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72000" y="1389888"/>
            <a:ext cx="1444752" cy="1353312"/>
          </a:xfrm>
          <a:prstGeom prst="rect">
            <a:avLst/>
          </a:prstGeom>
          <a:solidFill>
            <a:srgbClr val="6D2E46">
              <a:alpha val="12000"/>
            </a:srgbClr>
          </a:solidFill>
          <a:ln w="7620">
            <a:solidFill>
              <a:srgbClr val="6D2E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1389888"/>
            <a:ext cx="1444752" cy="310896"/>
          </a:xfrm>
          <a:prstGeom prst="rect">
            <a:avLst/>
          </a:prstGeom>
          <a:solidFill>
            <a:srgbClr val="6D2E46">
              <a:alpha val="5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Retencao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STLs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26864" y="1764792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174650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26864" y="2011680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19933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Remuneracao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626864" y="2258568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22402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626864" y="2505456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2487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Org.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053328" y="1389888"/>
            <a:ext cx="1298448" cy="1353312"/>
          </a:xfrm>
          <a:prstGeom prst="rect">
            <a:avLst/>
          </a:prstGeom>
          <a:solidFill>
            <a:srgbClr val="6D2E46">
              <a:alpha val="12000"/>
            </a:srgbClr>
          </a:solidFill>
          <a:ln w="7620">
            <a:solidFill>
              <a:srgbClr val="6D2E4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53328" y="1389888"/>
            <a:ext cx="1298448" cy="310896"/>
          </a:xfrm>
          <a:prstGeom prst="rect">
            <a:avLst/>
          </a:prstGeom>
          <a:solidFill>
            <a:srgbClr val="6D2E46">
              <a:alpha val="5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99048" y="139903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Atracao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STLs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108192" y="1764792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36208" y="174650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Brand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08192" y="2011680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36208" y="199339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Mob. Interna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108192" y="2258568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36208" y="2240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08192" y="2505456"/>
            <a:ext cx="9144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36208" y="248716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Pods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388352" y="1389888"/>
            <a:ext cx="1481328" cy="1353312"/>
          </a:xfrm>
          <a:prstGeom prst="rect">
            <a:avLst/>
          </a:prstGeom>
          <a:solidFill>
            <a:srgbClr val="1F5C2E">
              <a:alpha val="12000"/>
            </a:srgbClr>
          </a:solidFill>
          <a:ln w="7620">
            <a:solidFill>
              <a:srgbClr val="1F5C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88352" y="1389888"/>
            <a:ext cx="1481328" cy="310896"/>
          </a:xfrm>
          <a:prstGeom prst="rect">
            <a:avLst/>
          </a:prstGeom>
          <a:solidFill>
            <a:srgbClr val="1F5C2E">
              <a:alpha val="50000"/>
            </a:srgbClr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34072" y="13990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+ SSO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pessoas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443216" y="1764792"/>
            <a:ext cx="91440" cy="9144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71232" y="174650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443216" y="2011680"/>
            <a:ext cx="91440" cy="9144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71232" y="199339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TRCT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443216" y="2258568"/>
            <a:ext cx="91440" cy="9144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71232" y="22402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443216" y="2505456"/>
            <a:ext cx="91440" cy="9144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71232" y="24871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Trab.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74320" y="280720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TRANSVERSAIS  -  atuam em toda a extensao da jornada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74320" y="2999232"/>
            <a:ext cx="8595360" cy="374904"/>
          </a:xfrm>
          <a:prstGeom prst="rect">
            <a:avLst/>
          </a:prstGeom>
          <a:solidFill>
            <a:srgbClr val="028090">
              <a:alpha val="16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4320" y="2999232"/>
            <a:ext cx="54864" cy="3749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2336" y="302666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Jornada  .  8 pessoas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02336" y="320040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continua . Predicao de Turnover . NPS . Analise de Sentimento . Hiperpersonalizacao EX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74320" y="3401568"/>
            <a:ext cx="8595360" cy="374904"/>
          </a:xfrm>
          <a:prstGeom prst="rect">
            <a:avLst/>
          </a:prstGeom>
          <a:solidFill>
            <a:srgbClr val="374151">
              <a:alpha val="16000"/>
            </a:srgbClr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3401568"/>
            <a:ext cx="54864" cy="37490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02336" y="34290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Orcamento de Pessoal  .  13 pessoas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402336" y="360273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dinamico . Simulacao de cenarios . Make/Buy/Automate . Controle do custo de pessoal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74320" y="3803904"/>
            <a:ext cx="8595360" cy="374904"/>
          </a:xfrm>
          <a:prstGeom prst="rect">
            <a:avLst/>
          </a:prstGeom>
          <a:solidFill>
            <a:srgbClr val="5C3D11">
              <a:alpha val="16000"/>
            </a:srgbClr>
          </a:solidFill>
          <a:ln w="6350">
            <a:solidFill>
              <a:srgbClr val="5C3D1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74320" y="3803904"/>
            <a:ext cx="54864" cy="374904"/>
          </a:xfrm>
          <a:prstGeom prst="rect">
            <a:avLst/>
          </a:prstGeom>
          <a:solidFill>
            <a:srgbClr val="5C3D11"/>
          </a:solidFill>
          <a:ln w="12700">
            <a:solidFill>
              <a:srgbClr val="5C3D1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2336" y="3831336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de Processos  .  9 pessoas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402336" y="400507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Otimizacao continua de todos os processos da diretoria . Indicadores . Redesenho de fluxos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74320" y="4206240"/>
            <a:ext cx="8595360" cy="374904"/>
          </a:xfrm>
          <a:prstGeom prst="rect">
            <a:avLst/>
          </a:prstGeom>
          <a:solidFill>
            <a:srgbClr val="1F5C2E">
              <a:alpha val="16000"/>
            </a:srgbClr>
          </a:solidFill>
          <a:ln w="6350">
            <a:solidFill>
              <a:srgbClr val="1F5C2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4320" y="4206240"/>
            <a:ext cx="54864" cy="374904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02336" y="423367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+ SSO  -  Presenca Continua  .  125 pessoas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402336" y="440740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mensal . eSocial . PCMSO periodico . Conformidade PcD/Lei 8.213 . Compliance permanente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274320" y="453542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4A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HABILITADORAS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274320" y="5148072"/>
            <a:ext cx="5989320" cy="347472"/>
          </a:xfrm>
          <a:prstGeom prst="rect">
            <a:avLst/>
          </a:prstGeom>
          <a:solidFill>
            <a:srgbClr val="1F7AC4">
              <a:alpha val="80000"/>
            </a:srgbClr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4320" y="4718304"/>
            <a:ext cx="54864" cy="329184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02336" y="47274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  (28 pessoas)  -  Plataformas para TODO o RH: Performance . Cultura . R&amp;S . Aprendizagem . Remuneracao . Operacoes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400800" y="4718304"/>
            <a:ext cx="2468880" cy="329184"/>
          </a:xfrm>
          <a:prstGeom prst="rect">
            <a:avLst/>
          </a:prstGeom>
          <a:solidFill>
            <a:srgbClr val="060F1E"/>
          </a:solidFill>
          <a:ln w="15240">
            <a:solidFill>
              <a:srgbClr val="5BA3D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400800" y="4718304"/>
            <a:ext cx="54864" cy="329184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528816" y="4727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HUB  -  Impacto da IA na empresa  .  Reporta ao CHRO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Estrategia 2026-2028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Casos de Uso em Destaque — Alta Prioridade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UC-07  ·  Pesquisa &amp; Jornada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Listening Contínuo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Moderna + OpenAI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conversas/semana por colaborador · 80% das dúvidas resolvidas sem humano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6974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50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UC-08  ·  Pesquisa &amp; Jornada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de Turnover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Oliver Wyman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87452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20–28% no turnover anual em segmentos críticos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8229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822960"/>
            <a:ext cx="2697480" cy="36576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850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  ·  Depto. Pessoal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Risco Trabalhista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Gartner Compliance AI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187452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proativa antes de reclamações · redução de litígios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8892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88920"/>
            <a:ext cx="4160520" cy="365760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UC-20  ·  HR Technology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200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Agente de Políticas de RH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5935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Moderna / Gartner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840480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86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das perguntas de RH respondidas sem intervenção humana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8892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88920"/>
            <a:ext cx="416052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8163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  ·  SSO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200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PcD / Lei 8.213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5935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Gartner Compliance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3840480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886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em tempo real por CNPJ · risco zero de autuação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Roadmap de Transformação — 3 Horizontes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91640" y="804672"/>
            <a:ext cx="2514600" cy="566928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1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 meses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0" y="804672"/>
            <a:ext cx="2514600" cy="56692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2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18 meses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3484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ACELERAÇÃO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03720" y="804672"/>
            <a:ext cx="2514600" cy="566928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3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36 meses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DIGITAL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44475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4475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91640" y="144475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144475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Agente Pré-Boarding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0" y="144475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44475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Skills Intelligence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Quality of Hire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03720" y="144475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44475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94767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9476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1947672"/>
            <a:ext cx="251460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194767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0" y="1947672"/>
            <a:ext cx="251460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94767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 Trilhas Dinâmicas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 Role-Play 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 Transfer Learning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03720" y="1947672"/>
            <a:ext cx="192024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94767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45059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5059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Jornada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91640" y="245059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245059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UC-07 Listening Contínuo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UC-08 Predição Turnover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0" y="245059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45059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03720" y="245059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45059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UC-09 Hiperpersonalização EX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95351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5351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Pessoal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91640" y="2953512"/>
            <a:ext cx="251460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295351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 Risco Trabalhista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UC-12 Gestão Documental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89120" y="2953512"/>
            <a:ext cx="251460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295351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UC-10 Simulação CCT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903720" y="2953512"/>
            <a:ext cx="192024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95351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45643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4564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91640" y="345643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45643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89120" y="345643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345643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 Headcount Dinâmico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UC-14 Make/Buy/Automate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03720" y="345643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45643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395935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95935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691640" y="3959352"/>
            <a:ext cx="251460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37360" y="395935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UC-15 Absenteísmo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 Conformidade PcD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959352"/>
            <a:ext cx="251460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395935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UC-17 Saúde por Jornada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03720" y="3959352"/>
            <a:ext cx="1920240" cy="475488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395935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4462272"/>
            <a:ext cx="1325880" cy="475488"/>
          </a:xfrm>
          <a:prstGeom prst="rect">
            <a:avLst/>
          </a:prstGeom>
          <a:solidFill>
            <a:srgbClr val="D6E4F7"/>
          </a:solidFill>
          <a:ln w="3810">
            <a:solidFill>
              <a:srgbClr val="D0DC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462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691640" y="446227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37360" y="446227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UC-18 HR Tech Produto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UC-20 RAG Políticas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389120" y="4462272"/>
            <a:ext cx="2514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34840" y="4462272"/>
            <a:ext cx="2423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UC-19 Unified EX Layer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903720" y="446227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446227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 Hub Completo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Pré-Requisitos Críticos — Antes do H1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822960" cy="1828800"/>
          </a:xfrm>
          <a:prstGeom prst="rect">
            <a:avLst/>
          </a:prstGeom>
          <a:solidFill>
            <a:srgbClr val="1F7AC4"/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05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Dados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44475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 HRIS como fonte única da verdade. Limpeza de eSocial. Integração entre DP, SSO, R&amp;S e Tech. Sem isso, 75% das iniciativas de IA falham (Gartner).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82296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22960"/>
            <a:ext cx="822960" cy="182880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960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813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005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Serviços + SLAs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23560" y="144475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formalmente os serviços entregues, canais de atendimento e SLAs por Tier (0 = autoatendimento, 1 = automação, 2 = especialista humano).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8346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834640"/>
            <a:ext cx="8229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2971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9300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Integrada com Tech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345643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governança conjunto desde o primeiro dia da absorção da área de Tech: quem decide sobre plataformas, quem valida use cases, quem cuida de dados.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28346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834640"/>
            <a:ext cx="822960" cy="182880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54880" y="2971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9300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da Equipe de Liderança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23560" y="345643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transformação começa com as pessoas que vão liderá-la. Capacitação básica em IA para toda a liderança da diretoria é pré-requisito — não opcional.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Governança de IA — Liderança Responsável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286000" cy="1188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organizações sem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formalizada para RH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88920" y="8686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a oportunidade — e a responsabilidade — de liderar esse tema internamente.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1371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Gartner, maio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48840"/>
            <a:ext cx="2743200" cy="658368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6712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2128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meses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87121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equipe de Governança de IA em RH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3192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do Conselho de IA da empresa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767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riscos: viés, privacidade, decisões automatizadas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421538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framework LGPD para dados de colaboradores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214884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2148840"/>
            <a:ext cx="2743200" cy="6583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16712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22128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meses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87121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Customizar ética de IA para especificidades do RH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3192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direitos de decisão por stakeholder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767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transparência para candidatos e colaboradores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421538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equipe em governança e uso responsável de 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35624" y="214884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2148840"/>
            <a:ext cx="2743200" cy="658368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16712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18704" y="22128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meses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45352" y="287121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conformidade de fornecedores terceiros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45352" y="33192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de viés e risco algorítmico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45352" y="3767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exceções e escalações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45352" y="421538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inovação responsável e AI-first no RH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736592"/>
            <a:ext cx="8503920" cy="201168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745736"/>
            <a:ext cx="8366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 Risco Brasil: LGPD · CLT/eSocial · PcD/Lei 8.213 · CCT/ACT — decisões automatizadas que afetam vínculos empregatícios exigem supervisão humana obrigatória.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Scorecard de Valor — Eficiência &amp; Experiência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834640" y="777240"/>
            <a:ext cx="1920240" cy="347472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777240"/>
            <a:ext cx="1920240" cy="347472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777240"/>
            <a:ext cx="1874520" cy="347472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777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0–6m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92040" y="777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6–18m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7772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18–36m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2468880" cy="1645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20700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207008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processos em Tier 0/1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207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20700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755648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755648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755648"/>
            <a:ext cx="187452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755648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resolução de chamados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4640" y="1755648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7556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75564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230428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30428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2304288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processo (benchmark)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346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3042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230428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926080"/>
            <a:ext cx="246888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Colaborador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34640" y="292608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92608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2926080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2926080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de EX (colaborador)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34640" y="2926080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9260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292608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3474720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3474720"/>
            <a:ext cx="187452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autoatendimento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474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347472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402336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92040" y="402336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0" y="4023360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0" y="4023360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onboarding → produtividade plena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34640" y="4023360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92040" y="40233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–30%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–50%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Scorecard de Valor — Maturidade de IA &amp; Valor Estratégico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834640" y="777240"/>
            <a:ext cx="1920240" cy="347472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777240"/>
            <a:ext cx="1920240" cy="347472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777240"/>
            <a:ext cx="1874520" cy="347472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777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0–6m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92040" y="777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6–18m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7772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18–36m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2468880" cy="1645920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20700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207008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use cases de IA ativos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207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20700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755648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755648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755648"/>
            <a:ext cx="187452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755648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equipe com AI literacy básica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4640" y="1755648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7556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75564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230428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304288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2304288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 HRIS (fonte única)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346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3042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230428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926080"/>
            <a:ext cx="2468880" cy="1645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Estratégico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34640" y="292608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92608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2926080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2926080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voluntário (segmentos críticos)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34640" y="2926080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9260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292608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–25%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3474720"/>
            <a:ext cx="192024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3474720"/>
            <a:ext cx="1874520" cy="530352"/>
          </a:xfrm>
          <a:prstGeom prst="rect">
            <a:avLst/>
          </a:prstGeom>
          <a:solidFill>
            <a:srgbClr val="F0F4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aquisição por contratação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474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347472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–35%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402336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92040" y="4023360"/>
            <a:ext cx="19202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0" y="4023360"/>
            <a:ext cx="1874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0" y="4023360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Passivos trabalhistas (preventivos)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34640" y="4023360"/>
            <a:ext cx="19202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92040" y="40233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Pontos de Reflexão Executiva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57200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601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886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dados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 HRIS como fonte única da verdade, ou opera com ilhas de informação entre DP, SSO, R&amp;S e Tech?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85039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18488"/>
            <a:ext cx="457200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75564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1682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de identidade da equipe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84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profissionais migrando de executores para designers digitais. Como conduzir essa transformação sem perder quem tem mais senioridade?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85039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14016"/>
            <a:ext cx="457200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5511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478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Apetite para risco de 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7797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decide, sugere ou apenas informa? Especialmente em DP e SSO, essa linha precisa estar definida antes da implementação.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09544"/>
            <a:ext cx="85039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09544"/>
            <a:ext cx="457200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3467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3273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para o CHRO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5753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está digitalizando o RH. Está reposicionando a diretoria como motor de inovação. Essa distinção muda o nível da conversa.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85039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05072"/>
            <a:ext cx="457200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14223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Sustentação após o H1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3708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quick wins de H1 se tornam capacidade permanente — e não projetos pontuais que perdem energia após a entrega?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Próximos Passos — 90 dias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75488" cy="86868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058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914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maturidade de dados e qualidade do HRIS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86968" y="1417320"/>
            <a:ext cx="1005840" cy="201168"/>
          </a:xfrm>
          <a:prstGeom prst="rect">
            <a:avLst/>
          </a:prstGeom>
          <a:solidFill>
            <a:srgbClr val="1F5C2E">
              <a:alpha val="20000"/>
            </a:srgbClr>
          </a:solidFill>
          <a:ln w="3810">
            <a:solidFill>
              <a:srgbClr val="1F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17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75488" cy="86868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0058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76088" y="914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catálogo de serviços e SLAs por área e Tier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76088" y="1417320"/>
            <a:ext cx="1005840" cy="201168"/>
          </a:xfrm>
          <a:prstGeom prst="rect">
            <a:avLst/>
          </a:prstGeom>
          <a:solidFill>
            <a:srgbClr val="1F5C2E">
              <a:alpha val="20000"/>
            </a:srgbClr>
          </a:solidFill>
          <a:ln w="3810">
            <a:solidFill>
              <a:srgbClr val="1F5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417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2–4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828800"/>
            <a:ext cx="475488" cy="868680"/>
          </a:xfrm>
          <a:prstGeom prst="rect">
            <a:avLst/>
          </a:prstGeom>
          <a:solidFill>
            <a:srgbClr val="1F5C2E"/>
          </a:solidFill>
          <a:ln w="12700">
            <a:solidFill>
              <a:srgbClr val="1F5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01168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" y="1920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modelo de governança integrado com a equipe de Tech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6968" y="2423160"/>
            <a:ext cx="1005840" cy="201168"/>
          </a:xfrm>
          <a:prstGeom prst="rect">
            <a:avLst/>
          </a:prstGeom>
          <a:solidFill>
            <a:srgbClr val="1F5C2E">
              <a:alpha val="20000"/>
            </a:srgbClr>
          </a:solidFill>
          <a:ln w="3810">
            <a:solidFill>
              <a:srgbClr val="1F5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828800"/>
            <a:ext cx="475488" cy="8686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01168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76088" y="1920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formação da equipe de Governança de IA em RH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76088" y="2423160"/>
            <a:ext cx="1005840" cy="201168"/>
          </a:xfrm>
          <a:prstGeom prst="rect">
            <a:avLst/>
          </a:prstGeom>
          <a:solidFill>
            <a:srgbClr val="2E5FAC">
              <a:alpha val="20000"/>
            </a:srgbClr>
          </a:solidFill>
          <a:ln w="3810">
            <a:solidFill>
              <a:srgbClr val="2E5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834640"/>
            <a:ext cx="475488" cy="8686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0175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86968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3 use cases de H1 para pilotar (recomendado: UC-07, UC-11, UC-20)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6968" y="3429000"/>
            <a:ext cx="1005840" cy="201168"/>
          </a:xfrm>
          <a:prstGeom prst="rect">
            <a:avLst/>
          </a:prstGeom>
          <a:solidFill>
            <a:srgbClr val="2E5FAC">
              <a:alpha val="20000"/>
            </a:srgbClr>
          </a:solidFill>
          <a:ln w="3810">
            <a:solidFill>
              <a:srgbClr val="2E5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3429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2–3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83464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834640"/>
            <a:ext cx="475488" cy="8686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0175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76088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estratégia ao CHRO com scorecard e roadmap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76088" y="3429000"/>
            <a:ext cx="1005840" cy="201168"/>
          </a:xfrm>
          <a:prstGeom prst="rect">
            <a:avLst/>
          </a:prstGeom>
          <a:solidFill>
            <a:srgbClr val="2E5FAC">
              <a:alpha val="20000"/>
            </a:srgbClr>
          </a:solidFill>
          <a:ln w="3810">
            <a:solidFill>
              <a:srgbClr val="2E5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3429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84048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3840480"/>
            <a:ext cx="475488" cy="868680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40233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86968" y="3931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plano de AI Literacy para liderança da diretoria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6968" y="4434840"/>
            <a:ext cx="1005840" cy="201168"/>
          </a:xfrm>
          <a:prstGeom prst="rect">
            <a:avLst/>
          </a:prstGeom>
          <a:solidFill>
            <a:srgbClr val="856404">
              <a:alpha val="20000"/>
            </a:srgbClr>
          </a:solidFill>
          <a:ln w="3810">
            <a:solidFill>
              <a:srgbClr val="85640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" y="4434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3–4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3840480"/>
            <a:ext cx="41605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840480"/>
            <a:ext cx="475488" cy="868680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40233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276088" y="3931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HR Delivery Hub como estrutura formal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76088" y="4434840"/>
            <a:ext cx="1005840" cy="201168"/>
          </a:xfrm>
          <a:prstGeom prst="rect">
            <a:avLst/>
          </a:prstGeom>
          <a:solidFill>
            <a:srgbClr val="856404">
              <a:alpha val="20000"/>
            </a:srgbClr>
          </a:solidFill>
          <a:ln w="3810">
            <a:solidFill>
              <a:srgbClr val="85640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76088" y="4434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4–6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Solutions &amp; Delivery | Estratégia 2026–2028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2E5FAC">
              <a:alpha val="22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1F7AC4">
              <a:alpha val="18000"/>
            </a:srgbClr>
          </a:solidFill>
          <a:ln w="12700">
            <a:solidFill>
              <a:srgbClr val="1F7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C4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fundação que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o resto possível.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4572000" cy="0"/>
          </a:xfrm>
          <a:prstGeom prst="line">
            <a:avLst/>
          </a:prstGeom>
          <a:noFill/>
          <a:ln w="25400">
            <a:solidFill>
              <a:srgbClr val="5BA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Diretoria de Digital HR Solutions &amp; Delivery não é a retaguarda do RH.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espinha dorsal que viabiliza toda a transformação estratégica da função.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</a:t>
            </a:r>
            <a:pPr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G00830179 · G00847480 · G00841554 · G00855202  ·  </a:t>
            </a:r>
            <a:pPr indent="0" marL="0">
              <a:buNone/>
            </a:pPr>
            <a:r>
              <a:rPr lang="en-US" sz="8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</a:t>
            </a:r>
            <a:pPr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Work / Human+Machine  ·  </a:t>
            </a:r>
            <a:pPr indent="0" marL="0">
              <a:buNone/>
            </a:pPr>
            <a:r>
              <a:rPr lang="en-US" sz="8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Wyman </a:t>
            </a:r>
            <a:pPr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Resilience / AI-Ready Organization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HR Solutions &amp; Delivery — Estratégia 2026–2028</dc:title>
  <dc:subject>PptxGenJS Presentation</dc:subject>
  <dc:creator>Diretoria de Digital HR</dc:creator>
  <cp:lastModifiedBy>Diretoria de Digital HR</cp:lastModifiedBy>
  <cp:revision>1</cp:revision>
  <dcterms:created xsi:type="dcterms:W3CDTF">2026-06-06T16:14:22Z</dcterms:created>
  <dcterms:modified xsi:type="dcterms:W3CDTF">2026-06-06T16:14:22Z</dcterms:modified>
</cp:coreProperties>
</file>