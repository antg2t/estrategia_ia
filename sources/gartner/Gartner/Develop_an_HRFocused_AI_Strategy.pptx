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51" r:id="rId4"/>
    <p:sldMasterId id="2147483952" r:id="rId5"/>
    <p:sldMasterId id="2147483969" r:id="rId6"/>
    <p:sldMasterId id="2147483987" r:id="rId7"/>
  </p:sldMasterIdLst>
  <p:notesMasterIdLst>
    <p:notesMasterId r:id="rId44"/>
  </p:notesMasterIdLst>
  <p:handoutMasterIdLst>
    <p:handoutMasterId r:id="rId45"/>
  </p:handoutMasterIdLst>
  <p:sldIdLst>
    <p:sldId id="2147481729" r:id="rId8"/>
    <p:sldId id="2147481730" r:id="rId9"/>
    <p:sldId id="2147481731" r:id="rId10"/>
    <p:sldId id="259" r:id="rId11"/>
    <p:sldId id="260" r:id="rId12"/>
    <p:sldId id="261" r:id="rId13"/>
    <p:sldId id="262" r:id="rId14"/>
    <p:sldId id="2147481732" r:id="rId15"/>
    <p:sldId id="264" r:id="rId16"/>
    <p:sldId id="265" r:id="rId17"/>
    <p:sldId id="266" r:id="rId18"/>
    <p:sldId id="267" r:id="rId19"/>
    <p:sldId id="268" r:id="rId20"/>
    <p:sldId id="269" r:id="rId21"/>
    <p:sldId id="270" r:id="rId22"/>
    <p:sldId id="271" r:id="rId23"/>
    <p:sldId id="2147481733" r:id="rId24"/>
    <p:sldId id="273" r:id="rId25"/>
    <p:sldId id="2147481734" r:id="rId26"/>
    <p:sldId id="275" r:id="rId27"/>
    <p:sldId id="2147481735" r:id="rId28"/>
    <p:sldId id="277" r:id="rId29"/>
    <p:sldId id="2147481736" r:id="rId30"/>
    <p:sldId id="279" r:id="rId31"/>
    <p:sldId id="2147481737" r:id="rId32"/>
    <p:sldId id="281" r:id="rId33"/>
    <p:sldId id="282" r:id="rId34"/>
    <p:sldId id="283" r:id="rId35"/>
    <p:sldId id="284" r:id="rId36"/>
    <p:sldId id="285" r:id="rId37"/>
    <p:sldId id="286" r:id="rId38"/>
    <p:sldId id="287" r:id="rId39"/>
    <p:sldId id="288" r:id="rId40"/>
    <p:sldId id="289" r:id="rId41"/>
    <p:sldId id="290" r:id="rId42"/>
    <p:sldId id="293" r:id="rId43"/>
  </p:sldIdLst>
  <p:sldSz cx="12192000" cy="6858000"/>
  <p:notesSz cx="6858000" cy="9144000"/>
  <p:embeddedFontLst>
    <p:embeddedFont>
      <p:font typeface="Arial Black" panose="020B0A04020102020204" pitchFamily="34" charset="0"/>
      <p:bold r:id="rId46"/>
    </p:embeddedFont>
    <p:embeddedFont>
      <p:font typeface="Gartner Sans" panose="020B0504030402040204" pitchFamily="34" charset="0"/>
      <p:regular r:id="rId47"/>
      <p:bold r:id="rId48"/>
      <p:italic r:id="rId49"/>
      <p:boldItalic r:id="rId50"/>
    </p:embeddedFont>
    <p:embeddedFont>
      <p:font typeface="Gartner Sans Semibold" panose="020B0704030402040204" pitchFamily="34" charset="0"/>
      <p:regular r:id="rId51"/>
      <p:bold r:id="rId52"/>
      <p:italic r:id="rId53"/>
      <p:boldItalic r:id="rId54"/>
    </p:embeddedFont>
    <p:embeddedFont>
      <p:font typeface="Noto Sans Symbols" panose="020B0604020202020204" charset="0"/>
      <p:regular r:id="rId55"/>
      <p:bold r:id="rId56"/>
      <p:italic r:id="rId57"/>
      <p:boldItalic r:id="rId5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0BDBDC1-CAD5-4D70-BBFF-AEBCEB9A7A20}">
          <p14:sldIdLst>
            <p14:sldId id="2147481729"/>
            <p14:sldId id="2147481730"/>
            <p14:sldId id="2147481731"/>
            <p14:sldId id="259"/>
            <p14:sldId id="260"/>
            <p14:sldId id="261"/>
            <p14:sldId id="262"/>
            <p14:sldId id="2147481732"/>
            <p14:sldId id="264"/>
            <p14:sldId id="265"/>
            <p14:sldId id="266"/>
            <p14:sldId id="267"/>
            <p14:sldId id="268"/>
            <p14:sldId id="269"/>
            <p14:sldId id="270"/>
            <p14:sldId id="271"/>
            <p14:sldId id="2147481733"/>
            <p14:sldId id="273"/>
            <p14:sldId id="2147481734"/>
            <p14:sldId id="275"/>
            <p14:sldId id="2147481735"/>
            <p14:sldId id="277"/>
            <p14:sldId id="2147481736"/>
            <p14:sldId id="279"/>
            <p14:sldId id="2147481737"/>
            <p14:sldId id="281"/>
            <p14:sldId id="282"/>
            <p14:sldId id="283"/>
            <p14:sldId id="284"/>
            <p14:sldId id="285"/>
            <p14:sldId id="286"/>
            <p14:sldId id="287"/>
            <p14:sldId id="288"/>
            <p14:sldId id="289"/>
            <p14:sldId id="290"/>
            <p14:sldId id="29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D39F00-33A1-D504-FFF9-0B46976F0053}" name="Angela Melone" initials="AM" userId="S::angela.melone@gartner.com::476d6350-0513-4268-8d9b-3b3806b80a25" providerId="AD"/>
  <p188:author id="{BC4DAC10-4C77-8718-AADA-16282F4AE1C5}" name="Deepanshu Chauhan" initials="DC" userId="S::deepanshu.chauhan@gartner.com::d8f3a64d-a707-4f85-adcf-3135f0967eca" providerId="AD"/>
  <p188:author id="{9774BD1B-EBBB-C449-CA00-3A1D8953A410}" name="Tracie Valentino" initials="" userId="S::Tracie.Valentino@gartner.com::d210d26e-81a2-450b-9bda-2e853d352f6a" providerId="AD"/>
  <p188:author id="{9392EA1E-9453-3937-7D94-5C59C25EDF86}" name="Nora Silver" initials="NS" userId="S::Nora.Silver@gartner.com::f4d5de43-753d-4c7e-99ff-51350c7a6a87" providerId="AD"/>
  <p188:author id="{693FE16E-B0D7-4D51-BECC-4FC53B6A04C2}" name="Stephanie Clement" initials="SC" userId="S::Stephanie.Clement@gartner.com::499a9889-0bf7-47b1-b56a-af012dc42e24" providerId="AD"/>
  <p188:author id="{D94E6B88-8431-0A3C-AD1E-67986C00FE0A}" name="Christopher W Long" initials="CL" userId="S::christopher.long@gartner.com::4df6aac6-bf78-4e69-a5a5-d46bc2ef8774" providerId="AD"/>
  <p188:author id="{DEA66DC4-FA32-A0B9-6798-C07B7D483537}" name="Tracie Valentino" initials="TV" userId="S::tracie.valentino@gartner.com::d210d26e-81a2-450b-9bda-2e853d352f6a" providerId="AD"/>
  <p188:author id="{D1AF86C6-701E-4B3F-02A0-05CF00ABBEDF}" name="Eser Rizaoglu" initials="ER" userId="S::eser.rizaoglu@gartner.com::956628f0-fece-4600-90ba-58d7ee3934c7" providerId="AD"/>
  <p188:author id="{69356CCF-29D1-70B7-FE65-53C4050E74F1}" name="Maureen Johnson" initials="MJ" userId="S::Maureen.Johnson@gartner.com::90dbf711-2323-48c6-8fab-a608b913e366" providerId="AD"/>
  <p188:author id="{8A3D13D4-A957-24DA-9283-1ABBAB67A73E}" name="Rich Enders" initials="RE" userId="S::Rich.Enders@gartner.com::1ad872d4-5fa0-4d3e-b9bc-40fded2a6f6d" providerId="AD"/>
  <p188:author id="{CFBCEDD4-6AD8-630E-C1BB-56A588D26BA9}" name="Kathleen Losche" initials="KL" userId="S::Kathleen.Losche@gartner.com::1f0fe5ab-5d4b-4bda-8660-95616c868c98" providerId="AD"/>
  <p188:author id="{4D70FBD6-0278-BF37-4C1D-453D85D2A793}" name="Kathleen Losche" initials="KL" userId="S::kathleen.losche@gartner.com::1f0fe5ab-5d4b-4bda-8660-95616c868c9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nders,Rich" initials="E" lastIdx="4" clrIdx="0">
    <p:extLst>
      <p:ext uri="{19B8F6BF-5375-455C-9EA6-DF929625EA0E}">
        <p15:presenceInfo xmlns:p15="http://schemas.microsoft.com/office/powerpoint/2012/main" userId="S::Rich.Enders@gartner.com::1ad872d4-5fa0-4d3e-b9bc-40fded2a6f6d" providerId="AD"/>
      </p:ext>
    </p:extLst>
  </p:cmAuthor>
  <p:cmAuthor id="2" name="Puleio,Michelle" initials="P" lastIdx="1" clrIdx="1">
    <p:extLst>
      <p:ext uri="{19B8F6BF-5375-455C-9EA6-DF929625EA0E}">
        <p15:presenceInfo xmlns:p15="http://schemas.microsoft.com/office/powerpoint/2012/main" userId="S::Michelle.Puleio@gartner.com::4d61dde0-08c5-41fb-925d-691e51c28e04" providerId="AD"/>
      </p:ext>
    </p:extLst>
  </p:cmAuthor>
  <p:cmAuthor id="3" name="Rafferty,Charles" initials="R" lastIdx="1" clrIdx="2">
    <p:extLst>
      <p:ext uri="{19B8F6BF-5375-455C-9EA6-DF929625EA0E}">
        <p15:presenceInfo xmlns:p15="http://schemas.microsoft.com/office/powerpoint/2012/main" userId="S::Charles.Rafferty@gartner.com::7a4208b7-acfc-4cce-8499-c63b78448d8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4B70CA-D855-408D-AB01-FB72E825F7DB}" v="2" dt="2026-07-24T14:31:11.850"/>
  </p1510:revLst>
</p1510:revInfo>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105" d="100"/>
          <a:sy n="105" d="100"/>
        </p:scale>
        <p:origin x="720" y="96"/>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63"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handoutMaster" Target="handoutMasters/handoutMaster1.xml"/><Relationship Id="rId53" Type="http://schemas.openxmlformats.org/officeDocument/2006/relationships/font" Target="fonts/font8.fntdata"/><Relationship Id="rId58" Type="http://schemas.openxmlformats.org/officeDocument/2006/relationships/font" Target="fonts/font13.fntdata"/><Relationship Id="rId66" Type="http://schemas.microsoft.com/office/2018/10/relationships/authors" Target="authors.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font" Target="fonts/font3.fntdata"/><Relationship Id="rId56" Type="http://schemas.openxmlformats.org/officeDocument/2006/relationships/font" Target="fonts/font11.fntdata"/><Relationship Id="rId64"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font" Target="fonts/font1.fntdata"/><Relationship Id="rId59" Type="http://schemas.openxmlformats.org/officeDocument/2006/relationships/commentAuthors" Target="commentAuthor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font" Target="fonts/font9.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notesMaster" Target="notesMasters/notesMaster1.xml"/><Relationship Id="rId52" Type="http://schemas.openxmlformats.org/officeDocument/2006/relationships/font" Target="fonts/font7.fntdata"/><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anie Clement" userId="499a9889-0bf7-47b1-b56a-af012dc42e24" providerId="ADAL" clId="{AAADD412-B0A2-43B3-BC37-C1931D99FC71}"/>
    <pc:docChg chg="delSld modSld modSection">
      <pc:chgData name="Stephanie Clement" userId="499a9889-0bf7-47b1-b56a-af012dc42e24" providerId="ADAL" clId="{AAADD412-B0A2-43B3-BC37-C1931D99FC71}" dt="2026-07-23T21:13:17.128" v="1" actId="47"/>
      <pc:docMkLst>
        <pc:docMk/>
      </pc:docMkLst>
      <pc:sldChg chg="modSp del mod">
        <pc:chgData name="Stephanie Clement" userId="499a9889-0bf7-47b1-b56a-af012dc42e24" providerId="ADAL" clId="{AAADD412-B0A2-43B3-BC37-C1931D99FC71}" dt="2026-07-23T21:13:17.128" v="1" actId="47"/>
        <pc:sldMkLst>
          <pc:docMk/>
          <pc:sldMk cId="2550491898" sldId="2147481738"/>
        </pc:sldMkLst>
        <pc:spChg chg="mod">
          <ac:chgData name="Stephanie Clement" userId="499a9889-0bf7-47b1-b56a-af012dc42e24" providerId="ADAL" clId="{AAADD412-B0A2-43B3-BC37-C1931D99FC71}" dt="2026-07-23T21:13:13.691" v="0" actId="6549"/>
          <ac:spMkLst>
            <pc:docMk/>
            <pc:sldMk cId="2550491898" sldId="2147481738"/>
            <ac:spMk id="3" creationId="{A73ADC44-9E75-6697-6A11-C186746CB362}"/>
          </ac:spMkLst>
        </pc:spChg>
      </pc:sldChg>
    </pc:docChg>
  </pc:docChgLst>
  <pc:docChgLst>
    <pc:chgData name="Kayley Ryan" userId="c086f772-cdf3-4f17-9c8e-e27aefd5b456" providerId="ADAL" clId="{6BC916E5-81B9-40E9-BDBE-EE7B299FEA71}"/>
    <pc:docChg chg="custSel modSld">
      <pc:chgData name="Kayley Ryan" userId="c086f772-cdf3-4f17-9c8e-e27aefd5b456" providerId="ADAL" clId="{6BC916E5-81B9-40E9-BDBE-EE7B299FEA71}" dt="2026-07-24T14:30:41.364" v="126" actId="1076"/>
      <pc:docMkLst>
        <pc:docMk/>
      </pc:docMkLst>
      <pc:sldChg chg="modSp mod">
        <pc:chgData name="Kayley Ryan" userId="c086f772-cdf3-4f17-9c8e-e27aefd5b456" providerId="ADAL" clId="{6BC916E5-81B9-40E9-BDBE-EE7B299FEA71}" dt="2026-07-24T14:19:54.864" v="36" actId="6549"/>
        <pc:sldMkLst>
          <pc:docMk/>
          <pc:sldMk cId="0" sldId="261"/>
        </pc:sldMkLst>
        <pc:spChg chg="mod">
          <ac:chgData name="Kayley Ryan" userId="c086f772-cdf3-4f17-9c8e-e27aefd5b456" providerId="ADAL" clId="{6BC916E5-81B9-40E9-BDBE-EE7B299FEA71}" dt="2026-07-24T14:19:54.864" v="36" actId="6549"/>
          <ac:spMkLst>
            <pc:docMk/>
            <pc:sldMk cId="0" sldId="261"/>
            <ac:spMk id="196" creationId="{00000000-0000-0000-0000-000000000000}"/>
          </ac:spMkLst>
        </pc:spChg>
      </pc:sldChg>
      <pc:sldChg chg="modSp mod">
        <pc:chgData name="Kayley Ryan" userId="c086f772-cdf3-4f17-9c8e-e27aefd5b456" providerId="ADAL" clId="{6BC916E5-81B9-40E9-BDBE-EE7B299FEA71}" dt="2026-07-24T14:20:42.151" v="41" actId="108"/>
        <pc:sldMkLst>
          <pc:docMk/>
          <pc:sldMk cId="0" sldId="262"/>
        </pc:sldMkLst>
        <pc:spChg chg="mod">
          <ac:chgData name="Kayley Ryan" userId="c086f772-cdf3-4f17-9c8e-e27aefd5b456" providerId="ADAL" clId="{6BC916E5-81B9-40E9-BDBE-EE7B299FEA71}" dt="2026-07-24T14:20:42.151" v="41" actId="108"/>
          <ac:spMkLst>
            <pc:docMk/>
            <pc:sldMk cId="0" sldId="262"/>
            <ac:spMk id="226" creationId="{00000000-0000-0000-0000-000000000000}"/>
          </ac:spMkLst>
        </pc:spChg>
      </pc:sldChg>
      <pc:sldChg chg="modSp mod">
        <pc:chgData name="Kayley Ryan" userId="c086f772-cdf3-4f17-9c8e-e27aefd5b456" providerId="ADAL" clId="{6BC916E5-81B9-40E9-BDBE-EE7B299FEA71}" dt="2026-07-24T14:21:08.334" v="46" actId="6549"/>
        <pc:sldMkLst>
          <pc:docMk/>
          <pc:sldMk cId="0" sldId="264"/>
        </pc:sldMkLst>
        <pc:spChg chg="mod">
          <ac:chgData name="Kayley Ryan" userId="c086f772-cdf3-4f17-9c8e-e27aefd5b456" providerId="ADAL" clId="{6BC916E5-81B9-40E9-BDBE-EE7B299FEA71}" dt="2026-07-24T14:21:08.334" v="46" actId="6549"/>
          <ac:spMkLst>
            <pc:docMk/>
            <pc:sldMk cId="0" sldId="264"/>
            <ac:spMk id="252" creationId="{00000000-0000-0000-0000-000000000000}"/>
          </ac:spMkLst>
        </pc:spChg>
      </pc:sldChg>
      <pc:sldChg chg="modSp mod">
        <pc:chgData name="Kayley Ryan" userId="c086f772-cdf3-4f17-9c8e-e27aefd5b456" providerId="ADAL" clId="{6BC916E5-81B9-40E9-BDBE-EE7B299FEA71}" dt="2026-07-24T14:24:56.362" v="53" actId="255"/>
        <pc:sldMkLst>
          <pc:docMk/>
          <pc:sldMk cId="0" sldId="277"/>
        </pc:sldMkLst>
        <pc:graphicFrameChg chg="modGraphic">
          <ac:chgData name="Kayley Ryan" userId="c086f772-cdf3-4f17-9c8e-e27aefd5b456" providerId="ADAL" clId="{6BC916E5-81B9-40E9-BDBE-EE7B299FEA71}" dt="2026-07-24T14:24:56.362" v="53" actId="255"/>
          <ac:graphicFrameMkLst>
            <pc:docMk/>
            <pc:sldMk cId="0" sldId="277"/>
            <ac:graphicFrameMk id="385" creationId="{00000000-0000-0000-0000-000000000000}"/>
          </ac:graphicFrameMkLst>
        </pc:graphicFrameChg>
      </pc:sldChg>
      <pc:sldChg chg="modSp mod">
        <pc:chgData name="Kayley Ryan" userId="c086f772-cdf3-4f17-9c8e-e27aefd5b456" providerId="ADAL" clId="{6BC916E5-81B9-40E9-BDBE-EE7B299FEA71}" dt="2026-07-24T14:26:32.908" v="56" actId="20577"/>
        <pc:sldMkLst>
          <pc:docMk/>
          <pc:sldMk cId="0" sldId="281"/>
        </pc:sldMkLst>
        <pc:spChg chg="mod">
          <ac:chgData name="Kayley Ryan" userId="c086f772-cdf3-4f17-9c8e-e27aefd5b456" providerId="ADAL" clId="{6BC916E5-81B9-40E9-BDBE-EE7B299FEA71}" dt="2026-07-24T14:26:32.908" v="56" actId="20577"/>
          <ac:spMkLst>
            <pc:docMk/>
            <pc:sldMk cId="0" sldId="281"/>
            <ac:spMk id="424" creationId="{00000000-0000-0000-0000-000000000000}"/>
          </ac:spMkLst>
        </pc:spChg>
      </pc:sldChg>
      <pc:sldChg chg="modSp mod">
        <pc:chgData name="Kayley Ryan" userId="c086f772-cdf3-4f17-9c8e-e27aefd5b456" providerId="ADAL" clId="{6BC916E5-81B9-40E9-BDBE-EE7B299FEA71}" dt="2026-07-24T14:27:10.448" v="59" actId="20577"/>
        <pc:sldMkLst>
          <pc:docMk/>
          <pc:sldMk cId="0" sldId="283"/>
        </pc:sldMkLst>
        <pc:graphicFrameChg chg="modGraphic">
          <ac:chgData name="Kayley Ryan" userId="c086f772-cdf3-4f17-9c8e-e27aefd5b456" providerId="ADAL" clId="{6BC916E5-81B9-40E9-BDBE-EE7B299FEA71}" dt="2026-07-24T14:27:10.448" v="59" actId="20577"/>
          <ac:graphicFrameMkLst>
            <pc:docMk/>
            <pc:sldMk cId="0" sldId="283"/>
            <ac:graphicFrameMk id="445" creationId="{00000000-0000-0000-0000-000000000000}"/>
          </ac:graphicFrameMkLst>
        </pc:graphicFrameChg>
      </pc:sldChg>
      <pc:sldChg chg="modSp mod">
        <pc:chgData name="Kayley Ryan" userId="c086f772-cdf3-4f17-9c8e-e27aefd5b456" providerId="ADAL" clId="{6BC916E5-81B9-40E9-BDBE-EE7B299FEA71}" dt="2026-07-24T14:27:40.414" v="76" actId="1035"/>
        <pc:sldMkLst>
          <pc:docMk/>
          <pc:sldMk cId="0" sldId="284"/>
        </pc:sldMkLst>
        <pc:spChg chg="mod">
          <ac:chgData name="Kayley Ryan" userId="c086f772-cdf3-4f17-9c8e-e27aefd5b456" providerId="ADAL" clId="{6BC916E5-81B9-40E9-BDBE-EE7B299FEA71}" dt="2026-07-24T14:27:40.414" v="76" actId="1035"/>
          <ac:spMkLst>
            <pc:docMk/>
            <pc:sldMk cId="0" sldId="284"/>
            <ac:spMk id="453" creationId="{00000000-0000-0000-0000-000000000000}"/>
          </ac:spMkLst>
        </pc:spChg>
        <pc:spChg chg="mod">
          <ac:chgData name="Kayley Ryan" userId="c086f772-cdf3-4f17-9c8e-e27aefd5b456" providerId="ADAL" clId="{6BC916E5-81B9-40E9-BDBE-EE7B299FEA71}" dt="2026-07-24T14:27:40.414" v="76" actId="1035"/>
          <ac:spMkLst>
            <pc:docMk/>
            <pc:sldMk cId="0" sldId="284"/>
            <ac:spMk id="454" creationId="{00000000-0000-0000-0000-000000000000}"/>
          </ac:spMkLst>
        </pc:spChg>
        <pc:spChg chg="mod">
          <ac:chgData name="Kayley Ryan" userId="c086f772-cdf3-4f17-9c8e-e27aefd5b456" providerId="ADAL" clId="{6BC916E5-81B9-40E9-BDBE-EE7B299FEA71}" dt="2026-07-24T14:27:30.807" v="60" actId="1076"/>
          <ac:spMkLst>
            <pc:docMk/>
            <pc:sldMk cId="0" sldId="284"/>
            <ac:spMk id="455" creationId="{00000000-0000-0000-0000-000000000000}"/>
          </ac:spMkLst>
        </pc:spChg>
        <pc:picChg chg="mod">
          <ac:chgData name="Kayley Ryan" userId="c086f772-cdf3-4f17-9c8e-e27aefd5b456" providerId="ADAL" clId="{6BC916E5-81B9-40E9-BDBE-EE7B299FEA71}" dt="2026-07-24T14:27:40.414" v="76" actId="1035"/>
          <ac:picMkLst>
            <pc:docMk/>
            <pc:sldMk cId="0" sldId="284"/>
            <ac:picMk id="452" creationId="{00000000-0000-0000-0000-000000000000}"/>
          </ac:picMkLst>
        </pc:picChg>
      </pc:sldChg>
      <pc:sldChg chg="modSp mod">
        <pc:chgData name="Kayley Ryan" userId="c086f772-cdf3-4f17-9c8e-e27aefd5b456" providerId="ADAL" clId="{6BC916E5-81B9-40E9-BDBE-EE7B299FEA71}" dt="2026-07-24T14:28:55.740" v="118" actId="1036"/>
        <pc:sldMkLst>
          <pc:docMk/>
          <pc:sldMk cId="0" sldId="285"/>
        </pc:sldMkLst>
        <pc:spChg chg="mod">
          <ac:chgData name="Kayley Ryan" userId="c086f772-cdf3-4f17-9c8e-e27aefd5b456" providerId="ADAL" clId="{6BC916E5-81B9-40E9-BDBE-EE7B299FEA71}" dt="2026-07-24T14:28:55.740" v="118" actId="1036"/>
          <ac:spMkLst>
            <pc:docMk/>
            <pc:sldMk cId="0" sldId="285"/>
            <ac:spMk id="468" creationId="{00000000-0000-0000-0000-000000000000}"/>
          </ac:spMkLst>
        </pc:spChg>
        <pc:spChg chg="mod">
          <ac:chgData name="Kayley Ryan" userId="c086f772-cdf3-4f17-9c8e-e27aefd5b456" providerId="ADAL" clId="{6BC916E5-81B9-40E9-BDBE-EE7B299FEA71}" dt="2026-07-24T14:28:55.740" v="118" actId="1036"/>
          <ac:spMkLst>
            <pc:docMk/>
            <pc:sldMk cId="0" sldId="285"/>
            <ac:spMk id="471" creationId="{00000000-0000-0000-0000-000000000000}"/>
          </ac:spMkLst>
        </pc:spChg>
        <pc:spChg chg="mod">
          <ac:chgData name="Kayley Ryan" userId="c086f772-cdf3-4f17-9c8e-e27aefd5b456" providerId="ADAL" clId="{6BC916E5-81B9-40E9-BDBE-EE7B299FEA71}" dt="2026-07-24T14:28:55.740" v="118" actId="1036"/>
          <ac:spMkLst>
            <pc:docMk/>
            <pc:sldMk cId="0" sldId="285"/>
            <ac:spMk id="473" creationId="{00000000-0000-0000-0000-000000000000}"/>
          </ac:spMkLst>
        </pc:spChg>
        <pc:spChg chg="mod">
          <ac:chgData name="Kayley Ryan" userId="c086f772-cdf3-4f17-9c8e-e27aefd5b456" providerId="ADAL" clId="{6BC916E5-81B9-40E9-BDBE-EE7B299FEA71}" dt="2026-07-24T14:28:55.740" v="118" actId="1036"/>
          <ac:spMkLst>
            <pc:docMk/>
            <pc:sldMk cId="0" sldId="285"/>
            <ac:spMk id="474" creationId="{00000000-0000-0000-0000-000000000000}"/>
          </ac:spMkLst>
        </pc:spChg>
        <pc:spChg chg="mod">
          <ac:chgData name="Kayley Ryan" userId="c086f772-cdf3-4f17-9c8e-e27aefd5b456" providerId="ADAL" clId="{6BC916E5-81B9-40E9-BDBE-EE7B299FEA71}" dt="2026-07-24T14:28:55.740" v="118" actId="1036"/>
          <ac:spMkLst>
            <pc:docMk/>
            <pc:sldMk cId="0" sldId="285"/>
            <ac:spMk id="476" creationId="{00000000-0000-0000-0000-000000000000}"/>
          </ac:spMkLst>
        </pc:spChg>
        <pc:spChg chg="mod">
          <ac:chgData name="Kayley Ryan" userId="c086f772-cdf3-4f17-9c8e-e27aefd5b456" providerId="ADAL" clId="{6BC916E5-81B9-40E9-BDBE-EE7B299FEA71}" dt="2026-07-24T14:28:55.740" v="118" actId="1036"/>
          <ac:spMkLst>
            <pc:docMk/>
            <pc:sldMk cId="0" sldId="285"/>
            <ac:spMk id="477" creationId="{00000000-0000-0000-0000-000000000000}"/>
          </ac:spMkLst>
        </pc:spChg>
        <pc:spChg chg="mod">
          <ac:chgData name="Kayley Ryan" userId="c086f772-cdf3-4f17-9c8e-e27aefd5b456" providerId="ADAL" clId="{6BC916E5-81B9-40E9-BDBE-EE7B299FEA71}" dt="2026-07-24T14:28:55.740" v="118" actId="1036"/>
          <ac:spMkLst>
            <pc:docMk/>
            <pc:sldMk cId="0" sldId="285"/>
            <ac:spMk id="478" creationId="{00000000-0000-0000-0000-000000000000}"/>
          </ac:spMkLst>
        </pc:spChg>
        <pc:spChg chg="mod">
          <ac:chgData name="Kayley Ryan" userId="c086f772-cdf3-4f17-9c8e-e27aefd5b456" providerId="ADAL" clId="{6BC916E5-81B9-40E9-BDBE-EE7B299FEA71}" dt="2026-07-24T14:28:55.740" v="118" actId="1036"/>
          <ac:spMkLst>
            <pc:docMk/>
            <pc:sldMk cId="0" sldId="285"/>
            <ac:spMk id="482" creationId="{00000000-0000-0000-0000-000000000000}"/>
          </ac:spMkLst>
        </pc:spChg>
        <pc:spChg chg="mod">
          <ac:chgData name="Kayley Ryan" userId="c086f772-cdf3-4f17-9c8e-e27aefd5b456" providerId="ADAL" clId="{6BC916E5-81B9-40E9-BDBE-EE7B299FEA71}" dt="2026-07-24T14:28:55.740" v="118" actId="1036"/>
          <ac:spMkLst>
            <pc:docMk/>
            <pc:sldMk cId="0" sldId="285"/>
            <ac:spMk id="487" creationId="{00000000-0000-0000-0000-000000000000}"/>
          </ac:spMkLst>
        </pc:spChg>
        <pc:spChg chg="mod">
          <ac:chgData name="Kayley Ryan" userId="c086f772-cdf3-4f17-9c8e-e27aefd5b456" providerId="ADAL" clId="{6BC916E5-81B9-40E9-BDBE-EE7B299FEA71}" dt="2026-07-24T14:28:28.065" v="90" actId="14100"/>
          <ac:spMkLst>
            <pc:docMk/>
            <pc:sldMk cId="0" sldId="285"/>
            <ac:spMk id="489" creationId="{00000000-0000-0000-0000-000000000000}"/>
          </ac:spMkLst>
        </pc:spChg>
        <pc:spChg chg="mod">
          <ac:chgData name="Kayley Ryan" userId="c086f772-cdf3-4f17-9c8e-e27aefd5b456" providerId="ADAL" clId="{6BC916E5-81B9-40E9-BDBE-EE7B299FEA71}" dt="2026-07-24T14:28:41.375" v="104" actId="1035"/>
          <ac:spMkLst>
            <pc:docMk/>
            <pc:sldMk cId="0" sldId="285"/>
            <ac:spMk id="490" creationId="{00000000-0000-0000-0000-000000000000}"/>
          </ac:spMkLst>
        </pc:spChg>
        <pc:spChg chg="mod">
          <ac:chgData name="Kayley Ryan" userId="c086f772-cdf3-4f17-9c8e-e27aefd5b456" providerId="ADAL" clId="{6BC916E5-81B9-40E9-BDBE-EE7B299FEA71}" dt="2026-07-24T14:15:51.534" v="0" actId="20577"/>
          <ac:spMkLst>
            <pc:docMk/>
            <pc:sldMk cId="0" sldId="285"/>
            <ac:spMk id="491" creationId="{00000000-0000-0000-0000-000000000000}"/>
          </ac:spMkLst>
        </pc:spChg>
        <pc:spChg chg="mod">
          <ac:chgData name="Kayley Ryan" userId="c086f772-cdf3-4f17-9c8e-e27aefd5b456" providerId="ADAL" clId="{6BC916E5-81B9-40E9-BDBE-EE7B299FEA71}" dt="2026-07-24T14:28:55.740" v="118" actId="1036"/>
          <ac:spMkLst>
            <pc:docMk/>
            <pc:sldMk cId="0" sldId="285"/>
            <ac:spMk id="492" creationId="{00000000-0000-0000-0000-000000000000}"/>
          </ac:spMkLst>
        </pc:spChg>
        <pc:spChg chg="mod">
          <ac:chgData name="Kayley Ryan" userId="c086f772-cdf3-4f17-9c8e-e27aefd5b456" providerId="ADAL" clId="{6BC916E5-81B9-40E9-BDBE-EE7B299FEA71}" dt="2026-07-24T14:28:19.926" v="89" actId="20577"/>
          <ac:spMkLst>
            <pc:docMk/>
            <pc:sldMk cId="0" sldId="285"/>
            <ac:spMk id="500" creationId="{00000000-0000-0000-0000-000000000000}"/>
          </ac:spMkLst>
        </pc:spChg>
      </pc:sldChg>
      <pc:sldChg chg="modSp mod">
        <pc:chgData name="Kayley Ryan" userId="c086f772-cdf3-4f17-9c8e-e27aefd5b456" providerId="ADAL" clId="{6BC916E5-81B9-40E9-BDBE-EE7B299FEA71}" dt="2026-07-24T14:29:08.068" v="119" actId="1076"/>
        <pc:sldMkLst>
          <pc:docMk/>
          <pc:sldMk cId="0" sldId="286"/>
        </pc:sldMkLst>
        <pc:spChg chg="mod">
          <ac:chgData name="Kayley Ryan" userId="c086f772-cdf3-4f17-9c8e-e27aefd5b456" providerId="ADAL" clId="{6BC916E5-81B9-40E9-BDBE-EE7B299FEA71}" dt="2026-07-24T14:29:08.068" v="119" actId="1076"/>
          <ac:spMkLst>
            <pc:docMk/>
            <pc:sldMk cId="0" sldId="286"/>
            <ac:spMk id="516" creationId="{00000000-0000-0000-0000-000000000000}"/>
          </ac:spMkLst>
        </pc:spChg>
      </pc:sldChg>
      <pc:sldChg chg="modSp mod">
        <pc:chgData name="Kayley Ryan" userId="c086f772-cdf3-4f17-9c8e-e27aefd5b456" providerId="ADAL" clId="{6BC916E5-81B9-40E9-BDBE-EE7B299FEA71}" dt="2026-07-24T14:29:19.940" v="122" actId="20577"/>
        <pc:sldMkLst>
          <pc:docMk/>
          <pc:sldMk cId="0" sldId="287"/>
        </pc:sldMkLst>
        <pc:spChg chg="mod">
          <ac:chgData name="Kayley Ryan" userId="c086f772-cdf3-4f17-9c8e-e27aefd5b456" providerId="ADAL" clId="{6BC916E5-81B9-40E9-BDBE-EE7B299FEA71}" dt="2026-07-24T14:29:19.940" v="122" actId="20577"/>
          <ac:spMkLst>
            <pc:docMk/>
            <pc:sldMk cId="0" sldId="287"/>
            <ac:spMk id="536" creationId="{00000000-0000-0000-0000-000000000000}"/>
          </ac:spMkLst>
        </pc:spChg>
      </pc:sldChg>
      <pc:sldChg chg="modSp mod">
        <pc:chgData name="Kayley Ryan" userId="c086f772-cdf3-4f17-9c8e-e27aefd5b456" providerId="ADAL" clId="{6BC916E5-81B9-40E9-BDBE-EE7B299FEA71}" dt="2026-07-24T14:30:00.654" v="125" actId="6549"/>
        <pc:sldMkLst>
          <pc:docMk/>
          <pc:sldMk cId="0" sldId="288"/>
        </pc:sldMkLst>
        <pc:spChg chg="mod">
          <ac:chgData name="Kayley Ryan" userId="c086f772-cdf3-4f17-9c8e-e27aefd5b456" providerId="ADAL" clId="{6BC916E5-81B9-40E9-BDBE-EE7B299FEA71}" dt="2026-07-24T14:17:39.290" v="10" actId="255"/>
          <ac:spMkLst>
            <pc:docMk/>
            <pc:sldMk cId="0" sldId="288"/>
            <ac:spMk id="558" creationId="{00000000-0000-0000-0000-000000000000}"/>
          </ac:spMkLst>
        </pc:spChg>
        <pc:spChg chg="mod">
          <ac:chgData name="Kayley Ryan" userId="c086f772-cdf3-4f17-9c8e-e27aefd5b456" providerId="ADAL" clId="{6BC916E5-81B9-40E9-BDBE-EE7B299FEA71}" dt="2026-07-24T14:30:00.654" v="125" actId="6549"/>
          <ac:spMkLst>
            <pc:docMk/>
            <pc:sldMk cId="0" sldId="288"/>
            <ac:spMk id="559" creationId="{00000000-0000-0000-0000-000000000000}"/>
          </ac:spMkLst>
        </pc:spChg>
      </pc:sldChg>
      <pc:sldChg chg="modSp mod">
        <pc:chgData name="Kayley Ryan" userId="c086f772-cdf3-4f17-9c8e-e27aefd5b456" providerId="ADAL" clId="{6BC916E5-81B9-40E9-BDBE-EE7B299FEA71}" dt="2026-07-24T14:30:41.364" v="126" actId="1076"/>
        <pc:sldMkLst>
          <pc:docMk/>
          <pc:sldMk cId="0" sldId="289"/>
        </pc:sldMkLst>
        <pc:spChg chg="mod">
          <ac:chgData name="Kayley Ryan" userId="c086f772-cdf3-4f17-9c8e-e27aefd5b456" providerId="ADAL" clId="{6BC916E5-81B9-40E9-BDBE-EE7B299FEA71}" dt="2026-07-24T14:30:41.364" v="126" actId="1076"/>
          <ac:spMkLst>
            <pc:docMk/>
            <pc:sldMk cId="0" sldId="289"/>
            <ac:spMk id="584" creationId="{00000000-0000-0000-0000-000000000000}"/>
          </ac:spMkLst>
        </pc:spChg>
      </pc:sldChg>
      <pc:sldChg chg="modSp mod">
        <pc:chgData name="Kayley Ryan" userId="c086f772-cdf3-4f17-9c8e-e27aefd5b456" providerId="ADAL" clId="{6BC916E5-81B9-40E9-BDBE-EE7B299FEA71}" dt="2026-07-24T14:17:49.021" v="11" actId="2711"/>
        <pc:sldMkLst>
          <pc:docMk/>
          <pc:sldMk cId="0" sldId="290"/>
        </pc:sldMkLst>
        <pc:spChg chg="mod">
          <ac:chgData name="Kayley Ryan" userId="c086f772-cdf3-4f17-9c8e-e27aefd5b456" providerId="ADAL" clId="{6BC916E5-81B9-40E9-BDBE-EE7B299FEA71}" dt="2026-07-24T14:17:49.021" v="11" actId="2711"/>
          <ac:spMkLst>
            <pc:docMk/>
            <pc:sldMk cId="0" sldId="290"/>
            <ac:spMk id="589" creationId="{00000000-0000-0000-0000-000000000000}"/>
          </ac:spMkLst>
        </pc:spChg>
      </pc:sldChg>
      <pc:sldChg chg="modSp mod">
        <pc:chgData name="Kayley Ryan" userId="c086f772-cdf3-4f17-9c8e-e27aefd5b456" providerId="ADAL" clId="{6BC916E5-81B9-40E9-BDBE-EE7B299FEA71}" dt="2026-07-24T14:18:22.451" v="19" actId="20577"/>
        <pc:sldMkLst>
          <pc:docMk/>
          <pc:sldMk cId="0" sldId="2147481730"/>
        </pc:sldMkLst>
        <pc:spChg chg="mod">
          <ac:chgData name="Kayley Ryan" userId="c086f772-cdf3-4f17-9c8e-e27aefd5b456" providerId="ADAL" clId="{6BC916E5-81B9-40E9-BDBE-EE7B299FEA71}" dt="2026-07-24T14:18:22.451" v="19" actId="20577"/>
          <ac:spMkLst>
            <pc:docMk/>
            <pc:sldMk cId="0" sldId="2147481730"/>
            <ac:spMk id="156" creationId="{00000000-0000-0000-0000-000000000000}"/>
          </ac:spMkLst>
        </pc:spChg>
      </pc:sldChg>
      <pc:sldChg chg="modSp mod">
        <pc:chgData name="Kayley Ryan" userId="c086f772-cdf3-4f17-9c8e-e27aefd5b456" providerId="ADAL" clId="{6BC916E5-81B9-40E9-BDBE-EE7B299FEA71}" dt="2026-07-24T14:18:56.119" v="22" actId="20577"/>
        <pc:sldMkLst>
          <pc:docMk/>
          <pc:sldMk cId="0" sldId="2147481731"/>
        </pc:sldMkLst>
        <pc:spChg chg="mod">
          <ac:chgData name="Kayley Ryan" userId="c086f772-cdf3-4f17-9c8e-e27aefd5b456" providerId="ADAL" clId="{6BC916E5-81B9-40E9-BDBE-EE7B299FEA71}" dt="2026-07-24T14:18:56.119" v="22" actId="20577"/>
          <ac:spMkLst>
            <pc:docMk/>
            <pc:sldMk cId="0" sldId="2147481731"/>
            <ac:spMk id="162" creationId="{00000000-0000-0000-0000-000000000000}"/>
          </ac:spMkLst>
        </pc:spChg>
      </pc:sldChg>
      <pc:sldChg chg="modSp mod">
        <pc:chgData name="Kayley Ryan" userId="c086f772-cdf3-4f17-9c8e-e27aefd5b456" providerId="ADAL" clId="{6BC916E5-81B9-40E9-BDBE-EE7B299FEA71}" dt="2026-07-24T14:23:29.306" v="50" actId="6549"/>
        <pc:sldMkLst>
          <pc:docMk/>
          <pc:sldMk cId="0" sldId="2147481733"/>
        </pc:sldMkLst>
        <pc:graphicFrameChg chg="mod modGraphic">
          <ac:chgData name="Kayley Ryan" userId="c086f772-cdf3-4f17-9c8e-e27aefd5b456" providerId="ADAL" clId="{6BC916E5-81B9-40E9-BDBE-EE7B299FEA71}" dt="2026-07-24T14:23:29.306" v="50" actId="6549"/>
          <ac:graphicFrameMkLst>
            <pc:docMk/>
            <pc:sldMk cId="0" sldId="2147481733"/>
            <ac:graphicFrameMk id="318" creationId="{00000000-0000-0000-0000-000000000000}"/>
          </ac:graphicFrameMkLst>
        </pc:graphicFrameChg>
      </pc:sldChg>
      <pc:sldChg chg="modSp mod">
        <pc:chgData name="Kayley Ryan" userId="c086f772-cdf3-4f17-9c8e-e27aefd5b456" providerId="ADAL" clId="{6BC916E5-81B9-40E9-BDBE-EE7B299FEA71}" dt="2026-07-24T14:24:08.116" v="51" actId="20577"/>
        <pc:sldMkLst>
          <pc:docMk/>
          <pc:sldMk cId="0" sldId="2147481734"/>
        </pc:sldMkLst>
        <pc:spChg chg="mod">
          <ac:chgData name="Kayley Ryan" userId="c086f772-cdf3-4f17-9c8e-e27aefd5b456" providerId="ADAL" clId="{6BC916E5-81B9-40E9-BDBE-EE7B299FEA71}" dt="2026-07-24T14:16:02.257" v="7" actId="20577"/>
          <ac:spMkLst>
            <pc:docMk/>
            <pc:sldMk cId="0" sldId="2147481734"/>
            <ac:spMk id="340" creationId="{00000000-0000-0000-0000-000000000000}"/>
          </ac:spMkLst>
        </pc:spChg>
        <pc:spChg chg="mod">
          <ac:chgData name="Kayley Ryan" userId="c086f772-cdf3-4f17-9c8e-e27aefd5b456" providerId="ADAL" clId="{6BC916E5-81B9-40E9-BDBE-EE7B299FEA71}" dt="2026-07-24T14:24:08.116" v="51" actId="20577"/>
          <ac:spMkLst>
            <pc:docMk/>
            <pc:sldMk cId="0" sldId="2147481734"/>
            <ac:spMk id="349"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26B98C-713B-4B72-A4D4-019F5DA80C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C270BE1-CA36-4E08-BA4E-AC3C07DBA58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62039D-F6B0-4B3D-87CD-5EA4BC8D3B27}" type="datetimeFigureOut">
              <a:rPr lang="en-US" smtClean="0"/>
              <a:t>7/24/2026</a:t>
            </a:fld>
            <a:endParaRPr lang="en-US" dirty="0"/>
          </a:p>
        </p:txBody>
      </p:sp>
      <p:sp>
        <p:nvSpPr>
          <p:cNvPr id="4" name="Footer Placeholder 3">
            <a:extLst>
              <a:ext uri="{FF2B5EF4-FFF2-40B4-BE49-F238E27FC236}">
                <a16:creationId xmlns:a16="http://schemas.microsoft.com/office/drawing/2014/main" id="{87346B8E-2606-4769-BF30-459644BE4BF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BEC229D-172E-43E4-8A96-CF0E11D3DD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3B6B68-6C65-4B67-BFEC-C9B9E8911328}" type="slidenum">
              <a:rPr lang="en-US" smtClean="0"/>
              <a:t>‹#›</a:t>
            </a:fld>
            <a:endParaRPr lang="en-US" dirty="0"/>
          </a:p>
        </p:txBody>
      </p:sp>
    </p:spTree>
    <p:extLst>
      <p:ext uri="{BB962C8B-B14F-4D97-AF65-F5344CB8AC3E}">
        <p14:creationId xmlns:p14="http://schemas.microsoft.com/office/powerpoint/2010/main" val="17308988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nvPr>
        </p:nvSpPr>
        <p:spPr>
          <a:xfrm>
            <a:off x="246888" y="3134806"/>
            <a:ext cx="6373368" cy="5698298"/>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Image Placeholder 7">
            <a:extLst>
              <a:ext uri="{FF2B5EF4-FFF2-40B4-BE49-F238E27FC236}">
                <a16:creationId xmlns:a16="http://schemas.microsoft.com/office/drawing/2014/main" id="{EB9A72EB-8446-4162-8400-EAE51CA4B002}"/>
              </a:ext>
            </a:extLst>
          </p:cNvPr>
          <p:cNvSpPr>
            <a:spLocks noGrp="1" noRot="1" noChangeAspect="1"/>
          </p:cNvSpPr>
          <p:nvPr>
            <p:ph type="sldImg" idx="2"/>
          </p:nvPr>
        </p:nvSpPr>
        <p:spPr>
          <a:xfrm>
            <a:off x="1333500" y="658368"/>
            <a:ext cx="4191000" cy="2357438"/>
          </a:xfrm>
          <a:prstGeom prst="rect">
            <a:avLst/>
          </a:prstGeom>
          <a:noFill/>
          <a:ln w="12700">
            <a:solidFill>
              <a:prstClr val="black"/>
            </a:solidFill>
          </a:ln>
        </p:spPr>
        <p:txBody>
          <a:bodyPr vert="horz" lIns="91440" tIns="45720" rIns="91440" bIns="45720" rtlCol="0" anchor="ctr"/>
          <a:lstStyle/>
          <a:p>
            <a:endParaRPr lang="en-US" dirty="0"/>
          </a:p>
        </p:txBody>
      </p:sp>
      <p:sp>
        <p:nvSpPr>
          <p:cNvPr id="10" name="TextBox 9">
            <a:extLst>
              <a:ext uri="{FF2B5EF4-FFF2-40B4-BE49-F238E27FC236}">
                <a16:creationId xmlns:a16="http://schemas.microsoft.com/office/drawing/2014/main" id="{F59BBFC6-D472-4F66-A33B-98EEDC87B9D3}"/>
              </a:ext>
            </a:extLst>
          </p:cNvPr>
          <p:cNvSpPr txBox="1"/>
          <p:nvPr/>
        </p:nvSpPr>
        <p:spPr>
          <a:xfrm rot="16200000">
            <a:off x="-760712" y="1686780"/>
            <a:ext cx="2143215" cy="138499"/>
          </a:xfrm>
          <a:prstGeom prst="rect">
            <a:avLst/>
          </a:prstGeom>
          <a:noFill/>
        </p:spPr>
        <p:txBody>
          <a:bodyPr wrap="none" lIns="0" tIns="0" rIns="0" bIns="0" rtlCol="0" anchor="ctr" anchorCtr="0">
            <a:spAutoFit/>
          </a:bodyPr>
          <a:lstStyle/>
          <a:p>
            <a:pPr algn="ctr"/>
            <a:r>
              <a:rPr lang="en-US" sz="900" dirty="0">
                <a:solidFill>
                  <a:schemeClr val="bg1">
                    <a:lumMod val="75000"/>
                  </a:schemeClr>
                </a:solidFill>
              </a:rPr>
              <a:t>— NOT FOR EXTERNAL DISTRIBUTION —</a:t>
            </a:r>
          </a:p>
        </p:txBody>
      </p:sp>
      <p:sp>
        <p:nvSpPr>
          <p:cNvPr id="11" name="TextBox 10">
            <a:extLst>
              <a:ext uri="{FF2B5EF4-FFF2-40B4-BE49-F238E27FC236}">
                <a16:creationId xmlns:a16="http://schemas.microsoft.com/office/drawing/2014/main" id="{DA573FBF-EDF7-4974-B2B2-CF1E73B474F9}"/>
              </a:ext>
            </a:extLst>
          </p:cNvPr>
          <p:cNvSpPr txBox="1"/>
          <p:nvPr/>
        </p:nvSpPr>
        <p:spPr>
          <a:xfrm rot="5400000">
            <a:off x="5475496" y="1686780"/>
            <a:ext cx="2143215" cy="138499"/>
          </a:xfrm>
          <a:prstGeom prst="rect">
            <a:avLst/>
          </a:prstGeom>
          <a:noFill/>
        </p:spPr>
        <p:txBody>
          <a:bodyPr wrap="none" lIns="0" tIns="0" rIns="0" bIns="0" rtlCol="0" anchor="ctr" anchorCtr="0">
            <a:spAutoFit/>
          </a:bodyPr>
          <a:lstStyle/>
          <a:p>
            <a:pPr algn="ctr"/>
            <a:r>
              <a:rPr lang="en-US" sz="900" dirty="0">
                <a:solidFill>
                  <a:schemeClr val="bg1">
                    <a:lumMod val="75000"/>
                  </a:schemeClr>
                </a:solidFill>
              </a:rPr>
              <a:t>— NOT FOR EXTERNAL DISTRIBUTION —</a:t>
            </a:r>
          </a:p>
        </p:txBody>
      </p:sp>
      <p:sp>
        <p:nvSpPr>
          <p:cNvPr id="23" name="TextBox 22">
            <a:extLst>
              <a:ext uri="{FF2B5EF4-FFF2-40B4-BE49-F238E27FC236}">
                <a16:creationId xmlns:a16="http://schemas.microsoft.com/office/drawing/2014/main" id="{92C8F8D4-DFC9-4259-86F5-A4F987BA15DE}"/>
              </a:ext>
            </a:extLst>
          </p:cNvPr>
          <p:cNvSpPr txBox="1"/>
          <p:nvPr/>
        </p:nvSpPr>
        <p:spPr>
          <a:xfrm>
            <a:off x="246888" y="8887968"/>
            <a:ext cx="4454746" cy="184666"/>
          </a:xfrm>
          <a:prstGeom prst="rect">
            <a:avLst/>
          </a:prstGeom>
          <a:noFill/>
        </p:spPr>
        <p:txBody>
          <a:bodyPr wrap="none" lIns="0" tIns="0" rIns="0" bIns="0" rtlCol="0" anchor="b" anchorCtr="0">
            <a:spAutoFit/>
          </a:bodyPr>
          <a:lstStyle/>
          <a:p>
            <a:pPr marL="228600" indent="-228600"/>
            <a:fld id="{E1F39F5E-4058-4856-B2BD-0FDE5C1B6221}" type="slidenum">
              <a:rPr lang="en-US" sz="600" smtClean="0">
                <a:solidFill>
                  <a:schemeClr val="tx1"/>
                </a:solidFill>
              </a:rPr>
              <a:t>‹#›</a:t>
            </a:fld>
            <a:r>
              <a:rPr lang="en-US" sz="600" dirty="0">
                <a:solidFill>
                  <a:schemeClr val="tx1"/>
                </a:solidFill>
              </a:rPr>
              <a:t>	© 2026 Gartner, Inc. and/or its affiliates. All rights reserved. Gartner is a registered trademark of Gartner, Inc. or its affiliates.</a:t>
            </a:r>
            <a:br>
              <a:rPr lang="en-US" sz="600" dirty="0">
                <a:solidFill>
                  <a:schemeClr val="tx1"/>
                </a:solidFill>
              </a:rPr>
            </a:br>
            <a:r>
              <a:rPr lang="en-US" sz="600" b="1" dirty="0">
                <a:solidFill>
                  <a:schemeClr val="tx1"/>
                </a:solidFill>
              </a:rPr>
              <a:t>RESTRICTED</a:t>
            </a:r>
            <a:r>
              <a:rPr lang="en-US" sz="600" dirty="0">
                <a:solidFill>
                  <a:schemeClr val="tx1"/>
                </a:solidFill>
              </a:rPr>
              <a:t> | Version X.X | Last updated [insert date format: DD Month YYYY]</a:t>
            </a:r>
          </a:p>
        </p:txBody>
      </p:sp>
      <p:sp>
        <p:nvSpPr>
          <p:cNvPr id="26" name="TextBox 25">
            <a:extLst>
              <a:ext uri="{FF2B5EF4-FFF2-40B4-BE49-F238E27FC236}">
                <a16:creationId xmlns:a16="http://schemas.microsoft.com/office/drawing/2014/main" id="{EF32A807-544A-4EBE-989F-ECAA016BF8D1}"/>
              </a:ext>
            </a:extLst>
          </p:cNvPr>
          <p:cNvSpPr txBox="1"/>
          <p:nvPr/>
        </p:nvSpPr>
        <p:spPr>
          <a:xfrm>
            <a:off x="246887" y="128016"/>
            <a:ext cx="6327648" cy="244682"/>
          </a:xfrm>
          <a:prstGeom prst="rect">
            <a:avLst/>
          </a:prstGeom>
          <a:noFill/>
        </p:spPr>
        <p:txBody>
          <a:bodyPr wrap="square" lIns="0" rtlCol="0">
            <a:spAutoFit/>
          </a:bodyPr>
          <a:lstStyle/>
          <a:p>
            <a:pPr>
              <a:lnSpc>
                <a:spcPct val="90000"/>
              </a:lnSpc>
            </a:pPr>
            <a:r>
              <a:rPr lang="en-US" sz="1100" b="0" dirty="0">
                <a:solidFill>
                  <a:schemeClr val="tx1"/>
                </a:solidFill>
                <a:latin typeface="+mj-lt"/>
              </a:rPr>
              <a:t>Presentation Title</a:t>
            </a:r>
          </a:p>
        </p:txBody>
      </p:sp>
    </p:spTree>
    <p:extLst>
      <p:ext uri="{BB962C8B-B14F-4D97-AF65-F5344CB8AC3E}">
        <p14:creationId xmlns:p14="http://schemas.microsoft.com/office/powerpoint/2010/main" val="922378356"/>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90000"/>
      </a:lnSpc>
      <a:spcAft>
        <a:spcPts val="600"/>
      </a:spcAft>
      <a:defRPr sz="1200" kern="1200">
        <a:solidFill>
          <a:schemeClr val="tx1"/>
        </a:solidFill>
        <a:latin typeface="+mn-lt"/>
        <a:ea typeface="+mn-ea"/>
        <a:cs typeface="+mn-cs"/>
      </a:defRPr>
    </a:lvl1pPr>
    <a:lvl2pPr marL="18288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2pPr>
    <a:lvl3pPr marL="36576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3pPr>
    <a:lvl4pPr marL="54864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4pPr>
    <a:lvl5pPr marL="73152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4c4ebdedb0_0_58: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US" dirty="0"/>
              <a:t>Ver 2024-1204</a:t>
            </a:r>
          </a:p>
        </p:txBody>
      </p:sp>
      <p:sp>
        <p:nvSpPr>
          <p:cNvPr id="147" name="Google Shape;147;g34c4ebdedb0_0_58:notes"/>
          <p:cNvSpPr/>
          <p:nvPr/>
        </p:nvSpPr>
        <p:spPr>
          <a:xfrm>
            <a:off x="3862389" y="655411"/>
            <a:ext cx="2618400" cy="420600"/>
          </a:xfrm>
          <a:prstGeom prst="rect">
            <a:avLst/>
          </a:prstGeom>
          <a:noFill/>
          <a:ln>
            <a:noFill/>
          </a:ln>
        </p:spPr>
        <p:txBody>
          <a:bodyPr spcFirstLastPara="1" wrap="square" lIns="65025" tIns="25375" rIns="65025" bIns="25375" anchor="t" anchorCtr="0">
            <a:noAutofit/>
          </a:bodyPr>
          <a:lstStyle/>
          <a:p>
            <a:pPr marL="0" marR="0" lvl="0" indent="0" algn="l" rtl="0">
              <a:lnSpc>
                <a:spcPct val="100000"/>
              </a:lnSpc>
              <a:spcBef>
                <a:spcPts val="0"/>
              </a:spcBef>
              <a:spcAft>
                <a:spcPts val="0"/>
              </a:spcAft>
              <a:buNone/>
            </a:pPr>
            <a:r>
              <a:rPr lang="en-US" sz="1200" dirty="0">
                <a:solidFill>
                  <a:srgbClr val="000000"/>
                </a:solidFill>
                <a:latin typeface="Arial"/>
                <a:ea typeface="Arial"/>
                <a:cs typeface="Arial"/>
                <a:sym typeface="Arial"/>
              </a:rPr>
              <a:t>Presenter's Name</a:t>
            </a:r>
            <a:endParaRPr lang="en-US" dirty="0"/>
          </a:p>
          <a:p>
            <a:pPr marL="0" marR="0" lvl="0" indent="0" algn="l" rtl="0">
              <a:lnSpc>
                <a:spcPct val="100000"/>
              </a:lnSpc>
              <a:spcBef>
                <a:spcPts val="0"/>
              </a:spcBef>
              <a:spcAft>
                <a:spcPts val="0"/>
              </a:spcAft>
              <a:buNone/>
            </a:pPr>
            <a:r>
              <a:rPr lang="en-US" sz="1200" dirty="0">
                <a:solidFill>
                  <a:srgbClr val="000000"/>
                </a:solidFill>
                <a:latin typeface="Arial"/>
                <a:ea typeface="Arial"/>
                <a:cs typeface="Arial"/>
                <a:sym typeface="Arial"/>
              </a:rPr>
              <a:t>Presenter's Name</a:t>
            </a:r>
            <a:endParaRPr lang="en-US" dirty="0"/>
          </a:p>
        </p:txBody>
      </p:sp>
      <p:sp>
        <p:nvSpPr>
          <p:cNvPr id="148" name="Google Shape;148;g34c4ebdedb0_0_58: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53" name="Google Shape;153;p2: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3: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159" name="Google Shape;159;p3: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4: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165" name="Google Shape;165;p4: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4678e9b767_0_1:notes"/>
          <p:cNvSpPr txBox="1">
            <a:spLocks noGrp="1"/>
          </p:cNvSpPr>
          <p:nvPr>
            <p:ph type="body" idx="1"/>
          </p:nvPr>
        </p:nvSpPr>
        <p:spPr>
          <a:xfrm>
            <a:off x="246888" y="3134806"/>
            <a:ext cx="6373500" cy="56982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172" name="Google Shape;172;g34678e9b767_0_1: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47b1d0323c_0_2: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8" name="Google Shape;178;g347b1d0323c_0_2:notes"/>
          <p:cNvSpPr txBox="1">
            <a:spLocks noGrp="1"/>
          </p:cNvSpPr>
          <p:nvPr>
            <p:ph type="body" idx="1"/>
          </p:nvPr>
        </p:nvSpPr>
        <p:spPr>
          <a:xfrm>
            <a:off x="246888" y="3134806"/>
            <a:ext cx="6373500" cy="5698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6: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03" name="Google Shape;203;p6: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7: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9" name="Google Shape;229;p7: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8: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249" name="Google Shape;249;p8: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9: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255" name="Google Shape;255;p9: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0: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261" name="Google Shape;261;p10: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1: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69" name="Google Shape;269;p11: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2: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76" name="Google Shape;276;p12: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3: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296" name="Google Shape;296;p13: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4: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302" name="Google Shape;302;p14: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5: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309" name="Google Shape;309;p15: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6: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315" name="Google Shape;315;p16: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7: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323" name="Google Shape;323;p17: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8: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329" name="Google Shape;329;p18: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9: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356" name="Google Shape;356;p19: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20: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376" name="Google Shape;376;p20: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21: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382" name="Google Shape;382;p21: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2: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389" name="Google Shape;389;p22: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23: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395" name="Google Shape;395;p23: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24: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401" name="Google Shape;401;p24: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5: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421" name="Google Shape;421;p25: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26: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427" name="Google Shape;427;p26: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7: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442" name="Google Shape;442;p27: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28: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449" name="Google Shape;449;p28: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29: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458" name="Google Shape;458;p29: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30: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504" name="Google Shape;504;p30: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31: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524" name="Google Shape;524;p31: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2: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539" name="Google Shape;539;p32: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33: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562" name="Google Shape;562;p33: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34:notes"/>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587" name="Google Shape;587;p34: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0" y="658813"/>
            <a:ext cx="4191000" cy="2357437"/>
          </a:xfrm>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86899D-F447-44BC-B60D-CAC2FB69154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418853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8" cy="2185214"/>
          </a:xfrm>
          <a:prstGeom prst="bracketPair">
            <a:avLst>
              <a:gd name="adj" fmla="val 0"/>
            </a:avLst>
          </a:prstGeom>
          <a:ln w="101600">
            <a:solidFill>
              <a:schemeClr val="accent3"/>
            </a:solidFill>
          </a:ln>
        </p:spPr>
        <p:txBody>
          <a:bodyPr wrap="square" lIns="228600" tIns="91440" rIns="182880" bIns="731520" anchor="t" anchorCtr="0">
            <a:spAutoFit/>
          </a:bodyPr>
          <a:lstStyle>
            <a:lvl1pPr algn="l">
              <a:defRPr sz="4400"/>
            </a:lvl1pPr>
          </a:lstStyle>
          <a:p>
            <a:r>
              <a:rPr lang="en-US" dirty="0"/>
              <a:t>Click to Add Title; 2 Lines of Copy; 60 Characters Maximum</a:t>
            </a:r>
          </a:p>
        </p:txBody>
      </p:sp>
      <p:sp>
        <p:nvSpPr>
          <p:cNvPr id="3" name="Subtitle 2"/>
          <p:cNvSpPr>
            <a:spLocks noGrp="1"/>
          </p:cNvSpPr>
          <p:nvPr>
            <p:ph type="subTitle" idx="1" hasCustomPrompt="1"/>
          </p:nvPr>
        </p:nvSpPr>
        <p:spPr>
          <a:xfrm>
            <a:off x="1371600" y="3965595"/>
            <a:ext cx="8426919" cy="369332"/>
          </a:xfrm>
        </p:spPr>
        <p:txBody>
          <a:bodyPr wrap="square" lIns="246888" rIns="182880" bIns="9144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b="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dirty="0"/>
              <a:t>© 2026 Gartner, Inc. and/or its affiliates. All rights reserved. Gartner is a registered trademark of Gartner, Inc. or its affiliates. This presentation, including all supporting materials, </a:t>
            </a:r>
            <a:br>
              <a:rPr lang="en-US" sz="700" dirty="0"/>
            </a:br>
            <a:r>
              <a:rPr lang="en-US" sz="700"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36028393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2">
    <p:bg>
      <p:bgPr>
        <a:solidFill>
          <a:srgbClr val="E0F1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wrap="square"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dirty="0"/>
              <a:t>© 2026 Gartner, Inc. and/or its affiliates. All rights reserved. Gartner is a registered trademark of Gartner, Inc. or its affiliates. This presentation, including all supporting materials, </a:t>
            </a:r>
            <a:br>
              <a:rPr lang="en-US" sz="700" dirty="0"/>
            </a:br>
            <a:r>
              <a:rPr lang="en-US" sz="700"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26" b="226"/>
          <a:stretch/>
        </p:blipFill>
        <p:spPr>
          <a:xfrm>
            <a:off x="685800" y="685800"/>
            <a:ext cx="1736570" cy="395448"/>
          </a:xfrm>
          <a:prstGeom prst="rect">
            <a:avLst/>
          </a:prstGeom>
        </p:spPr>
      </p:pic>
      <p:sp>
        <p:nvSpPr>
          <p:cNvPr id="3" name="Subtitle 2"/>
          <p:cNvSpPr>
            <a:spLocks noGrp="1"/>
          </p:cNvSpPr>
          <p:nvPr>
            <p:ph type="subTitle" idx="1" hasCustomPrompt="1"/>
          </p:nvPr>
        </p:nvSpPr>
        <p:spPr>
          <a:xfrm>
            <a:off x="1371600" y="3965595"/>
            <a:ext cx="8426919" cy="369332"/>
          </a:xfrm>
        </p:spPr>
        <p:txBody>
          <a:bodyPr lIns="246888" rIns="182880" bIns="9144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19090687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7896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23526774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28850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40419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78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1412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9462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lumn">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4047E553-9C10-4250-83E7-926707F4C9B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6599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lumn shaded">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bwMode="ltGray">
          <a:xfrm>
            <a:off x="457200"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D9C7C6CD-321D-A3C9-38AD-E041A271976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662841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rgbClr val="E0F1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2820602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20000">
                <a:srgbClr val="002869"/>
              </a:gs>
              <a:gs pos="100000">
                <a:srgbClr val="0057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dirty="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27069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dirty="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dirty="0"/>
              <a:t>Click icon to add picture</a:t>
            </a:r>
          </a:p>
        </p:txBody>
      </p:sp>
    </p:spTree>
    <p:extLst>
      <p:ext uri="{BB962C8B-B14F-4D97-AF65-F5344CB8AC3E}">
        <p14:creationId xmlns:p14="http://schemas.microsoft.com/office/powerpoint/2010/main" val="3827290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dirty="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11573963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dirty="0">
                <a:solidFill>
                  <a:srgbClr val="00002D"/>
                </a:solidFill>
                <a:latin typeface="+mj-lt"/>
              </a:rPr>
              <a:t>Don’t use this or any </a:t>
            </a:r>
            <a:br>
              <a:rPr lang="en-US" sz="9600" dirty="0">
                <a:solidFill>
                  <a:srgbClr val="00002D"/>
                </a:solidFill>
                <a:latin typeface="+mj-lt"/>
              </a:rPr>
            </a:br>
            <a:r>
              <a:rPr lang="en-US" sz="9600" dirty="0">
                <a:solidFill>
                  <a:srgbClr val="00002D"/>
                </a:solidFill>
                <a:latin typeface="+mj-lt"/>
              </a:rPr>
              <a:t>layouts after this.</a:t>
            </a:r>
            <a:endParaRPr lang="en-US" sz="4400" dirty="0">
              <a:solidFill>
                <a:srgbClr val="00002D"/>
              </a:solidFill>
              <a:latin typeface="+mj-lt"/>
            </a:endParaRPr>
          </a:p>
          <a:p>
            <a:pPr algn="ctr">
              <a:spcBef>
                <a:spcPts val="3600"/>
              </a:spcBef>
            </a:pPr>
            <a:r>
              <a:rPr lang="en-US" sz="6600" dirty="0">
                <a:solidFill>
                  <a:srgbClr val="00002D"/>
                </a:solidFill>
              </a:rPr>
              <a:t>Choose an appropriate </a:t>
            </a:r>
            <a:br>
              <a:rPr lang="en-US" sz="6600" dirty="0">
                <a:solidFill>
                  <a:srgbClr val="00002D"/>
                </a:solidFill>
              </a:rPr>
            </a:br>
            <a:r>
              <a:rPr lang="en-US" sz="6600" dirty="0">
                <a:solidFill>
                  <a:srgbClr val="00002D"/>
                </a:solidFill>
              </a:rPr>
              <a:t>layout from </a:t>
            </a:r>
            <a:br>
              <a:rPr lang="en-US" sz="6600" dirty="0">
                <a:solidFill>
                  <a:srgbClr val="00002D"/>
                </a:solidFill>
              </a:rPr>
            </a:br>
            <a:r>
              <a:rPr lang="en-US" sz="6600" b="1" dirty="0">
                <a:solidFill>
                  <a:srgbClr val="00002D"/>
                </a:solidFill>
              </a:rPr>
              <a:t>Home</a:t>
            </a:r>
            <a:r>
              <a:rPr lang="en-US" sz="6600" dirty="0">
                <a:solidFill>
                  <a:srgbClr val="00002D"/>
                </a:solidFill>
              </a:rPr>
              <a:t> &gt; </a:t>
            </a:r>
            <a:r>
              <a:rPr lang="en-US" sz="6600" b="1" dirty="0">
                <a:solidFill>
                  <a:srgbClr val="00002D"/>
                </a:solidFill>
              </a:rPr>
              <a:t>Layout gallery</a:t>
            </a:r>
            <a:r>
              <a:rPr lang="en-US" sz="6600" dirty="0">
                <a:solidFill>
                  <a:srgbClr val="00002D"/>
                </a:solidFill>
              </a:rPr>
              <a:t>.</a:t>
            </a:r>
          </a:p>
        </p:txBody>
      </p:sp>
      <p:sp>
        <p:nvSpPr>
          <p:cNvPr id="4" name="TextBox 3">
            <a:extLst>
              <a:ext uri="{FF2B5EF4-FFF2-40B4-BE49-F238E27FC236}">
                <a16:creationId xmlns:a16="http://schemas.microsoft.com/office/drawing/2014/main" id="{AA84E2C2-7CA7-DF36-F217-BE27B9E2B7F8}"/>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dirty="0">
                <a:solidFill>
                  <a:srgbClr val="00002D"/>
                </a:solidFill>
              </a:rPr>
              <a:t>When pasting legacy slides that doesn’t match any of the new layouts, PowerPoint adds it to the end of the layouts and prepends the layout name with a number (1_Title Slide, for example). </a:t>
            </a:r>
          </a:p>
          <a:p>
            <a:pPr algn="l">
              <a:spcBef>
                <a:spcPts val="600"/>
              </a:spcBef>
            </a:pPr>
            <a:r>
              <a:rPr lang="en-US" sz="1400" dirty="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14917412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9" cy="2185214"/>
          </a:xfrm>
          <a:prstGeom prst="bracketPair">
            <a:avLst>
              <a:gd name="adj" fmla="val 0"/>
            </a:avLst>
          </a:prstGeom>
          <a:ln w="1016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nvPr>
        </p:nvSpPr>
        <p:spPr>
          <a:xfrm>
            <a:off x="1371600" y="3965595"/>
            <a:ext cx="8426919" cy="369332"/>
          </a:xfrm>
        </p:spPr>
        <p:txBody>
          <a:bodyPr lIns="246888" rIns="182880" bIns="9144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dirty="0"/>
              <a:t>© 2026 Gartner, Inc. and/or its affiliates. All rights reserved. Gartner is a registered trademark of Gartner, Inc. or its affiliates. This presentation, including all supporting materials, </a:t>
            </a:r>
            <a:br>
              <a:rPr lang="en-US" sz="700" dirty="0"/>
            </a:br>
            <a:r>
              <a:rPr lang="en-US" sz="700"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1637713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dirty="0"/>
              <a:t>© 2026 Gartner, Inc. and/or its affiliates. All rights reserved. Gartner is a registered trademark of Gartner, Inc. or its affiliates. This presentation, including all supporting materials, </a:t>
            </a:r>
            <a:br>
              <a:rPr lang="en-US" sz="700" dirty="0"/>
            </a:br>
            <a:r>
              <a:rPr lang="en-US" sz="700"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17" b="217"/>
          <a:stretch/>
        </p:blipFill>
        <p:spPr>
          <a:xfrm>
            <a:off x="685800" y="685800"/>
            <a:ext cx="1736281" cy="395448"/>
          </a:xfrm>
          <a:prstGeom prst="rect">
            <a:avLst/>
          </a:prstGeom>
        </p:spPr>
      </p:pic>
      <p:sp>
        <p:nvSpPr>
          <p:cNvPr id="3" name="Subtitle 2"/>
          <p:cNvSpPr>
            <a:spLocks noGrp="1"/>
          </p:cNvSpPr>
          <p:nvPr>
            <p:ph type="subTitle" idx="1" hasCustomPrompt="1"/>
          </p:nvPr>
        </p:nvSpPr>
        <p:spPr>
          <a:xfrm>
            <a:off x="1371600" y="3965595"/>
            <a:ext cx="8426919" cy="369332"/>
          </a:xfrm>
        </p:spPr>
        <p:txBody>
          <a:bodyPr lIns="246888" rIns="182880" bIns="9144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813846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972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8004700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3886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9189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4773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2264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66444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column">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6E4411D4-0E67-5435-14D5-254139745768}"/>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19156179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our column shaded">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bwMode="ltGray">
          <a:xfrm>
            <a:off x="457200"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04569A21-AACA-ECE0-9455-DBA748FB7A62}"/>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14286495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8322287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0">
                <a:schemeClr val="accent2"/>
              </a:gs>
              <a:gs pos="80000">
                <a:schemeClr val="accent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dirty="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0635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chemeClr val="accent2"/>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dirty="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dirty="0"/>
              <a:t>Click icon to add picture</a:t>
            </a:r>
          </a:p>
        </p:txBody>
      </p:sp>
    </p:spTree>
    <p:extLst>
      <p:ext uri="{BB962C8B-B14F-4D97-AF65-F5344CB8AC3E}">
        <p14:creationId xmlns:p14="http://schemas.microsoft.com/office/powerpoint/2010/main" val="9903422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chemeClr val="accent2"/>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dirty="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791098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dirty="0">
                <a:solidFill>
                  <a:srgbClr val="00002D"/>
                </a:solidFill>
                <a:latin typeface="+mj-lt"/>
              </a:rPr>
              <a:t>Don’t use this or any </a:t>
            </a:r>
            <a:br>
              <a:rPr lang="en-US" sz="9600" dirty="0">
                <a:solidFill>
                  <a:srgbClr val="00002D"/>
                </a:solidFill>
                <a:latin typeface="+mj-lt"/>
              </a:rPr>
            </a:br>
            <a:r>
              <a:rPr lang="en-US" sz="9600" dirty="0">
                <a:solidFill>
                  <a:srgbClr val="00002D"/>
                </a:solidFill>
                <a:latin typeface="+mj-lt"/>
              </a:rPr>
              <a:t>layouts after this.</a:t>
            </a:r>
            <a:endParaRPr lang="en-US" sz="4400" dirty="0">
              <a:solidFill>
                <a:srgbClr val="00002D"/>
              </a:solidFill>
              <a:latin typeface="+mj-lt"/>
            </a:endParaRPr>
          </a:p>
          <a:p>
            <a:pPr algn="ctr">
              <a:spcBef>
                <a:spcPts val="3600"/>
              </a:spcBef>
            </a:pPr>
            <a:r>
              <a:rPr lang="en-US" sz="6600" dirty="0">
                <a:solidFill>
                  <a:srgbClr val="00002D"/>
                </a:solidFill>
              </a:rPr>
              <a:t>Choose an appropriate </a:t>
            </a:r>
            <a:br>
              <a:rPr lang="en-US" sz="6600" dirty="0">
                <a:solidFill>
                  <a:srgbClr val="00002D"/>
                </a:solidFill>
              </a:rPr>
            </a:br>
            <a:r>
              <a:rPr lang="en-US" sz="6600" dirty="0">
                <a:solidFill>
                  <a:srgbClr val="00002D"/>
                </a:solidFill>
              </a:rPr>
              <a:t>layout from </a:t>
            </a:r>
            <a:br>
              <a:rPr lang="en-US" sz="6600" dirty="0">
                <a:solidFill>
                  <a:srgbClr val="00002D"/>
                </a:solidFill>
              </a:rPr>
            </a:br>
            <a:r>
              <a:rPr lang="en-US" sz="6600" b="1" dirty="0">
                <a:solidFill>
                  <a:srgbClr val="00002D"/>
                </a:solidFill>
              </a:rPr>
              <a:t>Home</a:t>
            </a:r>
            <a:r>
              <a:rPr lang="en-US" sz="6600" dirty="0">
                <a:solidFill>
                  <a:srgbClr val="00002D"/>
                </a:solidFill>
              </a:rPr>
              <a:t> &gt; </a:t>
            </a:r>
            <a:r>
              <a:rPr lang="en-US" sz="6600" b="1" dirty="0">
                <a:solidFill>
                  <a:srgbClr val="00002D"/>
                </a:solidFill>
              </a:rPr>
              <a:t>Layout gallery</a:t>
            </a:r>
            <a:r>
              <a:rPr lang="en-US" sz="6600" dirty="0">
                <a:solidFill>
                  <a:srgbClr val="00002D"/>
                </a:solidFill>
              </a:rPr>
              <a:t>.</a:t>
            </a:r>
          </a:p>
        </p:txBody>
      </p:sp>
      <p:sp>
        <p:nvSpPr>
          <p:cNvPr id="2" name="TextBox 1">
            <a:extLst>
              <a:ext uri="{FF2B5EF4-FFF2-40B4-BE49-F238E27FC236}">
                <a16:creationId xmlns:a16="http://schemas.microsoft.com/office/drawing/2014/main" id="{EB11D6F1-48A0-B0B0-BC3C-5FC66330BED9}"/>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dirty="0">
                <a:solidFill>
                  <a:srgbClr val="00002D"/>
                </a:solidFill>
              </a:rPr>
              <a:t>When pasting legacy slides that doesn’t match any of the new layouts, PowerPoint adds it to the end of the layouts and prepends the layout name with a number (1_Title Slide, for example). </a:t>
            </a:r>
          </a:p>
          <a:p>
            <a:pPr algn="l">
              <a:spcBef>
                <a:spcPts val="600"/>
              </a:spcBef>
            </a:pPr>
            <a:r>
              <a:rPr lang="en-US" sz="1400" dirty="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11348932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9" cy="2185214"/>
          </a:xfrm>
          <a:prstGeom prst="bracketPair">
            <a:avLst>
              <a:gd name="adj" fmla="val 0"/>
            </a:avLst>
          </a:prstGeom>
          <a:ln w="1016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nvPr>
        </p:nvSpPr>
        <p:spPr>
          <a:xfrm>
            <a:off x="1371600" y="3965595"/>
            <a:ext cx="8426919" cy="369332"/>
          </a:xfrm>
        </p:spPr>
        <p:txBody>
          <a:bodyPr lIns="246888" rIns="182880" bIns="9144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dirty="0"/>
              <a:t>© 2026 Gartner, Inc. and/or its affiliates. All rights reserved. Gartner is a registered trademark of Gartner, Inc. or its affiliates. This presentation, including all supporting materials, </a:t>
            </a:r>
            <a:br>
              <a:rPr lang="en-US" sz="700" dirty="0"/>
            </a:br>
            <a:r>
              <a:rPr lang="en-US" sz="700"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13874042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dirty="0"/>
              <a:t>© 2026 Gartner, Inc. and/or its affiliates. All rights reserved. Gartner is a registered trademark of Gartner, Inc. or its affiliates. This presentation, including all supporting materials, </a:t>
            </a:r>
            <a:br>
              <a:rPr lang="en-US" sz="700" dirty="0"/>
            </a:br>
            <a:r>
              <a:rPr lang="en-US" sz="700"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26" b="226"/>
          <a:stretch/>
        </p:blipFill>
        <p:spPr>
          <a:xfrm>
            <a:off x="685800" y="685800"/>
            <a:ext cx="1736570" cy="395448"/>
          </a:xfrm>
          <a:prstGeom prst="rect">
            <a:avLst/>
          </a:prstGeom>
        </p:spPr>
      </p:pic>
      <p:sp>
        <p:nvSpPr>
          <p:cNvPr id="3" name="Subtitle 2"/>
          <p:cNvSpPr>
            <a:spLocks noGrp="1"/>
          </p:cNvSpPr>
          <p:nvPr>
            <p:ph type="subTitle" idx="1" hasCustomPrompt="1"/>
          </p:nvPr>
        </p:nvSpPr>
        <p:spPr>
          <a:xfrm>
            <a:off x="1371600" y="3965595"/>
            <a:ext cx="8426919" cy="369332"/>
          </a:xfrm>
        </p:spPr>
        <p:txBody>
          <a:bodyPr lIns="246888" rIns="182880" bIns="9144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27947198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09203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41605677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05298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653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7487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00093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7733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 column">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C321784C-48D5-8D03-3431-F3D3EE8E0991}"/>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40578544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our column shaded">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bwMode="ltGray">
          <a:xfrm>
            <a:off x="457200"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28F615C7-825E-6714-071A-8D8043F1B80F}"/>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25702339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694389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0">
                <a:schemeClr val="accent2"/>
              </a:gs>
              <a:gs pos="80000">
                <a:schemeClr val="tx2"/>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dirty="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8398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dirty="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dirty="0"/>
              <a:t>Click icon to add picture</a:t>
            </a:r>
          </a:p>
        </p:txBody>
      </p:sp>
    </p:spTree>
    <p:extLst>
      <p:ext uri="{BB962C8B-B14F-4D97-AF65-F5344CB8AC3E}">
        <p14:creationId xmlns:p14="http://schemas.microsoft.com/office/powerpoint/2010/main" val="42114646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dirty="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656736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dirty="0">
                <a:solidFill>
                  <a:srgbClr val="00002D"/>
                </a:solidFill>
                <a:latin typeface="+mj-lt"/>
              </a:rPr>
              <a:t>Don’t use this or any </a:t>
            </a:r>
            <a:br>
              <a:rPr lang="en-US" sz="9600" dirty="0">
                <a:solidFill>
                  <a:srgbClr val="00002D"/>
                </a:solidFill>
                <a:latin typeface="+mj-lt"/>
              </a:rPr>
            </a:br>
            <a:r>
              <a:rPr lang="en-US" sz="9600" dirty="0">
                <a:solidFill>
                  <a:srgbClr val="00002D"/>
                </a:solidFill>
                <a:latin typeface="+mj-lt"/>
              </a:rPr>
              <a:t>layouts after this.</a:t>
            </a:r>
            <a:endParaRPr lang="en-US" sz="4400" dirty="0">
              <a:solidFill>
                <a:srgbClr val="00002D"/>
              </a:solidFill>
              <a:latin typeface="+mj-lt"/>
            </a:endParaRPr>
          </a:p>
          <a:p>
            <a:pPr algn="ctr">
              <a:spcBef>
                <a:spcPts val="3600"/>
              </a:spcBef>
            </a:pPr>
            <a:r>
              <a:rPr lang="en-US" sz="6600" dirty="0">
                <a:solidFill>
                  <a:srgbClr val="00002D"/>
                </a:solidFill>
              </a:rPr>
              <a:t>Choose an appropriate </a:t>
            </a:r>
            <a:br>
              <a:rPr lang="en-US" sz="6600" dirty="0">
                <a:solidFill>
                  <a:srgbClr val="00002D"/>
                </a:solidFill>
              </a:rPr>
            </a:br>
            <a:r>
              <a:rPr lang="en-US" sz="6600" dirty="0">
                <a:solidFill>
                  <a:srgbClr val="00002D"/>
                </a:solidFill>
              </a:rPr>
              <a:t>layout from </a:t>
            </a:r>
            <a:br>
              <a:rPr lang="en-US" sz="6600" dirty="0">
                <a:solidFill>
                  <a:srgbClr val="00002D"/>
                </a:solidFill>
              </a:rPr>
            </a:br>
            <a:r>
              <a:rPr lang="en-US" sz="6600" b="1" dirty="0">
                <a:solidFill>
                  <a:srgbClr val="00002D"/>
                </a:solidFill>
              </a:rPr>
              <a:t>Home</a:t>
            </a:r>
            <a:r>
              <a:rPr lang="en-US" sz="6600" dirty="0">
                <a:solidFill>
                  <a:srgbClr val="00002D"/>
                </a:solidFill>
              </a:rPr>
              <a:t> &gt; </a:t>
            </a:r>
            <a:r>
              <a:rPr lang="en-US" sz="6600" b="1" dirty="0">
                <a:solidFill>
                  <a:srgbClr val="00002D"/>
                </a:solidFill>
              </a:rPr>
              <a:t>Layout gallery</a:t>
            </a:r>
            <a:r>
              <a:rPr lang="en-US" sz="6600" dirty="0">
                <a:solidFill>
                  <a:srgbClr val="00002D"/>
                </a:solidFill>
              </a:rPr>
              <a:t>.</a:t>
            </a:r>
          </a:p>
        </p:txBody>
      </p:sp>
      <p:sp>
        <p:nvSpPr>
          <p:cNvPr id="2" name="TextBox 1">
            <a:extLst>
              <a:ext uri="{FF2B5EF4-FFF2-40B4-BE49-F238E27FC236}">
                <a16:creationId xmlns:a16="http://schemas.microsoft.com/office/drawing/2014/main" id="{C79BCB47-00AD-DF01-2171-B288626052B6}"/>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dirty="0">
                <a:solidFill>
                  <a:srgbClr val="00002D"/>
                </a:solidFill>
              </a:rPr>
              <a:t>When pasting legacy slides that doesn’t match any of the new layouts, PowerPoint adds it to the end of the layouts and prepends the layout name with a number (1_Title Slide, for example). </a:t>
            </a:r>
          </a:p>
          <a:p>
            <a:pPr algn="l">
              <a:spcBef>
                <a:spcPts val="600"/>
              </a:spcBef>
            </a:pPr>
            <a:r>
              <a:rPr lang="en-US" sz="1400" dirty="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29959315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8" cy="2185214"/>
          </a:xfrm>
          <a:prstGeom prst="bracketPair">
            <a:avLst>
              <a:gd name="adj" fmla="val 0"/>
            </a:avLst>
          </a:prstGeom>
          <a:ln w="101600">
            <a:solidFill>
              <a:schemeClr val="accent3"/>
            </a:solidFill>
          </a:ln>
        </p:spPr>
        <p:txBody>
          <a:bodyPr wrap="square"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nvPr>
        </p:nvSpPr>
        <p:spPr>
          <a:xfrm>
            <a:off x="1371600" y="3965595"/>
            <a:ext cx="8426919" cy="369332"/>
          </a:xfrm>
        </p:spPr>
        <p:txBody>
          <a:bodyPr wrap="square" lIns="246888" rIns="182880" bIns="9144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b="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dirty="0"/>
              <a:t>© 2026 Gartner, Inc. and/or its affiliates. All rights reserved. Gartner is a registered trademark of Gartner, Inc. or its affiliates. This presentation, including all supporting materials, </a:t>
            </a:r>
            <a:br>
              <a:rPr lang="en-US" sz="700" dirty="0"/>
            </a:br>
            <a:r>
              <a:rPr lang="en-US" sz="700"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5405953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 preserve="1">
  <p:cSld name="Title Slide 2">
    <p:bg>
      <p:bgPr>
        <a:solidFill>
          <a:srgbClr val="E0F1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wrap="square"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dirty="0"/>
              <a:t>© 2026 Gartner, Inc. and/or its affiliates. All rights reserved. Gartner is a registered trademark of Gartner, Inc. or its affiliates. This presentation, including all supporting materials, </a:t>
            </a:r>
            <a:br>
              <a:rPr lang="en-US" sz="700" dirty="0"/>
            </a:br>
            <a:r>
              <a:rPr lang="en-US" sz="700"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p:nvPicPr>
        <p:blipFill>
          <a:blip r:embed="rId2">
            <a:extLst>
              <a:ext uri="{28A0092B-C50C-407E-A947-70E740481C1C}">
                <a14:useLocalDpi xmlns:a14="http://schemas.microsoft.com/office/drawing/2010/main" val="0"/>
              </a:ext>
            </a:extLst>
          </a:blip>
          <a:srcRect t="226" b="226"/>
          <a:stretch/>
        </p:blipFill>
        <p:spPr>
          <a:xfrm>
            <a:off x="685800" y="685800"/>
            <a:ext cx="1736570" cy="395448"/>
          </a:xfrm>
          <a:prstGeom prst="rect">
            <a:avLst/>
          </a:prstGeom>
        </p:spPr>
      </p:pic>
      <p:sp>
        <p:nvSpPr>
          <p:cNvPr id="3" name="Subtitle 2"/>
          <p:cNvSpPr>
            <a:spLocks noGrp="1"/>
          </p:cNvSpPr>
          <p:nvPr>
            <p:ph type="subTitle" idx="1" hasCustomPrompt="1"/>
          </p:nvPr>
        </p:nvSpPr>
        <p:spPr>
          <a:xfrm>
            <a:off x="1371600" y="3965595"/>
            <a:ext cx="8426919" cy="369332"/>
          </a:xfrm>
        </p:spPr>
        <p:txBody>
          <a:bodyPr lIns="246888" rIns="182880" bIns="9144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18811030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69362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11605813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1968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60548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21969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82874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518922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Four column">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4047E553-9C10-4250-83E7-926707F4C9B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18085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Four column shaded">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bwMode="ltGray">
          <a:xfrm>
            <a:off x="457200"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D9C7C6CD-321D-A3C9-38AD-E041A271976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341310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ivider Slide">
    <p:bg>
      <p:bgPr>
        <a:solidFill>
          <a:srgbClr val="E0F1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3043570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p:nvSpPr>
        <p:spPr bwMode="invGray">
          <a:xfrm>
            <a:off x="-1" y="0"/>
            <a:ext cx="4050792" cy="6858000"/>
          </a:xfrm>
          <a:prstGeom prst="rect">
            <a:avLst/>
          </a:prstGeom>
          <a:gradFill>
            <a:gsLst>
              <a:gs pos="20000">
                <a:srgbClr val="002869"/>
              </a:gs>
              <a:gs pos="100000">
                <a:srgbClr val="0057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dirty="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171411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dirty="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dirty="0"/>
              <a:t>Click icon to add picture</a:t>
            </a:r>
          </a:p>
        </p:txBody>
      </p:sp>
    </p:spTree>
    <p:extLst>
      <p:ext uri="{BB962C8B-B14F-4D97-AF65-F5344CB8AC3E}">
        <p14:creationId xmlns:p14="http://schemas.microsoft.com/office/powerpoint/2010/main" val="18203569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dirty="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7246831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p:nvSpPr>
        <p:spPr>
          <a:xfrm>
            <a:off x="208972" y="189623"/>
            <a:ext cx="11774056" cy="6555641"/>
          </a:xfrm>
          <a:prstGeom prst="rect">
            <a:avLst/>
          </a:prstGeom>
          <a:noFill/>
        </p:spPr>
        <p:txBody>
          <a:bodyPr wrap="none" lIns="0" rIns="0" rtlCol="0">
            <a:spAutoFit/>
          </a:bodyPr>
          <a:lstStyle/>
          <a:p>
            <a:pPr algn="ctr">
              <a:spcBef>
                <a:spcPts val="600"/>
              </a:spcBef>
            </a:pPr>
            <a:r>
              <a:rPr lang="en-US" sz="9600" dirty="0">
                <a:solidFill>
                  <a:srgbClr val="00002D"/>
                </a:solidFill>
                <a:latin typeface="+mj-lt"/>
              </a:rPr>
              <a:t>Don’t use this or any </a:t>
            </a:r>
            <a:br>
              <a:rPr lang="en-US" sz="9600" dirty="0">
                <a:solidFill>
                  <a:srgbClr val="00002D"/>
                </a:solidFill>
                <a:latin typeface="+mj-lt"/>
              </a:rPr>
            </a:br>
            <a:r>
              <a:rPr lang="en-US" sz="9600" dirty="0">
                <a:solidFill>
                  <a:srgbClr val="00002D"/>
                </a:solidFill>
                <a:latin typeface="+mj-lt"/>
              </a:rPr>
              <a:t>layouts after this.</a:t>
            </a:r>
            <a:endParaRPr lang="en-US" sz="4400" dirty="0">
              <a:solidFill>
                <a:srgbClr val="00002D"/>
              </a:solidFill>
              <a:latin typeface="+mj-lt"/>
            </a:endParaRPr>
          </a:p>
          <a:p>
            <a:pPr algn="ctr">
              <a:spcBef>
                <a:spcPts val="3600"/>
              </a:spcBef>
            </a:pPr>
            <a:r>
              <a:rPr lang="en-US" sz="6600" dirty="0">
                <a:solidFill>
                  <a:srgbClr val="00002D"/>
                </a:solidFill>
              </a:rPr>
              <a:t>Choose an appropriate </a:t>
            </a:r>
            <a:br>
              <a:rPr lang="en-US" sz="6600" dirty="0">
                <a:solidFill>
                  <a:srgbClr val="00002D"/>
                </a:solidFill>
              </a:rPr>
            </a:br>
            <a:r>
              <a:rPr lang="en-US" sz="6600" dirty="0">
                <a:solidFill>
                  <a:srgbClr val="00002D"/>
                </a:solidFill>
              </a:rPr>
              <a:t>layout from </a:t>
            </a:r>
            <a:br>
              <a:rPr lang="en-US" sz="6600" dirty="0">
                <a:solidFill>
                  <a:srgbClr val="00002D"/>
                </a:solidFill>
              </a:rPr>
            </a:br>
            <a:r>
              <a:rPr lang="en-US" sz="6600" b="1" dirty="0">
                <a:solidFill>
                  <a:srgbClr val="00002D"/>
                </a:solidFill>
              </a:rPr>
              <a:t>Home</a:t>
            </a:r>
            <a:r>
              <a:rPr lang="en-US" sz="6600" dirty="0">
                <a:solidFill>
                  <a:srgbClr val="00002D"/>
                </a:solidFill>
              </a:rPr>
              <a:t> &gt; </a:t>
            </a:r>
            <a:r>
              <a:rPr lang="en-US" sz="6600" b="1" dirty="0">
                <a:solidFill>
                  <a:srgbClr val="00002D"/>
                </a:solidFill>
              </a:rPr>
              <a:t>Layout gallery</a:t>
            </a:r>
            <a:r>
              <a:rPr lang="en-US" sz="6600" dirty="0">
                <a:solidFill>
                  <a:srgbClr val="00002D"/>
                </a:solidFill>
              </a:rPr>
              <a:t>.</a:t>
            </a:r>
          </a:p>
        </p:txBody>
      </p:sp>
      <p:sp>
        <p:nvSpPr>
          <p:cNvPr id="4" name="TextBox 3">
            <a:extLst>
              <a:ext uri="{FF2B5EF4-FFF2-40B4-BE49-F238E27FC236}">
                <a16:creationId xmlns:a16="http://schemas.microsoft.com/office/drawing/2014/main" id="{AA84E2C2-7CA7-DF36-F217-BE27B9E2B7F8}"/>
              </a:ext>
            </a:extLst>
          </p:cNvPr>
          <p:cNvSpPr txBox="1"/>
          <p:nvPr/>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dirty="0">
                <a:solidFill>
                  <a:srgbClr val="00002D"/>
                </a:solidFill>
              </a:rPr>
              <a:t>When pasting legacy slides that doesn’t match any of the new layouts, PowerPoint adds it to the end of the layouts and prepends the layout name with a number (1_Title Slide, for example). </a:t>
            </a:r>
          </a:p>
          <a:p>
            <a:pPr algn="l">
              <a:spcBef>
                <a:spcPts val="600"/>
              </a:spcBef>
            </a:pPr>
            <a:r>
              <a:rPr lang="en-US" sz="1400" dirty="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2380880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image" Target="../media/image3.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image" Target="../media/image1.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theme" Target="../theme/theme3.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18" Type="http://schemas.openxmlformats.org/officeDocument/2006/relationships/image" Target="../media/image1.png"/><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theme" Target="../theme/theme4.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dirty="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26" b="226"/>
          <a:stretch/>
        </p:blipFill>
        <p:spPr>
          <a:xfrm>
            <a:off x="10454640" y="6239533"/>
            <a:ext cx="1350666" cy="307571"/>
          </a:xfrm>
          <a:prstGeom prst="rect">
            <a:avLst/>
          </a:prstGeom>
        </p:spPr>
      </p:pic>
    </p:spTree>
    <p:extLst>
      <p:ext uri="{BB962C8B-B14F-4D97-AF65-F5344CB8AC3E}">
        <p14:creationId xmlns:p14="http://schemas.microsoft.com/office/powerpoint/2010/main" val="377813297"/>
      </p:ext>
    </p:extLst>
  </p:cSld>
  <p:clrMap bg1="lt1" tx1="dk1" bg2="lt2" tx2="dk2" accent1="accent1" accent2="accent2" accent3="accent3" accent4="accent4" accent5="accent5" accent6="accent6" hlink="hlink" folHlink="folHlink"/>
  <p:sldLayoutIdLst>
    <p:sldLayoutId id="2147483852" r:id="rId1"/>
    <p:sldLayoutId id="2147483929" r:id="rId2"/>
    <p:sldLayoutId id="2147483854" r:id="rId3"/>
    <p:sldLayoutId id="2147483855" r:id="rId4"/>
    <p:sldLayoutId id="2147483856" r:id="rId5"/>
    <p:sldLayoutId id="2147483857" r:id="rId6"/>
    <p:sldLayoutId id="2147483858" r:id="rId7"/>
    <p:sldLayoutId id="2147483859" r:id="rId8"/>
    <p:sldLayoutId id="2147483860" r:id="rId9"/>
    <p:sldLayoutId id="2147483943" r:id="rId10"/>
    <p:sldLayoutId id="2147483944" r:id="rId11"/>
    <p:sldLayoutId id="2147483948" r:id="rId12"/>
    <p:sldLayoutId id="2147483947" r:id="rId13"/>
    <p:sldLayoutId id="2147483867" r:id="rId14"/>
    <p:sldLayoutId id="2147483941" r:id="rId15"/>
    <p:sldLayoutId id="2147483949"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dirty="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17" b="217"/>
          <a:stretch/>
        </p:blipFill>
        <p:spPr>
          <a:xfrm>
            <a:off x="10454640" y="6239533"/>
            <a:ext cx="1350441" cy="307571"/>
          </a:xfrm>
          <a:prstGeom prst="rect">
            <a:avLst/>
          </a:prstGeom>
        </p:spPr>
      </p:pic>
    </p:spTree>
    <p:extLst>
      <p:ext uri="{BB962C8B-B14F-4D97-AF65-F5344CB8AC3E}">
        <p14:creationId xmlns:p14="http://schemas.microsoft.com/office/powerpoint/2010/main" val="1624709770"/>
      </p:ext>
    </p:extLst>
  </p:cSld>
  <p:clrMap bg1="dk1" tx1="lt1" bg2="dk2" tx2="lt2" accent1="accent1" accent2="accent2" accent3="accent3" accent4="accent4" accent5="accent5" accent6="accent6" hlink="hlink" folHlink="folHlink"/>
  <p:sldLayoutIdLst>
    <p:sldLayoutId id="2147483954" r:id="rId1"/>
    <p:sldLayoutId id="2147483953"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6" r:id="rId14"/>
    <p:sldLayoutId id="2147483967" r:id="rId15"/>
    <p:sldLayoutId id="2147483985"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0F1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dirty="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26" b="226"/>
          <a:stretch/>
        </p:blipFill>
        <p:spPr>
          <a:xfrm>
            <a:off x="10454640" y="6239533"/>
            <a:ext cx="1350666" cy="307571"/>
          </a:xfrm>
          <a:prstGeom prst="rect">
            <a:avLst/>
          </a:prstGeom>
        </p:spPr>
      </p:pic>
    </p:spTree>
    <p:extLst>
      <p:ext uri="{BB962C8B-B14F-4D97-AF65-F5344CB8AC3E}">
        <p14:creationId xmlns:p14="http://schemas.microsoft.com/office/powerpoint/2010/main" val="2602401083"/>
      </p:ext>
    </p:extLst>
  </p:cSld>
  <p:clrMap bg1="lt1" tx1="dk1" bg2="lt2" tx2="dk2" accent1="accent1" accent2="accent2" accent3="accent3" accent4="accent4" accent5="accent5" accent6="accent6" hlink="hlink" folHlink="folHlink"/>
  <p:sldLayoutIdLst>
    <p:sldLayoutId id="2147483971" r:id="rId1"/>
    <p:sldLayoutId id="2147483970"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 id="2147483983" r:id="rId14"/>
    <p:sldLayoutId id="2147483984" r:id="rId15"/>
    <p:sldLayoutId id="2147483986"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dirty="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26" b="226"/>
          <a:stretch/>
        </p:blipFill>
        <p:spPr>
          <a:xfrm>
            <a:off x="10454640" y="6239533"/>
            <a:ext cx="1350666" cy="307571"/>
          </a:xfrm>
          <a:prstGeom prst="rect">
            <a:avLst/>
          </a:prstGeom>
        </p:spPr>
      </p:pic>
    </p:spTree>
    <p:extLst>
      <p:ext uri="{BB962C8B-B14F-4D97-AF65-F5344CB8AC3E}">
        <p14:creationId xmlns:p14="http://schemas.microsoft.com/office/powerpoint/2010/main" val="299191434"/>
      </p:ext>
    </p:extLst>
  </p:cSld>
  <p:clrMap bg1="lt1" tx1="dk1" bg2="lt2" tx2="dk2" accent1="accent1" accent2="accent2" accent3="accent3" accent4="accent4" accent5="accent5" accent6="accent6" hlink="hlink" folHlink="folHlink"/>
  <p:sldLayoutIdLst>
    <p:sldLayoutId id="2147483988" r:id="rId1"/>
    <p:sldLayoutId id="2147483989" r:id="rId2"/>
    <p:sldLayoutId id="2147483990" r:id="rId3"/>
    <p:sldLayoutId id="2147483991" r:id="rId4"/>
    <p:sldLayoutId id="2147483992" r:id="rId5"/>
    <p:sldLayoutId id="2147483993" r:id="rId6"/>
    <p:sldLayoutId id="2147483994" r:id="rId7"/>
    <p:sldLayoutId id="2147483995" r:id="rId8"/>
    <p:sldLayoutId id="2147483996" r:id="rId9"/>
    <p:sldLayoutId id="2147483997" r:id="rId10"/>
    <p:sldLayoutId id="2147483998" r:id="rId11"/>
    <p:sldLayoutId id="2147483999" r:id="rId12"/>
    <p:sldLayoutId id="2147484000" r:id="rId13"/>
    <p:sldLayoutId id="2147484001" r:id="rId14"/>
    <p:sldLayoutId id="2147484002" r:id="rId15"/>
    <p:sldLayoutId id="2147484003"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p15:clr>
            <a:srgbClr val="A4A3A4"/>
          </p15:clr>
        </p15:guide>
        <p15:guide id="15" pos="3840">
          <p15:clr>
            <a:srgbClr val="A4A3A4"/>
          </p15:clr>
        </p15:guide>
        <p15:guide id="16" orient="horz" pos="228">
          <p15:clr>
            <a:srgbClr val="5ACBF0"/>
          </p15:clr>
        </p15:guide>
        <p15:guide id="17" orient="horz" pos="537">
          <p15:clr>
            <a:srgbClr val="FDE53C"/>
          </p15:clr>
        </p15:guide>
        <p15:guide id="18" orient="horz" pos="848">
          <p15:clr>
            <a:srgbClr val="FDE53C"/>
          </p15:clr>
        </p15:guide>
        <p15:guide id="19" orient="horz" pos="960">
          <p15:clr>
            <a:srgbClr val="5ACBF0"/>
          </p15:clr>
        </p15:guide>
        <p15:guide id="20" orient="horz" pos="3773">
          <p15:clr>
            <a:srgbClr val="FBAE40"/>
          </p15:clr>
        </p15:guide>
        <p15:guide id="21" orient="horz" pos="4001">
          <p15:clr>
            <a:srgbClr val="5ACBF0"/>
          </p15:clr>
        </p15:guide>
        <p15:guide id="22" orient="horz" pos="4113">
          <p15:clr>
            <a:srgbClr val="5ACBF0"/>
          </p15:clr>
        </p15:guide>
        <p15:guide id="23" pos="288">
          <p15:clr>
            <a:srgbClr val="5ACBF0"/>
          </p15:clr>
        </p15:guide>
        <p15:guide id="24" pos="3756">
          <p15:clr>
            <a:srgbClr val="5ACBF0"/>
          </p15:clr>
        </p15:guide>
        <p15:guide id="25" pos="3927">
          <p15:clr>
            <a:srgbClr val="5ACBF0"/>
          </p15:clr>
        </p15:guide>
        <p15:guide id="26" pos="7394">
          <p15:clr>
            <a:srgbClr val="5ACBF0"/>
          </p15:clr>
        </p15:guide>
        <p15:guide id="27" orient="horz" pos="3969">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gartner.com/document-reader/document/7756121?ref=solrAll&amp;refval=561953053&amp;"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hyperlink" Target="https://www.gartner.com/document/code/852708?ref=ddisp&amp;refval=852708"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gartner.com/document-reader/document/7959573" TargetMode="External"/><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hyperlink" Target="https://www.gartner.com/document-reader/document/7541549?ref=solrAll&amp;refval=561957391&amp;" TargetMode="External"/><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www.gartner.com/document-reader/document/4884931" TargetMode="Externa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hyperlink" Target="https://www.gartner.com/document-reader/document/5458863" TargetMode="External"/><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hyperlink" Target="https://www.gartner.com/document-reader/document/7741389?ref=solrAll&amp;refval=561958253&amp;"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hyperlink" Target="https://www.gartner.com/document-reader/document/8017369" TargetMode="External"/><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hyperlink" Target="https://www.gartner.com/document-reader/document/5809615" TargetMode="External"/><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hyperlink" Target="https://www.gartner.com/document-reader/document/7937273?ref=solrAll&amp;refval=561959821&amp;"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52.xml"/><Relationship Id="rId6" Type="http://schemas.openxmlformats.org/officeDocument/2006/relationships/hyperlink" Target="https://www.gartner.com/document-reader/document/code/852707" TargetMode="External"/><Relationship Id="rId5" Type="http://schemas.openxmlformats.org/officeDocument/2006/relationships/hyperlink" Target="https://www.gartner.com/document-reader/document/7756121" TargetMode="Externa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g34c4ebdedb0_0_58"/>
          <p:cNvSpPr txBox="1">
            <a:spLocks noGrp="1"/>
          </p:cNvSpPr>
          <p:nvPr>
            <p:ph type="ctrTitle"/>
          </p:nvPr>
        </p:nvSpPr>
        <p:spPr>
          <a:xfrm>
            <a:off x="921524" y="1977139"/>
            <a:ext cx="7284600" cy="176310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2"/>
              </a:buClr>
              <a:buSzPts val="3600"/>
              <a:buFont typeface="Arial Black"/>
              <a:buNone/>
            </a:pPr>
            <a:r>
              <a:rPr lang="en-US" dirty="0"/>
              <a:t>Develop an HR-Focused </a:t>
            </a:r>
            <a:br>
              <a:rPr lang="en-US" dirty="0"/>
            </a:br>
            <a:r>
              <a:rPr lang="en-US" dirty="0"/>
              <a:t>AI Strategy</a:t>
            </a:r>
          </a:p>
        </p:txBody>
      </p:sp>
      <p:sp>
        <p:nvSpPr>
          <p:cNvPr id="2" name="Google Shape;105;g34c4ebdedb0_0_69">
            <a:extLst>
              <a:ext uri="{FF2B5EF4-FFF2-40B4-BE49-F238E27FC236}">
                <a16:creationId xmlns:a16="http://schemas.microsoft.com/office/drawing/2014/main" id="{6216C3FC-1C0D-E966-7502-1985E628F229}"/>
              </a:ext>
            </a:extLst>
          </p:cNvPr>
          <p:cNvSpPr txBox="1"/>
          <p:nvPr/>
        </p:nvSpPr>
        <p:spPr>
          <a:xfrm>
            <a:off x="708674" y="5149864"/>
            <a:ext cx="7862700" cy="494494"/>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200"/>
              </a:spcBef>
              <a:spcAft>
                <a:spcPts val="0"/>
              </a:spcAft>
              <a:buNone/>
            </a:pPr>
            <a:r>
              <a:rPr lang="en-US" sz="800" dirty="0">
                <a:latin typeface="Arial"/>
                <a:ea typeface="Arial"/>
                <a:cs typeface="Arial"/>
                <a:sym typeface="Arial"/>
              </a:rPr>
              <a:t>Unless otherwise marked for external use, the items in this Gartner Tool are for internal noncommercial use by the licensed Gartner client. The materials contained in this Tool may not be repackaged or resold. Gartner makes no representations or warranties as to the suitability of this Tool for any particular purpose, and disclaims all liabilities for any damages, whether direct, consequential, incidental or special, arising out of the use of or inability to use this material or the information provided herein.</a:t>
            </a:r>
            <a:endParaRPr lang="en-US" dirty="0"/>
          </a:p>
          <a:p>
            <a:pPr marL="0" marR="0" lvl="0" indent="0" algn="l" rtl="0">
              <a:lnSpc>
                <a:spcPct val="90000"/>
              </a:lnSpc>
              <a:spcBef>
                <a:spcPts val="200"/>
              </a:spcBef>
              <a:spcAft>
                <a:spcPts val="0"/>
              </a:spcAft>
              <a:buNone/>
            </a:pPr>
            <a:r>
              <a:rPr lang="en-US" sz="800" dirty="0">
                <a:latin typeface="Arial"/>
                <a:ea typeface="Arial"/>
                <a:cs typeface="Arial"/>
                <a:sym typeface="Arial"/>
              </a:rPr>
              <a:t>The instructions, intent and objective of this template are contained in the source document. Please refer back to that document for details.</a:t>
            </a:r>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1200"/>
              </a:spcAft>
              <a:buClr>
                <a:schemeClr val="dk2"/>
              </a:buClr>
              <a:buSzPts val="3200"/>
              <a:buFont typeface="Arial Black"/>
              <a:buNone/>
            </a:pPr>
            <a:r>
              <a:rPr lang="en-US" dirty="0"/>
              <a:t>About This Tool</a:t>
            </a:r>
          </a:p>
        </p:txBody>
      </p:sp>
      <p:sp>
        <p:nvSpPr>
          <p:cNvPr id="156" name="Google Shape;156;p2"/>
          <p:cNvSpPr txBox="1">
            <a:spLocks noGrp="1"/>
          </p:cNvSpPr>
          <p:nvPr>
            <p:ph type="body" idx="1"/>
          </p:nvPr>
        </p:nvSpPr>
        <p:spPr>
          <a:xfrm>
            <a:off x="457200" y="1197864"/>
            <a:ext cx="11274552" cy="4462272"/>
          </a:xfrm>
          <a:prstGeom prst="rect">
            <a:avLst/>
          </a:prstGeom>
          <a:noFill/>
          <a:ln>
            <a:noFill/>
          </a:ln>
        </p:spPr>
        <p:txBody>
          <a:bodyPr spcFirstLastPara="1" wrap="square" lIns="0" tIns="0" rIns="0" bIns="0" anchor="t" anchorCtr="0">
            <a:noAutofit/>
          </a:bodyPr>
          <a:lstStyle/>
          <a:p>
            <a:pPr marL="342900">
              <a:lnSpc>
                <a:spcPct val="100000"/>
              </a:lnSpc>
              <a:buSzPts val="2400"/>
            </a:pPr>
            <a:r>
              <a:rPr lang="en-US" dirty="0"/>
              <a:t>This tool provides foundational guidance with templates to construct an AI strategy document for your HR function. It contains the key components of an HR-focused AI strategy and guidance to tailor them to your requirements. </a:t>
            </a:r>
          </a:p>
          <a:p>
            <a:pPr marL="342900">
              <a:lnSpc>
                <a:spcPct val="100000"/>
              </a:lnSpc>
              <a:buSzPts val="2400"/>
            </a:pPr>
            <a:r>
              <a:rPr lang="en-US" dirty="0"/>
              <a:t>This tool will require inputs from external stakeholders and alignment to the broader enterprise AI strategy as well as your HR function and HR technology strategies to be a fully completed document.</a:t>
            </a:r>
          </a:p>
          <a:p>
            <a:pPr marL="0" indent="0">
              <a:buNone/>
            </a:pPr>
            <a:r>
              <a:rPr lang="en-US" dirty="0">
                <a:latin typeface="+mn-l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Please note: </a:t>
            </a:r>
          </a:p>
          <a:p>
            <a:pPr lvl="1"/>
            <a:r>
              <a:rPr lang="en-US" dirty="0">
                <a:solidFill>
                  <a:srgbClr val="000000"/>
                </a:solidFill>
              </a:rPr>
              <a:t>An HR-focused strategy is one of six capabilities for a successful HR AI program. Leverage our </a:t>
            </a:r>
            <a:r>
              <a:rPr lang="en-US" dirty="0">
                <a:hlinkClick r:id="rId3"/>
              </a:rPr>
              <a:t>Tool: AI Roadmap for HR</a:t>
            </a:r>
            <a:r>
              <a:rPr lang="en-US" dirty="0"/>
              <a:t> for support in all activities surrounding building an AI strategy for the HR function and in the other capabilities.</a:t>
            </a:r>
            <a:endParaRPr lang="en-US" dirty="0">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endParaRPr>
          </a:p>
          <a:p>
            <a:pPr lvl="1"/>
            <a:r>
              <a:rPr lang="en-US" dirty="0">
                <a:latin typeface="+mn-l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This research </a:t>
            </a:r>
            <a:r>
              <a:rPr lang="en-US" dirty="0">
                <a:latin typeface="+mn-l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provide</a:t>
            </a:r>
            <a:r>
              <a:rPr lang="en-US" dirty="0">
                <a:latin typeface="+mn-l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s guidance in setting </a:t>
            </a:r>
            <a:r>
              <a:rPr lang="en-US" b="1" dirty="0">
                <a:latin typeface="+mn-l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3"/>
                  </a:ext>
                </a:extLst>
              </a:rPr>
              <a:t>HR’s </a:t>
            </a:r>
            <a:r>
              <a:rPr lang="en-US" dirty="0">
                <a:latin typeface="+mn-l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AI strategy for your function. </a:t>
            </a:r>
            <a:r>
              <a:rPr lang="en-US" dirty="0">
                <a:latin typeface="+mn-l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However, </a:t>
            </a:r>
            <a:r>
              <a:rPr lang="en-US" dirty="0">
                <a:latin typeface="+mn-l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it does not cover </a:t>
            </a:r>
            <a:r>
              <a:rPr lang="en-US" dirty="0"/>
              <a:t>HR’s role in supporting your organization’s broader AI strategy (see </a:t>
            </a:r>
            <a:r>
              <a:rPr lang="en-US" b="1" dirty="0">
                <a:hlinkClick r:id="rId4"/>
              </a:rPr>
              <a:t>Top Insights on AI for CHROs</a:t>
            </a:r>
            <a:r>
              <a:rPr lang="en-US" b="0" i="0" dirty="0">
                <a:solidFill>
                  <a:srgbClr val="000000"/>
                </a:solidFill>
                <a:effectLst/>
                <a:latin typeface="+mn-lt"/>
              </a:rPr>
              <a:t>).</a:t>
            </a:r>
          </a:p>
          <a:p>
            <a:pPr>
              <a:spcAft>
                <a:spcPts val="3000"/>
              </a:spcAft>
              <a:buFont typeface="Arial" panose="020B0604020202020204" pitchFamily="34" charset="0"/>
              <a:buChar char="—"/>
            </a:pPr>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Before Getting Started</a:t>
            </a:r>
          </a:p>
        </p:txBody>
      </p:sp>
      <p:sp>
        <p:nvSpPr>
          <p:cNvPr id="162" name="Google Shape;162;p3"/>
          <p:cNvSpPr txBox="1">
            <a:spLocks noGrp="1"/>
          </p:cNvSpPr>
          <p:nvPr>
            <p:ph type="body" idx="1"/>
          </p:nvPr>
        </p:nvSpPr>
        <p:spPr>
          <a:xfrm>
            <a:off x="457200" y="997476"/>
            <a:ext cx="11274600" cy="5117100"/>
          </a:xfrm>
          <a:prstGeom prst="rect">
            <a:avLst/>
          </a:prstGeom>
          <a:noFill/>
          <a:ln>
            <a:noFill/>
          </a:ln>
        </p:spPr>
        <p:txBody>
          <a:bodyPr spcFirstLastPara="1" wrap="square" lIns="0" tIns="0" rIns="0" bIns="0" anchor="t" anchorCtr="0">
            <a:noAutofit/>
          </a:bodyPr>
          <a:lstStyle/>
          <a:p>
            <a:pPr marL="342900">
              <a:spcBef>
                <a:spcPts val="0"/>
              </a:spcBef>
              <a:buSzPts val="2400"/>
            </a:pPr>
            <a:r>
              <a:rPr lang="en-US" dirty="0"/>
              <a:t>An effective HR-focused AI strategy is the product of alignment with the broader enterprise strategy, collaboration within HR, and inputs from IT, legal and compliance.</a:t>
            </a:r>
          </a:p>
          <a:p>
            <a:pPr marL="342900">
              <a:buSzPts val="2400"/>
            </a:pPr>
            <a:r>
              <a:rPr lang="en-US" dirty="0"/>
              <a:t>We recommend the following:</a:t>
            </a:r>
          </a:p>
          <a:p>
            <a:pPr lvl="1" indent="-355600">
              <a:lnSpc>
                <a:spcPct val="100000"/>
              </a:lnSpc>
              <a:buSzPts val="2000"/>
              <a:buFont typeface="Arial" panose="020B0604020202020204" pitchFamily="34" charset="0"/>
              <a:buChar char="—"/>
            </a:pPr>
            <a:r>
              <a:rPr lang="en-US" sz="1700"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7"/>
                  </a:ext>
                </a:extLst>
              </a:rPr>
              <a:t>Read this document in full prior to diving in. You may decide to work on components in parallel. </a:t>
            </a:r>
            <a:endParaRPr lang="en-US" sz="1700" dirty="0"/>
          </a:p>
          <a:p>
            <a:pPr lvl="1" indent="-355600">
              <a:lnSpc>
                <a:spcPct val="100000"/>
              </a:lnSpc>
              <a:spcBef>
                <a:spcPts val="0"/>
              </a:spcBef>
              <a:buSzPts val="2000"/>
              <a:buFont typeface="Arial" panose="020B0604020202020204" pitchFamily="34" charset="0"/>
              <a:buChar char="—"/>
            </a:pPr>
            <a:r>
              <a:rPr lang="en-US" sz="1700" dirty="0"/>
              <a:t>Define a dedicated AI product owner within HR (this can be a part-time role) with strengths in leadership, transformation, business acumen and technology.</a:t>
            </a:r>
          </a:p>
          <a:p>
            <a:pPr lvl="1" indent="-355600">
              <a:lnSpc>
                <a:spcPct val="100000"/>
              </a:lnSpc>
              <a:spcBef>
                <a:spcPts val="0"/>
              </a:spcBef>
              <a:buSzPts val="2000"/>
              <a:buFont typeface="Arial" panose="020B0604020202020204" pitchFamily="34" charset="0"/>
              <a:buChar char="—"/>
            </a:pPr>
            <a:r>
              <a:rPr lang="en-US" sz="1700" dirty="0"/>
              <a:t>Ensure the stakeholder team is current on AI trends and the impact of AI on the HR function. Leverage Gartner resources and/or connect with your account team if an </a:t>
            </a:r>
            <a:r>
              <a:rPr lang="en-US" sz="1700" dirty="0">
                <a:hlinkClick r:id="rId3"/>
              </a:rPr>
              <a:t>Executive Presentation on How to Deploy AI in HR </a:t>
            </a:r>
            <a:r>
              <a:rPr lang="en-US" sz="1700" dirty="0"/>
              <a:t>would support grounding and alignment. </a:t>
            </a:r>
          </a:p>
          <a:p>
            <a:pPr lvl="1" indent="-355600">
              <a:lnSpc>
                <a:spcPct val="100000"/>
              </a:lnSpc>
              <a:spcBef>
                <a:spcPts val="0"/>
              </a:spcBef>
              <a:buSzPts val="2000"/>
              <a:buFont typeface="Arial" panose="020B0604020202020204" pitchFamily="34" charset="0"/>
              <a:buChar char="—"/>
            </a:pPr>
            <a:r>
              <a:rPr lang="en-US" sz="1700" dirty="0"/>
              <a:t>Have t</a:t>
            </a:r>
            <a:r>
              <a:rPr lang="en-US" sz="1700"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8"/>
                  </a:ext>
                </a:extLst>
              </a:rPr>
              <a:t>he HR-focused AI product owner plan a kickoff and a series of working meetings with your core stakeholder group.</a:t>
            </a:r>
            <a:r>
              <a:rPr lang="en-US" sz="1700" dirty="0"/>
              <a:t> Share the slide(s) in advance of these </a:t>
            </a:r>
            <a:r>
              <a:rPr lang="en-US" sz="1700"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9"/>
                  </a:ext>
                </a:extLst>
              </a:rPr>
              <a:t>se</a:t>
            </a:r>
            <a:r>
              <a:rPr lang="en-US" sz="1700" dirty="0"/>
              <a:t>ssions, including related Gartner resources as applicable as prework.</a:t>
            </a:r>
          </a:p>
          <a:p>
            <a:pPr lvl="1" indent="-355600">
              <a:lnSpc>
                <a:spcPct val="100000"/>
              </a:lnSpc>
              <a:spcBef>
                <a:spcPts val="0"/>
              </a:spcBef>
              <a:buSzPts val="2000"/>
              <a:buFont typeface="Arial" panose="020B0604020202020204" pitchFamily="34" charset="0"/>
              <a:buChar char="—"/>
            </a:pPr>
            <a:r>
              <a:rPr lang="en-US" sz="1700" dirty="0"/>
              <a:t>Obtain your organization’s enterprise-level AI, HR function and HR technology strategies to use as reference points and ensure alignment.</a:t>
            </a:r>
          </a:p>
          <a:p>
            <a:pPr lvl="1" indent="-355600">
              <a:lnSpc>
                <a:spcPct val="100000"/>
              </a:lnSpc>
              <a:spcBef>
                <a:spcPts val="0"/>
              </a:spcBef>
              <a:buSzPts val="2000"/>
              <a:buFont typeface="Arial" panose="020B0604020202020204" pitchFamily="34" charset="0"/>
              <a:buChar char="—"/>
            </a:pPr>
            <a:r>
              <a:rPr lang="en-US" sz="1700"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10"/>
                  </a:ext>
                </a:extLst>
              </a:rPr>
              <a:t>Avoid</a:t>
            </a:r>
            <a:r>
              <a:rPr lang="en-US" sz="1700"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11"/>
                  </a:ext>
                </a:extLst>
              </a:rPr>
              <a:t> rushing into use-case selection and execution phases </a:t>
            </a:r>
            <a:r>
              <a:rPr lang="en-US" sz="1700"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12"/>
                  </a:ext>
                </a:extLst>
              </a:rPr>
              <a:t>—</a:t>
            </a:r>
            <a:r>
              <a:rPr lang="en-US" sz="1700"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13"/>
                  </a:ext>
                </a:extLst>
              </a:rPr>
              <a:t> save this for your roadmap.</a:t>
            </a:r>
            <a:endParaRPr lang="en-US" sz="1700"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14"/>
                </a:ext>
              </a:extLst>
            </a:endParaRPr>
          </a:p>
          <a:p>
            <a:pPr lvl="1" indent="-355600">
              <a:lnSpc>
                <a:spcPct val="100000"/>
              </a:lnSpc>
              <a:spcBef>
                <a:spcPts val="0"/>
              </a:spcBef>
              <a:buSzPts val="2000"/>
              <a:buFont typeface="Arial" panose="020B0604020202020204" pitchFamily="34" charset="0"/>
              <a:buChar char="—"/>
            </a:pPr>
            <a:r>
              <a:rPr lang="en-US" sz="1700"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15"/>
                  </a:ext>
                </a:extLst>
              </a:rPr>
              <a:t>Plan to revisit your HR-focused AI strategy at least yearly and more often if there are major changes to your business strategy. </a:t>
            </a:r>
            <a:endParaRPr lang="en-US" sz="17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4"/>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Who Needs to Be Involved</a:t>
            </a:r>
          </a:p>
        </p:txBody>
      </p:sp>
      <p:sp>
        <p:nvSpPr>
          <p:cNvPr id="168" name="Google Shape;168;p4"/>
          <p:cNvSpPr txBox="1">
            <a:spLocks noGrp="1"/>
          </p:cNvSpPr>
          <p:nvPr>
            <p:ph type="body" idx="1"/>
          </p:nvPr>
        </p:nvSpPr>
        <p:spPr>
          <a:xfrm>
            <a:off x="457200" y="941768"/>
            <a:ext cx="11274600" cy="2635200"/>
          </a:xfrm>
          <a:prstGeom prst="rect">
            <a:avLst/>
          </a:prstGeom>
          <a:noFill/>
          <a:ln>
            <a:noFill/>
          </a:ln>
        </p:spPr>
        <p:txBody>
          <a:bodyPr spcFirstLastPara="1" wrap="square" lIns="0" tIns="0" rIns="0" bIns="0" anchor="t" anchorCtr="0">
            <a:noAutofit/>
          </a:bodyPr>
          <a:lstStyle/>
          <a:p>
            <a:pPr marL="285750" lvl="0" indent="-292100" algn="l" rtl="0">
              <a:lnSpc>
                <a:spcPct val="90000"/>
              </a:lnSpc>
              <a:spcBef>
                <a:spcPts val="0"/>
              </a:spcBef>
              <a:spcAft>
                <a:spcPts val="0"/>
              </a:spcAft>
              <a:buClr>
                <a:schemeClr val="dk1"/>
              </a:buClr>
              <a:buSzPts val="2000"/>
              <a:buChar char="•"/>
            </a:pPr>
            <a:r>
              <a:rPr lang="en-US" dirty="0"/>
              <a:t>Your AI product owner for HR</a:t>
            </a:r>
            <a:r>
              <a:rPr lang="en-US" sz="2000" dirty="0"/>
              <a:t> (may be a part-time responsibility or full-time role) should lead and facilitate the process.</a:t>
            </a:r>
            <a:endParaRPr lang="en-US" sz="2500" dirty="0"/>
          </a:p>
          <a:p>
            <a:pPr marL="285750" indent="-292100">
              <a:lnSpc>
                <a:spcPct val="90000"/>
              </a:lnSpc>
              <a:buClr>
                <a:schemeClr val="dk1"/>
              </a:buClr>
              <a:buSzPts val="2000"/>
            </a:pPr>
            <a:r>
              <a:rPr lang="en-US" dirty="0"/>
              <a:t>Identify the stakeholders who should be a part of building your AI strategy for the HR function. Leverage these individuals in supporting strategy meetings or working sessions. Include HR leaders from each HR pillar as well as IT, legal and compliance. Include individuals whose responsibilities involve ensuring alignment to the overall enterprise AI, HR function and HR technology strategies.</a:t>
            </a:r>
            <a:endParaRPr lang="en-US" sz="2500" dirty="0"/>
          </a:p>
          <a:p>
            <a:pPr marL="285750" lvl="0" indent="-292100" algn="l" rtl="0">
              <a:lnSpc>
                <a:spcPct val="90000"/>
              </a:lnSpc>
              <a:spcBef>
                <a:spcPts val="1200"/>
              </a:spcBef>
              <a:spcAft>
                <a:spcPts val="0"/>
              </a:spcAft>
              <a:buClr>
                <a:schemeClr val="dk1"/>
              </a:buClr>
              <a:buSzPts val="2000"/>
              <a:buChar char="•"/>
            </a:pPr>
            <a:r>
              <a:rPr lang="en-US" sz="2000"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16"/>
                  </a:ext>
                </a:extLst>
              </a:rPr>
              <a:t>Use</a:t>
            </a:r>
            <a:r>
              <a:rPr lang="en-US" sz="2000"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17"/>
                  </a:ext>
                </a:extLst>
              </a:rPr>
              <a:t> the template on the next slide to document the stakeholder group, following the example below. </a:t>
            </a:r>
            <a:r>
              <a:rPr lang="en-US" sz="2000" i="1"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18"/>
                  </a:ext>
                </a:extLst>
              </a:rPr>
              <a:t>Please note the below table is illustrative and not exhaustive.</a:t>
            </a:r>
            <a:endParaRPr lang="en-US" sz="2500" dirty="0"/>
          </a:p>
          <a:p>
            <a:pPr marL="0" lvl="0" indent="0" algn="l" rtl="0">
              <a:lnSpc>
                <a:spcPct val="90000"/>
              </a:lnSpc>
              <a:spcBef>
                <a:spcPts val="1200"/>
              </a:spcBef>
              <a:spcAft>
                <a:spcPts val="0"/>
              </a:spcAft>
              <a:buClr>
                <a:schemeClr val="dk1"/>
              </a:buClr>
              <a:buSzPts val="1800"/>
              <a:buNone/>
            </a:pPr>
            <a:endParaRPr lang="en-US" sz="1800" b="1" dirty="0"/>
          </a:p>
        </p:txBody>
      </p:sp>
      <p:graphicFrame>
        <p:nvGraphicFramePr>
          <p:cNvPr id="169" name="Google Shape;169;p4"/>
          <p:cNvGraphicFramePr/>
          <p:nvPr>
            <p:extLst>
              <p:ext uri="{D42A27DB-BD31-4B8C-83A1-F6EECF244321}">
                <p14:modId xmlns:p14="http://schemas.microsoft.com/office/powerpoint/2010/main" val="722293157"/>
              </p:ext>
            </p:extLst>
          </p:nvPr>
        </p:nvGraphicFramePr>
        <p:xfrm>
          <a:off x="457202" y="3790619"/>
          <a:ext cx="11274550" cy="2438460"/>
        </p:xfrm>
        <a:graphic>
          <a:graphicData uri="http://schemas.openxmlformats.org/drawingml/2006/table">
            <a:tbl>
              <a:tblPr firstRow="1" bandRow="1">
                <a:noFill/>
              </a:tblPr>
              <a:tblGrid>
                <a:gridCol w="3004950">
                  <a:extLst>
                    <a:ext uri="{9D8B030D-6E8A-4147-A177-3AD203B41FA5}">
                      <a16:colId xmlns:a16="http://schemas.microsoft.com/office/drawing/2014/main" val="20000"/>
                    </a:ext>
                  </a:extLst>
                </a:gridCol>
                <a:gridCol w="1824950">
                  <a:extLst>
                    <a:ext uri="{9D8B030D-6E8A-4147-A177-3AD203B41FA5}">
                      <a16:colId xmlns:a16="http://schemas.microsoft.com/office/drawing/2014/main" val="20001"/>
                    </a:ext>
                  </a:extLst>
                </a:gridCol>
                <a:gridCol w="6444650">
                  <a:extLst>
                    <a:ext uri="{9D8B030D-6E8A-4147-A177-3AD203B41FA5}">
                      <a16:colId xmlns:a16="http://schemas.microsoft.com/office/drawing/2014/main" val="20002"/>
                    </a:ext>
                  </a:extLst>
                </a:gridCol>
              </a:tblGrid>
              <a:tr h="143250">
                <a:tc>
                  <a:txBody>
                    <a:bodyPr/>
                    <a:lstStyle/>
                    <a:p>
                      <a:pPr marL="0" marR="0" lvl="0" indent="0" algn="l" rtl="0">
                        <a:spcBef>
                          <a:spcPts val="0"/>
                        </a:spcBef>
                        <a:spcAft>
                          <a:spcPts val="0"/>
                        </a:spcAft>
                        <a:buNone/>
                      </a:pPr>
                      <a:r>
                        <a:rPr lang="en-US" sz="1100" b="1" u="none" strike="noStrike" cap="none" dirty="0">
                          <a:solidFill>
                            <a:schemeClr val="bg1"/>
                          </a:solidFill>
                        </a:rPr>
                        <a:t>Name</a:t>
                      </a:r>
                      <a:endParaRPr b="1" dirty="0">
                        <a:solidFill>
                          <a:schemeClr val="bg1"/>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869"/>
                    </a:solidFill>
                  </a:tcPr>
                </a:tc>
                <a:tc>
                  <a:txBody>
                    <a:bodyPr/>
                    <a:lstStyle/>
                    <a:p>
                      <a:pPr marL="0" marR="0" lvl="0" indent="0" algn="l" rtl="0">
                        <a:spcBef>
                          <a:spcPts val="0"/>
                        </a:spcBef>
                        <a:spcAft>
                          <a:spcPts val="0"/>
                        </a:spcAft>
                        <a:buNone/>
                      </a:pPr>
                      <a:r>
                        <a:rPr lang="en-US" sz="1100" b="1" dirty="0">
                          <a:solidFill>
                            <a:schemeClr val="bg1"/>
                          </a:solidFill>
                        </a:rPr>
                        <a:t>Title</a:t>
                      </a:r>
                      <a:endParaRPr b="1" dirty="0">
                        <a:solidFill>
                          <a:schemeClr val="bg1"/>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869"/>
                    </a:solidFill>
                  </a:tcPr>
                </a:tc>
                <a:tc>
                  <a:txBody>
                    <a:bodyPr/>
                    <a:lstStyle/>
                    <a:p>
                      <a:pPr marL="0" marR="0" lvl="0" indent="0" algn="l" rtl="0">
                        <a:spcBef>
                          <a:spcPts val="0"/>
                        </a:spcBef>
                        <a:spcAft>
                          <a:spcPts val="0"/>
                        </a:spcAft>
                        <a:buNone/>
                      </a:pPr>
                      <a:r>
                        <a:rPr lang="en-US" sz="1100" b="1" dirty="0">
                          <a:solidFill>
                            <a:schemeClr val="bg1"/>
                          </a:solidFill>
                        </a:rPr>
                        <a:t>Role and responsibility</a:t>
                      </a:r>
                      <a:endParaRPr b="1" dirty="0">
                        <a:solidFill>
                          <a:schemeClr val="bg1"/>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869"/>
                    </a:solidFill>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endParaRPr sz="1100"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100" dirty="0"/>
                        <a:t>HR-Focused AI Product Owner</a:t>
                      </a:r>
                      <a:endParaRPr dirty="0"/>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100" dirty="0"/>
                        <a:t>Drives the collaboration and completion of HR’s AI strategy elements by the defined stakeholder group. </a:t>
                      </a:r>
                      <a:endParaRPr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endParaRPr sz="1100"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rtl="0">
                        <a:spcBef>
                          <a:spcPts val="0"/>
                        </a:spcBef>
                        <a:spcAft>
                          <a:spcPts val="0"/>
                        </a:spcAft>
                        <a:buNone/>
                      </a:pPr>
                      <a:r>
                        <a:rPr lang="en-US" sz="1100" dirty="0"/>
                        <a:t>CHRO</a:t>
                      </a:r>
                    </a:p>
                    <a:p>
                      <a:pPr marL="0" marR="0" lvl="0" indent="0" algn="l" rtl="0">
                        <a:spcBef>
                          <a:spcPts val="0"/>
                        </a:spcBef>
                        <a:spcAft>
                          <a:spcPts val="0"/>
                        </a:spcAft>
                        <a:buNone/>
                      </a:pPr>
                      <a:endParaRPr dirty="0"/>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rtl="0">
                        <a:spcBef>
                          <a:spcPts val="0"/>
                        </a:spcBef>
                        <a:spcAft>
                          <a:spcPts val="0"/>
                        </a:spcAft>
                        <a:buNone/>
                      </a:pPr>
                      <a:r>
                        <a:rPr lang="en-US" sz="1100" dirty="0"/>
                        <a:t>Provides strategic vision and leadership, ensuring alignment with business objectives, championing AI adoption and fostering collaboration across the function.</a:t>
                      </a: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0F1FF"/>
                    </a:solidFill>
                  </a:tcP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endParaRPr sz="1100"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100" dirty="0"/>
                        <a:t>IT Partner </a:t>
                      </a:r>
                      <a:endParaRPr sz="1100" dirty="0"/>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100" dirty="0"/>
                        <a:t>Supports the HR’s AI product owner and ensures alignment with the enterprisewide AI strategy and approach.</a:t>
                      </a:r>
                      <a:endParaRPr sz="1100"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endParaRPr sz="1100"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rtl="0">
                        <a:spcBef>
                          <a:spcPts val="0"/>
                        </a:spcBef>
                        <a:spcAft>
                          <a:spcPts val="0"/>
                        </a:spcAft>
                        <a:buNone/>
                      </a:pPr>
                      <a:r>
                        <a:rPr lang="en-US" sz="1100" dirty="0"/>
                        <a:t>HR Technology Leader</a:t>
                      </a:r>
                      <a:endParaRPr dirty="0"/>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100" dirty="0"/>
                        <a:t>Ensures alignment to the HR technology alignment, including the selection of appropriate tech and implementation.</a:t>
                      </a:r>
                      <a:endParaRPr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0F1FF"/>
                    </a:solidFill>
                  </a:tcPr>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endParaRPr sz="1100"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100" dirty="0"/>
                        <a:t>HR Center of Excellence (COE) Leads</a:t>
                      </a:r>
                      <a:endParaRPr dirty="0"/>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100" dirty="0"/>
                        <a:t>Brings COE-specific knowledge and goals while supporting the implementation across their area.</a:t>
                      </a:r>
                      <a:endParaRPr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34678e9b767_0_1"/>
          <p:cNvSpPr txBox="1">
            <a:spLocks noGrp="1"/>
          </p:cNvSpPr>
          <p:nvPr>
            <p:ph type="title"/>
          </p:nvPr>
        </p:nvSpPr>
        <p:spPr>
          <a:xfrm>
            <a:off x="457200" y="361950"/>
            <a:ext cx="11274600" cy="451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Template: Who Needs to Be Involved</a:t>
            </a:r>
          </a:p>
        </p:txBody>
      </p:sp>
      <p:graphicFrame>
        <p:nvGraphicFramePr>
          <p:cNvPr id="175" name="Google Shape;175;g34678e9b767_0_1"/>
          <p:cNvGraphicFramePr/>
          <p:nvPr>
            <p:extLst>
              <p:ext uri="{D42A27DB-BD31-4B8C-83A1-F6EECF244321}">
                <p14:modId xmlns:p14="http://schemas.microsoft.com/office/powerpoint/2010/main" val="1552880406"/>
              </p:ext>
            </p:extLst>
          </p:nvPr>
        </p:nvGraphicFramePr>
        <p:xfrm>
          <a:off x="457200" y="1445213"/>
          <a:ext cx="11274600" cy="3967590"/>
        </p:xfrm>
        <a:graphic>
          <a:graphicData uri="http://schemas.openxmlformats.org/drawingml/2006/table">
            <a:tbl>
              <a:tblPr firstRow="1" bandRow="1">
                <a:noFill/>
              </a:tblPr>
              <a:tblGrid>
                <a:gridCol w="3004975">
                  <a:extLst>
                    <a:ext uri="{9D8B030D-6E8A-4147-A177-3AD203B41FA5}">
                      <a16:colId xmlns:a16="http://schemas.microsoft.com/office/drawing/2014/main" val="20000"/>
                    </a:ext>
                  </a:extLst>
                </a:gridCol>
                <a:gridCol w="1824950">
                  <a:extLst>
                    <a:ext uri="{9D8B030D-6E8A-4147-A177-3AD203B41FA5}">
                      <a16:colId xmlns:a16="http://schemas.microsoft.com/office/drawing/2014/main" val="20001"/>
                    </a:ext>
                  </a:extLst>
                </a:gridCol>
                <a:gridCol w="6444675">
                  <a:extLst>
                    <a:ext uri="{9D8B030D-6E8A-4147-A177-3AD203B41FA5}">
                      <a16:colId xmlns:a16="http://schemas.microsoft.com/office/drawing/2014/main" val="20002"/>
                    </a:ext>
                  </a:extLst>
                </a:gridCol>
              </a:tblGrid>
              <a:tr h="143250">
                <a:tc>
                  <a:txBody>
                    <a:bodyPr/>
                    <a:lstStyle/>
                    <a:p>
                      <a:pPr marL="0" marR="0" lvl="0" indent="0" algn="l" rtl="0">
                        <a:spcBef>
                          <a:spcPts val="0"/>
                        </a:spcBef>
                        <a:spcAft>
                          <a:spcPts val="0"/>
                        </a:spcAft>
                        <a:buNone/>
                      </a:pPr>
                      <a:r>
                        <a:rPr lang="en-US" sz="1100" b="1" u="none" strike="noStrike" cap="none" dirty="0">
                          <a:solidFill>
                            <a:schemeClr val="bg1"/>
                          </a:solidFill>
                        </a:rPr>
                        <a:t>Name</a:t>
                      </a:r>
                      <a:endParaRPr b="1" dirty="0">
                        <a:solidFill>
                          <a:schemeClr val="bg1"/>
                        </a:solidFill>
                      </a:endParaRPr>
                    </a:p>
                  </a:txBody>
                  <a:tcPr marL="91450" marR="91450" marT="45725" marB="45725">
                    <a:solidFill>
                      <a:srgbClr val="002869"/>
                    </a:solidFill>
                  </a:tcPr>
                </a:tc>
                <a:tc>
                  <a:txBody>
                    <a:bodyPr/>
                    <a:lstStyle/>
                    <a:p>
                      <a:pPr marL="0" marR="0" lvl="0" indent="0" algn="l" rtl="0">
                        <a:spcBef>
                          <a:spcPts val="0"/>
                        </a:spcBef>
                        <a:spcAft>
                          <a:spcPts val="0"/>
                        </a:spcAft>
                        <a:buNone/>
                      </a:pPr>
                      <a:r>
                        <a:rPr lang="en-US" sz="1100" b="1" dirty="0">
                          <a:solidFill>
                            <a:schemeClr val="bg1"/>
                          </a:solidFill>
                        </a:rPr>
                        <a:t>Title</a:t>
                      </a:r>
                      <a:endParaRPr b="1" dirty="0">
                        <a:solidFill>
                          <a:schemeClr val="bg1"/>
                        </a:solidFill>
                      </a:endParaRPr>
                    </a:p>
                  </a:txBody>
                  <a:tcPr marL="91450" marR="91450" marT="45725" marB="45725">
                    <a:solidFill>
                      <a:srgbClr val="002869"/>
                    </a:solidFill>
                  </a:tcPr>
                </a:tc>
                <a:tc>
                  <a:txBody>
                    <a:bodyPr/>
                    <a:lstStyle/>
                    <a:p>
                      <a:pPr marL="0" marR="0" lvl="0" indent="0" algn="l" rtl="0">
                        <a:spcBef>
                          <a:spcPts val="0"/>
                        </a:spcBef>
                        <a:spcAft>
                          <a:spcPts val="0"/>
                        </a:spcAft>
                        <a:buNone/>
                      </a:pPr>
                      <a:r>
                        <a:rPr lang="en-US" sz="1100" b="1" dirty="0">
                          <a:solidFill>
                            <a:schemeClr val="bg1"/>
                          </a:solidFill>
                        </a:rPr>
                        <a:t>Role and responsibility</a:t>
                      </a:r>
                      <a:endParaRPr b="1" dirty="0">
                        <a:solidFill>
                          <a:schemeClr val="bg1"/>
                        </a:solidFill>
                      </a:endParaRPr>
                    </a:p>
                  </a:txBody>
                  <a:tcPr marL="91450" marR="91450" marT="45725" marB="45725">
                    <a:solidFill>
                      <a:srgbClr val="002869"/>
                    </a:solidFill>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endParaRPr sz="1100" dirty="0"/>
                    </a:p>
                  </a:txBody>
                  <a:tcPr marL="91450" marR="91450" marT="45725" marB="45725"/>
                </a:tc>
                <a:tc>
                  <a:txBody>
                    <a:bodyPr/>
                    <a:lstStyle/>
                    <a:p>
                      <a:pPr marL="0" lvl="0" indent="0" algn="l" rtl="0">
                        <a:spcBef>
                          <a:spcPts val="0"/>
                        </a:spcBef>
                        <a:spcAft>
                          <a:spcPts val="0"/>
                        </a:spcAft>
                        <a:buNone/>
                      </a:pPr>
                      <a:endParaRPr dirty="0"/>
                    </a:p>
                  </a:txBody>
                  <a:tcPr marL="91450" marR="91450" marT="45725" marB="45725"/>
                </a:tc>
                <a:tc>
                  <a:txBody>
                    <a:bodyPr/>
                    <a:lstStyle/>
                    <a:p>
                      <a:pPr marL="0" lvl="0" indent="0" algn="l" rtl="0">
                        <a:spcBef>
                          <a:spcPts val="0"/>
                        </a:spcBef>
                        <a:spcAft>
                          <a:spcPts val="0"/>
                        </a:spcAft>
                        <a:buNone/>
                      </a:pPr>
                      <a:endParaRPr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endParaRPr sz="1100" dirty="0"/>
                    </a:p>
                  </a:txBody>
                  <a:tcPr marL="91450" marR="91450" marT="45725" marB="45725"/>
                </a:tc>
                <a:tc>
                  <a:txBody>
                    <a:bodyPr/>
                    <a:lstStyle/>
                    <a:p>
                      <a:pPr marL="0" lvl="0" indent="0" algn="l" rtl="0">
                        <a:spcBef>
                          <a:spcPts val="0"/>
                        </a:spcBef>
                        <a:spcAft>
                          <a:spcPts val="0"/>
                        </a:spcAft>
                        <a:buNone/>
                      </a:pPr>
                      <a:endParaRPr dirty="0"/>
                    </a:p>
                  </a:txBody>
                  <a:tcPr marL="91450" marR="91450" marT="45725" marB="45725"/>
                </a:tc>
                <a:tc>
                  <a:txBody>
                    <a:bodyPr/>
                    <a:lstStyle/>
                    <a:p>
                      <a:pPr marL="0" lvl="0" indent="0" algn="l" rtl="0">
                        <a:spcBef>
                          <a:spcPts val="0"/>
                        </a:spcBef>
                        <a:spcAft>
                          <a:spcPts val="0"/>
                        </a:spcAft>
                        <a:buNone/>
                      </a:pPr>
                      <a:endParaRPr dirty="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endParaRPr sz="1100" dirty="0"/>
                    </a:p>
                  </a:txBody>
                  <a:tcPr marL="91450" marR="91450" marT="45725" marB="45725"/>
                </a:tc>
                <a:tc>
                  <a:txBody>
                    <a:bodyPr/>
                    <a:lstStyle/>
                    <a:p>
                      <a:pPr marL="0" lvl="0" indent="0" algn="l" rtl="0">
                        <a:spcBef>
                          <a:spcPts val="0"/>
                        </a:spcBef>
                        <a:spcAft>
                          <a:spcPts val="0"/>
                        </a:spcAft>
                        <a:buNone/>
                      </a:pPr>
                      <a:endParaRPr dirty="0"/>
                    </a:p>
                  </a:txBody>
                  <a:tcPr marL="91450" marR="91450" marT="45725" marB="45725"/>
                </a:tc>
                <a:tc>
                  <a:txBody>
                    <a:bodyPr/>
                    <a:lstStyle/>
                    <a:p>
                      <a:pPr marL="0" lvl="0" indent="0" algn="l" rtl="0">
                        <a:spcBef>
                          <a:spcPts val="0"/>
                        </a:spcBef>
                        <a:spcAft>
                          <a:spcPts val="0"/>
                        </a:spcAft>
                        <a:buNone/>
                      </a:pPr>
                      <a:endParaRPr dirty="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endParaRPr sz="1100" dirty="0"/>
                    </a:p>
                  </a:txBody>
                  <a:tcPr marL="91450" marR="91450" marT="45725" marB="45725"/>
                </a:tc>
                <a:tc>
                  <a:txBody>
                    <a:bodyPr/>
                    <a:lstStyle/>
                    <a:p>
                      <a:pPr marL="0" lvl="0" indent="0" algn="l" rtl="0">
                        <a:spcBef>
                          <a:spcPts val="0"/>
                        </a:spcBef>
                        <a:spcAft>
                          <a:spcPts val="0"/>
                        </a:spcAft>
                        <a:buNone/>
                      </a:pPr>
                      <a:endParaRPr dirty="0"/>
                    </a:p>
                  </a:txBody>
                  <a:tcPr marL="91450" marR="91450" marT="45725" marB="45725"/>
                </a:tc>
                <a:tc>
                  <a:txBody>
                    <a:bodyPr/>
                    <a:lstStyle/>
                    <a:p>
                      <a:pPr marL="0" lvl="0" indent="0" algn="l" rtl="0">
                        <a:spcBef>
                          <a:spcPts val="0"/>
                        </a:spcBef>
                        <a:spcAft>
                          <a:spcPts val="0"/>
                        </a:spcAft>
                        <a:buNone/>
                      </a:pPr>
                      <a:endParaRPr dirty="0"/>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endParaRPr sz="1100" dirty="0"/>
                    </a:p>
                  </a:txBody>
                  <a:tcPr marL="91450" marR="91450" marT="45725" marB="45725"/>
                </a:tc>
                <a:tc>
                  <a:txBody>
                    <a:bodyPr/>
                    <a:lstStyle/>
                    <a:p>
                      <a:pPr marL="0" lvl="0" indent="0" algn="l" rtl="0">
                        <a:spcBef>
                          <a:spcPts val="0"/>
                        </a:spcBef>
                        <a:spcAft>
                          <a:spcPts val="0"/>
                        </a:spcAft>
                        <a:buNone/>
                      </a:pPr>
                      <a:endParaRPr dirty="0"/>
                    </a:p>
                  </a:txBody>
                  <a:tcPr marL="91450" marR="91450" marT="45725" marB="45725"/>
                </a:tc>
                <a:tc>
                  <a:txBody>
                    <a:bodyPr/>
                    <a:lstStyle/>
                    <a:p>
                      <a:pPr marL="0" lvl="0" indent="0" algn="l" rtl="0">
                        <a:spcBef>
                          <a:spcPts val="0"/>
                        </a:spcBef>
                        <a:spcAft>
                          <a:spcPts val="0"/>
                        </a:spcAft>
                        <a:buNone/>
                      </a:pPr>
                      <a:endParaRPr dirty="0"/>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endParaRPr sz="1100" dirty="0"/>
                    </a:p>
                  </a:txBody>
                  <a:tcPr marL="91450" marR="91450" marT="45725" marB="45725"/>
                </a:tc>
                <a:tc>
                  <a:txBody>
                    <a:bodyPr/>
                    <a:lstStyle/>
                    <a:p>
                      <a:pPr marL="0" marR="0" lvl="0" indent="0" algn="l" rtl="0">
                        <a:spcBef>
                          <a:spcPts val="0"/>
                        </a:spcBef>
                        <a:spcAft>
                          <a:spcPts val="0"/>
                        </a:spcAft>
                        <a:buNone/>
                      </a:pPr>
                      <a:endParaRPr sz="1100" dirty="0"/>
                    </a:p>
                  </a:txBody>
                  <a:tcPr marL="91450" marR="91450" marT="45725" marB="45725"/>
                </a:tc>
                <a:tc>
                  <a:txBody>
                    <a:bodyPr/>
                    <a:lstStyle/>
                    <a:p>
                      <a:pPr marL="0" marR="0" lvl="0" indent="0" algn="l" rtl="0">
                        <a:spcBef>
                          <a:spcPts val="0"/>
                        </a:spcBef>
                        <a:spcAft>
                          <a:spcPts val="0"/>
                        </a:spcAft>
                        <a:buNone/>
                      </a:pPr>
                      <a:endParaRPr sz="1100" dirty="0"/>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endParaRPr sz="1100" dirty="0"/>
                    </a:p>
                  </a:txBody>
                  <a:tcPr marL="91450" marR="91450" marT="45725" marB="45725"/>
                </a:tc>
                <a:tc>
                  <a:txBody>
                    <a:bodyPr/>
                    <a:lstStyle/>
                    <a:p>
                      <a:pPr marL="0" marR="0" lvl="0" indent="0" algn="l" rtl="0">
                        <a:spcBef>
                          <a:spcPts val="0"/>
                        </a:spcBef>
                        <a:spcAft>
                          <a:spcPts val="0"/>
                        </a:spcAft>
                        <a:buNone/>
                      </a:pPr>
                      <a:endParaRPr sz="1100" dirty="0"/>
                    </a:p>
                  </a:txBody>
                  <a:tcPr marL="91450" marR="91450" marT="45725" marB="45725"/>
                </a:tc>
                <a:tc>
                  <a:txBody>
                    <a:bodyPr/>
                    <a:lstStyle/>
                    <a:p>
                      <a:pPr marL="0" marR="0" lvl="0" indent="0" algn="l" rtl="0">
                        <a:spcBef>
                          <a:spcPts val="0"/>
                        </a:spcBef>
                        <a:spcAft>
                          <a:spcPts val="0"/>
                        </a:spcAft>
                        <a:buNone/>
                      </a:pPr>
                      <a:endParaRPr sz="1100" dirty="0"/>
                    </a:p>
                  </a:txBody>
                  <a:tcPr marL="91450" marR="91450" marT="45725" marB="45725"/>
                </a:tc>
                <a:extLst>
                  <a:ext uri="{0D108BD9-81ED-4DB2-BD59-A6C34878D82A}">
                    <a16:rowId xmlns:a16="http://schemas.microsoft.com/office/drawing/2014/main" val="10007"/>
                  </a:ext>
                </a:extLst>
              </a:tr>
              <a:tr h="370850">
                <a:tc>
                  <a:txBody>
                    <a:bodyPr/>
                    <a:lstStyle/>
                    <a:p>
                      <a:pPr marL="0" marR="0" lvl="0" indent="0" algn="l" rtl="0">
                        <a:spcBef>
                          <a:spcPts val="0"/>
                        </a:spcBef>
                        <a:spcAft>
                          <a:spcPts val="0"/>
                        </a:spcAft>
                        <a:buNone/>
                      </a:pPr>
                      <a:endParaRPr sz="1100" dirty="0"/>
                    </a:p>
                  </a:txBody>
                  <a:tcPr marL="91450" marR="91450" marT="45725" marB="45725"/>
                </a:tc>
                <a:tc>
                  <a:txBody>
                    <a:bodyPr/>
                    <a:lstStyle/>
                    <a:p>
                      <a:pPr marL="0" marR="0" lvl="0" indent="0" algn="l" rtl="0">
                        <a:spcBef>
                          <a:spcPts val="0"/>
                        </a:spcBef>
                        <a:spcAft>
                          <a:spcPts val="0"/>
                        </a:spcAft>
                        <a:buNone/>
                      </a:pPr>
                      <a:endParaRPr sz="1100" dirty="0"/>
                    </a:p>
                  </a:txBody>
                  <a:tcPr marL="91450" marR="91450" marT="45725" marB="45725"/>
                </a:tc>
                <a:tc>
                  <a:txBody>
                    <a:bodyPr/>
                    <a:lstStyle/>
                    <a:p>
                      <a:pPr marL="0" marR="0" lvl="0" indent="0" algn="l" rtl="0">
                        <a:spcBef>
                          <a:spcPts val="0"/>
                        </a:spcBef>
                        <a:spcAft>
                          <a:spcPts val="0"/>
                        </a:spcAft>
                        <a:buNone/>
                      </a:pPr>
                      <a:endParaRPr sz="1100" dirty="0"/>
                    </a:p>
                  </a:txBody>
                  <a:tcPr marL="91450" marR="91450" marT="45725" marB="45725"/>
                </a:tc>
                <a:extLst>
                  <a:ext uri="{0D108BD9-81ED-4DB2-BD59-A6C34878D82A}">
                    <a16:rowId xmlns:a16="http://schemas.microsoft.com/office/drawing/2014/main" val="10008"/>
                  </a:ext>
                </a:extLst>
              </a:tr>
              <a:tr h="370850">
                <a:tc>
                  <a:txBody>
                    <a:bodyPr/>
                    <a:lstStyle/>
                    <a:p>
                      <a:pPr marL="0" marR="0" lvl="0" indent="0" algn="l" rtl="0">
                        <a:spcBef>
                          <a:spcPts val="0"/>
                        </a:spcBef>
                        <a:spcAft>
                          <a:spcPts val="0"/>
                        </a:spcAft>
                        <a:buNone/>
                      </a:pPr>
                      <a:endParaRPr sz="1100" dirty="0"/>
                    </a:p>
                  </a:txBody>
                  <a:tcPr marL="91450" marR="91450" marT="45725" marB="45725"/>
                </a:tc>
                <a:tc>
                  <a:txBody>
                    <a:bodyPr/>
                    <a:lstStyle/>
                    <a:p>
                      <a:pPr marL="0" marR="0" lvl="0" indent="0" algn="l" rtl="0">
                        <a:spcBef>
                          <a:spcPts val="0"/>
                        </a:spcBef>
                        <a:spcAft>
                          <a:spcPts val="0"/>
                        </a:spcAft>
                        <a:buNone/>
                      </a:pPr>
                      <a:endParaRPr sz="1100" dirty="0"/>
                    </a:p>
                  </a:txBody>
                  <a:tcPr marL="91450" marR="91450" marT="45725" marB="45725"/>
                </a:tc>
                <a:tc>
                  <a:txBody>
                    <a:bodyPr/>
                    <a:lstStyle/>
                    <a:p>
                      <a:pPr marL="0" marR="0" lvl="0" indent="0" algn="l" rtl="0">
                        <a:spcBef>
                          <a:spcPts val="0"/>
                        </a:spcBef>
                        <a:spcAft>
                          <a:spcPts val="0"/>
                        </a:spcAft>
                        <a:buNone/>
                      </a:pPr>
                      <a:endParaRPr sz="1100" dirty="0"/>
                    </a:p>
                  </a:txBody>
                  <a:tcPr marL="91450" marR="91450" marT="45725" marB="45725"/>
                </a:tc>
                <a:extLst>
                  <a:ext uri="{0D108BD9-81ED-4DB2-BD59-A6C34878D82A}">
                    <a16:rowId xmlns:a16="http://schemas.microsoft.com/office/drawing/2014/main" val="10009"/>
                  </a:ext>
                </a:extLst>
              </a:tr>
              <a:tr h="370850">
                <a:tc>
                  <a:txBody>
                    <a:bodyPr/>
                    <a:lstStyle/>
                    <a:p>
                      <a:pPr marL="0" marR="0" lvl="0" indent="0" algn="l" rtl="0">
                        <a:spcBef>
                          <a:spcPts val="0"/>
                        </a:spcBef>
                        <a:spcAft>
                          <a:spcPts val="0"/>
                        </a:spcAft>
                        <a:buNone/>
                      </a:pPr>
                      <a:endParaRPr sz="1100" dirty="0"/>
                    </a:p>
                  </a:txBody>
                  <a:tcPr marL="91450" marR="91450" marT="45725" marB="45725"/>
                </a:tc>
                <a:tc>
                  <a:txBody>
                    <a:bodyPr/>
                    <a:lstStyle/>
                    <a:p>
                      <a:pPr marL="0" marR="0" lvl="0" indent="0" algn="l" rtl="0">
                        <a:spcBef>
                          <a:spcPts val="0"/>
                        </a:spcBef>
                        <a:spcAft>
                          <a:spcPts val="0"/>
                        </a:spcAft>
                        <a:buNone/>
                      </a:pPr>
                      <a:endParaRPr sz="1100" dirty="0"/>
                    </a:p>
                  </a:txBody>
                  <a:tcPr marL="91450" marR="91450" marT="45725" marB="45725"/>
                </a:tc>
                <a:tc>
                  <a:txBody>
                    <a:bodyPr/>
                    <a:lstStyle/>
                    <a:p>
                      <a:pPr marL="0" marR="0" lvl="0" indent="0" algn="l" rtl="0">
                        <a:spcBef>
                          <a:spcPts val="0"/>
                        </a:spcBef>
                        <a:spcAft>
                          <a:spcPts val="0"/>
                        </a:spcAft>
                        <a:buNone/>
                      </a:pPr>
                      <a:endParaRPr sz="1100" dirty="0"/>
                    </a:p>
                  </a:txBody>
                  <a:tcPr marL="91450" marR="91450" marT="45725" marB="45725"/>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347b1d0323c_0_2"/>
          <p:cNvSpPr txBox="1">
            <a:spLocks noGrp="1"/>
          </p:cNvSpPr>
          <p:nvPr>
            <p:ph type="title"/>
          </p:nvPr>
        </p:nvSpPr>
        <p:spPr>
          <a:xfrm>
            <a:off x="457200" y="361950"/>
            <a:ext cx="11274600" cy="451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Components of an HR-Focused AI Strategy</a:t>
            </a:r>
          </a:p>
        </p:txBody>
      </p:sp>
      <p:sp>
        <p:nvSpPr>
          <p:cNvPr id="181" name="Google Shape;181;g347b1d0323c_0_2"/>
          <p:cNvSpPr txBox="1"/>
          <p:nvPr/>
        </p:nvSpPr>
        <p:spPr>
          <a:xfrm>
            <a:off x="457200" y="5845155"/>
            <a:ext cx="8181900" cy="4308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i="1" dirty="0">
                <a:solidFill>
                  <a:schemeClr val="dk1"/>
                </a:solidFill>
                <a:latin typeface="Arial"/>
                <a:ea typeface="Arial"/>
                <a:cs typeface="Arial"/>
                <a:sym typeface="Arial"/>
              </a:rPr>
              <a:t>Note: These are not sequential steps</a:t>
            </a:r>
            <a:r>
              <a:rPr lang="en-US" sz="1100" i="1" dirty="0">
                <a:solidFill>
                  <a:schemeClr val="dk1"/>
                </a:solidFill>
              </a:rPr>
              <a:t>;</a:t>
            </a:r>
            <a:r>
              <a:rPr lang="en-US" sz="1100" i="1" dirty="0">
                <a:solidFill>
                  <a:schemeClr val="dk1"/>
                </a:solidFill>
                <a:latin typeface="Arial"/>
                <a:ea typeface="Arial"/>
                <a:cs typeface="Arial"/>
                <a:sym typeface="Arial"/>
              </a:rPr>
              <a:t> rather, they are components that come together to create a </a:t>
            </a:r>
            <a:br>
              <a:rPr lang="en-US" sz="1100" i="1" dirty="0">
                <a:solidFill>
                  <a:schemeClr val="dk1"/>
                </a:solidFill>
                <a:latin typeface="Arial"/>
                <a:ea typeface="Arial"/>
                <a:cs typeface="Arial"/>
                <a:sym typeface="Arial"/>
              </a:rPr>
            </a:br>
            <a:r>
              <a:rPr lang="en-US" sz="1100" i="1" dirty="0">
                <a:solidFill>
                  <a:schemeClr val="dk1"/>
                </a:solidFill>
                <a:latin typeface="Arial"/>
                <a:ea typeface="Arial"/>
                <a:cs typeface="Arial"/>
                <a:sym typeface="Arial"/>
              </a:rPr>
              <a:t>complete strategy and can be worked on concurrently.</a:t>
            </a:r>
            <a:endParaRPr lang="en-US" sz="1100" dirty="0"/>
          </a:p>
        </p:txBody>
      </p:sp>
      <p:grpSp>
        <p:nvGrpSpPr>
          <p:cNvPr id="182" name="Google Shape;182;g347b1d0323c_0_2"/>
          <p:cNvGrpSpPr/>
          <p:nvPr/>
        </p:nvGrpSpPr>
        <p:grpSpPr>
          <a:xfrm>
            <a:off x="4015724" y="1514828"/>
            <a:ext cx="4140336" cy="4091164"/>
            <a:chOff x="4015724" y="1514828"/>
            <a:chExt cx="4140336" cy="4091164"/>
          </a:xfrm>
        </p:grpSpPr>
        <p:grpSp>
          <p:nvGrpSpPr>
            <p:cNvPr id="183" name="Google Shape;183;g347b1d0323c_0_2"/>
            <p:cNvGrpSpPr/>
            <p:nvPr/>
          </p:nvGrpSpPr>
          <p:grpSpPr>
            <a:xfrm>
              <a:off x="4047791" y="1517805"/>
              <a:ext cx="4096527" cy="4088187"/>
              <a:chOff x="1560285" y="1414704"/>
              <a:chExt cx="1244691" cy="1242157"/>
            </a:xfrm>
          </p:grpSpPr>
          <p:sp>
            <p:nvSpPr>
              <p:cNvPr id="184" name="Google Shape;184;g347b1d0323c_0_2"/>
              <p:cNvSpPr/>
              <p:nvPr/>
            </p:nvSpPr>
            <p:spPr>
              <a:xfrm>
                <a:off x="1592953" y="2043130"/>
                <a:ext cx="584671" cy="613731"/>
              </a:xfrm>
              <a:custGeom>
                <a:avLst/>
                <a:gdLst/>
                <a:ahLst/>
                <a:cxnLst/>
                <a:rect l="l" t="t" r="r" b="b"/>
                <a:pathLst>
                  <a:path w="584671" h="613731" extrusionOk="0">
                    <a:moveTo>
                      <a:pt x="0" y="188767"/>
                    </a:moveTo>
                    <a:cubicBezTo>
                      <a:pt x="84611" y="442038"/>
                      <a:pt x="322282" y="611834"/>
                      <a:pt x="584672" y="613731"/>
                    </a:cubicBezTo>
                    <a:lnTo>
                      <a:pt x="584672" y="0"/>
                    </a:lnTo>
                    <a:cubicBezTo>
                      <a:pt x="584672" y="0"/>
                      <a:pt x="0" y="189716"/>
                      <a:pt x="0" y="189716"/>
                    </a:cubicBez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latin typeface="Gartner Sans" panose="020B0504030402040204" pitchFamily="34" charset="0"/>
                  <a:ea typeface="Arial"/>
                  <a:cs typeface="Arial"/>
                  <a:sym typeface="Arial"/>
                </a:endParaRPr>
              </a:p>
            </p:txBody>
          </p:sp>
          <p:sp>
            <p:nvSpPr>
              <p:cNvPr id="185" name="Google Shape;185;g347b1d0323c_0_2"/>
              <p:cNvSpPr/>
              <p:nvPr/>
            </p:nvSpPr>
            <p:spPr>
              <a:xfrm>
                <a:off x="1821117" y="1414704"/>
                <a:ext cx="723471" cy="613248"/>
              </a:xfrm>
              <a:custGeom>
                <a:avLst/>
                <a:gdLst/>
                <a:ahLst/>
                <a:cxnLst/>
                <a:rect l="l" t="t" r="r" b="b"/>
                <a:pathLst>
                  <a:path w="723471" h="613248" extrusionOk="0">
                    <a:moveTo>
                      <a:pt x="723472" y="116192"/>
                    </a:moveTo>
                    <a:cubicBezTo>
                      <a:pt x="586573" y="18489"/>
                      <a:pt x="410696" y="-24198"/>
                      <a:pt x="232918" y="13746"/>
                    </a:cubicBezTo>
                    <a:cubicBezTo>
                      <a:pt x="146406" y="31769"/>
                      <a:pt x="67499" y="67815"/>
                      <a:pt x="0" y="116192"/>
                    </a:cubicBezTo>
                    <a:lnTo>
                      <a:pt x="361261" y="613248"/>
                    </a:lnTo>
                    <a:lnTo>
                      <a:pt x="723472" y="117141"/>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latin typeface="Gartner Sans" panose="020B0504030402040204" pitchFamily="34" charset="0"/>
                  <a:ea typeface="Arial"/>
                  <a:cs typeface="Arial"/>
                  <a:sym typeface="Arial"/>
                </a:endParaRPr>
              </a:p>
            </p:txBody>
          </p:sp>
          <p:sp>
            <p:nvSpPr>
              <p:cNvPr id="186" name="Google Shape;186;g347b1d0323c_0_2"/>
              <p:cNvSpPr/>
              <p:nvPr/>
            </p:nvSpPr>
            <p:spPr>
              <a:xfrm>
                <a:off x="2190934" y="1536588"/>
                <a:ext cx="614042" cy="686772"/>
              </a:xfrm>
              <a:custGeom>
                <a:avLst/>
                <a:gdLst/>
                <a:ahLst/>
                <a:cxnLst/>
                <a:rect l="l" t="t" r="r" b="b"/>
                <a:pathLst>
                  <a:path w="614042" h="686772" extrusionOk="0">
                    <a:moveTo>
                      <a:pt x="584672" y="686772"/>
                    </a:moveTo>
                    <a:cubicBezTo>
                      <a:pt x="616044" y="588120"/>
                      <a:pt x="623650" y="479982"/>
                      <a:pt x="600833" y="370895"/>
                    </a:cubicBezTo>
                    <a:cubicBezTo>
                      <a:pt x="568510" y="216276"/>
                      <a:pt x="480096" y="87269"/>
                      <a:pt x="362211" y="0"/>
                    </a:cubicBezTo>
                    <a:lnTo>
                      <a:pt x="0" y="496107"/>
                    </a:lnTo>
                    <a:lnTo>
                      <a:pt x="584672" y="685824"/>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latin typeface="Gartner Sans" panose="020B0504030402040204" pitchFamily="34" charset="0"/>
                  <a:ea typeface="Arial"/>
                  <a:cs typeface="Arial"/>
                  <a:sym typeface="Arial"/>
                </a:endParaRPr>
              </a:p>
            </p:txBody>
          </p:sp>
          <p:sp>
            <p:nvSpPr>
              <p:cNvPr id="187" name="Google Shape;187;g347b1d0323c_0_2"/>
              <p:cNvSpPr/>
              <p:nvPr/>
            </p:nvSpPr>
            <p:spPr>
              <a:xfrm>
                <a:off x="1560285" y="1536588"/>
                <a:ext cx="614487" cy="686772"/>
              </a:xfrm>
              <a:custGeom>
                <a:avLst/>
                <a:gdLst/>
                <a:ahLst/>
                <a:cxnLst/>
                <a:rect l="l" t="t" r="r" b="b"/>
                <a:pathLst>
                  <a:path w="614487" h="686772" extrusionOk="0">
                    <a:moveTo>
                      <a:pt x="253226" y="0"/>
                    </a:moveTo>
                    <a:cubicBezTo>
                      <a:pt x="63089" y="140390"/>
                      <a:pt x="-38634" y="382278"/>
                      <a:pt x="13654" y="627960"/>
                    </a:cubicBezTo>
                    <a:cubicBezTo>
                      <a:pt x="17456" y="647880"/>
                      <a:pt x="23161" y="667801"/>
                      <a:pt x="28865" y="686772"/>
                    </a:cubicBezTo>
                    <a:lnTo>
                      <a:pt x="614487" y="497056"/>
                    </a:lnTo>
                    <a:lnTo>
                      <a:pt x="253226" y="0"/>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latin typeface="Gartner Sans" panose="020B0504030402040204" pitchFamily="34" charset="0"/>
                  <a:ea typeface="Arial"/>
                  <a:cs typeface="Arial"/>
                  <a:sym typeface="Arial"/>
                </a:endParaRPr>
              </a:p>
            </p:txBody>
          </p:sp>
          <p:sp>
            <p:nvSpPr>
              <p:cNvPr id="188" name="Google Shape;188;g347b1d0323c_0_2"/>
              <p:cNvSpPr/>
              <p:nvPr/>
            </p:nvSpPr>
            <p:spPr>
              <a:xfrm>
                <a:off x="2187131" y="2043130"/>
                <a:ext cx="585622" cy="613731"/>
              </a:xfrm>
              <a:custGeom>
                <a:avLst/>
                <a:gdLst/>
                <a:ahLst/>
                <a:cxnLst/>
                <a:rect l="l" t="t" r="r" b="b"/>
                <a:pathLst>
                  <a:path w="585622" h="613731" extrusionOk="0">
                    <a:moveTo>
                      <a:pt x="0" y="613731"/>
                    </a:moveTo>
                    <a:cubicBezTo>
                      <a:pt x="40880" y="613731"/>
                      <a:pt x="82710" y="608989"/>
                      <a:pt x="124540" y="600451"/>
                    </a:cubicBezTo>
                    <a:cubicBezTo>
                      <a:pt x="347951" y="553022"/>
                      <a:pt x="518124" y="391764"/>
                      <a:pt x="585622" y="189716"/>
                    </a:cubicBezTo>
                    <a:lnTo>
                      <a:pt x="951" y="0"/>
                    </a:lnTo>
                    <a:lnTo>
                      <a:pt x="951" y="613731"/>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latin typeface="Gartner Sans" panose="020B0504030402040204" pitchFamily="34" charset="0"/>
                  <a:ea typeface="Arial"/>
                  <a:cs typeface="Arial"/>
                  <a:sym typeface="Arial"/>
                </a:endParaRPr>
              </a:p>
            </p:txBody>
          </p:sp>
        </p:grpSp>
        <p:sp>
          <p:nvSpPr>
            <p:cNvPr id="189" name="Google Shape;189;g347b1d0323c_0_2"/>
            <p:cNvSpPr/>
            <p:nvPr/>
          </p:nvSpPr>
          <p:spPr>
            <a:xfrm rot="10800000">
              <a:off x="5166524" y="2774959"/>
              <a:ext cx="1858800" cy="1763400"/>
            </a:xfrm>
            <a:prstGeom prst="pentagon">
              <a:avLst>
                <a:gd name="hf" fmla="val 105146"/>
                <a:gd name="vf" fmla="val 110557"/>
              </a:avLst>
            </a:prstGeom>
            <a:solidFill>
              <a:srgbClr val="002856"/>
            </a:solidFill>
            <a:ln w="31750" cap="flat" cmpd="sng">
              <a:solidFill>
                <a:srgbClr val="FFFFFF"/>
              </a:solidFill>
              <a:prstDash val="solid"/>
              <a:round/>
              <a:headEnd type="none" w="sm" len="sm"/>
              <a:tailEnd type="none" w="sm" len="sm"/>
            </a:ln>
          </p:spPr>
          <p:txBody>
            <a:bodyPr spcFirstLastPara="1" wrap="square" lIns="0" tIns="91425" rIns="0" bIns="313000" anchor="ctr" anchorCtr="0">
              <a:noAutofit/>
            </a:bodyPr>
            <a:lstStyle/>
            <a:p>
              <a:pPr marL="0" marR="0" lvl="0" indent="0" algn="ctr" rtl="0">
                <a:lnSpc>
                  <a:spcPct val="90000"/>
                </a:lnSpc>
                <a:spcBef>
                  <a:spcPts val="0"/>
                </a:spcBef>
                <a:spcAft>
                  <a:spcPts val="0"/>
                </a:spcAft>
                <a:buNone/>
              </a:pPr>
              <a:endParaRPr sz="2000" b="1" i="0" u="none" strike="noStrike" cap="none" dirty="0">
                <a:solidFill>
                  <a:srgbClr val="FFFFFF"/>
                </a:solidFill>
                <a:latin typeface="Gartner Sans" panose="020B0504030402040204" pitchFamily="34" charset="0"/>
                <a:ea typeface="Arial"/>
                <a:cs typeface="Arial"/>
                <a:sym typeface="Arial"/>
              </a:endParaRPr>
            </a:p>
          </p:txBody>
        </p:sp>
        <p:sp>
          <p:nvSpPr>
            <p:cNvPr id="190" name="Google Shape;190;g347b1d0323c_0_2"/>
            <p:cNvSpPr txBox="1"/>
            <p:nvPr/>
          </p:nvSpPr>
          <p:spPr>
            <a:xfrm>
              <a:off x="5315873" y="3213417"/>
              <a:ext cx="1560300" cy="591000"/>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1800" b="1" i="0" u="none" strike="noStrike" cap="none" dirty="0">
                  <a:solidFill>
                    <a:srgbClr val="FFFFFF"/>
                  </a:solidFill>
                  <a:latin typeface="Gartner Sans" panose="020B0504030402040204" pitchFamily="34" charset="0"/>
                  <a:ea typeface="Arial"/>
                  <a:cs typeface="Arial"/>
                  <a:sym typeface="Arial"/>
                </a:rPr>
                <a:t>HR-focused </a:t>
              </a:r>
              <a:br>
                <a:rPr lang="en-US" sz="1800" b="1" i="0" u="none" strike="noStrike" cap="none" dirty="0">
                  <a:solidFill>
                    <a:srgbClr val="FFFFFF"/>
                  </a:solidFill>
                  <a:latin typeface="Gartner Sans" panose="020B0504030402040204" pitchFamily="34" charset="0"/>
                  <a:ea typeface="Arial"/>
                  <a:cs typeface="Arial"/>
                  <a:sym typeface="Arial"/>
                </a:rPr>
              </a:br>
              <a:r>
                <a:rPr lang="en-US" sz="1800" b="1" i="0" u="none" strike="noStrike" cap="none" dirty="0">
                  <a:solidFill>
                    <a:srgbClr val="FFFFFF"/>
                  </a:solidFill>
                  <a:latin typeface="Gartner Sans" panose="020B0504030402040204" pitchFamily="34" charset="0"/>
                  <a:ea typeface="Arial"/>
                  <a:cs typeface="Arial"/>
                  <a:sym typeface="Arial"/>
                </a:rPr>
                <a:t>AI strategy</a:t>
              </a:r>
            </a:p>
          </p:txBody>
        </p:sp>
        <p:sp>
          <p:nvSpPr>
            <p:cNvPr id="191" name="Google Shape;191;g347b1d0323c_0_2"/>
            <p:cNvSpPr/>
            <p:nvPr/>
          </p:nvSpPr>
          <p:spPr>
            <a:xfrm>
              <a:off x="5433060" y="1514828"/>
              <a:ext cx="1326000" cy="1229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600" b="1" i="0" u="none" strike="noStrike" cap="none" dirty="0">
                  <a:solidFill>
                    <a:srgbClr val="000000"/>
                  </a:solidFill>
                  <a:latin typeface="Gartner Sans" panose="020B0504030402040204" pitchFamily="34" charset="0"/>
                  <a:ea typeface="Arial"/>
                  <a:cs typeface="Arial"/>
                  <a:sym typeface="Arial"/>
                </a:rPr>
                <a:t>Vision</a:t>
              </a:r>
              <a:endParaRPr lang="en-US" dirty="0">
                <a:latin typeface="Gartner Sans" panose="020B0504030402040204" pitchFamily="34" charset="0"/>
              </a:endParaRPr>
            </a:p>
          </p:txBody>
        </p:sp>
        <p:sp>
          <p:nvSpPr>
            <p:cNvPr id="192" name="Google Shape;192;g347b1d0323c_0_2"/>
            <p:cNvSpPr/>
            <p:nvPr/>
          </p:nvSpPr>
          <p:spPr>
            <a:xfrm>
              <a:off x="6715760" y="2428586"/>
              <a:ext cx="1440300" cy="132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600" b="1" i="0" u="none" strike="noStrike" cap="none" dirty="0">
                  <a:solidFill>
                    <a:srgbClr val="000000"/>
                  </a:solidFill>
                  <a:latin typeface="Gartner Sans" panose="020B0504030402040204" pitchFamily="34" charset="0"/>
                  <a:ea typeface="Arial"/>
                  <a:cs typeface="Arial"/>
                  <a:sym typeface="Arial"/>
                </a:rPr>
                <a:t>Value</a:t>
              </a:r>
              <a:endParaRPr lang="en-US" dirty="0">
                <a:latin typeface="Gartner Sans" panose="020B0504030402040204" pitchFamily="34" charset="0"/>
              </a:endParaRPr>
            </a:p>
          </p:txBody>
        </p:sp>
        <p:sp>
          <p:nvSpPr>
            <p:cNvPr id="193" name="Google Shape;193;g347b1d0323c_0_2"/>
            <p:cNvSpPr/>
            <p:nvPr/>
          </p:nvSpPr>
          <p:spPr>
            <a:xfrm>
              <a:off x="4015724" y="2426402"/>
              <a:ext cx="1470600" cy="1330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600" b="1" i="0" u="none" strike="noStrike" cap="none" dirty="0">
                  <a:solidFill>
                    <a:srgbClr val="000000"/>
                  </a:solidFill>
                  <a:latin typeface="Gartner Sans" panose="020B0504030402040204" pitchFamily="34" charset="0"/>
                  <a:ea typeface="Arial"/>
                  <a:cs typeface="Arial"/>
                  <a:sym typeface="Arial"/>
                </a:rPr>
                <a:t>Alignment</a:t>
              </a:r>
              <a:endParaRPr lang="en-US" dirty="0">
                <a:latin typeface="Gartner Sans" panose="020B0504030402040204" pitchFamily="34" charset="0"/>
              </a:endParaRPr>
            </a:p>
          </p:txBody>
        </p:sp>
        <p:sp>
          <p:nvSpPr>
            <p:cNvPr id="194" name="Google Shape;194;g347b1d0323c_0_2"/>
            <p:cNvSpPr/>
            <p:nvPr/>
          </p:nvSpPr>
          <p:spPr>
            <a:xfrm>
              <a:off x="6096000"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600" b="1" i="0" u="none" strike="noStrike" cap="none" dirty="0">
                  <a:solidFill>
                    <a:srgbClr val="000000"/>
                  </a:solidFill>
                  <a:latin typeface="Gartner Sans" panose="020B0504030402040204" pitchFamily="34" charset="0"/>
                  <a:ea typeface="Arial"/>
                  <a:cs typeface="Arial"/>
                  <a:sym typeface="Arial"/>
                </a:rPr>
                <a:t>Risk</a:t>
              </a:r>
              <a:endParaRPr lang="en-US" dirty="0">
                <a:latin typeface="Gartner Sans" panose="020B0504030402040204" pitchFamily="34" charset="0"/>
              </a:endParaRPr>
            </a:p>
          </p:txBody>
        </p:sp>
        <p:sp>
          <p:nvSpPr>
            <p:cNvPr id="195" name="Google Shape;195;g347b1d0323c_0_2"/>
            <p:cNvSpPr/>
            <p:nvPr/>
          </p:nvSpPr>
          <p:spPr>
            <a:xfrm>
              <a:off x="4369573"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600" b="1" i="0" u="none" strike="noStrike" cap="none" dirty="0">
                  <a:solidFill>
                    <a:srgbClr val="000000"/>
                  </a:solidFill>
                  <a:latin typeface="Gartner Sans" panose="020B0504030402040204" pitchFamily="34" charset="0"/>
                  <a:ea typeface="Arial"/>
                  <a:cs typeface="Arial"/>
                  <a:sym typeface="Arial"/>
                </a:rPr>
                <a:t>Adoption</a:t>
              </a:r>
              <a:endParaRPr lang="en-US" dirty="0">
                <a:latin typeface="Gartner Sans" panose="020B0504030402040204" pitchFamily="34" charset="0"/>
              </a:endParaRPr>
            </a:p>
          </p:txBody>
        </p:sp>
      </p:grpSp>
      <p:sp>
        <p:nvSpPr>
          <p:cNvPr id="196" name="Google Shape;196;g347b1d0323c_0_2"/>
          <p:cNvSpPr txBox="1"/>
          <p:nvPr/>
        </p:nvSpPr>
        <p:spPr>
          <a:xfrm>
            <a:off x="8067388" y="2730922"/>
            <a:ext cx="2244000" cy="646290"/>
          </a:xfrm>
          <a:prstGeom prst="rect">
            <a:avLst/>
          </a:prstGeom>
          <a:noFill/>
          <a:ln>
            <a:noFill/>
          </a:ln>
        </p:spPr>
        <p:txBody>
          <a:bodyPr spcFirstLastPara="1" wrap="square" lIns="182875" tIns="45700" rIns="91425" bIns="45700" anchor="t" anchorCtr="0">
            <a:spAutoFit/>
          </a:bodyPr>
          <a:lstStyle/>
          <a:p>
            <a:pPr marL="0" marR="0" lvl="0" indent="0" algn="l" rtl="0">
              <a:lnSpc>
                <a:spcPct val="100000"/>
              </a:lnSpc>
              <a:spcBef>
                <a:spcPts val="0"/>
              </a:spcBef>
              <a:spcAft>
                <a:spcPts val="0"/>
              </a:spcAft>
              <a:buNone/>
            </a:pPr>
            <a:r>
              <a:rPr lang="en-US" sz="1800" b="0" i="1" u="none" strike="noStrike" cap="none" dirty="0">
                <a:solidFill>
                  <a:srgbClr val="000000"/>
                </a:solidFill>
                <a:latin typeface="Gartner Sans" panose="020B0504030402040204" pitchFamily="34" charset="0"/>
                <a:ea typeface="Arial"/>
                <a:cs typeface="Arial"/>
                <a:sym typeface="Arial"/>
              </a:rPr>
              <a:t>What role should AI play in HR?</a:t>
            </a:r>
            <a:endParaRPr lang="en-US" dirty="0">
              <a:latin typeface="Gartner Sans" panose="020B0504030402040204" pitchFamily="34" charset="0"/>
            </a:endParaRPr>
          </a:p>
        </p:txBody>
      </p:sp>
      <p:sp>
        <p:nvSpPr>
          <p:cNvPr id="197" name="Google Shape;197;g347b1d0323c_0_2"/>
          <p:cNvSpPr txBox="1"/>
          <p:nvPr/>
        </p:nvSpPr>
        <p:spPr>
          <a:xfrm>
            <a:off x="1528909" y="2592422"/>
            <a:ext cx="2563800" cy="923400"/>
          </a:xfrm>
          <a:prstGeom prst="rect">
            <a:avLst/>
          </a:prstGeom>
          <a:noFill/>
          <a:ln>
            <a:noFill/>
          </a:ln>
        </p:spPr>
        <p:txBody>
          <a:bodyPr spcFirstLastPara="1" wrap="square" lIns="91425" tIns="45700" rIns="182875" bIns="45700" anchor="t" anchorCtr="0">
            <a:spAutoFit/>
          </a:bodyPr>
          <a:lstStyle/>
          <a:p>
            <a:pPr marL="0" marR="0" lvl="0" indent="0" algn="r" rtl="0">
              <a:lnSpc>
                <a:spcPct val="100000"/>
              </a:lnSpc>
              <a:spcBef>
                <a:spcPts val="0"/>
              </a:spcBef>
              <a:spcAft>
                <a:spcPts val="0"/>
              </a:spcAft>
              <a:buNone/>
            </a:pPr>
            <a:r>
              <a:rPr lang="en-US" sz="1800" b="0" i="1" u="none" strike="noStrike" cap="none" dirty="0">
                <a:solidFill>
                  <a:srgbClr val="000000"/>
                </a:solidFill>
                <a:latin typeface="Gartner Sans" panose="020B0504030402040204" pitchFamily="34" charset="0"/>
                <a:ea typeface="Arial"/>
                <a:cs typeface="Arial"/>
                <a:sym typeface="Arial"/>
              </a:rPr>
              <a:t>Does my HR-focused AI strategy align with our other strategies?</a:t>
            </a:r>
            <a:endParaRPr lang="en-US" dirty="0">
              <a:latin typeface="Gartner Sans" panose="020B0504030402040204" pitchFamily="34" charset="0"/>
            </a:endParaRPr>
          </a:p>
        </p:txBody>
      </p:sp>
      <p:sp>
        <p:nvSpPr>
          <p:cNvPr id="198" name="Google Shape;198;g347b1d0323c_0_2"/>
          <p:cNvSpPr txBox="1"/>
          <p:nvPr/>
        </p:nvSpPr>
        <p:spPr>
          <a:xfrm>
            <a:off x="1279362" y="4669682"/>
            <a:ext cx="3211500" cy="923400"/>
          </a:xfrm>
          <a:prstGeom prst="rect">
            <a:avLst/>
          </a:prstGeom>
          <a:noFill/>
          <a:ln>
            <a:noFill/>
          </a:ln>
        </p:spPr>
        <p:txBody>
          <a:bodyPr spcFirstLastPara="1" wrap="square" lIns="91425" tIns="45700" rIns="182875" bIns="45700" anchor="t" anchorCtr="0">
            <a:spAutoFit/>
          </a:bodyPr>
          <a:lstStyle/>
          <a:p>
            <a:pPr marL="0" marR="0" lvl="0" indent="0" algn="r" rtl="0">
              <a:lnSpc>
                <a:spcPct val="100000"/>
              </a:lnSpc>
              <a:spcBef>
                <a:spcPts val="0"/>
              </a:spcBef>
              <a:spcAft>
                <a:spcPts val="0"/>
              </a:spcAft>
              <a:buNone/>
            </a:pPr>
            <a:r>
              <a:rPr lang="en-US" sz="1800" b="0" i="1" u="none" strike="noStrike" cap="none" dirty="0">
                <a:solidFill>
                  <a:srgbClr val="000000"/>
                </a:solidFill>
                <a:latin typeface="Gartner Sans" panose="020B0504030402040204" pitchFamily="34" charset="0"/>
                <a:ea typeface="Arial"/>
                <a:cs typeface="Arial"/>
                <a:sym typeface="Arial"/>
              </a:rPr>
              <a:t>What are the key capabilities required, and how will we ensure utilization?</a:t>
            </a:r>
            <a:endParaRPr lang="en-US" dirty="0">
              <a:latin typeface="Gartner Sans" panose="020B0504030402040204" pitchFamily="34" charset="0"/>
            </a:endParaRPr>
          </a:p>
        </p:txBody>
      </p:sp>
      <p:sp>
        <p:nvSpPr>
          <p:cNvPr id="199" name="Google Shape;199;g347b1d0323c_0_2"/>
          <p:cNvSpPr txBox="1"/>
          <p:nvPr/>
        </p:nvSpPr>
        <p:spPr>
          <a:xfrm>
            <a:off x="7691583" y="4669682"/>
            <a:ext cx="3056700" cy="923400"/>
          </a:xfrm>
          <a:prstGeom prst="rect">
            <a:avLst/>
          </a:prstGeom>
          <a:noFill/>
          <a:ln>
            <a:noFill/>
          </a:ln>
        </p:spPr>
        <p:txBody>
          <a:bodyPr spcFirstLastPara="1" wrap="square" lIns="182875" tIns="45700" rIns="91425" bIns="45700" anchor="t" anchorCtr="0">
            <a:spAutoFit/>
          </a:bodyPr>
          <a:lstStyle/>
          <a:p>
            <a:pPr marL="0" marR="0" lvl="0" indent="0" algn="l" rtl="0">
              <a:lnSpc>
                <a:spcPct val="100000"/>
              </a:lnSpc>
              <a:spcBef>
                <a:spcPts val="0"/>
              </a:spcBef>
              <a:spcAft>
                <a:spcPts val="0"/>
              </a:spcAft>
              <a:buNone/>
            </a:pPr>
            <a:r>
              <a:rPr lang="en-US" sz="1800" i="1" u="none" strike="noStrike" cap="none" dirty="0">
                <a:solidFill>
                  <a:srgbClr val="000000"/>
                </a:solidFill>
              </a:rPr>
              <a:t>What are the main risks related to the use of AI in the HR function?</a:t>
            </a:r>
          </a:p>
        </p:txBody>
      </p:sp>
      <p:sp>
        <p:nvSpPr>
          <p:cNvPr id="200" name="Google Shape;200;g347b1d0323c_0_2"/>
          <p:cNvSpPr txBox="1"/>
          <p:nvPr/>
        </p:nvSpPr>
        <p:spPr>
          <a:xfrm>
            <a:off x="5068362" y="849550"/>
            <a:ext cx="2055300" cy="646500"/>
          </a:xfrm>
          <a:prstGeom prst="rect">
            <a:avLst/>
          </a:prstGeom>
          <a:noFill/>
          <a:ln>
            <a:noFill/>
          </a:ln>
        </p:spPr>
        <p:txBody>
          <a:bodyPr spcFirstLastPara="1" wrap="square" lIns="182875" tIns="45700" rIns="91425" bIns="45700" anchor="t" anchorCtr="0">
            <a:spAutoFit/>
          </a:bodyPr>
          <a:lstStyle/>
          <a:p>
            <a:pPr marL="0" marR="0" lvl="0" indent="0" algn="ctr" rtl="0">
              <a:lnSpc>
                <a:spcPct val="100000"/>
              </a:lnSpc>
              <a:spcBef>
                <a:spcPts val="0"/>
              </a:spcBef>
              <a:spcAft>
                <a:spcPts val="0"/>
              </a:spcAft>
              <a:buNone/>
            </a:pPr>
            <a:r>
              <a:rPr lang="en-US" sz="1800" b="0" i="1" u="none" strike="noStrike" cap="none" dirty="0">
                <a:solidFill>
                  <a:srgbClr val="000000"/>
                </a:solidFill>
                <a:latin typeface="Gartner Sans" panose="020B0504030402040204" pitchFamily="34" charset="0"/>
                <a:ea typeface="Arial"/>
                <a:cs typeface="Arial"/>
                <a:sym typeface="Arial"/>
              </a:rPr>
              <a:t>How do we intend to use AI?</a:t>
            </a:r>
            <a:endParaRPr lang="en-US" dirty="0">
              <a:latin typeface="Gartner Sans" panose="020B050403040204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6"/>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Checklist of Tasks Across All Components</a:t>
            </a:r>
          </a:p>
        </p:txBody>
      </p:sp>
      <p:grpSp>
        <p:nvGrpSpPr>
          <p:cNvPr id="206" name="Google Shape;206;p6"/>
          <p:cNvGrpSpPr/>
          <p:nvPr/>
        </p:nvGrpSpPr>
        <p:grpSpPr>
          <a:xfrm>
            <a:off x="457200" y="834731"/>
            <a:ext cx="11201115" cy="5375566"/>
            <a:chOff x="0" y="21550"/>
            <a:chExt cx="11201115" cy="5375566"/>
          </a:xfrm>
        </p:grpSpPr>
        <p:sp>
          <p:nvSpPr>
            <p:cNvPr id="207" name="Google Shape;207;p6"/>
            <p:cNvSpPr/>
            <p:nvPr/>
          </p:nvSpPr>
          <p:spPr>
            <a:xfrm>
              <a:off x="0" y="21550"/>
              <a:ext cx="11201115" cy="421200"/>
            </a:xfrm>
            <a:prstGeom prst="roundRect">
              <a:avLst>
                <a:gd name="adj" fmla="val 16667"/>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 name="Google Shape;208;p6"/>
            <p:cNvSpPr txBox="1"/>
            <p:nvPr/>
          </p:nvSpPr>
          <p:spPr>
            <a:xfrm>
              <a:off x="20561" y="42111"/>
              <a:ext cx="11159993" cy="380078"/>
            </a:xfrm>
            <a:prstGeom prst="rect">
              <a:avLst/>
            </a:prstGeom>
            <a:noFill/>
            <a:ln>
              <a:noFill/>
            </a:ln>
          </p:spPr>
          <p:txBody>
            <a:bodyPr spcFirstLastPara="1" wrap="square" lIns="68575" tIns="68575" rIns="68575" bIns="68575" anchor="ctr"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dirty="0">
                  <a:solidFill>
                    <a:schemeClr val="lt1"/>
                  </a:solidFill>
                  <a:ea typeface="Arial"/>
                  <a:cs typeface="Arial"/>
                  <a:sym typeface="Arial"/>
                </a:rPr>
                <a:t>Vision</a:t>
              </a:r>
              <a:endParaRPr lang="en-US" dirty="0"/>
            </a:p>
          </p:txBody>
        </p:sp>
        <p:sp>
          <p:nvSpPr>
            <p:cNvPr id="209" name="Google Shape;209;p6"/>
            <p:cNvSpPr/>
            <p:nvPr/>
          </p:nvSpPr>
          <p:spPr>
            <a:xfrm>
              <a:off x="0" y="442750"/>
              <a:ext cx="11201115" cy="68931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 name="Google Shape;210;p6"/>
            <p:cNvSpPr txBox="1"/>
            <p:nvPr/>
          </p:nvSpPr>
          <p:spPr>
            <a:xfrm>
              <a:off x="0" y="442750"/>
              <a:ext cx="11201115" cy="689310"/>
            </a:xfrm>
            <a:prstGeom prst="rect">
              <a:avLst/>
            </a:prstGeom>
            <a:noFill/>
            <a:ln>
              <a:noFill/>
            </a:ln>
          </p:spPr>
          <p:txBody>
            <a:bodyPr spcFirstLastPara="1" wrap="square" lIns="355625" tIns="22850" rIns="128000" bIns="22850" anchor="t" anchorCtr="0">
              <a:noAutofit/>
            </a:bodyPr>
            <a:lstStyle/>
            <a:p>
              <a:pPr marL="114300" marR="0" lvl="1" indent="-114300" algn="l" rtl="0">
                <a:lnSpc>
                  <a:spcPct val="90000"/>
                </a:lnSpc>
                <a:spcBef>
                  <a:spcPts val="0"/>
                </a:spcBef>
                <a:spcAft>
                  <a:spcPts val="0"/>
                </a:spcAft>
                <a:buClr>
                  <a:schemeClr val="dk1"/>
                </a:buClr>
                <a:buSzPts val="1400"/>
                <a:buFont typeface="Noto Sans Symbols"/>
                <a:buChar char="❑"/>
              </a:pPr>
              <a:r>
                <a:rPr lang="en-US" sz="1400" b="0" i="0" u="none" strike="noStrike" cap="none" dirty="0">
                  <a:solidFill>
                    <a:schemeClr val="dk1"/>
                  </a:solidFill>
                  <a:ea typeface="Arial"/>
                  <a:cs typeface="Arial"/>
                  <a:sym typeface="Arial"/>
                </a:rPr>
                <a:t>Conduct visioning session</a:t>
              </a:r>
              <a:endParaRPr lang="en-US" dirty="0"/>
            </a:p>
            <a:p>
              <a:pPr marL="114300" marR="0" lvl="1" indent="-114300" algn="l" rtl="0">
                <a:lnSpc>
                  <a:spcPct val="90000"/>
                </a:lnSpc>
                <a:spcBef>
                  <a:spcPts val="280"/>
                </a:spcBef>
                <a:spcAft>
                  <a:spcPts val="0"/>
                </a:spcAft>
                <a:buClr>
                  <a:schemeClr val="dk1"/>
                </a:buClr>
                <a:buSzPts val="1400"/>
                <a:buFont typeface="Noto Sans Symbols"/>
                <a:buChar char="❑"/>
              </a:pPr>
              <a:r>
                <a:rPr lang="en-US" sz="1400" b="0" i="0" u="none" strike="noStrike" cap="none" dirty="0">
                  <a:solidFill>
                    <a:schemeClr val="dk1"/>
                  </a:solidFill>
                  <a:ea typeface="Arial"/>
                  <a:cs typeface="Arial"/>
                  <a:sym typeface="Arial"/>
                </a:rPr>
                <a:t>Create vision statement</a:t>
              </a:r>
              <a:endParaRPr lang="en-US" dirty="0"/>
            </a:p>
            <a:p>
              <a:pPr marL="114300" marR="0" lvl="1" indent="-114300" algn="l" rtl="0">
                <a:lnSpc>
                  <a:spcPct val="90000"/>
                </a:lnSpc>
                <a:spcBef>
                  <a:spcPts val="280"/>
                </a:spcBef>
                <a:spcAft>
                  <a:spcPts val="0"/>
                </a:spcAft>
                <a:buClr>
                  <a:schemeClr val="dk1"/>
                </a:buClr>
                <a:buSzPts val="1400"/>
                <a:buFont typeface="Noto Sans Symbols"/>
                <a:buChar char="❑"/>
              </a:pPr>
              <a:r>
                <a:rPr lang="en-US" sz="1400" b="0" i="0" u="none" strike="noStrike" cap="none" dirty="0">
                  <a:solidFill>
                    <a:schemeClr val="dk1"/>
                  </a:solidFill>
                  <a:ea typeface="Arial"/>
                  <a:cs typeface="Arial"/>
                  <a:sym typeface="Arial"/>
                </a:rPr>
                <a:t>Define guiding </a:t>
              </a:r>
              <a:r>
                <a:rPr lang="en-US" sz="1400" dirty="0">
                  <a:solidFill>
                    <a:schemeClr val="dk1"/>
                  </a:solidFill>
                </a:rPr>
                <a:t>principles</a:t>
              </a:r>
              <a:endParaRPr lang="en-US" sz="1400" dirty="0"/>
            </a:p>
          </p:txBody>
        </p:sp>
        <p:sp>
          <p:nvSpPr>
            <p:cNvPr id="211" name="Google Shape;211;p6"/>
            <p:cNvSpPr/>
            <p:nvPr/>
          </p:nvSpPr>
          <p:spPr>
            <a:xfrm>
              <a:off x="0" y="1132060"/>
              <a:ext cx="11201115" cy="421200"/>
            </a:xfrm>
            <a:prstGeom prst="roundRect">
              <a:avLst>
                <a:gd name="adj" fmla="val 16667"/>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 name="Google Shape;212;p6"/>
            <p:cNvSpPr txBox="1"/>
            <p:nvPr/>
          </p:nvSpPr>
          <p:spPr>
            <a:xfrm>
              <a:off x="20561" y="1152621"/>
              <a:ext cx="11159993" cy="380078"/>
            </a:xfrm>
            <a:prstGeom prst="rect">
              <a:avLst/>
            </a:prstGeom>
            <a:noFill/>
            <a:ln>
              <a:noFill/>
            </a:ln>
          </p:spPr>
          <p:txBody>
            <a:bodyPr spcFirstLastPara="1" wrap="square" lIns="68575" tIns="68575" rIns="68575" bIns="68575" anchor="ctr"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dirty="0">
                  <a:solidFill>
                    <a:schemeClr val="lt1"/>
                  </a:solidFill>
                  <a:ea typeface="Arial"/>
                  <a:cs typeface="Arial"/>
                  <a:sym typeface="Arial"/>
                </a:rPr>
                <a:t>Value</a:t>
              </a:r>
              <a:endParaRPr lang="en-US" dirty="0"/>
            </a:p>
          </p:txBody>
        </p:sp>
        <p:sp>
          <p:nvSpPr>
            <p:cNvPr id="213" name="Google Shape;213;p6"/>
            <p:cNvSpPr/>
            <p:nvPr/>
          </p:nvSpPr>
          <p:spPr>
            <a:xfrm>
              <a:off x="0" y="1553260"/>
              <a:ext cx="11201115" cy="91287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 name="Google Shape;214;p6"/>
            <p:cNvSpPr txBox="1"/>
            <p:nvPr/>
          </p:nvSpPr>
          <p:spPr>
            <a:xfrm>
              <a:off x="0" y="1553260"/>
              <a:ext cx="11201115" cy="912870"/>
            </a:xfrm>
            <a:prstGeom prst="rect">
              <a:avLst/>
            </a:prstGeom>
            <a:noFill/>
            <a:ln>
              <a:noFill/>
            </a:ln>
          </p:spPr>
          <p:txBody>
            <a:bodyPr spcFirstLastPara="1" wrap="square" lIns="355625" tIns="22850" rIns="128000" bIns="22850" anchor="t" anchorCtr="0">
              <a:noAutofit/>
            </a:bodyPr>
            <a:lstStyle/>
            <a:p>
              <a:pPr marL="114300" marR="0" lvl="1" indent="-114300" algn="l" rtl="0">
                <a:lnSpc>
                  <a:spcPct val="90000"/>
                </a:lnSpc>
                <a:spcBef>
                  <a:spcPts val="0"/>
                </a:spcBef>
                <a:spcAft>
                  <a:spcPts val="0"/>
                </a:spcAft>
                <a:buClr>
                  <a:schemeClr val="dk1"/>
                </a:buClr>
                <a:buSzPts val="1400"/>
                <a:buFont typeface="Noto Sans Symbols"/>
                <a:buChar char="❑"/>
              </a:pPr>
              <a:r>
                <a:rPr lang="en-US" sz="1400" b="0" i="0" u="none" strike="noStrike" cap="none" dirty="0">
                  <a:solidFill>
                    <a:schemeClr val="dk1"/>
                  </a:solidFill>
                  <a:ea typeface="Arial"/>
                  <a:cs typeface="Arial"/>
                  <a:sym typeface="Arial"/>
                </a:rPr>
                <a:t>Conduct an “art of the possible” workshop</a:t>
              </a:r>
              <a:endParaRPr lang="en-US" dirty="0"/>
            </a:p>
            <a:p>
              <a:pPr marL="114300" marR="0" lvl="1" indent="-114300" algn="l" rtl="0">
                <a:lnSpc>
                  <a:spcPct val="90000"/>
                </a:lnSpc>
                <a:spcBef>
                  <a:spcPts val="280"/>
                </a:spcBef>
                <a:spcAft>
                  <a:spcPts val="0"/>
                </a:spcAft>
                <a:buClr>
                  <a:schemeClr val="dk1"/>
                </a:buClr>
                <a:buSzPts val="1400"/>
                <a:buFont typeface="Noto Sans Symbols"/>
                <a:buChar char="❑"/>
              </a:pPr>
              <a:r>
                <a:rPr lang="en-US" sz="1400" b="0" i="0" u="none" strike="noStrike" cap="none" dirty="0">
                  <a:solidFill>
                    <a:schemeClr val="dk1"/>
                  </a:solidFill>
                  <a:ea typeface="Arial"/>
                  <a:cs typeface="Arial"/>
                  <a:sym typeface="Arial"/>
                </a:rPr>
                <a:t>Set </a:t>
              </a:r>
              <a:r>
                <a:rPr lang="en-US" sz="1400" b="1" i="0" u="none" strike="noStrike" cap="none" dirty="0">
                  <a:solidFill>
                    <a:schemeClr val="dk1"/>
                  </a:solidFill>
                  <a:ea typeface="Arial"/>
                  <a:cs typeface="Arial"/>
                  <a:sym typeface="Arial"/>
                </a:rPr>
                <a:t>goals</a:t>
              </a:r>
              <a:r>
                <a:rPr lang="en-US" sz="1400" b="0" i="0" u="none" strike="noStrike" cap="none" dirty="0">
                  <a:solidFill>
                    <a:schemeClr val="dk1"/>
                  </a:solidFill>
                  <a:ea typeface="Arial"/>
                  <a:cs typeface="Arial"/>
                  <a:sym typeface="Arial"/>
                </a:rPr>
                <a:t> and </a:t>
              </a:r>
              <a:r>
                <a:rPr lang="en-US" sz="1400" b="1" i="0" u="none" strike="noStrike" cap="none" dirty="0">
                  <a:solidFill>
                    <a:schemeClr val="dk1"/>
                  </a:solidFill>
                  <a:ea typeface="Arial"/>
                  <a:cs typeface="Arial"/>
                  <a:sym typeface="Arial"/>
                </a:rPr>
                <a:t>example use cases</a:t>
              </a:r>
              <a:endParaRPr lang="en-US" b="1" dirty="0">
                <a:solidFill>
                  <a:schemeClr val="dk1"/>
                </a:solidFill>
              </a:endParaRPr>
            </a:p>
            <a:p>
              <a:pPr marL="114300" marR="0" lvl="1" indent="-114300" algn="l" rtl="0">
                <a:lnSpc>
                  <a:spcPct val="90000"/>
                </a:lnSpc>
                <a:spcBef>
                  <a:spcPts val="280"/>
                </a:spcBef>
                <a:spcAft>
                  <a:spcPts val="0"/>
                </a:spcAft>
                <a:buClr>
                  <a:schemeClr val="dk1"/>
                </a:buClr>
                <a:buSzPts val="1400"/>
                <a:buFont typeface="Noto Sans Symbols"/>
                <a:buChar char="❑"/>
              </a:pPr>
              <a:r>
                <a:rPr lang="en-US" sz="1400" b="0" i="0" u="none" strike="noStrike" cap="none" dirty="0">
                  <a:solidFill>
                    <a:schemeClr val="dk1"/>
                  </a:solidFill>
                  <a:ea typeface="Arial"/>
                  <a:cs typeface="Arial"/>
                  <a:sym typeface="Arial"/>
                </a:rPr>
                <a:t>Determine which </a:t>
              </a:r>
              <a:r>
                <a:rPr lang="en-US" sz="1400" b="1" i="0" u="none" strike="noStrike" cap="none" dirty="0">
                  <a:solidFill>
                    <a:schemeClr val="dk1"/>
                  </a:solidFill>
                  <a:ea typeface="Arial"/>
                  <a:cs typeface="Arial"/>
                  <a:sym typeface="Arial"/>
                </a:rPr>
                <a:t>metrics</a:t>
              </a:r>
              <a:r>
                <a:rPr lang="en-US" sz="1400" b="0" i="0" u="none" strike="noStrike" cap="none" dirty="0">
                  <a:solidFill>
                    <a:schemeClr val="dk1"/>
                  </a:solidFill>
                  <a:ea typeface="Arial"/>
                  <a:cs typeface="Arial"/>
                  <a:sym typeface="Arial"/>
                </a:rPr>
                <a:t> will support monitoring of AI’s value creation</a:t>
              </a:r>
              <a:endParaRPr lang="en-US" dirty="0"/>
            </a:p>
            <a:p>
              <a:pPr marL="114300" marR="0" lvl="1" indent="-114300" algn="l" rtl="0">
                <a:lnSpc>
                  <a:spcPct val="90000"/>
                </a:lnSpc>
                <a:spcBef>
                  <a:spcPts val="280"/>
                </a:spcBef>
                <a:spcAft>
                  <a:spcPts val="0"/>
                </a:spcAft>
                <a:buClr>
                  <a:schemeClr val="dk1"/>
                </a:buClr>
                <a:buSzPts val="1400"/>
                <a:buFont typeface="Noto Sans Symbols"/>
                <a:buChar char="❑"/>
              </a:pPr>
              <a:r>
                <a:rPr lang="en-US" sz="1400" b="0" i="0" u="none" strike="noStrike" cap="none" dirty="0">
                  <a:solidFill>
                    <a:schemeClr val="dk1"/>
                  </a:solidFill>
                  <a:ea typeface="Arial"/>
                  <a:cs typeface="Arial"/>
                  <a:sym typeface="Arial"/>
                </a:rPr>
                <a:t>Define your </a:t>
              </a:r>
              <a:r>
                <a:rPr lang="en-US" sz="1400" b="1" i="0" u="none" strike="noStrike" cap="none" dirty="0">
                  <a:solidFill>
                    <a:schemeClr val="dk1"/>
                  </a:solidFill>
                  <a:ea typeface="Arial"/>
                  <a:cs typeface="Arial"/>
                  <a:sym typeface="Arial"/>
                </a:rPr>
                <a:t>AI ambition level</a:t>
              </a:r>
              <a:endParaRPr lang="en-US" dirty="0"/>
            </a:p>
          </p:txBody>
        </p:sp>
        <p:sp>
          <p:nvSpPr>
            <p:cNvPr id="215" name="Google Shape;215;p6"/>
            <p:cNvSpPr/>
            <p:nvPr/>
          </p:nvSpPr>
          <p:spPr>
            <a:xfrm>
              <a:off x="0" y="2466131"/>
              <a:ext cx="11201115" cy="421200"/>
            </a:xfrm>
            <a:prstGeom prst="roundRect">
              <a:avLst>
                <a:gd name="adj" fmla="val 16667"/>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 name="Google Shape;216;p6"/>
            <p:cNvSpPr txBox="1"/>
            <p:nvPr/>
          </p:nvSpPr>
          <p:spPr>
            <a:xfrm>
              <a:off x="20561" y="2486692"/>
              <a:ext cx="11159993" cy="380078"/>
            </a:xfrm>
            <a:prstGeom prst="rect">
              <a:avLst/>
            </a:prstGeom>
            <a:noFill/>
            <a:ln>
              <a:noFill/>
            </a:ln>
          </p:spPr>
          <p:txBody>
            <a:bodyPr spcFirstLastPara="1" wrap="square" lIns="68575" tIns="68575" rIns="68575" bIns="68575" anchor="ctr"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dirty="0">
                  <a:solidFill>
                    <a:schemeClr val="lt1"/>
                  </a:solidFill>
                  <a:ea typeface="Arial"/>
                  <a:cs typeface="Arial"/>
                  <a:sym typeface="Arial"/>
                </a:rPr>
                <a:t>Risk</a:t>
              </a:r>
              <a:endParaRPr lang="en-US" dirty="0"/>
            </a:p>
          </p:txBody>
        </p:sp>
        <p:sp>
          <p:nvSpPr>
            <p:cNvPr id="217" name="Google Shape;217;p6"/>
            <p:cNvSpPr/>
            <p:nvPr/>
          </p:nvSpPr>
          <p:spPr>
            <a:xfrm>
              <a:off x="0" y="2887331"/>
              <a:ext cx="11201115" cy="2980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 name="Google Shape;218;p6"/>
            <p:cNvSpPr txBox="1"/>
            <p:nvPr/>
          </p:nvSpPr>
          <p:spPr>
            <a:xfrm>
              <a:off x="0" y="2887331"/>
              <a:ext cx="11201115" cy="298080"/>
            </a:xfrm>
            <a:prstGeom prst="rect">
              <a:avLst/>
            </a:prstGeom>
            <a:noFill/>
            <a:ln>
              <a:noFill/>
            </a:ln>
          </p:spPr>
          <p:txBody>
            <a:bodyPr spcFirstLastPara="1" wrap="square" lIns="355625" tIns="22850" rIns="128000" bIns="22850" anchor="t" anchorCtr="0">
              <a:noAutofit/>
            </a:bodyPr>
            <a:lstStyle/>
            <a:p>
              <a:pPr marL="114300" marR="0" lvl="1" indent="-114300" algn="l" rtl="0">
                <a:lnSpc>
                  <a:spcPct val="90000"/>
                </a:lnSpc>
                <a:spcBef>
                  <a:spcPts val="0"/>
                </a:spcBef>
                <a:spcAft>
                  <a:spcPts val="0"/>
                </a:spcAft>
                <a:buClr>
                  <a:schemeClr val="dk1"/>
                </a:buClr>
                <a:buSzPts val="1400"/>
                <a:buFont typeface="Noto Sans Symbols"/>
                <a:buChar char="❑"/>
              </a:pPr>
              <a:r>
                <a:rPr lang="en-US" sz="1400" b="0" i="0" u="none" strike="noStrike" cap="none" dirty="0">
                  <a:solidFill>
                    <a:schemeClr val="dk1"/>
                  </a:solidFill>
                  <a:ea typeface="Arial"/>
                  <a:cs typeface="Arial"/>
                  <a:sym typeface="Arial"/>
                </a:rPr>
                <a:t>Formulate a </a:t>
              </a:r>
              <a:r>
                <a:rPr lang="en-US" sz="1400" b="1" i="0" u="none" strike="noStrike" cap="none" dirty="0">
                  <a:solidFill>
                    <a:schemeClr val="dk1"/>
                  </a:solidFill>
                  <a:ea typeface="Arial"/>
                  <a:cs typeface="Arial"/>
                  <a:sym typeface="Arial"/>
                </a:rPr>
                <a:t>risk assessment and</a:t>
              </a:r>
              <a:r>
                <a:rPr lang="en-US" sz="1400" b="0" i="0" u="none" strike="noStrike" cap="none" dirty="0">
                  <a:solidFill>
                    <a:schemeClr val="dk1"/>
                  </a:solidFill>
                  <a:ea typeface="Arial"/>
                  <a:cs typeface="Arial"/>
                  <a:sym typeface="Arial"/>
                </a:rPr>
                <a:t> </a:t>
              </a:r>
              <a:r>
                <a:rPr lang="en-US" sz="1400" b="1" i="0" u="none" strike="noStrike" cap="none" dirty="0">
                  <a:solidFill>
                    <a:schemeClr val="dk1"/>
                  </a:solidFill>
                  <a:ea typeface="Arial"/>
                  <a:cs typeface="Arial"/>
                  <a:sym typeface="Arial"/>
                </a:rPr>
                <a:t>action plan</a:t>
              </a:r>
              <a:endParaRPr lang="en-US" dirty="0"/>
            </a:p>
          </p:txBody>
        </p:sp>
        <p:sp>
          <p:nvSpPr>
            <p:cNvPr id="219" name="Google Shape;219;p6"/>
            <p:cNvSpPr/>
            <p:nvPr/>
          </p:nvSpPr>
          <p:spPr>
            <a:xfrm>
              <a:off x="0" y="3185411"/>
              <a:ext cx="11201115" cy="421200"/>
            </a:xfrm>
            <a:prstGeom prst="roundRect">
              <a:avLst>
                <a:gd name="adj" fmla="val 16667"/>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 name="Google Shape;220;p6"/>
            <p:cNvSpPr txBox="1"/>
            <p:nvPr/>
          </p:nvSpPr>
          <p:spPr>
            <a:xfrm>
              <a:off x="20561" y="3205972"/>
              <a:ext cx="11159993" cy="380078"/>
            </a:xfrm>
            <a:prstGeom prst="rect">
              <a:avLst/>
            </a:prstGeom>
            <a:noFill/>
            <a:ln>
              <a:noFill/>
            </a:ln>
          </p:spPr>
          <p:txBody>
            <a:bodyPr spcFirstLastPara="1" wrap="square" lIns="68575" tIns="68575" rIns="68575" bIns="68575" anchor="ctr"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dirty="0">
                  <a:solidFill>
                    <a:schemeClr val="lt1"/>
                  </a:solidFill>
                  <a:ea typeface="Arial"/>
                  <a:cs typeface="Arial"/>
                  <a:sym typeface="Arial"/>
                </a:rPr>
                <a:t>Adoption</a:t>
              </a:r>
              <a:endParaRPr lang="en-US" dirty="0"/>
            </a:p>
          </p:txBody>
        </p:sp>
        <p:sp>
          <p:nvSpPr>
            <p:cNvPr id="221" name="Google Shape;221;p6"/>
            <p:cNvSpPr/>
            <p:nvPr/>
          </p:nvSpPr>
          <p:spPr>
            <a:xfrm>
              <a:off x="0" y="3606611"/>
              <a:ext cx="11201115" cy="91287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 name="Google Shape;222;p6"/>
            <p:cNvSpPr txBox="1"/>
            <p:nvPr/>
          </p:nvSpPr>
          <p:spPr>
            <a:xfrm>
              <a:off x="0" y="3606611"/>
              <a:ext cx="11201115" cy="912870"/>
            </a:xfrm>
            <a:prstGeom prst="rect">
              <a:avLst/>
            </a:prstGeom>
            <a:noFill/>
            <a:ln>
              <a:noFill/>
            </a:ln>
          </p:spPr>
          <p:txBody>
            <a:bodyPr spcFirstLastPara="1" wrap="square" lIns="355625" tIns="22850" rIns="128000" bIns="22850" anchor="t" anchorCtr="0">
              <a:noAutofit/>
            </a:bodyPr>
            <a:lstStyle/>
            <a:p>
              <a:pPr marL="114300" marR="0" lvl="1" indent="-114300" algn="l" rtl="0">
                <a:lnSpc>
                  <a:spcPct val="90000"/>
                </a:lnSpc>
                <a:spcBef>
                  <a:spcPts val="0"/>
                </a:spcBef>
                <a:spcAft>
                  <a:spcPts val="0"/>
                </a:spcAft>
                <a:buClr>
                  <a:schemeClr val="dk1"/>
                </a:buClr>
                <a:buSzPts val="1400"/>
                <a:buFont typeface="Noto Sans Symbols"/>
                <a:buChar char="❑"/>
              </a:pPr>
              <a:r>
                <a:rPr lang="en-US" sz="1400" b="0" i="0" u="none" strike="noStrike" cap="none" dirty="0">
                  <a:solidFill>
                    <a:schemeClr val="dk1"/>
                  </a:solidFill>
                  <a:ea typeface="Arial"/>
                  <a:cs typeface="Arial"/>
                  <a:sym typeface="Arial"/>
                </a:rPr>
                <a:t>Form an </a:t>
              </a:r>
              <a:r>
                <a:rPr lang="en-US" sz="1400" b="1" i="0" u="none" strike="noStrike" cap="none" dirty="0">
                  <a:solidFill>
                    <a:schemeClr val="dk1"/>
                  </a:solidFill>
                  <a:ea typeface="Arial"/>
                  <a:cs typeface="Arial"/>
                  <a:sym typeface="Arial"/>
                </a:rPr>
                <a:t>HR-focused AI fusion team</a:t>
              </a:r>
              <a:endParaRPr lang="en-US" sz="1400" b="0" i="0" u="none" strike="noStrike" cap="none" dirty="0">
                <a:solidFill>
                  <a:schemeClr val="dk1"/>
                </a:solidFill>
                <a:ea typeface="Arial"/>
                <a:cs typeface="Arial"/>
                <a:sym typeface="Arial"/>
              </a:endParaRPr>
            </a:p>
            <a:p>
              <a:pPr marL="114300" marR="0" lvl="1" indent="-114300" algn="l" rtl="0">
                <a:lnSpc>
                  <a:spcPct val="90000"/>
                </a:lnSpc>
                <a:spcBef>
                  <a:spcPts val="280"/>
                </a:spcBef>
                <a:spcAft>
                  <a:spcPts val="0"/>
                </a:spcAft>
                <a:buClr>
                  <a:schemeClr val="dk1"/>
                </a:buClr>
                <a:buSzPts val="1400"/>
                <a:buFont typeface="Noto Sans Symbols"/>
                <a:buChar char="❑"/>
              </a:pPr>
              <a:r>
                <a:rPr lang="en-US" sz="1400" b="0" i="0" u="none" strike="noStrike" cap="none" dirty="0">
                  <a:solidFill>
                    <a:schemeClr val="dk1"/>
                  </a:solidFill>
                  <a:ea typeface="Arial"/>
                  <a:cs typeface="Arial"/>
                  <a:sym typeface="Arial"/>
                </a:rPr>
                <a:t>Recognize your </a:t>
              </a:r>
              <a:r>
                <a:rPr lang="en-US" sz="1400" b="1" i="0" u="none" strike="noStrike" cap="none" dirty="0">
                  <a:solidFill>
                    <a:schemeClr val="dk1"/>
                  </a:solidFill>
                  <a:ea typeface="Arial"/>
                  <a:cs typeface="Arial"/>
                  <a:sym typeface="Arial"/>
                </a:rPr>
                <a:t>adoption stage</a:t>
              </a:r>
              <a:endParaRPr lang="en-US" dirty="0"/>
            </a:p>
            <a:p>
              <a:pPr marL="114300" marR="0" lvl="1" indent="-114300" algn="l" rtl="0">
                <a:lnSpc>
                  <a:spcPct val="90000"/>
                </a:lnSpc>
                <a:spcBef>
                  <a:spcPts val="280"/>
                </a:spcBef>
                <a:spcAft>
                  <a:spcPts val="0"/>
                </a:spcAft>
                <a:buClr>
                  <a:schemeClr val="dk1"/>
                </a:buClr>
                <a:buSzPts val="1400"/>
                <a:buFont typeface="Noto Sans Symbols"/>
                <a:buChar char="❑"/>
              </a:pPr>
              <a:r>
                <a:rPr lang="en-US" sz="1400" b="0" i="0" u="none" strike="noStrike" cap="none" dirty="0">
                  <a:solidFill>
                    <a:schemeClr val="dk1"/>
                  </a:solidFill>
                  <a:ea typeface="Arial"/>
                  <a:cs typeface="Arial"/>
                  <a:sym typeface="Arial"/>
                </a:rPr>
                <a:t>Define AI’s </a:t>
              </a:r>
              <a:r>
                <a:rPr lang="en-US" sz="1400" b="1" i="0" u="none" strike="noStrike" cap="none" dirty="0">
                  <a:solidFill>
                    <a:schemeClr val="dk1"/>
                  </a:solidFill>
                  <a:ea typeface="Arial"/>
                  <a:cs typeface="Arial"/>
                  <a:sym typeface="Arial"/>
                </a:rPr>
                <a:t>impact</a:t>
              </a:r>
              <a:r>
                <a:rPr lang="en-US" sz="1400" b="0" i="0" u="none" strike="noStrike" cap="none" dirty="0">
                  <a:solidFill>
                    <a:schemeClr val="dk1"/>
                  </a:solidFill>
                  <a:ea typeface="Arial"/>
                  <a:cs typeface="Arial"/>
                  <a:sym typeface="Arial"/>
                </a:rPr>
                <a:t> on the HR function</a:t>
              </a:r>
              <a:endParaRPr lang="en-US" dirty="0"/>
            </a:p>
            <a:p>
              <a:pPr marL="114300" marR="0" lvl="1" indent="-114300" algn="l" rtl="0">
                <a:lnSpc>
                  <a:spcPct val="90000"/>
                </a:lnSpc>
                <a:spcBef>
                  <a:spcPts val="280"/>
                </a:spcBef>
                <a:spcAft>
                  <a:spcPts val="0"/>
                </a:spcAft>
                <a:buClr>
                  <a:schemeClr val="dk1"/>
                </a:buClr>
                <a:buSzPts val="1400"/>
                <a:buFont typeface="Noto Sans Symbols"/>
                <a:buChar char="❑"/>
              </a:pPr>
              <a:r>
                <a:rPr lang="en-US" sz="1400" b="0" i="0" u="none" strike="noStrike" cap="none" dirty="0">
                  <a:solidFill>
                    <a:schemeClr val="dk1"/>
                  </a:solidFill>
                  <a:ea typeface="Arial"/>
                  <a:cs typeface="Arial"/>
                  <a:sym typeface="Arial"/>
                </a:rPr>
                <a:t>Plan for building HR’s </a:t>
              </a:r>
              <a:r>
                <a:rPr lang="en-US" sz="1400" b="1" i="0" u="none" strike="noStrike" cap="none" dirty="0">
                  <a:solidFill>
                    <a:schemeClr val="dk1"/>
                  </a:solidFill>
                  <a:ea typeface="Arial"/>
                  <a:cs typeface="Arial"/>
                  <a:sym typeface="Arial"/>
                </a:rPr>
                <a:t>AI literacy </a:t>
              </a:r>
              <a:r>
                <a:rPr lang="en-US" sz="1400" b="0" i="0" u="none" strike="noStrike" cap="none" dirty="0">
                  <a:solidFill>
                    <a:schemeClr val="dk1"/>
                  </a:solidFill>
                  <a:ea typeface="Arial"/>
                  <a:cs typeface="Arial"/>
                  <a:sym typeface="Arial"/>
                </a:rPr>
                <a:t>and </a:t>
              </a:r>
              <a:r>
                <a:rPr lang="en-US" sz="1400" b="1" i="0" u="none" strike="noStrike" cap="none" dirty="0">
                  <a:solidFill>
                    <a:schemeClr val="dk1"/>
                  </a:solidFill>
                  <a:ea typeface="Arial"/>
                  <a:cs typeface="Arial"/>
                  <a:sym typeface="Arial"/>
                </a:rPr>
                <a:t>digital skills</a:t>
              </a:r>
              <a:endParaRPr lang="en-US" dirty="0"/>
            </a:p>
          </p:txBody>
        </p:sp>
        <p:sp>
          <p:nvSpPr>
            <p:cNvPr id="223" name="Google Shape;223;p6"/>
            <p:cNvSpPr/>
            <p:nvPr/>
          </p:nvSpPr>
          <p:spPr>
            <a:xfrm>
              <a:off x="0" y="4519481"/>
              <a:ext cx="11201115" cy="421200"/>
            </a:xfrm>
            <a:prstGeom prst="roundRect">
              <a:avLst>
                <a:gd name="adj" fmla="val 16667"/>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 name="Google Shape;224;p6"/>
            <p:cNvSpPr txBox="1"/>
            <p:nvPr/>
          </p:nvSpPr>
          <p:spPr>
            <a:xfrm>
              <a:off x="20561" y="4540042"/>
              <a:ext cx="11159993" cy="380078"/>
            </a:xfrm>
            <a:prstGeom prst="rect">
              <a:avLst/>
            </a:prstGeom>
            <a:noFill/>
            <a:ln>
              <a:noFill/>
            </a:ln>
          </p:spPr>
          <p:txBody>
            <a:bodyPr spcFirstLastPara="1" wrap="square" lIns="68575" tIns="68575" rIns="68575" bIns="68575" anchor="ctr"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dirty="0">
                  <a:solidFill>
                    <a:schemeClr val="lt1"/>
                  </a:solidFill>
                  <a:ea typeface="Arial"/>
                  <a:cs typeface="Arial"/>
                  <a:sym typeface="Arial"/>
                </a:rPr>
                <a:t>Alignment</a:t>
              </a:r>
              <a:endParaRPr lang="en-US" dirty="0"/>
            </a:p>
          </p:txBody>
        </p:sp>
        <p:sp>
          <p:nvSpPr>
            <p:cNvPr id="225" name="Google Shape;225;p6"/>
            <p:cNvSpPr/>
            <p:nvPr/>
          </p:nvSpPr>
          <p:spPr>
            <a:xfrm>
              <a:off x="0" y="4940681"/>
              <a:ext cx="11201115" cy="45643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 name="Google Shape;226;p6"/>
            <p:cNvSpPr txBox="1"/>
            <p:nvPr/>
          </p:nvSpPr>
          <p:spPr>
            <a:xfrm>
              <a:off x="0" y="4940681"/>
              <a:ext cx="11201115" cy="456435"/>
            </a:xfrm>
            <a:prstGeom prst="rect">
              <a:avLst/>
            </a:prstGeom>
            <a:noFill/>
            <a:ln>
              <a:noFill/>
            </a:ln>
          </p:spPr>
          <p:txBody>
            <a:bodyPr spcFirstLastPara="1" wrap="square" lIns="355625" tIns="22850" rIns="128000" bIns="22850" anchor="t" anchorCtr="0">
              <a:noAutofit/>
            </a:bodyPr>
            <a:lstStyle/>
            <a:p>
              <a:pPr marL="114300" marR="0" lvl="1" indent="-114300" algn="l" rtl="0">
                <a:lnSpc>
                  <a:spcPct val="90000"/>
                </a:lnSpc>
                <a:spcBef>
                  <a:spcPts val="0"/>
                </a:spcBef>
                <a:spcAft>
                  <a:spcPts val="0"/>
                </a:spcAft>
                <a:buClr>
                  <a:schemeClr val="dk1"/>
                </a:buClr>
                <a:buSzPts val="1400"/>
                <a:buFont typeface="Noto Sans Symbols"/>
                <a:buChar char="❑"/>
              </a:pPr>
              <a:r>
                <a:rPr lang="en-US" sz="1400" b="0" i="0" u="none" strike="noStrike" cap="none" dirty="0">
                  <a:solidFill>
                    <a:schemeClr val="dk1"/>
                  </a:solidFill>
                  <a:ea typeface="Arial"/>
                  <a:cs typeface="Arial"/>
                  <a:sym typeface="Arial"/>
                </a:rPr>
                <a:t>Align HR </a:t>
              </a:r>
              <a:r>
                <a:rPr lang="en-US" sz="1400" dirty="0">
                  <a:solidFill>
                    <a:schemeClr val="dk1"/>
                  </a:solidFill>
                  <a:cs typeface="Arial"/>
                  <a:sym typeface="Arial"/>
                </a:rPr>
                <a:t>business </a:t>
              </a:r>
              <a:r>
                <a:rPr lang="en-US" sz="1400" dirty="0">
                  <a:solidFill>
                    <a:schemeClr val="dk1"/>
                  </a:solidFill>
                  <a:cs typeface="Arial"/>
                </a:rPr>
                <a:t>and</a:t>
              </a:r>
              <a:r>
                <a:rPr lang="en-US" sz="1400" dirty="0">
                  <a:solidFill>
                    <a:schemeClr val="dk1"/>
                  </a:solidFill>
                  <a:cs typeface="Arial"/>
                  <a:sym typeface="Arial"/>
                </a:rPr>
                <a:t> </a:t>
              </a:r>
              <a:r>
                <a:rPr lang="en-US" sz="1400" b="0" i="0" u="none" strike="noStrike" cap="none" dirty="0">
                  <a:solidFill>
                    <a:schemeClr val="dk1"/>
                  </a:solidFill>
                  <a:ea typeface="Arial"/>
                  <a:cs typeface="Arial"/>
                  <a:sym typeface="Arial"/>
                </a:rPr>
                <a:t>HR technology strategies</a:t>
              </a:r>
              <a:endParaRPr lang="en-US" dirty="0"/>
            </a:p>
            <a:p>
              <a:pPr marL="114300" marR="0" lvl="1" indent="-114300" algn="l" rtl="0">
                <a:lnSpc>
                  <a:spcPct val="90000"/>
                </a:lnSpc>
                <a:spcBef>
                  <a:spcPts val="280"/>
                </a:spcBef>
                <a:spcAft>
                  <a:spcPts val="0"/>
                </a:spcAft>
                <a:buClr>
                  <a:schemeClr val="dk1"/>
                </a:buClr>
                <a:buSzPts val="1400"/>
                <a:buFont typeface="Noto Sans Symbols"/>
                <a:buChar char="❑"/>
              </a:pPr>
              <a:r>
                <a:rPr lang="en-US" sz="1400" b="0" i="0" u="none" strike="noStrike" cap="none" dirty="0">
                  <a:solidFill>
                    <a:schemeClr val="dk1"/>
                  </a:solidFill>
                  <a:ea typeface="Arial"/>
                  <a:cs typeface="Arial"/>
                  <a:sym typeface="Arial"/>
                </a:rPr>
                <a:t>Align </a:t>
              </a:r>
              <a:r>
                <a:rPr lang="en-US" sz="1400" dirty="0">
                  <a:solidFill>
                    <a:schemeClr val="dk1"/>
                  </a:solidFill>
                  <a:cs typeface="Arial"/>
                  <a:sym typeface="Arial"/>
                </a:rPr>
                <a:t>to </a:t>
              </a:r>
              <a:r>
                <a:rPr lang="en-US" sz="1400" dirty="0">
                  <a:solidFill>
                    <a:schemeClr val="dk1"/>
                  </a:solidFill>
                  <a:cs typeface="Arial"/>
                </a:rPr>
                <a:t>e</a:t>
              </a:r>
              <a:r>
                <a:rPr lang="en-US" sz="1400" dirty="0">
                  <a:solidFill>
                    <a:schemeClr val="dk1"/>
                  </a:solidFill>
                  <a:cs typeface="Arial"/>
                  <a:sym typeface="Arial"/>
                </a:rPr>
                <a:t>nterprise </a:t>
              </a:r>
              <a:r>
                <a:rPr lang="en-US" sz="1400" b="0" i="0" u="none" strike="noStrike" cap="none" dirty="0">
                  <a:solidFill>
                    <a:schemeClr val="dk1"/>
                  </a:solidFill>
                  <a:ea typeface="Arial"/>
                  <a:cs typeface="Arial"/>
                  <a:sym typeface="Arial"/>
                </a:rPr>
                <a:t>AI strategy</a:t>
              </a:r>
              <a:endParaRPr lang="en-US" dirty="0"/>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7"/>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Vision: Overview of Activities</a:t>
            </a:r>
          </a:p>
        </p:txBody>
      </p:sp>
      <p:sp>
        <p:nvSpPr>
          <p:cNvPr id="232" name="Google Shape;232;p7"/>
          <p:cNvSpPr txBox="1">
            <a:spLocks noGrp="1"/>
          </p:cNvSpPr>
          <p:nvPr>
            <p:ph type="body" idx="1"/>
          </p:nvPr>
        </p:nvSpPr>
        <p:spPr>
          <a:xfrm>
            <a:off x="5935331" y="1022168"/>
            <a:ext cx="5469848" cy="4813663"/>
          </a:xfrm>
          <a:prstGeom prst="rect">
            <a:avLst/>
          </a:prstGeom>
          <a:noFill/>
          <a:ln>
            <a:noFill/>
          </a:ln>
        </p:spPr>
        <p:txBody>
          <a:bodyPr spcFirstLastPara="1" wrap="square" lIns="0" tIns="0" rIns="0" bIns="0" anchor="t" anchorCtr="0">
            <a:noAutofit/>
          </a:bodyPr>
          <a:lstStyle/>
          <a:p>
            <a:pPr marL="457200" lvl="0" indent="-355600" algn="l" rtl="0">
              <a:lnSpc>
                <a:spcPct val="115000"/>
              </a:lnSpc>
              <a:spcBef>
                <a:spcPts val="0"/>
              </a:spcBef>
              <a:spcAft>
                <a:spcPts val="0"/>
              </a:spcAft>
              <a:buSzPts val="2000"/>
              <a:buAutoNum type="arabicPeriod"/>
            </a:pPr>
            <a:r>
              <a:rPr lang="en-US" dirty="0"/>
              <a:t>Conduct a stakeholder </a:t>
            </a:r>
            <a:r>
              <a:rPr lang="en-US" b="1" dirty="0"/>
              <a:t>AI-vision-setting workshop.</a:t>
            </a:r>
            <a:endParaRPr lang="en-US" dirty="0"/>
          </a:p>
          <a:p>
            <a:pPr marL="457200" lvl="0" indent="-355600" algn="l" rtl="0">
              <a:lnSpc>
                <a:spcPct val="115000"/>
              </a:lnSpc>
              <a:spcBef>
                <a:spcPts val="0"/>
              </a:spcBef>
              <a:spcAft>
                <a:spcPts val="0"/>
              </a:spcAft>
              <a:buSzPts val="2000"/>
              <a:buAutoNum type="arabicPeriod"/>
            </a:pPr>
            <a:r>
              <a:rPr lang="en-US" dirty="0"/>
              <a:t>Formulate the </a:t>
            </a:r>
            <a:r>
              <a:rPr lang="en-US" b="1" dirty="0"/>
              <a:t>vision statement.</a:t>
            </a:r>
            <a:endParaRPr lang="en-US" dirty="0"/>
          </a:p>
          <a:p>
            <a:pPr marL="457200" lvl="0" indent="-355600" algn="l" rtl="0">
              <a:lnSpc>
                <a:spcPct val="115000"/>
              </a:lnSpc>
              <a:spcBef>
                <a:spcPts val="0"/>
              </a:spcBef>
              <a:spcAft>
                <a:spcPts val="0"/>
              </a:spcAft>
              <a:buSzPts val="2000"/>
              <a:buAutoNum type="arabicPeriod"/>
            </a:pPr>
            <a:r>
              <a:rPr lang="en-US" dirty="0"/>
              <a:t>Define the </a:t>
            </a:r>
            <a:r>
              <a:rPr lang="en-US" b="1" dirty="0"/>
              <a:t>guiding principles.</a:t>
            </a:r>
            <a:endParaRPr lang="en-US" dirty="0"/>
          </a:p>
        </p:txBody>
      </p:sp>
      <p:grpSp>
        <p:nvGrpSpPr>
          <p:cNvPr id="233" name="Google Shape;233;p7"/>
          <p:cNvGrpSpPr/>
          <p:nvPr/>
        </p:nvGrpSpPr>
        <p:grpSpPr>
          <a:xfrm>
            <a:off x="457191" y="1022138"/>
            <a:ext cx="4987449" cy="4928216"/>
            <a:chOff x="457200" y="1514828"/>
            <a:chExt cx="4140336" cy="4091164"/>
          </a:xfrm>
        </p:grpSpPr>
        <p:grpSp>
          <p:nvGrpSpPr>
            <p:cNvPr id="234" name="Google Shape;234;p7"/>
            <p:cNvGrpSpPr/>
            <p:nvPr/>
          </p:nvGrpSpPr>
          <p:grpSpPr>
            <a:xfrm>
              <a:off x="489267" y="1517805"/>
              <a:ext cx="4096527" cy="4088187"/>
              <a:chOff x="1560285" y="1414704"/>
              <a:chExt cx="1244691" cy="1242157"/>
            </a:xfrm>
          </p:grpSpPr>
          <p:sp>
            <p:nvSpPr>
              <p:cNvPr id="235" name="Google Shape;235;p7"/>
              <p:cNvSpPr/>
              <p:nvPr/>
            </p:nvSpPr>
            <p:spPr>
              <a:xfrm>
                <a:off x="1592953" y="2043130"/>
                <a:ext cx="584671" cy="613731"/>
              </a:xfrm>
              <a:custGeom>
                <a:avLst/>
                <a:gdLst/>
                <a:ahLst/>
                <a:cxnLst/>
                <a:rect l="l" t="t" r="r" b="b"/>
                <a:pathLst>
                  <a:path w="584671" h="613731" extrusionOk="0">
                    <a:moveTo>
                      <a:pt x="0" y="188767"/>
                    </a:moveTo>
                    <a:cubicBezTo>
                      <a:pt x="84611" y="442038"/>
                      <a:pt x="322282" y="611834"/>
                      <a:pt x="584672" y="613731"/>
                    </a:cubicBezTo>
                    <a:lnTo>
                      <a:pt x="584672" y="0"/>
                    </a:lnTo>
                    <a:cubicBezTo>
                      <a:pt x="584672" y="0"/>
                      <a:pt x="0" y="189716"/>
                      <a:pt x="0" y="189716"/>
                    </a:cubicBez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236" name="Google Shape;236;p7"/>
              <p:cNvSpPr/>
              <p:nvPr/>
            </p:nvSpPr>
            <p:spPr>
              <a:xfrm>
                <a:off x="1821117" y="1414704"/>
                <a:ext cx="723471" cy="613248"/>
              </a:xfrm>
              <a:custGeom>
                <a:avLst/>
                <a:gdLst/>
                <a:ahLst/>
                <a:cxnLst/>
                <a:rect l="l" t="t" r="r" b="b"/>
                <a:pathLst>
                  <a:path w="723471" h="613248" extrusionOk="0">
                    <a:moveTo>
                      <a:pt x="723472" y="116192"/>
                    </a:moveTo>
                    <a:cubicBezTo>
                      <a:pt x="586573" y="18489"/>
                      <a:pt x="410696" y="-24198"/>
                      <a:pt x="232918" y="13746"/>
                    </a:cubicBezTo>
                    <a:cubicBezTo>
                      <a:pt x="146406" y="31769"/>
                      <a:pt x="67499" y="67815"/>
                      <a:pt x="0" y="116192"/>
                    </a:cubicBezTo>
                    <a:lnTo>
                      <a:pt x="361261" y="613248"/>
                    </a:lnTo>
                    <a:lnTo>
                      <a:pt x="723472" y="117141"/>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dirty="0">
                  <a:solidFill>
                    <a:srgbClr val="000000"/>
                  </a:solidFill>
                  <a:ea typeface="Arial"/>
                  <a:cs typeface="Arial"/>
                  <a:sym typeface="Arial"/>
                </a:endParaRPr>
              </a:p>
            </p:txBody>
          </p:sp>
          <p:sp>
            <p:nvSpPr>
              <p:cNvPr id="237" name="Google Shape;237;p7"/>
              <p:cNvSpPr/>
              <p:nvPr/>
            </p:nvSpPr>
            <p:spPr>
              <a:xfrm>
                <a:off x="2190934" y="1536588"/>
                <a:ext cx="614042" cy="686772"/>
              </a:xfrm>
              <a:custGeom>
                <a:avLst/>
                <a:gdLst/>
                <a:ahLst/>
                <a:cxnLst/>
                <a:rect l="l" t="t" r="r" b="b"/>
                <a:pathLst>
                  <a:path w="614042" h="686772" extrusionOk="0">
                    <a:moveTo>
                      <a:pt x="584672" y="686772"/>
                    </a:moveTo>
                    <a:cubicBezTo>
                      <a:pt x="616044" y="588120"/>
                      <a:pt x="623650" y="479982"/>
                      <a:pt x="600833" y="370895"/>
                    </a:cubicBezTo>
                    <a:cubicBezTo>
                      <a:pt x="568510" y="216276"/>
                      <a:pt x="480096" y="87269"/>
                      <a:pt x="362211" y="0"/>
                    </a:cubicBezTo>
                    <a:lnTo>
                      <a:pt x="0" y="496107"/>
                    </a:lnTo>
                    <a:lnTo>
                      <a:pt x="584672" y="685824"/>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238" name="Google Shape;238;p7"/>
              <p:cNvSpPr/>
              <p:nvPr/>
            </p:nvSpPr>
            <p:spPr>
              <a:xfrm>
                <a:off x="1560285" y="1536588"/>
                <a:ext cx="614487" cy="686772"/>
              </a:xfrm>
              <a:custGeom>
                <a:avLst/>
                <a:gdLst/>
                <a:ahLst/>
                <a:cxnLst/>
                <a:rect l="l" t="t" r="r" b="b"/>
                <a:pathLst>
                  <a:path w="614487" h="686772" extrusionOk="0">
                    <a:moveTo>
                      <a:pt x="253226" y="0"/>
                    </a:moveTo>
                    <a:cubicBezTo>
                      <a:pt x="63089" y="140390"/>
                      <a:pt x="-38634" y="382278"/>
                      <a:pt x="13654" y="627960"/>
                    </a:cubicBezTo>
                    <a:cubicBezTo>
                      <a:pt x="17456" y="647880"/>
                      <a:pt x="23161" y="667801"/>
                      <a:pt x="28865" y="686772"/>
                    </a:cubicBezTo>
                    <a:lnTo>
                      <a:pt x="614487" y="497056"/>
                    </a:lnTo>
                    <a:lnTo>
                      <a:pt x="253226" y="0"/>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239" name="Google Shape;239;p7"/>
              <p:cNvSpPr/>
              <p:nvPr/>
            </p:nvSpPr>
            <p:spPr>
              <a:xfrm>
                <a:off x="2187131" y="2043130"/>
                <a:ext cx="585622" cy="613731"/>
              </a:xfrm>
              <a:custGeom>
                <a:avLst/>
                <a:gdLst/>
                <a:ahLst/>
                <a:cxnLst/>
                <a:rect l="l" t="t" r="r" b="b"/>
                <a:pathLst>
                  <a:path w="585622" h="613731" extrusionOk="0">
                    <a:moveTo>
                      <a:pt x="0" y="613731"/>
                    </a:moveTo>
                    <a:cubicBezTo>
                      <a:pt x="40880" y="613731"/>
                      <a:pt x="82710" y="608989"/>
                      <a:pt x="124540" y="600451"/>
                    </a:cubicBezTo>
                    <a:cubicBezTo>
                      <a:pt x="347951" y="553022"/>
                      <a:pt x="518124" y="391764"/>
                      <a:pt x="585622" y="189716"/>
                    </a:cubicBezTo>
                    <a:lnTo>
                      <a:pt x="951" y="0"/>
                    </a:lnTo>
                    <a:lnTo>
                      <a:pt x="951" y="613731"/>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grpSp>
        <p:sp>
          <p:nvSpPr>
            <p:cNvPr id="240" name="Google Shape;240;p7"/>
            <p:cNvSpPr/>
            <p:nvPr/>
          </p:nvSpPr>
          <p:spPr>
            <a:xfrm rot="10800000">
              <a:off x="1608000" y="2774959"/>
              <a:ext cx="1858800" cy="1763400"/>
            </a:xfrm>
            <a:prstGeom prst="pentagon">
              <a:avLst>
                <a:gd name="hf" fmla="val 105146"/>
                <a:gd name="vf" fmla="val 110557"/>
              </a:avLst>
            </a:prstGeom>
            <a:solidFill>
              <a:srgbClr val="002856"/>
            </a:solidFill>
            <a:ln w="44450" cap="flat" cmpd="sng">
              <a:solidFill>
                <a:srgbClr val="FFFFFF"/>
              </a:solidFill>
              <a:prstDash val="solid"/>
              <a:round/>
              <a:headEnd type="none" w="sm" len="sm"/>
              <a:tailEnd type="none" w="sm" len="sm"/>
            </a:ln>
          </p:spPr>
          <p:txBody>
            <a:bodyPr spcFirstLastPara="1" wrap="square" lIns="0" tIns="91425" rIns="0" bIns="313000" anchor="ctr" anchorCtr="0">
              <a:noAutofit/>
            </a:bodyPr>
            <a:lstStyle/>
            <a:p>
              <a:pPr marL="0" marR="0" lvl="0" indent="0" algn="ctr" rtl="0">
                <a:lnSpc>
                  <a:spcPct val="90000"/>
                </a:lnSpc>
                <a:spcBef>
                  <a:spcPts val="0"/>
                </a:spcBef>
                <a:spcAft>
                  <a:spcPts val="0"/>
                </a:spcAft>
                <a:buNone/>
              </a:pPr>
              <a:endParaRPr sz="2800" b="1" i="0" u="none" strike="noStrike" cap="none" dirty="0">
                <a:solidFill>
                  <a:srgbClr val="FFFFFF"/>
                </a:solidFill>
                <a:ea typeface="Arial"/>
                <a:cs typeface="Arial"/>
                <a:sym typeface="Arial"/>
              </a:endParaRPr>
            </a:p>
          </p:txBody>
        </p:sp>
        <p:sp>
          <p:nvSpPr>
            <p:cNvPr id="241" name="Google Shape;241;p7"/>
            <p:cNvSpPr txBox="1"/>
            <p:nvPr/>
          </p:nvSpPr>
          <p:spPr>
            <a:xfrm>
              <a:off x="1757704" y="3273223"/>
              <a:ext cx="1560300" cy="628499"/>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2400"/>
                <a:buFont typeface="Arial"/>
                <a:buNone/>
              </a:pPr>
              <a:r>
                <a:rPr lang="en-US" sz="2400" b="1" i="0" u="none" strike="noStrike" cap="none" dirty="0">
                  <a:solidFill>
                    <a:srgbClr val="FFFFFF"/>
                  </a:solidFill>
                  <a:ea typeface="Arial"/>
                  <a:cs typeface="Arial"/>
                  <a:sym typeface="Arial"/>
                </a:rPr>
                <a:t>HR-focused </a:t>
              </a:r>
              <a:br>
                <a:rPr lang="en-US" sz="2400" b="1" i="0" u="none" strike="noStrike" cap="none" dirty="0">
                  <a:solidFill>
                    <a:srgbClr val="FFFFFF"/>
                  </a:solidFill>
                  <a:ea typeface="Arial"/>
                  <a:cs typeface="Arial"/>
                  <a:sym typeface="Arial"/>
                </a:rPr>
              </a:br>
              <a:r>
                <a:rPr lang="en-US" sz="2400" b="1" i="0" u="none" strike="noStrike" cap="none" dirty="0">
                  <a:solidFill>
                    <a:srgbClr val="FFFFFF"/>
                  </a:solidFill>
                  <a:ea typeface="Arial"/>
                  <a:cs typeface="Arial"/>
                  <a:sym typeface="Arial"/>
                </a:rPr>
                <a:t>AI strategy</a:t>
              </a:r>
              <a:endParaRPr lang="en-US" sz="2400" dirty="0"/>
            </a:p>
          </p:txBody>
        </p:sp>
        <p:sp>
          <p:nvSpPr>
            <p:cNvPr id="242" name="Google Shape;242;p7"/>
            <p:cNvSpPr/>
            <p:nvPr/>
          </p:nvSpPr>
          <p:spPr>
            <a:xfrm>
              <a:off x="1874536" y="1514828"/>
              <a:ext cx="1326000" cy="1229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ea typeface="Arial"/>
                  <a:cs typeface="Arial"/>
                  <a:sym typeface="Arial"/>
                </a:rPr>
                <a:t>Vision</a:t>
              </a:r>
              <a:endParaRPr lang="en-US" dirty="0"/>
            </a:p>
          </p:txBody>
        </p:sp>
        <p:sp>
          <p:nvSpPr>
            <p:cNvPr id="243" name="Google Shape;243;p7"/>
            <p:cNvSpPr/>
            <p:nvPr/>
          </p:nvSpPr>
          <p:spPr>
            <a:xfrm>
              <a:off x="3157236" y="2428586"/>
              <a:ext cx="1440300" cy="132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Value</a:t>
              </a:r>
              <a:endParaRPr lang="en-US" dirty="0"/>
            </a:p>
          </p:txBody>
        </p:sp>
        <p:sp>
          <p:nvSpPr>
            <p:cNvPr id="244" name="Google Shape;244;p7"/>
            <p:cNvSpPr/>
            <p:nvPr/>
          </p:nvSpPr>
          <p:spPr>
            <a:xfrm>
              <a:off x="457200" y="2426402"/>
              <a:ext cx="1470600" cy="1330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Alignment</a:t>
              </a:r>
              <a:endParaRPr lang="en-US" dirty="0"/>
            </a:p>
          </p:txBody>
        </p:sp>
        <p:sp>
          <p:nvSpPr>
            <p:cNvPr id="245" name="Google Shape;245;p7"/>
            <p:cNvSpPr/>
            <p:nvPr/>
          </p:nvSpPr>
          <p:spPr>
            <a:xfrm>
              <a:off x="2537476"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Risk</a:t>
              </a:r>
              <a:endParaRPr lang="en-US" dirty="0"/>
            </a:p>
          </p:txBody>
        </p:sp>
        <p:sp>
          <p:nvSpPr>
            <p:cNvPr id="246" name="Google Shape;246;p7"/>
            <p:cNvSpPr/>
            <p:nvPr/>
          </p:nvSpPr>
          <p:spPr>
            <a:xfrm>
              <a:off x="811049"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Adoption</a:t>
              </a:r>
              <a:endParaRPr lang="en-US" dirty="0"/>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8"/>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Vision: Conduct a Vision-Setting Workshop</a:t>
            </a:r>
          </a:p>
        </p:txBody>
      </p:sp>
      <p:sp>
        <p:nvSpPr>
          <p:cNvPr id="252" name="Google Shape;252;p8"/>
          <p:cNvSpPr txBox="1">
            <a:spLocks noGrp="1"/>
          </p:cNvSpPr>
          <p:nvPr>
            <p:ph type="body" idx="1"/>
          </p:nvPr>
        </p:nvSpPr>
        <p:spPr>
          <a:xfrm>
            <a:off x="457200" y="1141052"/>
            <a:ext cx="11274600" cy="4462200"/>
          </a:xfrm>
          <a:prstGeom prst="rect">
            <a:avLst/>
          </a:prstGeom>
          <a:noFill/>
          <a:ln>
            <a:noFill/>
          </a:ln>
        </p:spPr>
        <p:txBody>
          <a:bodyPr spcFirstLastPara="1" wrap="square" lIns="0" tIns="0" rIns="0" bIns="0" anchor="t" anchorCtr="0">
            <a:noAutofit/>
          </a:bodyPr>
          <a:lstStyle/>
          <a:p>
            <a:pPr marL="342900">
              <a:lnSpc>
                <a:spcPct val="100000"/>
              </a:lnSpc>
              <a:spcBef>
                <a:spcPts val="0"/>
              </a:spcBef>
              <a:buSzPts val="2400"/>
            </a:pPr>
            <a:r>
              <a:rPr lang="en-US" sz="2300"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19"/>
                  </a:ext>
                </a:extLst>
              </a:rPr>
              <a:t>The HR-focused AI product owner should lead stakeholders through a discussion, with the goal of determining AI’s importance to HR, given its business goals. The product owner should ensure all participants are current on AI trends and the impact of AI in HR. (Refer to advisement in “Before Getting Started” on Slide 2.)</a:t>
            </a:r>
          </a:p>
          <a:p>
            <a:pPr marL="342900">
              <a:lnSpc>
                <a:spcPct val="100000"/>
              </a:lnSpc>
              <a:buSzPts val="2400"/>
            </a:pPr>
            <a:r>
              <a:rPr lang="en-US" sz="2300" dirty="0"/>
              <a:t>Use the </a:t>
            </a:r>
            <a:r>
              <a:rPr lang="en-US" sz="2300"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20"/>
                  </a:ext>
                </a:extLst>
              </a:rPr>
              <a:t>following questions to guide the conversation:</a:t>
            </a:r>
            <a:endParaRPr lang="en-US" sz="2300" dirty="0"/>
          </a:p>
          <a:p>
            <a:pPr marL="1160462" lvl="1" indent="-392112">
              <a:lnSpc>
                <a:spcPct val="100000"/>
              </a:lnSpc>
              <a:buSzPts val="2300"/>
              <a:buFont typeface="Arial" panose="020B0604020202020204" pitchFamily="34" charset="0"/>
              <a:buChar char="—"/>
            </a:pPr>
            <a:r>
              <a:rPr lang="en-US" sz="2300" dirty="0"/>
              <a:t>What level of priority is AI for the HR organization?</a:t>
            </a:r>
          </a:p>
          <a:p>
            <a:pPr marL="1160462" lvl="1" indent="-392112">
              <a:lnSpc>
                <a:spcPct val="100000"/>
              </a:lnSpc>
              <a:buSzPts val="2300"/>
              <a:buFont typeface="Arial" panose="020B0604020202020204" pitchFamily="34" charset="0"/>
              <a:buChar char="—"/>
            </a:pPr>
            <a:r>
              <a:rPr lang="en-US" sz="2300" dirty="0"/>
              <a:t>What role should AI play in HR (i.e., increase efficiencies and/or employee engagement, where do we want to be more “high touch”)?</a:t>
            </a:r>
          </a:p>
          <a:p>
            <a:pPr marL="1160462" lvl="1" indent="-392112">
              <a:lnSpc>
                <a:spcPct val="100000"/>
              </a:lnSpc>
              <a:buSzPts val="2300"/>
              <a:buFont typeface="Arial" panose="020B0604020202020204" pitchFamily="34" charset="0"/>
              <a:buChar char="—"/>
            </a:pPr>
            <a:r>
              <a:rPr lang="en-US" sz="2300" dirty="0"/>
              <a:t>To which HR subfunctions is AI strategy most relevant?</a:t>
            </a:r>
          </a:p>
          <a:p>
            <a:pPr marL="1160462" lvl="1" indent="-392112">
              <a:lnSpc>
                <a:spcPct val="100000"/>
              </a:lnSpc>
              <a:buSzPts val="2300"/>
              <a:buFont typeface="Arial" panose="020B0604020202020204" pitchFamily="34" charset="0"/>
              <a:buChar char="—"/>
            </a:pPr>
            <a:r>
              <a:rPr lang="en-US" sz="2300" dirty="0"/>
              <a:t>How can AI augment and align to my organization, HR and HR technology strategies?</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9"/>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Vision: Create the </a:t>
            </a:r>
            <a:r>
              <a:rPr lang="en-US" b="1" dirty="0"/>
              <a:t>Vision Statement</a:t>
            </a:r>
            <a:endParaRPr lang="en-US" dirty="0"/>
          </a:p>
        </p:txBody>
      </p:sp>
      <p:sp>
        <p:nvSpPr>
          <p:cNvPr id="258" name="Google Shape;258;p9"/>
          <p:cNvSpPr txBox="1"/>
          <p:nvPr/>
        </p:nvSpPr>
        <p:spPr>
          <a:xfrm>
            <a:off x="457200" y="1079727"/>
            <a:ext cx="11274600" cy="4969500"/>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800"/>
              </a:spcBef>
              <a:spcAft>
                <a:spcPts val="0"/>
              </a:spcAft>
              <a:buClr>
                <a:schemeClr val="dk1"/>
              </a:buClr>
              <a:buSzPct val="100000"/>
              <a:buFont typeface="Arial" panose="020B0604020202020204" pitchFamily="34" charset="0"/>
              <a:buChar char="•"/>
            </a:pPr>
            <a:r>
              <a:rPr lang="en-US" sz="2400" dirty="0">
                <a:solidFill>
                  <a:schemeClr val="dk1"/>
                </a:solidFill>
                <a:highlight>
                  <a:schemeClr val="lt1"/>
                </a:highlight>
              </a:rPr>
              <a:t>Use </a:t>
            </a:r>
            <a:r>
              <a:rPr lang="en-US" sz="2400" b="0" i="0" u="none" strike="noStrike" cap="none" dirty="0">
                <a:solidFill>
                  <a:schemeClr val="dk1"/>
                </a:solidFill>
                <a:ea typeface="Arial"/>
                <a:cs typeface="Arial"/>
                <a:sym typeface="Arial"/>
              </a:rPr>
              <a:t>the output from the visioning session and craft a vision statement </a:t>
            </a:r>
            <a:r>
              <a:rPr lang="en-US" sz="2400" dirty="0">
                <a:solidFill>
                  <a:schemeClr val="dk1"/>
                </a:solidFill>
              </a:rPr>
              <a:t>that</a:t>
            </a:r>
            <a:r>
              <a:rPr lang="en-US" sz="2400" b="0" i="0" u="none" strike="noStrike" cap="none" dirty="0">
                <a:solidFill>
                  <a:schemeClr val="dk1"/>
                </a:solidFill>
                <a:ea typeface="Arial"/>
                <a:cs typeface="Arial"/>
                <a:sym typeface="Arial"/>
              </a:rPr>
              <a:t>:</a:t>
            </a:r>
            <a:endParaRPr lang="en-US" sz="2400" dirty="0">
              <a:solidFill>
                <a:schemeClr val="dk1"/>
              </a:solidFill>
            </a:endParaRPr>
          </a:p>
          <a:p>
            <a:pPr marL="687600" lvl="6" indent="-381600">
              <a:spcBef>
                <a:spcPts val="800"/>
              </a:spcBef>
              <a:buClr>
                <a:schemeClr val="dk1"/>
              </a:buClr>
              <a:buSzPct val="100000"/>
              <a:buFont typeface="Arial" panose="020B0604020202020204" pitchFamily="34" charset="0"/>
              <a:buChar char="—"/>
            </a:pPr>
            <a:r>
              <a:rPr lang="en-US" sz="2400" b="0" i="0" u="none" strike="noStrike" cap="none" dirty="0">
                <a:solidFill>
                  <a:schemeClr val="dk1"/>
                </a:solidFill>
                <a:ea typeface="Arial"/>
                <a:cs typeface="Arial"/>
                <a:sym typeface="Arial"/>
              </a:rPr>
              <a:t>Includes </a:t>
            </a:r>
            <a:r>
              <a:rPr lang="en-US" sz="2400" dirty="0">
                <a:solidFill>
                  <a:schemeClr val="dk1"/>
                </a:solidFill>
              </a:rPr>
              <a:t>AI’s</a:t>
            </a:r>
            <a:r>
              <a:rPr lang="en-US" sz="2400" b="0" i="0" u="none" strike="noStrike" cap="none" dirty="0">
                <a:solidFill>
                  <a:schemeClr val="dk1"/>
                </a:solidFill>
                <a:ea typeface="Arial"/>
                <a:cs typeface="Arial"/>
                <a:sym typeface="Arial"/>
              </a:rPr>
              <a:t> role and priority in the HR function.</a:t>
            </a:r>
          </a:p>
          <a:p>
            <a:pPr marL="687600" lvl="6" indent="-381600">
              <a:spcBef>
                <a:spcPts val="800"/>
              </a:spcBef>
              <a:buClr>
                <a:schemeClr val="dk1"/>
              </a:buClr>
              <a:buSzPct val="100000"/>
              <a:buFont typeface="Arial" panose="020B0604020202020204" pitchFamily="34" charset="0"/>
              <a:buChar char="—"/>
            </a:pPr>
            <a:r>
              <a:rPr lang="en-US" sz="2400" b="0" i="0" u="none" strike="noStrike" cap="none" dirty="0">
                <a:solidFill>
                  <a:schemeClr val="dk1"/>
                </a:solidFill>
                <a:ea typeface="Arial"/>
                <a:cs typeface="Arial"/>
                <a:sym typeface="Arial"/>
              </a:rPr>
              <a:t>Is ambitious but practical.</a:t>
            </a:r>
            <a:endParaRPr lang="en-US" sz="2400" dirty="0">
              <a:solidFill>
                <a:schemeClr val="dk1"/>
              </a:solidFill>
            </a:endParaRPr>
          </a:p>
          <a:p>
            <a:pPr marL="687600" lvl="6" indent="-381600">
              <a:spcBef>
                <a:spcPts val="800"/>
              </a:spcBef>
              <a:buClr>
                <a:schemeClr val="dk1"/>
              </a:buClr>
              <a:buSzPct val="100000"/>
              <a:buFont typeface="Arial" panose="020B0604020202020204" pitchFamily="34" charset="0"/>
              <a:buChar char="—"/>
            </a:pPr>
            <a:r>
              <a:rPr lang="en-US" sz="2400" b="0" i="0" u="none" strike="noStrike" cap="none" dirty="0">
                <a:solidFill>
                  <a:schemeClr val="dk1"/>
                </a:solidFill>
                <a:ea typeface="Arial"/>
                <a:cs typeface="Arial"/>
                <a:sym typeface="Arial"/>
              </a:rPr>
              <a:t>Is an articulation of prioritized business outcomes.</a:t>
            </a:r>
          </a:p>
          <a:p>
            <a:pPr marL="687600" lvl="6" indent="-381600">
              <a:spcBef>
                <a:spcPts val="800"/>
              </a:spcBef>
              <a:buClr>
                <a:schemeClr val="dk1"/>
              </a:buClr>
              <a:buSzPct val="100000"/>
              <a:buFont typeface="Arial" panose="020B0604020202020204" pitchFamily="34" charset="0"/>
              <a:buChar char="—"/>
            </a:pPr>
            <a:r>
              <a:rPr lang="en-US" sz="2400" b="0" i="0" u="none" strike="noStrike" cap="none" dirty="0">
                <a:solidFill>
                  <a:schemeClr val="dk1"/>
                </a:solidFill>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21"/>
                  </a:ext>
                </a:extLst>
              </a:rPr>
              <a:t>Aligns with the overall HR function and HR technology strategies.</a:t>
            </a:r>
          </a:p>
          <a:p>
            <a:pPr marL="687600" lvl="6" indent="-381600">
              <a:spcBef>
                <a:spcPts val="800"/>
              </a:spcBef>
              <a:buClr>
                <a:schemeClr val="dk1"/>
              </a:buClr>
              <a:buSzPct val="100000"/>
              <a:buFont typeface="Arial" panose="020B0604020202020204" pitchFamily="34" charset="0"/>
              <a:buChar char="—"/>
            </a:pPr>
            <a:r>
              <a:rPr lang="en-US" sz="2400" b="0" i="0" u="none" strike="noStrike" cap="none" dirty="0">
                <a:solidFill>
                  <a:schemeClr val="dk1"/>
                </a:solidFill>
                <a:ea typeface="Arial"/>
                <a:cs typeface="Arial"/>
                <a:sym typeface="Arial"/>
              </a:rPr>
              <a:t>Is easy to understand</a:t>
            </a:r>
            <a:r>
              <a:rPr lang="en-US" sz="2400" dirty="0">
                <a:solidFill>
                  <a:schemeClr val="dk1"/>
                </a:solidFill>
              </a:rPr>
              <a:t> and </a:t>
            </a:r>
            <a:r>
              <a:rPr lang="en-US" sz="2400" b="0" i="0" u="none" strike="noStrike" cap="none" dirty="0">
                <a:solidFill>
                  <a:schemeClr val="dk1"/>
                </a:solidFill>
                <a:ea typeface="Arial"/>
                <a:cs typeface="Arial"/>
                <a:sym typeface="Arial"/>
              </a:rPr>
              <a:t>communicate</a:t>
            </a:r>
            <a:r>
              <a:rPr lang="en-US" sz="2400" dirty="0">
                <a:solidFill>
                  <a:schemeClr val="dk1"/>
                </a:solidFill>
                <a:ea typeface="Arial"/>
                <a:cs typeface="Arial"/>
                <a:sym typeface="Arial"/>
              </a:rPr>
              <a:t> </a:t>
            </a:r>
            <a:r>
              <a:rPr lang="en-US" sz="2400" b="0" i="0" u="none" strike="noStrike" cap="none" dirty="0">
                <a:solidFill>
                  <a:schemeClr val="dk1"/>
                </a:solidFill>
                <a:ea typeface="Arial"/>
                <a:cs typeface="Arial"/>
                <a:sym typeface="Arial"/>
              </a:rPr>
              <a:t>and </a:t>
            </a:r>
            <a:r>
              <a:rPr lang="en-US" sz="2400" dirty="0">
                <a:solidFill>
                  <a:schemeClr val="dk1"/>
                </a:solidFill>
              </a:rPr>
              <a:t>is both</a:t>
            </a:r>
            <a:r>
              <a:rPr lang="en-US" sz="2400" b="0" i="0" u="none" strike="noStrike" cap="none" dirty="0">
                <a:solidFill>
                  <a:schemeClr val="dk1"/>
                </a:solidFill>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22"/>
                  </a:ext>
                </a:extLst>
              </a:rPr>
              <a:t> inspiring and energizing.</a:t>
            </a:r>
            <a:endParaRPr lang="en-US" sz="2400" b="0" i="0" u="none" strike="noStrike" cap="none" dirty="0">
              <a:solidFill>
                <a:schemeClr val="dk1"/>
              </a:solidFill>
              <a:ea typeface="Arial"/>
              <a:cs typeface="Arial"/>
              <a:sym typeface="Arial"/>
            </a:endParaRPr>
          </a:p>
          <a:p>
            <a:pPr marL="342900" marR="0" lvl="0" indent="-342900" algn="l" rtl="0">
              <a:lnSpc>
                <a:spcPct val="100000"/>
              </a:lnSpc>
              <a:spcBef>
                <a:spcPts val="800"/>
              </a:spcBef>
              <a:spcAft>
                <a:spcPts val="0"/>
              </a:spcAft>
              <a:buFont typeface="Arial" panose="020B0604020202020204" pitchFamily="34" charset="0"/>
              <a:buChar char="•"/>
            </a:pPr>
            <a:r>
              <a:rPr lang="en-US" sz="2400" b="0" i="0" u="none" strike="noStrike" cap="none" dirty="0">
                <a:solidFill>
                  <a:schemeClr val="dk1"/>
                </a:solidFill>
                <a:ea typeface="Arial"/>
                <a:cs typeface="Arial"/>
                <a:sym typeface="Arial"/>
              </a:rPr>
              <a:t>Optional: </a:t>
            </a:r>
            <a:endParaRPr lang="en-US" sz="2400" dirty="0"/>
          </a:p>
          <a:p>
            <a:pPr marL="685800" marR="0" lvl="1" indent="-381000" algn="l" rtl="0">
              <a:lnSpc>
                <a:spcPct val="100000"/>
              </a:lnSpc>
              <a:spcBef>
                <a:spcPts val="800"/>
              </a:spcBef>
              <a:spcAft>
                <a:spcPts val="0"/>
              </a:spcAft>
              <a:buClr>
                <a:schemeClr val="dk1"/>
              </a:buClr>
              <a:buSzPts val="2400"/>
              <a:buFont typeface="Arial" panose="020B0604020202020204" pitchFamily="34" charset="0"/>
              <a:buChar char="—"/>
            </a:pPr>
            <a:r>
              <a:rPr lang="en-US" sz="2400"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23"/>
                  </a:ext>
                </a:extLst>
              </a:rPr>
              <a:t>R</a:t>
            </a:r>
            <a:r>
              <a:rPr lang="en-US" sz="2400" b="0" i="0" u="none" strike="noStrike" cap="none" dirty="0">
                <a:solidFill>
                  <a:schemeClr val="dk1"/>
                </a:solidFill>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24"/>
                  </a:ext>
                </a:extLst>
              </a:rPr>
              <a:t>efer to AI maturity or adoption levels</a:t>
            </a:r>
            <a:r>
              <a:rPr lang="en-US" sz="2400"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25"/>
                  </a:ext>
                </a:extLst>
              </a:rPr>
              <a:t> (see</a:t>
            </a:r>
            <a:r>
              <a:rPr lang="en-US" sz="2400" b="0" i="0" u="none" strike="noStrike" cap="none" dirty="0">
                <a:solidFill>
                  <a:schemeClr val="dk1"/>
                </a:solidFill>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26"/>
                  </a:ext>
                </a:extLst>
              </a:rPr>
              <a:t> the “Adoption” section of this AI strategy).</a:t>
            </a:r>
            <a:endParaRPr lang="en-US" sz="2400"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27"/>
                </a:ext>
              </a:extLst>
            </a:endParaRPr>
          </a:p>
          <a:p>
            <a:pPr marL="685800" marR="0" lvl="1" indent="-381000" algn="l" rtl="0">
              <a:lnSpc>
                <a:spcPct val="100000"/>
              </a:lnSpc>
              <a:spcBef>
                <a:spcPts val="800"/>
              </a:spcBef>
              <a:spcAft>
                <a:spcPts val="0"/>
              </a:spcAft>
              <a:buClr>
                <a:schemeClr val="dk1"/>
              </a:buClr>
              <a:buSzPts val="2400"/>
              <a:buFont typeface="Arial" panose="020B0604020202020204" pitchFamily="34" charset="0"/>
              <a:buChar char="—"/>
            </a:pPr>
            <a:r>
              <a:rPr lang="en-US" sz="2400"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28"/>
                  </a:ext>
                </a:extLst>
              </a:rPr>
              <a:t>K</a:t>
            </a:r>
            <a:r>
              <a:rPr lang="en-US" sz="2400" b="0" i="0" u="none" strike="noStrike" cap="none" dirty="0">
                <a:solidFill>
                  <a:schemeClr val="dk1"/>
                </a:solidFill>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29"/>
                  </a:ext>
                </a:extLst>
              </a:rPr>
              <a:t>eep your AI vision statement separate or include within your HR technology one.</a:t>
            </a:r>
            <a:endParaRPr lang="en-US" sz="24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0"/>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Vision: Sample Vision Statements</a:t>
            </a:r>
          </a:p>
        </p:txBody>
      </p:sp>
      <p:sp>
        <p:nvSpPr>
          <p:cNvPr id="264" name="Google Shape;264;p10"/>
          <p:cNvSpPr/>
          <p:nvPr/>
        </p:nvSpPr>
        <p:spPr>
          <a:xfrm>
            <a:off x="457200" y="4584749"/>
            <a:ext cx="11274600" cy="10734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2000" b="0" i="0" u="none" strike="noStrike" cap="none" dirty="0">
                <a:solidFill>
                  <a:srgbClr val="FFFFFF"/>
                </a:solidFill>
                <a:ea typeface="Arial"/>
                <a:cs typeface="Arial"/>
                <a:sym typeface="Arial"/>
              </a:rPr>
              <a:t>AI is a game changer that is vital to the future of HR. AI must become part of our DNA, enabling new business models that will transform our industry.</a:t>
            </a:r>
          </a:p>
        </p:txBody>
      </p:sp>
      <p:sp>
        <p:nvSpPr>
          <p:cNvPr id="265" name="Google Shape;265;p10"/>
          <p:cNvSpPr/>
          <p:nvPr/>
        </p:nvSpPr>
        <p:spPr>
          <a:xfrm>
            <a:off x="457200" y="3065686"/>
            <a:ext cx="11274600" cy="10734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2000" b="0" i="0" u="none" strike="noStrike" cap="none" dirty="0">
                <a:solidFill>
                  <a:srgbClr val="FFFFFF"/>
                </a:solidFill>
                <a:ea typeface="Arial"/>
                <a:cs typeface="Arial"/>
                <a:sym typeface="Arial"/>
              </a:rPr>
              <a:t>AI is a competitive differentiator in our industry. We will use </a:t>
            </a:r>
            <a:r>
              <a:rPr lang="en-US" sz="2000" b="0" i="0" u="none" strike="noStrike" cap="none" dirty="0">
                <a:solidFill>
                  <a:srgbClr val="FFFFFF"/>
                </a:solidFill>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30"/>
                  </a:ext>
                </a:extLst>
              </a:rPr>
              <a:t>AI at scale in HR to relentlessly improve the employee experience and constantly innovate our services</a:t>
            </a:r>
            <a:r>
              <a:rPr lang="en-US" sz="2000" b="0" i="0" u="none" strike="noStrike" cap="none" dirty="0">
                <a:solidFill>
                  <a:srgbClr val="FFFFFF"/>
                </a:solidFill>
                <a:ea typeface="Arial"/>
                <a:cs typeface="Arial"/>
                <a:sym typeface="Arial"/>
              </a:rPr>
              <a:t>.</a:t>
            </a:r>
          </a:p>
        </p:txBody>
      </p:sp>
      <p:sp>
        <p:nvSpPr>
          <p:cNvPr id="266" name="Google Shape;266;p10"/>
          <p:cNvSpPr/>
          <p:nvPr/>
        </p:nvSpPr>
        <p:spPr>
          <a:xfrm>
            <a:off x="457200" y="1546625"/>
            <a:ext cx="11274600" cy="10734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2000" b="0" i="0" u="none" strike="noStrike" cap="none" dirty="0">
                <a:solidFill>
                  <a:srgbClr val="FFFFFF"/>
                </a:solidFill>
                <a:ea typeface="Arial"/>
                <a:cs typeface="Arial"/>
                <a:sym typeface="Arial"/>
              </a:rPr>
              <a:t>AI is a key enabler in making HR both more efficient and more resilient. The use of AI will be </a:t>
            </a:r>
            <a:br>
              <a:rPr lang="en-US" sz="2000" b="0" i="0" u="none" strike="noStrike" cap="none" dirty="0">
                <a:solidFill>
                  <a:srgbClr val="FFFFFF"/>
                </a:solidFill>
                <a:ea typeface="Arial"/>
                <a:cs typeface="Arial"/>
                <a:sym typeface="Arial"/>
              </a:rPr>
            </a:br>
            <a:r>
              <a:rPr lang="en-US" sz="2000" b="0" i="0" u="none" strike="noStrike" cap="none" dirty="0">
                <a:solidFill>
                  <a:srgbClr val="FFFFFF"/>
                </a:solidFill>
                <a:ea typeface="Arial"/>
                <a:cs typeface="Arial"/>
                <a:sym typeface="Arial"/>
              </a:rPr>
              <a:t>laser-focused on “</a:t>
            </a:r>
            <a:r>
              <a:rPr lang="en-US" sz="2000" b="0" i="0" u="none" strike="noStrike" cap="none" dirty="0">
                <a:solidFill>
                  <a:srgbClr val="FFFFFF"/>
                </a:solidFill>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31"/>
                  </a:ext>
                </a:extLst>
              </a:rPr>
              <a:t>where real business value can be achieved</a:t>
            </a:r>
            <a:r>
              <a:rPr lang="en-US" sz="2000" b="0" i="0" u="none" strike="noStrike" cap="none" dirty="0">
                <a:solidFill>
                  <a:srgbClr val="FFFFFF"/>
                </a:solidFill>
                <a:ea typeface="Arial"/>
                <a:cs typeface="Arial"/>
                <a:sym typeface="Arial"/>
              </a:rPr>
              <a:t>.”</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1"/>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Vision: Define Guiding Principles</a:t>
            </a:r>
          </a:p>
        </p:txBody>
      </p:sp>
      <p:sp>
        <p:nvSpPr>
          <p:cNvPr id="272" name="Google Shape;272;p11"/>
          <p:cNvSpPr txBox="1">
            <a:spLocks noGrp="1"/>
          </p:cNvSpPr>
          <p:nvPr>
            <p:ph type="body" idx="1"/>
          </p:nvPr>
        </p:nvSpPr>
        <p:spPr>
          <a:xfrm>
            <a:off x="457200" y="960120"/>
            <a:ext cx="11274552" cy="4462272"/>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None/>
            </a:pPr>
            <a:r>
              <a:rPr lang="en-US" dirty="0"/>
              <a:t>Leverage the stakeholder visioning session to define guiding principles that at a minimum address goals, value, risks, adoption and alignment. </a:t>
            </a:r>
          </a:p>
          <a:p>
            <a:pPr marL="0" lvl="0" indent="0" algn="l" rtl="0">
              <a:lnSpc>
                <a:spcPct val="90000"/>
              </a:lnSpc>
              <a:spcBef>
                <a:spcPts val="1200"/>
              </a:spcBef>
              <a:spcAft>
                <a:spcPts val="0"/>
              </a:spcAft>
              <a:buClr>
                <a:schemeClr val="dk1"/>
              </a:buClr>
              <a:buSzPts val="2400"/>
              <a:buNone/>
            </a:pPr>
            <a:r>
              <a:rPr lang="en-US" dirty="0"/>
              <a:t>A sample follows:</a:t>
            </a:r>
          </a:p>
        </p:txBody>
      </p:sp>
      <p:sp>
        <p:nvSpPr>
          <p:cNvPr id="273" name="Google Shape;273;p11"/>
          <p:cNvSpPr txBox="1"/>
          <p:nvPr/>
        </p:nvSpPr>
        <p:spPr>
          <a:xfrm>
            <a:off x="457200" y="2215650"/>
            <a:ext cx="11274600" cy="3477835"/>
          </a:xfrm>
          <a:prstGeom prst="rect">
            <a:avLst/>
          </a:prstGeom>
          <a:solidFill>
            <a:srgbClr val="002856"/>
          </a:soli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FFFFFF"/>
              </a:buClr>
              <a:buSzPts val="2000"/>
              <a:buFont typeface="Arial"/>
              <a:buNone/>
            </a:pPr>
            <a:r>
              <a:rPr lang="en-US" sz="2200" dirty="0">
                <a:solidFill>
                  <a:srgbClr val="FFFFFF"/>
                </a:solidFill>
                <a:ea typeface="Arial"/>
                <a:cs typeface="Arial"/>
                <a:sym typeface="Arial"/>
              </a:rPr>
              <a:t>We will:</a:t>
            </a:r>
            <a:endParaRPr lang="en-US" sz="2200" dirty="0"/>
          </a:p>
          <a:p>
            <a:pPr marL="285750" marR="0" lvl="0" indent="-304800" algn="l" rtl="0">
              <a:spcBef>
                <a:spcPts val="0"/>
              </a:spcBef>
              <a:spcAft>
                <a:spcPts val="0"/>
              </a:spcAft>
              <a:buClr>
                <a:srgbClr val="FFFFFF"/>
              </a:buClr>
              <a:buSzPts val="2300"/>
              <a:buFont typeface="Arial"/>
              <a:buChar char="•"/>
            </a:pPr>
            <a:r>
              <a:rPr lang="en-US" sz="2200" dirty="0">
                <a:solidFill>
                  <a:srgbClr val="FFFFFF"/>
                </a:solidFill>
                <a:ea typeface="Arial"/>
                <a:cs typeface="Arial"/>
                <a:sym typeface="Arial"/>
              </a:rPr>
              <a:t>Lead the transformation of HR through innovative AI solutions, optimizing efficiencies, enhancing decision making and improving employee engagement.</a:t>
            </a:r>
            <a:endParaRPr lang="en-US" sz="2200" b="1" dirty="0">
              <a:solidFill>
                <a:srgbClr val="FFFFFF"/>
              </a:solidFill>
              <a:ea typeface="Arial"/>
              <a:cs typeface="Arial"/>
              <a:sym typeface="Arial"/>
            </a:endParaRPr>
          </a:p>
          <a:p>
            <a:pPr marL="285750" marR="0" lvl="0" indent="-304800" algn="l" rtl="0">
              <a:spcBef>
                <a:spcPts val="0"/>
              </a:spcBef>
              <a:spcAft>
                <a:spcPts val="0"/>
              </a:spcAft>
              <a:buClr>
                <a:srgbClr val="FFFFFF"/>
              </a:buClr>
              <a:buSzPts val="2300"/>
              <a:buFont typeface="Arial"/>
              <a:buChar char="•"/>
            </a:pPr>
            <a:r>
              <a:rPr lang="en-US" sz="2200" dirty="0">
                <a:solidFill>
                  <a:srgbClr val="FFFFFF"/>
                </a:solidFill>
                <a:ea typeface="Arial"/>
                <a:cs typeface="Arial"/>
                <a:sym typeface="Arial"/>
              </a:rPr>
              <a:t>Align strategic AI goals with the business strategy and identify interdependencies and opportunities for synergy with respect to IT or other complementary strategies. </a:t>
            </a:r>
            <a:endParaRPr lang="en-US" sz="2200" dirty="0"/>
          </a:p>
          <a:p>
            <a:pPr marL="285750" marR="0" lvl="0" indent="-304800" algn="l" rtl="0">
              <a:spcBef>
                <a:spcPts val="0"/>
              </a:spcBef>
              <a:spcAft>
                <a:spcPts val="0"/>
              </a:spcAft>
              <a:buClr>
                <a:srgbClr val="FFFFFF"/>
              </a:buClr>
              <a:buSzPts val="2300"/>
              <a:buFont typeface="Arial"/>
              <a:buChar char="•"/>
            </a:pPr>
            <a:r>
              <a:rPr lang="en-US" sz="2200" dirty="0">
                <a:solidFill>
                  <a:srgbClr val="FFFFFF"/>
                </a:solidFill>
                <a:ea typeface="Arial"/>
                <a:cs typeface="Arial"/>
                <a:sym typeface="Arial"/>
              </a:rPr>
              <a:t>Communicate and champion our AI vision and related strategic goals.</a:t>
            </a:r>
            <a:endParaRPr lang="en-US" sz="2200" dirty="0"/>
          </a:p>
          <a:p>
            <a:pPr marL="285750" marR="0" lvl="0" indent="-304800" algn="l" rtl="0">
              <a:spcBef>
                <a:spcPts val="0"/>
              </a:spcBef>
              <a:spcAft>
                <a:spcPts val="0"/>
              </a:spcAft>
              <a:buClr>
                <a:srgbClr val="FFFFFF"/>
              </a:buClr>
              <a:buSzPts val="2300"/>
              <a:buFont typeface="Arial"/>
              <a:buChar char="•"/>
            </a:pPr>
            <a:r>
              <a:rPr lang="en-US" sz="2200" dirty="0">
                <a:solidFill>
                  <a:srgbClr val="FFFFFF"/>
                </a:solidFill>
                <a:ea typeface="Arial"/>
                <a:cs typeface="Arial"/>
                <a:sym typeface="Arial"/>
              </a:rPr>
              <a:t>Create value with AI by focusing its effective use on what is most relevant to our scope. </a:t>
            </a:r>
            <a:endParaRPr lang="en-US" sz="2200" dirty="0"/>
          </a:p>
          <a:p>
            <a:pPr marL="285750" marR="0" lvl="0" indent="-304800" algn="l" rtl="0">
              <a:spcBef>
                <a:spcPts val="0"/>
              </a:spcBef>
              <a:spcAft>
                <a:spcPts val="0"/>
              </a:spcAft>
              <a:buClr>
                <a:srgbClr val="FFFFFF"/>
              </a:buClr>
              <a:buSzPts val="2300"/>
              <a:buFont typeface="Arial"/>
              <a:buChar char="•"/>
            </a:pPr>
            <a:r>
              <a:rPr lang="en-US" sz="2200" dirty="0">
                <a:solidFill>
                  <a:srgbClr val="FFFFFF"/>
                </a:solidFill>
                <a:ea typeface="Arial"/>
                <a:cs typeface="Arial"/>
                <a:sym typeface="Arial"/>
              </a:rPr>
              <a:t>Identify key risks t</a:t>
            </a:r>
            <a:r>
              <a:rPr lang="en-US" sz="2200" dirty="0">
                <a:solidFill>
                  <a:srgbClr val="FFFFFF"/>
                </a:solidFill>
              </a:rPr>
              <a:t>o</a:t>
            </a:r>
            <a:r>
              <a:rPr lang="en-US" sz="2200" dirty="0">
                <a:solidFill>
                  <a:srgbClr val="FFFFFF"/>
                </a:solidFill>
                <a:ea typeface="Arial"/>
                <a:cs typeface="Arial"/>
                <a:sym typeface="Arial"/>
              </a:rPr>
              <a:t> mitigate for ethical, compliant, secure and sustainable AI use.</a:t>
            </a:r>
            <a:endParaRPr lang="en-US" sz="2200" dirty="0"/>
          </a:p>
          <a:p>
            <a:pPr marL="285750" marR="0" lvl="0" indent="-304800" algn="l" rtl="0">
              <a:spcBef>
                <a:spcPts val="0"/>
              </a:spcBef>
              <a:spcAft>
                <a:spcPts val="0"/>
              </a:spcAft>
              <a:buClr>
                <a:srgbClr val="FFFFFF"/>
              </a:buClr>
              <a:buSzPts val="2300"/>
              <a:buFont typeface="Arial"/>
              <a:buChar char="•"/>
            </a:pPr>
            <a:r>
              <a:rPr lang="en-US" sz="2200" dirty="0">
                <a:solidFill>
                  <a:srgbClr val="FFFFFF"/>
                </a:solidFill>
                <a:ea typeface="Arial"/>
                <a:cs typeface="Arial"/>
                <a:sym typeface="Arial"/>
              </a:rPr>
              <a:t>Set adoption goals.</a:t>
            </a:r>
            <a:endParaRPr lang="en-US" sz="22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12"/>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Value: Overview of Activities</a:t>
            </a:r>
          </a:p>
        </p:txBody>
      </p:sp>
      <p:sp>
        <p:nvSpPr>
          <p:cNvPr id="279" name="Google Shape;279;p12"/>
          <p:cNvSpPr txBox="1">
            <a:spLocks noGrp="1"/>
          </p:cNvSpPr>
          <p:nvPr>
            <p:ph type="body" idx="1"/>
          </p:nvPr>
        </p:nvSpPr>
        <p:spPr>
          <a:xfrm>
            <a:off x="5935331" y="1022168"/>
            <a:ext cx="5469848" cy="4813663"/>
          </a:xfrm>
          <a:prstGeom prst="rect">
            <a:avLst/>
          </a:prstGeom>
          <a:noFill/>
          <a:ln>
            <a:noFill/>
          </a:ln>
        </p:spPr>
        <p:txBody>
          <a:bodyPr spcFirstLastPara="1" wrap="square" lIns="0" tIns="0" rIns="0" bIns="0" anchor="t" anchorCtr="0">
            <a:noAutofit/>
          </a:bodyPr>
          <a:lstStyle/>
          <a:p>
            <a:pPr marL="457200" lvl="0" indent="-355600" algn="l" rtl="0">
              <a:lnSpc>
                <a:spcPct val="115000"/>
              </a:lnSpc>
              <a:spcBef>
                <a:spcPts val="0"/>
              </a:spcBef>
              <a:spcAft>
                <a:spcPts val="0"/>
              </a:spcAft>
              <a:buSzPts val="2000"/>
              <a:buAutoNum type="arabicPeriod"/>
            </a:pPr>
            <a:r>
              <a:rPr lang="en-US" dirty="0"/>
              <a:t>Conduct an </a:t>
            </a:r>
            <a:r>
              <a:rPr lang="en-US" b="1" dirty="0"/>
              <a:t>“art of the possible” session.</a:t>
            </a:r>
            <a:endParaRPr lang="en-US" dirty="0"/>
          </a:p>
          <a:p>
            <a:pPr marL="457200" lvl="0" indent="-355600" algn="l" rtl="0">
              <a:lnSpc>
                <a:spcPct val="115000"/>
              </a:lnSpc>
              <a:spcBef>
                <a:spcPts val="0"/>
              </a:spcBef>
              <a:spcAft>
                <a:spcPts val="0"/>
              </a:spcAft>
              <a:buSzPts val="2000"/>
              <a:buAutoNum type="arabicPeriod"/>
            </a:pPr>
            <a:r>
              <a:rPr lang="en-US" dirty="0"/>
              <a:t>Set </a:t>
            </a:r>
            <a:r>
              <a:rPr lang="en-US" b="1" dirty="0"/>
              <a:t>goals </a:t>
            </a:r>
            <a:r>
              <a:rPr lang="en-US" dirty="0"/>
              <a:t>and </a:t>
            </a:r>
            <a:r>
              <a:rPr lang="en-US" b="1" dirty="0"/>
              <a:t>example use cases.</a:t>
            </a:r>
            <a:endParaRPr lang="en-US" dirty="0"/>
          </a:p>
          <a:p>
            <a:pPr marL="457200" lvl="0" indent="-355600" algn="l" rtl="0">
              <a:lnSpc>
                <a:spcPct val="115000"/>
              </a:lnSpc>
              <a:spcBef>
                <a:spcPts val="0"/>
              </a:spcBef>
              <a:spcAft>
                <a:spcPts val="0"/>
              </a:spcAft>
              <a:buSzPts val="2000"/>
              <a:buAutoNum type="arabicPeriod"/>
            </a:pPr>
            <a:r>
              <a:rPr lang="en-US" dirty="0"/>
              <a:t>Determine which </a:t>
            </a:r>
            <a:r>
              <a:rPr lang="en-US" b="1" dirty="0"/>
              <a:t>metrics </a:t>
            </a:r>
            <a:r>
              <a:rPr lang="en-US" dirty="0"/>
              <a:t>will support monitoring of AI’s value creation.</a:t>
            </a:r>
          </a:p>
          <a:p>
            <a:pPr marL="457200" lvl="0" indent="-355600" algn="l" rtl="0">
              <a:lnSpc>
                <a:spcPct val="115000"/>
              </a:lnSpc>
              <a:spcBef>
                <a:spcPts val="0"/>
              </a:spcBef>
              <a:spcAft>
                <a:spcPts val="0"/>
              </a:spcAft>
              <a:buSzPts val="2000"/>
              <a:buAutoNum type="arabicPeriod"/>
            </a:pPr>
            <a:r>
              <a:rPr lang="en-US" dirty="0"/>
              <a:t>Define your </a:t>
            </a:r>
            <a:r>
              <a:rPr lang="en-US" b="1" dirty="0"/>
              <a:t>AI ambition level.</a:t>
            </a:r>
            <a:endParaRPr lang="en-US" dirty="0"/>
          </a:p>
        </p:txBody>
      </p:sp>
      <p:grpSp>
        <p:nvGrpSpPr>
          <p:cNvPr id="280" name="Google Shape;280;p12"/>
          <p:cNvGrpSpPr/>
          <p:nvPr/>
        </p:nvGrpSpPr>
        <p:grpSpPr>
          <a:xfrm>
            <a:off x="457191" y="1022138"/>
            <a:ext cx="4987449" cy="4928216"/>
            <a:chOff x="457200" y="1514828"/>
            <a:chExt cx="4140336" cy="4091164"/>
          </a:xfrm>
        </p:grpSpPr>
        <p:grpSp>
          <p:nvGrpSpPr>
            <p:cNvPr id="281" name="Google Shape;281;p12"/>
            <p:cNvGrpSpPr/>
            <p:nvPr/>
          </p:nvGrpSpPr>
          <p:grpSpPr>
            <a:xfrm>
              <a:off x="489267" y="1517805"/>
              <a:ext cx="4096527" cy="4088187"/>
              <a:chOff x="1560285" y="1414704"/>
              <a:chExt cx="1244691" cy="1242157"/>
            </a:xfrm>
          </p:grpSpPr>
          <p:sp>
            <p:nvSpPr>
              <p:cNvPr id="282" name="Google Shape;282;p12"/>
              <p:cNvSpPr/>
              <p:nvPr/>
            </p:nvSpPr>
            <p:spPr>
              <a:xfrm>
                <a:off x="1592953" y="2043130"/>
                <a:ext cx="584671" cy="613731"/>
              </a:xfrm>
              <a:custGeom>
                <a:avLst/>
                <a:gdLst/>
                <a:ahLst/>
                <a:cxnLst/>
                <a:rect l="l" t="t" r="r" b="b"/>
                <a:pathLst>
                  <a:path w="584671" h="613731" extrusionOk="0">
                    <a:moveTo>
                      <a:pt x="0" y="188767"/>
                    </a:moveTo>
                    <a:cubicBezTo>
                      <a:pt x="84611" y="442038"/>
                      <a:pt x="322282" y="611834"/>
                      <a:pt x="584672" y="613731"/>
                    </a:cubicBezTo>
                    <a:lnTo>
                      <a:pt x="584672" y="0"/>
                    </a:lnTo>
                    <a:cubicBezTo>
                      <a:pt x="584672" y="0"/>
                      <a:pt x="0" y="189716"/>
                      <a:pt x="0" y="189716"/>
                    </a:cubicBez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283" name="Google Shape;283;p12"/>
              <p:cNvSpPr/>
              <p:nvPr/>
            </p:nvSpPr>
            <p:spPr>
              <a:xfrm>
                <a:off x="1821117" y="1414704"/>
                <a:ext cx="723471" cy="613248"/>
              </a:xfrm>
              <a:custGeom>
                <a:avLst/>
                <a:gdLst/>
                <a:ahLst/>
                <a:cxnLst/>
                <a:rect l="l" t="t" r="r" b="b"/>
                <a:pathLst>
                  <a:path w="723471" h="613248" extrusionOk="0">
                    <a:moveTo>
                      <a:pt x="723472" y="116192"/>
                    </a:moveTo>
                    <a:cubicBezTo>
                      <a:pt x="586573" y="18489"/>
                      <a:pt x="410696" y="-24198"/>
                      <a:pt x="232918" y="13746"/>
                    </a:cubicBezTo>
                    <a:cubicBezTo>
                      <a:pt x="146406" y="31769"/>
                      <a:pt x="67499" y="67815"/>
                      <a:pt x="0" y="116192"/>
                    </a:cubicBezTo>
                    <a:lnTo>
                      <a:pt x="361261" y="613248"/>
                    </a:lnTo>
                    <a:lnTo>
                      <a:pt x="723472" y="117141"/>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284" name="Google Shape;284;p12"/>
              <p:cNvSpPr/>
              <p:nvPr/>
            </p:nvSpPr>
            <p:spPr>
              <a:xfrm>
                <a:off x="2190934" y="1536588"/>
                <a:ext cx="614042" cy="686772"/>
              </a:xfrm>
              <a:custGeom>
                <a:avLst/>
                <a:gdLst/>
                <a:ahLst/>
                <a:cxnLst/>
                <a:rect l="l" t="t" r="r" b="b"/>
                <a:pathLst>
                  <a:path w="614042" h="686772" extrusionOk="0">
                    <a:moveTo>
                      <a:pt x="584672" y="686772"/>
                    </a:moveTo>
                    <a:cubicBezTo>
                      <a:pt x="616044" y="588120"/>
                      <a:pt x="623650" y="479982"/>
                      <a:pt x="600833" y="370895"/>
                    </a:cubicBezTo>
                    <a:cubicBezTo>
                      <a:pt x="568510" y="216276"/>
                      <a:pt x="480096" y="87269"/>
                      <a:pt x="362211" y="0"/>
                    </a:cubicBezTo>
                    <a:lnTo>
                      <a:pt x="0" y="496107"/>
                    </a:lnTo>
                    <a:lnTo>
                      <a:pt x="584672" y="685824"/>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dirty="0">
                  <a:solidFill>
                    <a:srgbClr val="000000"/>
                  </a:solidFill>
                  <a:ea typeface="Arial"/>
                  <a:cs typeface="Arial"/>
                  <a:sym typeface="Arial"/>
                </a:endParaRPr>
              </a:p>
            </p:txBody>
          </p:sp>
          <p:sp>
            <p:nvSpPr>
              <p:cNvPr id="285" name="Google Shape;285;p12"/>
              <p:cNvSpPr/>
              <p:nvPr/>
            </p:nvSpPr>
            <p:spPr>
              <a:xfrm>
                <a:off x="1560285" y="1536588"/>
                <a:ext cx="614487" cy="686772"/>
              </a:xfrm>
              <a:custGeom>
                <a:avLst/>
                <a:gdLst/>
                <a:ahLst/>
                <a:cxnLst/>
                <a:rect l="l" t="t" r="r" b="b"/>
                <a:pathLst>
                  <a:path w="614487" h="686772" extrusionOk="0">
                    <a:moveTo>
                      <a:pt x="253226" y="0"/>
                    </a:moveTo>
                    <a:cubicBezTo>
                      <a:pt x="63089" y="140390"/>
                      <a:pt x="-38634" y="382278"/>
                      <a:pt x="13654" y="627960"/>
                    </a:cubicBezTo>
                    <a:cubicBezTo>
                      <a:pt x="17456" y="647880"/>
                      <a:pt x="23161" y="667801"/>
                      <a:pt x="28865" y="686772"/>
                    </a:cubicBezTo>
                    <a:lnTo>
                      <a:pt x="614487" y="497056"/>
                    </a:lnTo>
                    <a:lnTo>
                      <a:pt x="253226" y="0"/>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286" name="Google Shape;286;p12"/>
              <p:cNvSpPr/>
              <p:nvPr/>
            </p:nvSpPr>
            <p:spPr>
              <a:xfrm>
                <a:off x="2187131" y="2043130"/>
                <a:ext cx="585622" cy="613731"/>
              </a:xfrm>
              <a:custGeom>
                <a:avLst/>
                <a:gdLst/>
                <a:ahLst/>
                <a:cxnLst/>
                <a:rect l="l" t="t" r="r" b="b"/>
                <a:pathLst>
                  <a:path w="585622" h="613731" extrusionOk="0">
                    <a:moveTo>
                      <a:pt x="0" y="613731"/>
                    </a:moveTo>
                    <a:cubicBezTo>
                      <a:pt x="40880" y="613731"/>
                      <a:pt x="82710" y="608989"/>
                      <a:pt x="124540" y="600451"/>
                    </a:cubicBezTo>
                    <a:cubicBezTo>
                      <a:pt x="347951" y="553022"/>
                      <a:pt x="518124" y="391764"/>
                      <a:pt x="585622" y="189716"/>
                    </a:cubicBezTo>
                    <a:lnTo>
                      <a:pt x="951" y="0"/>
                    </a:lnTo>
                    <a:lnTo>
                      <a:pt x="951" y="613731"/>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grpSp>
        <p:sp>
          <p:nvSpPr>
            <p:cNvPr id="287" name="Google Shape;287;p12"/>
            <p:cNvSpPr/>
            <p:nvPr/>
          </p:nvSpPr>
          <p:spPr>
            <a:xfrm rot="10800000">
              <a:off x="1608000" y="2774959"/>
              <a:ext cx="1858800" cy="1763400"/>
            </a:xfrm>
            <a:prstGeom prst="pentagon">
              <a:avLst>
                <a:gd name="hf" fmla="val 105146"/>
                <a:gd name="vf" fmla="val 110557"/>
              </a:avLst>
            </a:prstGeom>
            <a:solidFill>
              <a:srgbClr val="002856"/>
            </a:solidFill>
            <a:ln w="44450" cap="flat" cmpd="sng">
              <a:solidFill>
                <a:srgbClr val="FFFFFF"/>
              </a:solidFill>
              <a:prstDash val="solid"/>
              <a:round/>
              <a:headEnd type="none" w="sm" len="sm"/>
              <a:tailEnd type="none" w="sm" len="sm"/>
            </a:ln>
          </p:spPr>
          <p:txBody>
            <a:bodyPr spcFirstLastPara="1" wrap="square" lIns="0" tIns="91425" rIns="0" bIns="313000" anchor="ctr" anchorCtr="0">
              <a:noAutofit/>
            </a:bodyPr>
            <a:lstStyle/>
            <a:p>
              <a:pPr marL="0" marR="0" lvl="0" indent="0" algn="ctr" rtl="0">
                <a:lnSpc>
                  <a:spcPct val="90000"/>
                </a:lnSpc>
                <a:spcBef>
                  <a:spcPts val="0"/>
                </a:spcBef>
                <a:spcAft>
                  <a:spcPts val="0"/>
                </a:spcAft>
                <a:buNone/>
              </a:pPr>
              <a:endParaRPr sz="2800" b="1" i="0" u="none" strike="noStrike" cap="none" dirty="0">
                <a:solidFill>
                  <a:srgbClr val="FFFFFF"/>
                </a:solidFill>
                <a:ea typeface="Arial"/>
                <a:cs typeface="Arial"/>
                <a:sym typeface="Arial"/>
              </a:endParaRPr>
            </a:p>
          </p:txBody>
        </p:sp>
        <p:sp>
          <p:nvSpPr>
            <p:cNvPr id="288" name="Google Shape;288;p12"/>
            <p:cNvSpPr txBox="1"/>
            <p:nvPr/>
          </p:nvSpPr>
          <p:spPr>
            <a:xfrm>
              <a:off x="1793930" y="3273223"/>
              <a:ext cx="1560300" cy="628499"/>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2400"/>
                <a:buFont typeface="Arial"/>
                <a:buNone/>
              </a:pPr>
              <a:r>
                <a:rPr lang="en-US" sz="2400" b="1" i="0" u="none" strike="noStrike" cap="none" dirty="0">
                  <a:solidFill>
                    <a:srgbClr val="FFFFFF"/>
                  </a:solidFill>
                  <a:ea typeface="Arial"/>
                  <a:cs typeface="Arial"/>
                  <a:sym typeface="Arial"/>
                </a:rPr>
                <a:t>HR-focused </a:t>
              </a:r>
              <a:br>
                <a:rPr lang="en-US" sz="2400" b="1" i="0" u="none" strike="noStrike" cap="none" dirty="0">
                  <a:solidFill>
                    <a:srgbClr val="FFFFFF"/>
                  </a:solidFill>
                  <a:ea typeface="Arial"/>
                  <a:cs typeface="Arial"/>
                  <a:sym typeface="Arial"/>
                </a:rPr>
              </a:br>
              <a:r>
                <a:rPr lang="en-US" sz="2400" b="1" i="0" u="none" strike="noStrike" cap="none" dirty="0">
                  <a:solidFill>
                    <a:srgbClr val="FFFFFF"/>
                  </a:solidFill>
                  <a:ea typeface="Arial"/>
                  <a:cs typeface="Arial"/>
                  <a:sym typeface="Arial"/>
                </a:rPr>
                <a:t>AI strategy</a:t>
              </a:r>
            </a:p>
          </p:txBody>
        </p:sp>
        <p:sp>
          <p:nvSpPr>
            <p:cNvPr id="289" name="Google Shape;289;p12"/>
            <p:cNvSpPr/>
            <p:nvPr/>
          </p:nvSpPr>
          <p:spPr>
            <a:xfrm>
              <a:off x="1874536" y="1514828"/>
              <a:ext cx="1326000" cy="1229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Vision</a:t>
              </a:r>
              <a:endParaRPr lang="en-US" dirty="0"/>
            </a:p>
          </p:txBody>
        </p:sp>
        <p:sp>
          <p:nvSpPr>
            <p:cNvPr id="290" name="Google Shape;290;p12"/>
            <p:cNvSpPr/>
            <p:nvPr/>
          </p:nvSpPr>
          <p:spPr>
            <a:xfrm>
              <a:off x="3157236" y="2428586"/>
              <a:ext cx="1440300" cy="132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ea typeface="Arial"/>
                  <a:cs typeface="Arial"/>
                  <a:sym typeface="Arial"/>
                </a:rPr>
                <a:t>Value</a:t>
              </a:r>
              <a:endParaRPr lang="en-US" dirty="0"/>
            </a:p>
          </p:txBody>
        </p:sp>
        <p:sp>
          <p:nvSpPr>
            <p:cNvPr id="291" name="Google Shape;291;p12"/>
            <p:cNvSpPr/>
            <p:nvPr/>
          </p:nvSpPr>
          <p:spPr>
            <a:xfrm>
              <a:off x="457200" y="2426402"/>
              <a:ext cx="1470600" cy="1330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Alignment</a:t>
              </a:r>
              <a:endParaRPr lang="en-US" dirty="0"/>
            </a:p>
          </p:txBody>
        </p:sp>
        <p:sp>
          <p:nvSpPr>
            <p:cNvPr id="292" name="Google Shape;292;p12"/>
            <p:cNvSpPr/>
            <p:nvPr/>
          </p:nvSpPr>
          <p:spPr>
            <a:xfrm>
              <a:off x="2537476"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Risk</a:t>
              </a:r>
              <a:endParaRPr lang="en-US" dirty="0"/>
            </a:p>
          </p:txBody>
        </p:sp>
        <p:sp>
          <p:nvSpPr>
            <p:cNvPr id="293" name="Google Shape;293;p12"/>
            <p:cNvSpPr/>
            <p:nvPr/>
          </p:nvSpPr>
          <p:spPr>
            <a:xfrm>
              <a:off x="811049"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Adoption</a:t>
              </a:r>
              <a:endParaRPr lang="en-US" dirty="0"/>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3"/>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Value: Conduct “Art of the Possible” Sessions</a:t>
            </a:r>
          </a:p>
        </p:txBody>
      </p:sp>
      <p:sp>
        <p:nvSpPr>
          <p:cNvPr id="299" name="Google Shape;299;p13"/>
          <p:cNvSpPr txBox="1">
            <a:spLocks noGrp="1"/>
          </p:cNvSpPr>
          <p:nvPr>
            <p:ph type="body" idx="1"/>
          </p:nvPr>
        </p:nvSpPr>
        <p:spPr>
          <a:xfrm>
            <a:off x="457200" y="1111138"/>
            <a:ext cx="11121600" cy="4462200"/>
          </a:xfrm>
          <a:prstGeom prst="rect">
            <a:avLst/>
          </a:prstGeom>
          <a:noFill/>
          <a:ln>
            <a:noFill/>
          </a:ln>
        </p:spPr>
        <p:txBody>
          <a:bodyPr spcFirstLastPara="1" wrap="square" lIns="0" tIns="0" rIns="0" bIns="0" anchor="t" anchorCtr="0">
            <a:noAutofit/>
          </a:bodyPr>
          <a:lstStyle/>
          <a:p>
            <a:pPr marL="342900">
              <a:spcBef>
                <a:spcPts val="0"/>
              </a:spcBef>
              <a:buSzPct val="100000"/>
            </a:pPr>
            <a:r>
              <a:rPr lang="en-US" dirty="0"/>
              <a:t>An ideation workshop is a great way to educate the stakeholder team in AI.</a:t>
            </a:r>
          </a:p>
          <a:p>
            <a:pPr marL="342900">
              <a:buSzPct val="100000"/>
            </a:pPr>
            <a:r>
              <a:rPr lang="en-US" dirty="0"/>
              <a:t>The HR-focused AI product owner (and, as applicable, in partnership with the IT leader) should conduct “art of the possible” sessions to educate key stakeholders on the outcomes </a:t>
            </a:r>
            <a:r>
              <a:rPr lang="en-US"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32"/>
                  </a:ext>
                </a:extLst>
              </a:rPr>
              <a:t>that your organization can achieve with AI</a:t>
            </a:r>
            <a:r>
              <a:rPr lang="en-US" dirty="0"/>
              <a:t>.</a:t>
            </a:r>
          </a:p>
          <a:p>
            <a:pPr marL="342900"/>
            <a:r>
              <a:rPr lang="en-US" dirty="0"/>
              <a:t>Gartner has a tool you may wish to leverage with informative prework to support the workshop (see </a:t>
            </a:r>
            <a:r>
              <a:rPr lang="en-US" dirty="0">
                <a:hlinkClick r:id="rId3"/>
              </a:rPr>
              <a:t>Tool: AI in HR Workshop: Ideation and Prioritization</a:t>
            </a:r>
            <a:r>
              <a:rPr lang="en-US" dirty="0"/>
              <a:t>). </a:t>
            </a:r>
          </a:p>
          <a:p>
            <a:pPr marL="685800" lvl="0" indent="-381000" algn="l" rtl="0">
              <a:lnSpc>
                <a:spcPct val="90000"/>
              </a:lnSpc>
              <a:spcBef>
                <a:spcPts val="1200"/>
              </a:spcBef>
              <a:spcAft>
                <a:spcPts val="0"/>
              </a:spcAft>
              <a:buClr>
                <a:schemeClr val="dk1"/>
              </a:buClr>
              <a:buSzPts val="2400"/>
              <a:buFont typeface="Arial" panose="020B0604020202020204" pitchFamily="34" charset="0"/>
              <a:buChar char="—"/>
            </a:pPr>
            <a:r>
              <a:rPr lang="en-US" dirty="0"/>
              <a:t>Follow instructions for “Phase 1: Inspiration.” </a:t>
            </a:r>
            <a:r>
              <a:rPr lang="en-US" b="1" i="1" dirty="0"/>
              <a:t>(The subsequent phases are for later when you begin roadmapping the capabilities.)</a:t>
            </a:r>
            <a:endParaRPr lang="en-US" dirty="0"/>
          </a:p>
          <a:p>
            <a:pPr marL="685800" lvl="0" indent="-381000" algn="l" rtl="0">
              <a:lnSpc>
                <a:spcPct val="90000"/>
              </a:lnSpc>
              <a:spcBef>
                <a:spcPts val="1200"/>
              </a:spcBef>
              <a:spcAft>
                <a:spcPts val="0"/>
              </a:spcAft>
              <a:buClr>
                <a:schemeClr val="dk1"/>
              </a:buClr>
              <a:buSzPts val="2400"/>
              <a:buFont typeface="Arial" panose="020B0604020202020204" pitchFamily="34" charset="0"/>
              <a:buChar char="—"/>
            </a:pPr>
            <a:r>
              <a:rPr lang="en-US" dirty="0"/>
              <a:t>The output from this workshop should be goals and example use cases. Refer to subsequent slides for samples and a blank template.</a:t>
            </a:r>
          </a:p>
          <a:p>
            <a:pPr marL="114300" lvl="0" indent="0" algn="l" rtl="0">
              <a:lnSpc>
                <a:spcPct val="90000"/>
              </a:lnSpc>
              <a:spcBef>
                <a:spcPts val="1200"/>
              </a:spcBef>
              <a:spcAft>
                <a:spcPts val="0"/>
              </a:spcAft>
              <a:buClr>
                <a:schemeClr val="dk1"/>
              </a:buClr>
              <a:buSzPts val="2800"/>
              <a:buNone/>
            </a:pPr>
            <a:endParaRPr lang="en-US" dirty="0"/>
          </a:p>
          <a:p>
            <a:pPr marL="114300" lvl="0" indent="0" algn="l" rtl="0">
              <a:lnSpc>
                <a:spcPct val="90000"/>
              </a:lnSpc>
              <a:spcBef>
                <a:spcPts val="1200"/>
              </a:spcBef>
              <a:spcAft>
                <a:spcPts val="0"/>
              </a:spcAft>
              <a:buClr>
                <a:schemeClr val="dk1"/>
              </a:buClr>
              <a:buSzPts val="200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14"/>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Value: Set Goals and Example AI Use Cases</a:t>
            </a:r>
          </a:p>
        </p:txBody>
      </p:sp>
      <p:sp>
        <p:nvSpPr>
          <p:cNvPr id="305" name="Google Shape;305;p14"/>
          <p:cNvSpPr txBox="1"/>
          <p:nvPr/>
        </p:nvSpPr>
        <p:spPr>
          <a:xfrm>
            <a:off x="501750" y="1270000"/>
            <a:ext cx="11188500" cy="7080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2000" dirty="0">
                <a:solidFill>
                  <a:schemeClr val="dk1"/>
                </a:solidFill>
                <a:ea typeface="Arial"/>
                <a:cs typeface="Arial"/>
                <a:sym typeface="Arial"/>
              </a:rPr>
              <a:t>Define primary goals and sample use cases to pursue as an output from the ideation workshop. A blank template </a:t>
            </a:r>
            <a:r>
              <a:rPr lang="en-US" sz="2000" dirty="0">
                <a:solidFill>
                  <a:schemeClr val="dk1"/>
                </a:solidFill>
              </a:rPr>
              <a:t>follow</a:t>
            </a:r>
            <a:r>
              <a:rPr lang="en-US" sz="2000" dirty="0">
                <a:solidFill>
                  <a:schemeClr val="dk1"/>
                </a:solidFill>
                <a:ea typeface="Arial"/>
                <a:cs typeface="Arial"/>
                <a:sym typeface="Arial"/>
              </a:rPr>
              <a:t>s on the next slide.</a:t>
            </a:r>
            <a:endParaRPr lang="en-US" dirty="0"/>
          </a:p>
        </p:txBody>
      </p:sp>
      <p:graphicFrame>
        <p:nvGraphicFramePr>
          <p:cNvPr id="306" name="Google Shape;306;p14"/>
          <p:cNvGraphicFramePr/>
          <p:nvPr>
            <p:extLst>
              <p:ext uri="{D42A27DB-BD31-4B8C-83A1-F6EECF244321}">
                <p14:modId xmlns:p14="http://schemas.microsoft.com/office/powerpoint/2010/main" val="3520315672"/>
              </p:ext>
            </p:extLst>
          </p:nvPr>
        </p:nvGraphicFramePr>
        <p:xfrm>
          <a:off x="501777" y="2154193"/>
          <a:ext cx="11188450" cy="3288375"/>
        </p:xfrm>
        <a:graphic>
          <a:graphicData uri="http://schemas.openxmlformats.org/drawingml/2006/table">
            <a:tbl>
              <a:tblPr bandRow="1">
                <a:noFill/>
              </a:tblPr>
              <a:tblGrid>
                <a:gridCol w="4209750">
                  <a:extLst>
                    <a:ext uri="{9D8B030D-6E8A-4147-A177-3AD203B41FA5}">
                      <a16:colId xmlns:a16="http://schemas.microsoft.com/office/drawing/2014/main" val="20000"/>
                    </a:ext>
                  </a:extLst>
                </a:gridCol>
                <a:gridCol w="6978700">
                  <a:extLst>
                    <a:ext uri="{9D8B030D-6E8A-4147-A177-3AD203B41FA5}">
                      <a16:colId xmlns:a16="http://schemas.microsoft.com/office/drawing/2014/main" val="20001"/>
                    </a:ext>
                  </a:extLst>
                </a:gridCol>
              </a:tblGrid>
              <a:tr h="389775">
                <a:tc>
                  <a:txBody>
                    <a:bodyPr/>
                    <a:lstStyle/>
                    <a:p>
                      <a:pPr marL="0" marR="0" lvl="0" indent="0" algn="l" rtl="0">
                        <a:lnSpc>
                          <a:spcPct val="90000"/>
                        </a:lnSpc>
                        <a:spcBef>
                          <a:spcPts val="0"/>
                        </a:spcBef>
                        <a:spcAft>
                          <a:spcPts val="0"/>
                        </a:spcAft>
                        <a:buNone/>
                      </a:pPr>
                      <a:r>
                        <a:rPr lang="en-US" sz="1800" b="1" i="0" u="none" strike="noStrike" dirty="0">
                          <a:solidFill>
                            <a:srgbClr val="FFFFFF"/>
                          </a:solidFill>
                          <a:latin typeface="+mn-lt"/>
                          <a:ea typeface="Arial"/>
                          <a:cs typeface="Arial"/>
                          <a:sym typeface="Arial"/>
                        </a:rPr>
                        <a:t>Goal</a:t>
                      </a:r>
                      <a:endParaRPr sz="1800" b="0" i="0" u="none" strike="noStrike" dirty="0">
                        <a:latin typeface="+mn-lt"/>
                        <a:ea typeface="Arial"/>
                        <a:cs typeface="Arial"/>
                        <a:sym typeface="Arial"/>
                      </a:endParaRPr>
                    </a:p>
                  </a:txBody>
                  <a:tcPr marL="91450" marR="91450" marT="45725" marB="45725" anchor="b">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6F7878"/>
                      </a:solidFill>
                      <a:prstDash val="solid"/>
                      <a:round/>
                      <a:headEnd type="none" w="sm" len="sm"/>
                      <a:tailEnd type="none" w="sm" len="sm"/>
                    </a:lnB>
                    <a:solidFill>
                      <a:srgbClr val="002856"/>
                    </a:solidFill>
                  </a:tcPr>
                </a:tc>
                <a:tc>
                  <a:txBody>
                    <a:bodyPr/>
                    <a:lstStyle/>
                    <a:p>
                      <a:pPr marL="0" marR="0" lvl="0" indent="0" algn="l" rtl="0">
                        <a:lnSpc>
                          <a:spcPct val="90000"/>
                        </a:lnSpc>
                        <a:spcBef>
                          <a:spcPts val="0"/>
                        </a:spcBef>
                        <a:spcAft>
                          <a:spcPts val="0"/>
                        </a:spcAft>
                        <a:buNone/>
                      </a:pPr>
                      <a:r>
                        <a:rPr lang="en-US" sz="1800" b="1" i="0" u="none" strike="noStrike" dirty="0">
                          <a:solidFill>
                            <a:srgbClr val="FFFFFF"/>
                          </a:solidFill>
                          <a:latin typeface="+mn-lt"/>
                          <a:ea typeface="Arial"/>
                          <a:cs typeface="Arial"/>
                          <a:sym typeface="Arial"/>
                        </a:rPr>
                        <a:t>Example AI use cases to pursue </a:t>
                      </a:r>
                      <a:endParaRPr sz="1800" b="0" i="0" u="none" strike="noStrike" dirty="0">
                        <a:latin typeface="+mn-lt"/>
                        <a:ea typeface="Arial"/>
                        <a:cs typeface="Arial"/>
                        <a:sym typeface="Arial"/>
                      </a:endParaRPr>
                    </a:p>
                  </a:txBody>
                  <a:tcPr marL="91450" marR="91450" marT="45725" marB="45725" anchor="b">
                    <a:lnL w="9525" cap="flat" cmpd="sng">
                      <a:solidFill>
                        <a:srgbClr val="6F7878"/>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6F7878"/>
                      </a:solidFill>
                      <a:prstDash val="solid"/>
                      <a:round/>
                      <a:headEnd type="none" w="sm" len="sm"/>
                      <a:tailEnd type="none" w="sm" len="sm"/>
                    </a:lnB>
                    <a:solidFill>
                      <a:srgbClr val="002856"/>
                    </a:solidFill>
                  </a:tcPr>
                </a:tc>
                <a:extLst>
                  <a:ext uri="{0D108BD9-81ED-4DB2-BD59-A6C34878D82A}">
                    <a16:rowId xmlns:a16="http://schemas.microsoft.com/office/drawing/2014/main" val="10000"/>
                  </a:ext>
                </a:extLst>
              </a:tr>
              <a:tr h="852225">
                <a:tc>
                  <a:txBody>
                    <a:bodyPr/>
                    <a:lstStyle/>
                    <a:p>
                      <a:pPr marL="0" marR="0" lvl="0" indent="0" algn="l" rtl="0">
                        <a:lnSpc>
                          <a:spcPct val="90000"/>
                        </a:lnSpc>
                        <a:spcBef>
                          <a:spcPts val="0"/>
                        </a:spcBef>
                        <a:spcAft>
                          <a:spcPts val="0"/>
                        </a:spcAft>
                        <a:buNone/>
                      </a:pPr>
                      <a:r>
                        <a:rPr lang="en-US" sz="1800" b="1" i="0" u="none" strike="noStrike" dirty="0">
                          <a:solidFill>
                            <a:srgbClr val="000000"/>
                          </a:solidFill>
                          <a:latin typeface="+mn-lt"/>
                          <a:ea typeface="Arial"/>
                          <a:cs typeface="Arial"/>
                          <a:sym typeface="Arial"/>
                        </a:rPr>
                        <a:t>Improve employee experience</a:t>
                      </a:r>
                      <a:endParaRPr sz="1800" b="1" i="0" u="none" strike="noStrike" dirty="0">
                        <a:solidFill>
                          <a:srgbClr val="000000"/>
                        </a:solidFill>
                        <a:latin typeface="+mn-lt"/>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tc>
                  <a:txBody>
                    <a:bodyPr/>
                    <a:lstStyle/>
                    <a:p>
                      <a:pPr marL="0" marR="0" lvl="0" indent="0" algn="l" rtl="0">
                        <a:lnSpc>
                          <a:spcPct val="90000"/>
                        </a:lnSpc>
                        <a:spcBef>
                          <a:spcPts val="0"/>
                        </a:spcBef>
                        <a:spcAft>
                          <a:spcPts val="0"/>
                        </a:spcAft>
                        <a:buNone/>
                      </a:pPr>
                      <a:r>
                        <a:rPr lang="en-US" sz="1800" b="0" i="0" u="none" strike="noStrike" dirty="0">
                          <a:solidFill>
                            <a:srgbClr val="000000"/>
                          </a:solidFill>
                          <a:latin typeface="+mn-lt"/>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33"/>
                            </a:ext>
                          </a:extLst>
                        </a:rPr>
                        <a:t>Internal talent marketplace</a:t>
                      </a:r>
                      <a:br>
                        <a:rPr lang="en-US" sz="1800" b="0" i="0" u="none" strike="noStrike" dirty="0">
                          <a:solidFill>
                            <a:srgbClr val="000000"/>
                          </a:solidFill>
                          <a:latin typeface="+mn-lt"/>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33"/>
                            </a:ext>
                          </a:extLst>
                        </a:rPr>
                      </a:br>
                      <a:r>
                        <a:rPr lang="en-US" sz="1800" dirty="0">
                          <a:solidFill>
                            <a:srgbClr val="000000"/>
                          </a:solidFill>
                          <a:latin typeface="+mn-l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34"/>
                            </a:ext>
                          </a:extLst>
                        </a:rPr>
                        <a:t>Employee self-service</a:t>
                      </a:r>
                      <a:r>
                        <a:rPr lang="en-US" sz="1800" b="0" i="0" u="none" strike="noStrike" dirty="0">
                          <a:solidFill>
                            <a:srgbClr val="000000"/>
                          </a:solidFill>
                          <a:latin typeface="+mn-lt"/>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35"/>
                            </a:ext>
                          </a:extLst>
                        </a:rPr>
                        <a:t> agent</a:t>
                      </a:r>
                      <a:endParaRPr dirty="0">
                        <a:latin typeface="+mn-lt"/>
                      </a:endParaRPr>
                    </a:p>
                  </a:txBody>
                  <a:tcPr marL="91450" marR="91450" marT="45725" marB="45725">
                    <a:lnL w="9525" cap="flat" cmpd="sng">
                      <a:solidFill>
                        <a:srgbClr val="6F7878"/>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extLst>
                  <a:ext uri="{0D108BD9-81ED-4DB2-BD59-A6C34878D82A}">
                    <a16:rowId xmlns:a16="http://schemas.microsoft.com/office/drawing/2014/main" val="10001"/>
                  </a:ext>
                </a:extLst>
              </a:tr>
              <a:tr h="682125">
                <a:tc>
                  <a:txBody>
                    <a:bodyPr/>
                    <a:lstStyle/>
                    <a:p>
                      <a:pPr marL="0" marR="0" lvl="0" indent="0" algn="l" rtl="0">
                        <a:lnSpc>
                          <a:spcPct val="90000"/>
                        </a:lnSpc>
                        <a:spcBef>
                          <a:spcPts val="0"/>
                        </a:spcBef>
                        <a:spcAft>
                          <a:spcPts val="0"/>
                        </a:spcAft>
                        <a:buNone/>
                      </a:pPr>
                      <a:r>
                        <a:rPr lang="en-US" sz="1800" b="1" i="0" u="none" strike="noStrike" dirty="0">
                          <a:solidFill>
                            <a:srgbClr val="000000"/>
                          </a:solidFill>
                          <a:latin typeface="+mn-lt"/>
                          <a:ea typeface="Arial"/>
                          <a:cs typeface="Arial"/>
                          <a:sym typeface="Arial"/>
                        </a:rPr>
                        <a:t>Increase productivity</a:t>
                      </a:r>
                      <a:endParaRPr sz="1800" b="0" i="0" u="none" strike="noStrike" dirty="0">
                        <a:latin typeface="+mn-lt"/>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chemeClr val="lt1"/>
                    </a:solidFill>
                  </a:tcPr>
                </a:tc>
                <a:tc>
                  <a:txBody>
                    <a:bodyPr/>
                    <a:lstStyle/>
                    <a:p>
                      <a:pPr marL="0" marR="0" lvl="0" indent="0" algn="l" rtl="0">
                        <a:lnSpc>
                          <a:spcPct val="90000"/>
                        </a:lnSpc>
                        <a:spcBef>
                          <a:spcPts val="0"/>
                        </a:spcBef>
                        <a:spcAft>
                          <a:spcPts val="0"/>
                        </a:spcAft>
                        <a:buNone/>
                      </a:pPr>
                      <a:r>
                        <a:rPr lang="en-US" sz="1800" b="0" i="0" u="none" strike="noStrike" dirty="0">
                          <a:solidFill>
                            <a:srgbClr val="000000"/>
                          </a:solidFill>
                          <a:latin typeface="+mn-lt"/>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36"/>
                            </a:ext>
                          </a:extLst>
                        </a:rPr>
                        <a:t>Case triage and routing</a:t>
                      </a:r>
                      <a:br>
                        <a:rPr lang="en-US" sz="1800" dirty="0">
                          <a:solidFill>
                            <a:srgbClr val="000000"/>
                          </a:solidFill>
                          <a:latin typeface="+mn-l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37"/>
                            </a:ext>
                          </a:extLst>
                        </a:rPr>
                      </a:br>
                      <a:r>
                        <a:rPr lang="en-US" sz="1800" dirty="0">
                          <a:solidFill>
                            <a:srgbClr val="000000"/>
                          </a:solidFill>
                          <a:latin typeface="+mn-l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37"/>
                            </a:ext>
                          </a:extLst>
                        </a:rPr>
                        <a:t>C</a:t>
                      </a:r>
                      <a:r>
                        <a:rPr lang="en-US" sz="1800" b="0" i="0" u="none" strike="noStrike" dirty="0">
                          <a:solidFill>
                            <a:srgbClr val="000000"/>
                          </a:solidFill>
                          <a:latin typeface="+mn-lt"/>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38"/>
                            </a:ext>
                          </a:extLst>
                        </a:rPr>
                        <a:t>andidate screening and prioritization</a:t>
                      </a:r>
                      <a:endParaRPr sz="1800" b="0" i="0" u="none" strike="noStrike" dirty="0">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82125">
                <a:tc>
                  <a:txBody>
                    <a:bodyPr/>
                    <a:lstStyle/>
                    <a:p>
                      <a:pPr marL="0" marR="0" lvl="0" indent="0" algn="l" rtl="0">
                        <a:lnSpc>
                          <a:spcPct val="90000"/>
                        </a:lnSpc>
                        <a:spcBef>
                          <a:spcPts val="0"/>
                        </a:spcBef>
                        <a:spcAft>
                          <a:spcPts val="0"/>
                        </a:spcAft>
                        <a:buNone/>
                      </a:pPr>
                      <a:r>
                        <a:rPr lang="en-US" sz="1800" b="1" i="0" u="none" strike="noStrike" dirty="0">
                          <a:solidFill>
                            <a:srgbClr val="000000"/>
                          </a:solidFill>
                          <a:latin typeface="+mn-lt"/>
                          <a:ea typeface="Arial"/>
                          <a:cs typeface="Arial"/>
                          <a:sym typeface="Arial"/>
                        </a:rPr>
                        <a:t>Improve self-service availability</a:t>
                      </a:r>
                      <a:endParaRPr sz="1800" b="0" i="0" u="none" strike="noStrike" dirty="0">
                        <a:latin typeface="+mn-lt"/>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8D8D8"/>
                    </a:solidFill>
                  </a:tcPr>
                </a:tc>
                <a:tc>
                  <a:txBody>
                    <a:bodyPr/>
                    <a:lstStyle/>
                    <a:p>
                      <a:pPr marL="0" marR="0" lvl="0" indent="0" algn="l" rtl="0">
                        <a:lnSpc>
                          <a:spcPct val="90000"/>
                        </a:lnSpc>
                        <a:spcBef>
                          <a:spcPts val="0"/>
                        </a:spcBef>
                        <a:spcAft>
                          <a:spcPts val="0"/>
                        </a:spcAft>
                        <a:buNone/>
                      </a:pPr>
                      <a:r>
                        <a:rPr lang="en-US" sz="1800" b="0" i="0" u="none" strike="noStrike" dirty="0">
                          <a:solidFill>
                            <a:srgbClr val="000000"/>
                          </a:solidFill>
                          <a:latin typeface="+mn-lt"/>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39"/>
                            </a:ext>
                          </a:extLst>
                        </a:rPr>
                        <a:t>Employee self-service agent</a:t>
                      </a:r>
                      <a:br>
                        <a:rPr lang="en-US" sz="1800" dirty="0">
                          <a:solidFill>
                            <a:srgbClr val="000000"/>
                          </a:solidFill>
                          <a:latin typeface="+mn-l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40"/>
                            </a:ext>
                          </a:extLst>
                        </a:rPr>
                      </a:br>
                      <a:r>
                        <a:rPr lang="en-US" sz="1800" b="0" i="0" u="none" strike="noStrike" dirty="0">
                          <a:solidFill>
                            <a:srgbClr val="000000"/>
                          </a:solidFill>
                          <a:latin typeface="+mn-lt"/>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41"/>
                            </a:ext>
                          </a:extLst>
                        </a:rPr>
                        <a:t>FAQ chatbot</a:t>
                      </a:r>
                      <a:endParaRPr dirty="0">
                        <a:latin typeface="+mn-lt"/>
                      </a:endParaRPr>
                    </a:p>
                  </a:txBody>
                  <a:tcPr marL="91450" marR="91450" marT="45725" marB="45725">
                    <a:lnL w="9525" cap="flat" cmpd="sng">
                      <a:solidFill>
                        <a:srgbClr val="6F7878"/>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8D8D8"/>
                    </a:solidFill>
                  </a:tcPr>
                </a:tc>
                <a:extLst>
                  <a:ext uri="{0D108BD9-81ED-4DB2-BD59-A6C34878D82A}">
                    <a16:rowId xmlns:a16="http://schemas.microsoft.com/office/drawing/2014/main" val="10003"/>
                  </a:ext>
                </a:extLst>
              </a:tr>
              <a:tr h="682125">
                <a:tc>
                  <a:txBody>
                    <a:bodyPr/>
                    <a:lstStyle/>
                    <a:p>
                      <a:pPr marL="0" marR="0" lvl="0" indent="0" algn="l" rtl="0">
                        <a:lnSpc>
                          <a:spcPct val="90000"/>
                        </a:lnSpc>
                        <a:spcBef>
                          <a:spcPts val="0"/>
                        </a:spcBef>
                        <a:spcAft>
                          <a:spcPts val="0"/>
                        </a:spcAft>
                        <a:buClr>
                          <a:srgbClr val="000000"/>
                        </a:buClr>
                        <a:buSzPts val="1800"/>
                        <a:buFont typeface="Arial"/>
                        <a:buNone/>
                      </a:pPr>
                      <a:r>
                        <a:rPr lang="en-US" sz="1800" b="1" i="0" u="none" strike="noStrike" dirty="0">
                          <a:solidFill>
                            <a:srgbClr val="000000"/>
                          </a:solidFill>
                          <a:latin typeface="+mn-lt"/>
                          <a:cs typeface="Arial"/>
                          <a:sym typeface="Arial"/>
                        </a:rPr>
                        <a:t>Increase talent agility</a:t>
                      </a:r>
                      <a:endParaRPr dirty="0">
                        <a:latin typeface="+mn-lt"/>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chemeClr val="lt1"/>
                    </a:solidFill>
                  </a:tcPr>
                </a:tc>
                <a:tc>
                  <a:txBody>
                    <a:bodyPr/>
                    <a:lstStyle/>
                    <a:p>
                      <a:pPr marL="0" marR="0" lvl="0" indent="0" algn="l" rtl="0">
                        <a:lnSpc>
                          <a:spcPct val="90000"/>
                        </a:lnSpc>
                        <a:spcBef>
                          <a:spcPts val="0"/>
                        </a:spcBef>
                        <a:spcAft>
                          <a:spcPts val="0"/>
                        </a:spcAft>
                        <a:buClr>
                          <a:srgbClr val="000000"/>
                        </a:buClr>
                        <a:buSzPts val="1800"/>
                        <a:buFont typeface="Arial"/>
                        <a:buNone/>
                      </a:pPr>
                      <a:r>
                        <a:rPr lang="en-US" sz="1800" b="0" i="0" u="none" strike="noStrike" dirty="0">
                          <a:solidFill>
                            <a:srgbClr val="000000"/>
                          </a:solidFill>
                          <a:latin typeface="+mn-lt"/>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42"/>
                            </a:ext>
                          </a:extLst>
                        </a:rPr>
                        <a:t>Suggested </a:t>
                      </a:r>
                      <a:r>
                        <a:rPr lang="en-US" sz="1800" dirty="0">
                          <a:solidFill>
                            <a:srgbClr val="000000"/>
                          </a:solidFill>
                          <a:latin typeface="+mn-l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43"/>
                            </a:ext>
                          </a:extLst>
                        </a:rPr>
                        <a:t>l</a:t>
                      </a:r>
                      <a:r>
                        <a:rPr lang="en-US" sz="1800" b="0" i="0" u="none" strike="noStrike" dirty="0">
                          <a:solidFill>
                            <a:srgbClr val="000000"/>
                          </a:solidFill>
                          <a:latin typeface="+mn-lt"/>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44"/>
                            </a:ext>
                          </a:extLst>
                        </a:rPr>
                        <a:t>earning</a:t>
                      </a:r>
                      <a:br>
                        <a:rPr lang="en-US" sz="1800" dirty="0">
                          <a:solidFill>
                            <a:srgbClr val="000000"/>
                          </a:solidFill>
                          <a:latin typeface="+mn-l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45"/>
                            </a:ext>
                          </a:extLst>
                        </a:rPr>
                      </a:br>
                      <a:r>
                        <a:rPr lang="en-US" sz="1800" b="0" i="0" u="none" strike="noStrike" dirty="0">
                          <a:solidFill>
                            <a:srgbClr val="000000"/>
                          </a:solidFill>
                          <a:latin typeface="+mn-lt"/>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46"/>
                            </a:ext>
                          </a:extLst>
                        </a:rPr>
                        <a:t>AI-driven skills-based talent management</a:t>
                      </a:r>
                      <a:endParaRPr dirty="0">
                        <a:latin typeface="+mn-lt"/>
                      </a:endParaRPr>
                    </a:p>
                  </a:txBody>
                  <a:tcPr marL="91450" marR="91450" marT="45725" marB="45725">
                    <a:lnL w="9525" cap="flat" cmpd="sng">
                      <a:solidFill>
                        <a:srgbClr val="6F7878"/>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5"/>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Value: Goals and Example AI Use-Case Template</a:t>
            </a:r>
          </a:p>
        </p:txBody>
      </p:sp>
      <p:graphicFrame>
        <p:nvGraphicFramePr>
          <p:cNvPr id="312" name="Google Shape;312;p15"/>
          <p:cNvGraphicFramePr/>
          <p:nvPr>
            <p:extLst>
              <p:ext uri="{D42A27DB-BD31-4B8C-83A1-F6EECF244321}">
                <p14:modId xmlns:p14="http://schemas.microsoft.com/office/powerpoint/2010/main" val="721989290"/>
              </p:ext>
            </p:extLst>
          </p:nvPr>
        </p:nvGraphicFramePr>
        <p:xfrm>
          <a:off x="458725" y="1193789"/>
          <a:ext cx="11274550" cy="4689150"/>
        </p:xfrm>
        <a:graphic>
          <a:graphicData uri="http://schemas.openxmlformats.org/drawingml/2006/table">
            <a:tbl>
              <a:tblPr bandRow="1">
                <a:noFill/>
              </a:tblPr>
              <a:tblGrid>
                <a:gridCol w="4242150">
                  <a:extLst>
                    <a:ext uri="{9D8B030D-6E8A-4147-A177-3AD203B41FA5}">
                      <a16:colId xmlns:a16="http://schemas.microsoft.com/office/drawing/2014/main" val="20000"/>
                    </a:ext>
                  </a:extLst>
                </a:gridCol>
                <a:gridCol w="7032400">
                  <a:extLst>
                    <a:ext uri="{9D8B030D-6E8A-4147-A177-3AD203B41FA5}">
                      <a16:colId xmlns:a16="http://schemas.microsoft.com/office/drawing/2014/main" val="20001"/>
                    </a:ext>
                  </a:extLst>
                </a:gridCol>
              </a:tblGrid>
              <a:tr h="353875">
                <a:tc>
                  <a:txBody>
                    <a:bodyPr/>
                    <a:lstStyle/>
                    <a:p>
                      <a:pPr marL="0" marR="0" lvl="0" indent="0" algn="l" rtl="0">
                        <a:lnSpc>
                          <a:spcPct val="90000"/>
                        </a:lnSpc>
                        <a:spcBef>
                          <a:spcPts val="0"/>
                        </a:spcBef>
                        <a:spcAft>
                          <a:spcPts val="0"/>
                        </a:spcAft>
                        <a:buNone/>
                      </a:pPr>
                      <a:r>
                        <a:rPr lang="en-US" sz="1800" b="1" i="0" u="none" strike="noStrike" dirty="0">
                          <a:solidFill>
                            <a:srgbClr val="FFFFFF"/>
                          </a:solidFill>
                          <a:latin typeface="+mn-lt"/>
                          <a:ea typeface="Arial"/>
                          <a:cs typeface="Arial"/>
                          <a:sym typeface="Arial"/>
                        </a:rPr>
                        <a:t>Goal</a:t>
                      </a:r>
                      <a:endParaRPr sz="1800" b="0" i="0" u="none" strike="noStrike" dirty="0">
                        <a:latin typeface="+mn-lt"/>
                        <a:ea typeface="Arial"/>
                        <a:cs typeface="Arial"/>
                        <a:sym typeface="Arial"/>
                      </a:endParaRPr>
                    </a:p>
                  </a:txBody>
                  <a:tcPr marL="91450" marR="91450" marT="45725" marB="45725" anchor="b">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6F7878"/>
                      </a:solidFill>
                      <a:prstDash val="solid"/>
                      <a:round/>
                      <a:headEnd type="none" w="sm" len="sm"/>
                      <a:tailEnd type="none" w="sm" len="sm"/>
                    </a:lnB>
                    <a:solidFill>
                      <a:srgbClr val="002856"/>
                    </a:solidFill>
                  </a:tcPr>
                </a:tc>
                <a:tc>
                  <a:txBody>
                    <a:bodyPr/>
                    <a:lstStyle/>
                    <a:p>
                      <a:pPr marL="0" marR="0" lvl="0" indent="0" algn="l" rtl="0">
                        <a:lnSpc>
                          <a:spcPct val="90000"/>
                        </a:lnSpc>
                        <a:spcBef>
                          <a:spcPts val="0"/>
                        </a:spcBef>
                        <a:spcAft>
                          <a:spcPts val="0"/>
                        </a:spcAft>
                        <a:buNone/>
                      </a:pPr>
                      <a:r>
                        <a:rPr lang="en-US" sz="1800" b="1" i="0" u="none" strike="noStrike" dirty="0">
                          <a:solidFill>
                            <a:srgbClr val="FFFFFF"/>
                          </a:solidFill>
                          <a:latin typeface="+mn-lt"/>
                          <a:ea typeface="Arial"/>
                          <a:cs typeface="Arial"/>
                          <a:sym typeface="Arial"/>
                        </a:rPr>
                        <a:t>Example AI use cases to pursue </a:t>
                      </a:r>
                      <a:endParaRPr sz="1800" b="0" i="0" u="none" strike="noStrike" dirty="0">
                        <a:latin typeface="+mn-lt"/>
                        <a:ea typeface="Arial"/>
                        <a:cs typeface="Arial"/>
                        <a:sym typeface="Arial"/>
                      </a:endParaRPr>
                    </a:p>
                  </a:txBody>
                  <a:tcPr marL="91450" marR="91450" marT="45725" marB="45725" anchor="b">
                    <a:lnL w="9525" cap="flat" cmpd="sng">
                      <a:solidFill>
                        <a:srgbClr val="6F7878"/>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6F7878"/>
                      </a:solidFill>
                      <a:prstDash val="solid"/>
                      <a:round/>
                      <a:headEnd type="none" w="sm" len="sm"/>
                      <a:tailEnd type="none" w="sm" len="sm"/>
                    </a:lnB>
                    <a:solidFill>
                      <a:srgbClr val="002856"/>
                    </a:solidFill>
                  </a:tcPr>
                </a:tc>
                <a:extLst>
                  <a:ext uri="{0D108BD9-81ED-4DB2-BD59-A6C34878D82A}">
                    <a16:rowId xmlns:a16="http://schemas.microsoft.com/office/drawing/2014/main" val="10000"/>
                  </a:ext>
                </a:extLst>
              </a:tr>
              <a:tr h="619325">
                <a:tc>
                  <a:txBody>
                    <a:bodyPr/>
                    <a:lstStyle/>
                    <a:p>
                      <a:pPr marL="0" marR="0" lvl="0" indent="0" algn="l" rtl="0">
                        <a:lnSpc>
                          <a:spcPct val="90000"/>
                        </a:lnSpc>
                        <a:spcBef>
                          <a:spcPts val="0"/>
                        </a:spcBef>
                        <a:spcAft>
                          <a:spcPts val="0"/>
                        </a:spcAft>
                        <a:buClr>
                          <a:schemeClr val="dk1"/>
                        </a:buClr>
                        <a:buSzPts val="1800"/>
                        <a:buFont typeface="Arial"/>
                        <a:buNone/>
                      </a:pPr>
                      <a:endParaRPr sz="1800" b="1" i="0" u="none" strike="noStrike" dirty="0">
                        <a:solidFill>
                          <a:srgbClr val="000000"/>
                        </a:solidFill>
                        <a:latin typeface="+mn-lt"/>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chemeClr val="dk1"/>
                        </a:buClr>
                        <a:buSzPts val="1800"/>
                        <a:buFont typeface="Arial"/>
                        <a:buNone/>
                      </a:pPr>
                      <a:endParaRPr sz="1800" b="0" i="0" u="none" strike="noStrik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extLst>
                  <a:ext uri="{0D108BD9-81ED-4DB2-BD59-A6C34878D82A}">
                    <a16:rowId xmlns:a16="http://schemas.microsoft.com/office/drawing/2014/main" val="10001"/>
                  </a:ext>
                </a:extLst>
              </a:tr>
              <a:tr h="619325">
                <a:tc>
                  <a:txBody>
                    <a:bodyPr/>
                    <a:lstStyle/>
                    <a:p>
                      <a:pPr marL="0" marR="0" lvl="0" indent="0" algn="l" rtl="0">
                        <a:lnSpc>
                          <a:spcPct val="90000"/>
                        </a:lnSpc>
                        <a:spcBef>
                          <a:spcPts val="0"/>
                        </a:spcBef>
                        <a:spcAft>
                          <a:spcPts val="0"/>
                        </a:spcAft>
                        <a:buNone/>
                      </a:pPr>
                      <a:endParaRPr sz="1800" b="1" i="0" u="none" strike="noStrike" dirty="0">
                        <a:solidFill>
                          <a:srgbClr val="000000"/>
                        </a:solidFill>
                        <a:latin typeface="+mn-lt"/>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90000"/>
                        </a:lnSpc>
                        <a:spcBef>
                          <a:spcPts val="0"/>
                        </a:spcBef>
                        <a:spcAft>
                          <a:spcPts val="0"/>
                        </a:spcAft>
                        <a:buNone/>
                      </a:pPr>
                      <a:endParaRPr sz="1800" b="0" i="0" u="none" strike="noStrik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extLst>
                  <a:ext uri="{0D108BD9-81ED-4DB2-BD59-A6C34878D82A}">
                    <a16:rowId xmlns:a16="http://schemas.microsoft.com/office/drawing/2014/main" val="10002"/>
                  </a:ext>
                </a:extLst>
              </a:tr>
              <a:tr h="619325">
                <a:tc>
                  <a:txBody>
                    <a:bodyPr/>
                    <a:lstStyle/>
                    <a:p>
                      <a:pPr marL="0" marR="0" lvl="0" indent="0" algn="l" rtl="0">
                        <a:lnSpc>
                          <a:spcPct val="90000"/>
                        </a:lnSpc>
                        <a:spcBef>
                          <a:spcPts val="0"/>
                        </a:spcBef>
                        <a:spcAft>
                          <a:spcPts val="0"/>
                        </a:spcAft>
                        <a:buNone/>
                      </a:pPr>
                      <a:endParaRPr sz="1800" b="1" i="0" u="none" strike="noStrike" dirty="0">
                        <a:solidFill>
                          <a:srgbClr val="000000"/>
                        </a:solidFill>
                        <a:latin typeface="+mn-lt"/>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90000"/>
                        </a:lnSpc>
                        <a:spcBef>
                          <a:spcPts val="0"/>
                        </a:spcBef>
                        <a:spcAft>
                          <a:spcPts val="0"/>
                        </a:spcAft>
                        <a:buNone/>
                      </a:pPr>
                      <a:endParaRPr sz="1800" b="0" i="0" u="none" strike="noStrik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extLst>
                  <a:ext uri="{0D108BD9-81ED-4DB2-BD59-A6C34878D82A}">
                    <a16:rowId xmlns:a16="http://schemas.microsoft.com/office/drawing/2014/main" val="10003"/>
                  </a:ext>
                </a:extLst>
              </a:tr>
              <a:tr h="619325">
                <a:tc>
                  <a:txBody>
                    <a:bodyPr/>
                    <a:lstStyle/>
                    <a:p>
                      <a:pPr marL="0" marR="0" lvl="0" indent="0" algn="l" rtl="0">
                        <a:lnSpc>
                          <a:spcPct val="90000"/>
                        </a:lnSpc>
                        <a:spcBef>
                          <a:spcPts val="0"/>
                        </a:spcBef>
                        <a:spcAft>
                          <a:spcPts val="0"/>
                        </a:spcAft>
                        <a:buNone/>
                      </a:pPr>
                      <a:endParaRPr sz="1800" b="1" i="0" u="none" strike="noStrike" dirty="0">
                        <a:solidFill>
                          <a:srgbClr val="000000"/>
                        </a:solidFill>
                        <a:latin typeface="+mn-lt"/>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90000"/>
                        </a:lnSpc>
                        <a:spcBef>
                          <a:spcPts val="0"/>
                        </a:spcBef>
                        <a:spcAft>
                          <a:spcPts val="0"/>
                        </a:spcAft>
                        <a:buNone/>
                      </a:pPr>
                      <a:endParaRPr sz="1800" b="0" i="0" u="none" strike="noStrik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extLst>
                  <a:ext uri="{0D108BD9-81ED-4DB2-BD59-A6C34878D82A}">
                    <a16:rowId xmlns:a16="http://schemas.microsoft.com/office/drawing/2014/main" val="10004"/>
                  </a:ext>
                </a:extLst>
              </a:tr>
              <a:tr h="619325">
                <a:tc>
                  <a:txBody>
                    <a:bodyPr/>
                    <a:lstStyle/>
                    <a:p>
                      <a:pPr marL="0" marR="0" lvl="0" indent="0" algn="l" rtl="0">
                        <a:lnSpc>
                          <a:spcPct val="90000"/>
                        </a:lnSpc>
                        <a:spcBef>
                          <a:spcPts val="0"/>
                        </a:spcBef>
                        <a:spcAft>
                          <a:spcPts val="0"/>
                        </a:spcAft>
                        <a:buNone/>
                      </a:pPr>
                      <a:endParaRPr sz="1800" b="1" i="0" u="none" strike="noStrike" dirty="0">
                        <a:solidFill>
                          <a:srgbClr val="000000"/>
                        </a:solidFill>
                        <a:latin typeface="+mn-lt"/>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90000"/>
                        </a:lnSpc>
                        <a:spcBef>
                          <a:spcPts val="0"/>
                        </a:spcBef>
                        <a:spcAft>
                          <a:spcPts val="0"/>
                        </a:spcAft>
                        <a:buNone/>
                      </a:pPr>
                      <a:endParaRPr sz="1800" b="0" i="0" u="none" strike="noStrik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extLst>
                  <a:ext uri="{0D108BD9-81ED-4DB2-BD59-A6C34878D82A}">
                    <a16:rowId xmlns:a16="http://schemas.microsoft.com/office/drawing/2014/main" val="10005"/>
                  </a:ext>
                </a:extLst>
              </a:tr>
              <a:tr h="619325">
                <a:tc>
                  <a:txBody>
                    <a:bodyPr/>
                    <a:lstStyle/>
                    <a:p>
                      <a:pPr marL="0" marR="0" lvl="0" indent="0" algn="l" rtl="0">
                        <a:lnSpc>
                          <a:spcPct val="90000"/>
                        </a:lnSpc>
                        <a:spcBef>
                          <a:spcPts val="0"/>
                        </a:spcBef>
                        <a:spcAft>
                          <a:spcPts val="0"/>
                        </a:spcAft>
                        <a:buNone/>
                      </a:pPr>
                      <a:endParaRPr sz="1800" b="1" i="0" u="none" strike="noStrike" dirty="0">
                        <a:solidFill>
                          <a:srgbClr val="000000"/>
                        </a:solidFill>
                        <a:latin typeface="+mn-lt"/>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90000"/>
                        </a:lnSpc>
                        <a:spcBef>
                          <a:spcPts val="0"/>
                        </a:spcBef>
                        <a:spcAft>
                          <a:spcPts val="0"/>
                        </a:spcAft>
                        <a:buNone/>
                      </a:pPr>
                      <a:endParaRPr sz="1800" b="0" i="0" u="none" strike="noStrik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extLst>
                  <a:ext uri="{0D108BD9-81ED-4DB2-BD59-A6C34878D82A}">
                    <a16:rowId xmlns:a16="http://schemas.microsoft.com/office/drawing/2014/main" val="10006"/>
                  </a:ext>
                </a:extLst>
              </a:tr>
              <a:tr h="619325">
                <a:tc>
                  <a:txBody>
                    <a:bodyPr/>
                    <a:lstStyle/>
                    <a:p>
                      <a:pPr marL="0" marR="0" lvl="0" indent="0" algn="l" rtl="0">
                        <a:lnSpc>
                          <a:spcPct val="90000"/>
                        </a:lnSpc>
                        <a:spcBef>
                          <a:spcPts val="0"/>
                        </a:spcBef>
                        <a:spcAft>
                          <a:spcPts val="0"/>
                        </a:spcAft>
                        <a:buNone/>
                      </a:pPr>
                      <a:endParaRPr sz="1800" b="1" i="0" u="none" strike="noStrike" dirty="0">
                        <a:solidFill>
                          <a:srgbClr val="000000"/>
                        </a:solidFill>
                        <a:latin typeface="+mn-lt"/>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90000"/>
                        </a:lnSpc>
                        <a:spcBef>
                          <a:spcPts val="0"/>
                        </a:spcBef>
                        <a:spcAft>
                          <a:spcPts val="0"/>
                        </a:spcAft>
                        <a:buNone/>
                      </a:pPr>
                      <a:endParaRPr sz="1800" b="0" i="0" u="none" strike="noStrik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6"/>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Value: Metrics to Monitor AI Value Creation</a:t>
            </a:r>
          </a:p>
        </p:txBody>
      </p:sp>
      <p:graphicFrame>
        <p:nvGraphicFramePr>
          <p:cNvPr id="318" name="Google Shape;318;p16"/>
          <p:cNvGraphicFramePr/>
          <p:nvPr>
            <p:extLst>
              <p:ext uri="{D42A27DB-BD31-4B8C-83A1-F6EECF244321}">
                <p14:modId xmlns:p14="http://schemas.microsoft.com/office/powerpoint/2010/main" val="571577971"/>
              </p:ext>
            </p:extLst>
          </p:nvPr>
        </p:nvGraphicFramePr>
        <p:xfrm>
          <a:off x="454064" y="2006677"/>
          <a:ext cx="11160300" cy="3266375"/>
        </p:xfrm>
        <a:graphic>
          <a:graphicData uri="http://schemas.openxmlformats.org/drawingml/2006/table">
            <a:tbl>
              <a:tblPr bandRow="1">
                <a:noFill/>
              </a:tblPr>
              <a:tblGrid>
                <a:gridCol w="3653575">
                  <a:extLst>
                    <a:ext uri="{9D8B030D-6E8A-4147-A177-3AD203B41FA5}">
                      <a16:colId xmlns:a16="http://schemas.microsoft.com/office/drawing/2014/main" val="20000"/>
                    </a:ext>
                  </a:extLst>
                </a:gridCol>
                <a:gridCol w="5081250">
                  <a:extLst>
                    <a:ext uri="{9D8B030D-6E8A-4147-A177-3AD203B41FA5}">
                      <a16:colId xmlns:a16="http://schemas.microsoft.com/office/drawing/2014/main" val="20001"/>
                    </a:ext>
                  </a:extLst>
                </a:gridCol>
                <a:gridCol w="2425475">
                  <a:extLst>
                    <a:ext uri="{9D8B030D-6E8A-4147-A177-3AD203B41FA5}">
                      <a16:colId xmlns:a16="http://schemas.microsoft.com/office/drawing/2014/main" val="20002"/>
                    </a:ext>
                  </a:extLst>
                </a:gridCol>
              </a:tblGrid>
              <a:tr h="377675">
                <a:tc>
                  <a:txBody>
                    <a:bodyPr/>
                    <a:lstStyle/>
                    <a:p>
                      <a:pPr marL="0" marR="0" lvl="0" indent="0" algn="l" rtl="0">
                        <a:lnSpc>
                          <a:spcPct val="90000"/>
                        </a:lnSpc>
                        <a:spcBef>
                          <a:spcPts val="0"/>
                        </a:spcBef>
                        <a:spcAft>
                          <a:spcPts val="0"/>
                        </a:spcAft>
                        <a:buNone/>
                      </a:pPr>
                      <a:r>
                        <a:rPr lang="en-US" sz="1800" b="1" i="0" u="none" strike="noStrike" dirty="0">
                          <a:solidFill>
                            <a:srgbClr val="FFFFFF"/>
                          </a:solidFill>
                          <a:latin typeface="+mj-lt"/>
                          <a:ea typeface="Arial"/>
                          <a:cs typeface="Arial"/>
                          <a:sym typeface="Arial"/>
                        </a:rPr>
                        <a:t>Goal</a:t>
                      </a:r>
                      <a:endParaRPr sz="1800" b="0" i="0" u="none" strike="noStrike" dirty="0">
                        <a:latin typeface="+mj-lt"/>
                        <a:ea typeface="Arial"/>
                        <a:cs typeface="Arial"/>
                        <a:sym typeface="Arial"/>
                      </a:endParaRPr>
                    </a:p>
                  </a:txBody>
                  <a:tcPr marL="91450" marR="91450" marT="45725" marB="45725" anchor="ctr">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6F7878"/>
                      </a:solidFill>
                      <a:prstDash val="solid"/>
                      <a:round/>
                      <a:headEnd type="none" w="sm" len="sm"/>
                      <a:tailEnd type="none" w="sm" len="sm"/>
                    </a:lnB>
                    <a:solidFill>
                      <a:srgbClr val="002856"/>
                    </a:solidFill>
                  </a:tcPr>
                </a:tc>
                <a:tc>
                  <a:txBody>
                    <a:bodyPr/>
                    <a:lstStyle/>
                    <a:p>
                      <a:pPr marL="0" marR="0" lvl="0" indent="0" algn="l" rtl="0">
                        <a:lnSpc>
                          <a:spcPct val="90000"/>
                        </a:lnSpc>
                        <a:spcBef>
                          <a:spcPts val="0"/>
                        </a:spcBef>
                        <a:spcAft>
                          <a:spcPts val="0"/>
                        </a:spcAft>
                        <a:buNone/>
                      </a:pPr>
                      <a:r>
                        <a:rPr lang="en-US" sz="1800" b="1" i="0" u="none" strike="noStrike" dirty="0">
                          <a:solidFill>
                            <a:srgbClr val="FFFFFF"/>
                          </a:solidFill>
                          <a:latin typeface="+mj-lt"/>
                          <a:ea typeface="Arial"/>
                          <a:cs typeface="Arial"/>
                          <a:sym typeface="Arial"/>
                        </a:rPr>
                        <a:t>Metric</a:t>
                      </a:r>
                      <a:endParaRPr sz="1800" b="0" i="0" u="none" strike="noStrike" dirty="0">
                        <a:latin typeface="+mj-lt"/>
                        <a:ea typeface="Arial"/>
                        <a:cs typeface="Arial"/>
                        <a:sym typeface="Arial"/>
                      </a:endParaRPr>
                    </a:p>
                  </a:txBody>
                  <a:tcPr marL="91450" marR="91450" marT="45725" marB="45725" anchor="ctr">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6F7878"/>
                      </a:solidFill>
                      <a:prstDash val="solid"/>
                      <a:round/>
                      <a:headEnd type="none" w="sm" len="sm"/>
                      <a:tailEnd type="none" w="sm" len="sm"/>
                    </a:lnB>
                    <a:solidFill>
                      <a:srgbClr val="002856"/>
                    </a:solidFill>
                  </a:tcPr>
                </a:tc>
                <a:tc>
                  <a:txBody>
                    <a:bodyPr/>
                    <a:lstStyle/>
                    <a:p>
                      <a:pPr marL="0" marR="0" lvl="0" indent="0" algn="l" rtl="0">
                        <a:lnSpc>
                          <a:spcPct val="90000"/>
                        </a:lnSpc>
                        <a:spcBef>
                          <a:spcPts val="0"/>
                        </a:spcBef>
                        <a:spcAft>
                          <a:spcPts val="0"/>
                        </a:spcAft>
                        <a:buNone/>
                      </a:pPr>
                      <a:r>
                        <a:rPr lang="en-US" sz="1800" b="1" i="0" u="none" strike="noStrike" dirty="0">
                          <a:solidFill>
                            <a:srgbClr val="FFFFFF"/>
                          </a:solidFill>
                          <a:latin typeface="+mj-lt"/>
                          <a:ea typeface="Arial"/>
                          <a:cs typeface="Arial"/>
                          <a:sym typeface="Arial"/>
                        </a:rPr>
                        <a:t>Success value</a:t>
                      </a:r>
                      <a:endParaRPr sz="1800" b="0" i="0" u="none" strike="noStrike" dirty="0">
                        <a:latin typeface="+mj-lt"/>
                        <a:ea typeface="Arial"/>
                        <a:cs typeface="Arial"/>
                        <a:sym typeface="Arial"/>
                      </a:endParaRPr>
                    </a:p>
                  </a:txBody>
                  <a:tcPr marL="91450" marR="91450" marT="45725" marB="45725" anchor="ctr">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6F7878"/>
                      </a:solidFill>
                      <a:prstDash val="solid"/>
                      <a:round/>
                      <a:headEnd type="none" w="sm" len="sm"/>
                      <a:tailEnd type="none" w="sm" len="sm"/>
                    </a:lnB>
                    <a:solidFill>
                      <a:srgbClr val="002856"/>
                    </a:solidFill>
                  </a:tcPr>
                </a:tc>
                <a:extLst>
                  <a:ext uri="{0D108BD9-81ED-4DB2-BD59-A6C34878D82A}">
                    <a16:rowId xmlns:a16="http://schemas.microsoft.com/office/drawing/2014/main" val="10000"/>
                  </a:ext>
                </a:extLst>
              </a:tr>
              <a:tr h="928875">
                <a:tc>
                  <a:txBody>
                    <a:bodyPr/>
                    <a:lstStyle/>
                    <a:p>
                      <a:pPr marL="0" marR="0" lvl="0" indent="0" algn="l" rtl="0">
                        <a:lnSpc>
                          <a:spcPct val="90000"/>
                        </a:lnSpc>
                        <a:spcBef>
                          <a:spcPts val="0"/>
                        </a:spcBef>
                        <a:spcAft>
                          <a:spcPts val="0"/>
                        </a:spcAft>
                        <a:buNone/>
                      </a:pPr>
                      <a:r>
                        <a:rPr lang="en-US" sz="1800" b="1" i="0" u="none" strike="noStrike" dirty="0">
                          <a:solidFill>
                            <a:srgbClr val="000000"/>
                          </a:solidFill>
                          <a:latin typeface="+mn-lt"/>
                          <a:ea typeface="Arial"/>
                          <a:cs typeface="Arial"/>
                          <a:sym typeface="Arial"/>
                        </a:rPr>
                        <a:t>Improved employee experience</a:t>
                      </a:r>
                      <a:endParaRPr sz="1800" b="1" i="0" u="none" strike="noStrike" dirty="0">
                        <a:solidFill>
                          <a:srgbClr val="000000"/>
                        </a:solidFill>
                        <a:latin typeface="+mn-lt"/>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90000"/>
                        </a:lnSpc>
                        <a:spcBef>
                          <a:spcPts val="0"/>
                        </a:spcBef>
                        <a:spcAft>
                          <a:spcPts val="0"/>
                        </a:spcAft>
                        <a:buNone/>
                      </a:pPr>
                      <a:r>
                        <a:rPr lang="en-US" sz="1800" b="0" i="0" u="none" strike="noStrike" dirty="0">
                          <a:latin typeface="+mn-lt"/>
                          <a:ea typeface="Arial"/>
                          <a:cs typeface="Arial"/>
                          <a:sym typeface="Arial"/>
                        </a:rPr>
                        <a:t>Employee satisfaction score</a:t>
                      </a:r>
                      <a:endParaRPr dirty="0">
                        <a:latin typeface="+mn-lt"/>
                      </a:endParaRPr>
                    </a:p>
                    <a:p>
                      <a:pPr marL="0" marR="0" lvl="0" indent="0" algn="l" rtl="0">
                        <a:lnSpc>
                          <a:spcPct val="90000"/>
                        </a:lnSpc>
                        <a:spcBef>
                          <a:spcPts val="0"/>
                        </a:spcBef>
                        <a:spcAft>
                          <a:spcPts val="0"/>
                        </a:spcAft>
                        <a:buNone/>
                      </a:pPr>
                      <a:r>
                        <a:rPr lang="en-US" sz="1800" b="0" i="0" u="none" strike="noStrike" dirty="0">
                          <a:latin typeface="+mn-lt"/>
                          <a:ea typeface="Arial"/>
                          <a:cs typeface="Arial"/>
                          <a:sym typeface="Arial"/>
                        </a:rPr>
                        <a:t>Net Promoter Score</a:t>
                      </a:r>
                      <a:endParaRPr dirty="0">
                        <a:latin typeface="+mn-lt"/>
                      </a:endParaRPr>
                    </a:p>
                    <a:p>
                      <a:pPr marL="0" marR="0" lvl="0" indent="0" algn="l" rtl="0">
                        <a:lnSpc>
                          <a:spcPct val="90000"/>
                        </a:lnSpc>
                        <a:spcBef>
                          <a:spcPts val="0"/>
                        </a:spcBef>
                        <a:spcAft>
                          <a:spcPts val="0"/>
                        </a:spcAft>
                        <a:buNone/>
                      </a:pPr>
                      <a:r>
                        <a:rPr lang="en-US" sz="1800" b="0" i="0" u="none" strike="noStrike" dirty="0">
                          <a:latin typeface="+mn-lt"/>
                          <a:ea typeface="Arial"/>
                          <a:cs typeface="Arial"/>
                          <a:sym typeface="Arial"/>
                        </a:rPr>
                        <a:t>Turnover rate</a:t>
                      </a:r>
                      <a:endParaRPr dirty="0">
                        <a:latin typeface="+mn-lt"/>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extLst>
                  <a:ext uri="{0D108BD9-81ED-4DB2-BD59-A6C34878D82A}">
                    <a16:rowId xmlns:a16="http://schemas.microsoft.com/office/drawing/2014/main" val="10001"/>
                  </a:ext>
                </a:extLst>
              </a:tr>
              <a:tr h="653275">
                <a:tc>
                  <a:txBody>
                    <a:bodyPr/>
                    <a:lstStyle/>
                    <a:p>
                      <a:pPr marL="0" marR="0" lvl="0" indent="0" algn="l" rtl="0">
                        <a:lnSpc>
                          <a:spcPct val="90000"/>
                        </a:lnSpc>
                        <a:spcBef>
                          <a:spcPts val="0"/>
                        </a:spcBef>
                        <a:spcAft>
                          <a:spcPts val="0"/>
                        </a:spcAft>
                        <a:buNone/>
                      </a:pPr>
                      <a:r>
                        <a:rPr lang="en-US" sz="1800" b="1" i="0" u="none" strike="noStrike" dirty="0">
                          <a:solidFill>
                            <a:srgbClr val="000000"/>
                          </a:solidFill>
                          <a:latin typeface="+mn-lt"/>
                          <a:ea typeface="Arial"/>
                          <a:cs typeface="Arial"/>
                          <a:sym typeface="Arial"/>
                        </a:rPr>
                        <a:t>Reduce costs</a:t>
                      </a:r>
                      <a:endParaRPr sz="1800" b="0" i="0" u="none" strike="noStrike" dirty="0">
                        <a:latin typeface="+mn-lt"/>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tc>
                  <a:txBody>
                    <a:bodyPr/>
                    <a:lstStyle/>
                    <a:p>
                      <a:pPr marL="0" marR="0" lvl="0" indent="0" algn="l" rtl="0">
                        <a:lnSpc>
                          <a:spcPct val="90000"/>
                        </a:lnSpc>
                        <a:spcBef>
                          <a:spcPts val="0"/>
                        </a:spcBef>
                        <a:spcAft>
                          <a:spcPts val="0"/>
                        </a:spcAft>
                        <a:buNone/>
                      </a:pPr>
                      <a:r>
                        <a:rPr lang="en-US" sz="1800" b="0" i="0" u="none" strike="noStrike" dirty="0">
                          <a:latin typeface="+mn-lt"/>
                          <a:ea typeface="Arial"/>
                          <a:cs typeface="Arial"/>
                          <a:sym typeface="Arial"/>
                        </a:rPr>
                        <a:t>Cost per hire</a:t>
                      </a:r>
                      <a:endParaRPr dirty="0">
                        <a:latin typeface="+mn-lt"/>
                      </a:endParaRPr>
                    </a:p>
                    <a:p>
                      <a:pPr marL="0" marR="0" lvl="0" indent="0" algn="l" rtl="0">
                        <a:lnSpc>
                          <a:spcPct val="90000"/>
                        </a:lnSpc>
                        <a:spcBef>
                          <a:spcPts val="0"/>
                        </a:spcBef>
                        <a:spcAft>
                          <a:spcPts val="0"/>
                        </a:spcAft>
                        <a:buNone/>
                      </a:pPr>
                      <a:r>
                        <a:rPr lang="en-US" sz="1800" b="0" i="0" u="none" strike="noStrike" dirty="0">
                          <a:latin typeface="+mn-lt"/>
                          <a:ea typeface="Arial"/>
                          <a:cs typeface="Arial"/>
                          <a:sym typeface="Arial"/>
                        </a:rPr>
                        <a:t>Error rate</a:t>
                      </a:r>
                      <a:endParaRPr dirty="0">
                        <a:latin typeface="+mn-lt"/>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extLst>
                  <a:ext uri="{0D108BD9-81ED-4DB2-BD59-A6C34878D82A}">
                    <a16:rowId xmlns:a16="http://schemas.microsoft.com/office/drawing/2014/main" val="10002"/>
                  </a:ext>
                </a:extLst>
              </a:tr>
              <a:tr h="653275">
                <a:tc>
                  <a:txBody>
                    <a:bodyPr/>
                    <a:lstStyle/>
                    <a:p>
                      <a:pPr marL="0" marR="0" lvl="0" indent="0" algn="l" rtl="0">
                        <a:lnSpc>
                          <a:spcPct val="90000"/>
                        </a:lnSpc>
                        <a:spcBef>
                          <a:spcPts val="0"/>
                        </a:spcBef>
                        <a:spcAft>
                          <a:spcPts val="0"/>
                        </a:spcAft>
                        <a:buNone/>
                      </a:pPr>
                      <a:r>
                        <a:rPr lang="en-US" sz="1800" b="1" i="0" u="none" strike="noStrike" dirty="0">
                          <a:solidFill>
                            <a:srgbClr val="000000"/>
                          </a:solidFill>
                          <a:latin typeface="+mn-lt"/>
                          <a:ea typeface="Arial"/>
                          <a:cs typeface="Arial"/>
                          <a:sym typeface="Arial"/>
                        </a:rPr>
                        <a:t>Improved self-service availability</a:t>
                      </a:r>
                      <a:endParaRPr sz="1800" b="0" i="0" u="none" strike="noStrike" dirty="0">
                        <a:latin typeface="+mn-lt"/>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90000"/>
                        </a:lnSpc>
                        <a:spcBef>
                          <a:spcPts val="0"/>
                        </a:spcBef>
                        <a:spcAft>
                          <a:spcPts val="0"/>
                        </a:spcAft>
                        <a:buNone/>
                      </a:pPr>
                      <a:r>
                        <a:rPr lang="en-US" sz="1800" b="0" i="0" u="none" strike="noStrike" dirty="0">
                          <a:latin typeface="+mn-lt"/>
                          <a:ea typeface="Arial"/>
                          <a:cs typeface="Arial"/>
                          <a:sym typeface="Arial"/>
                        </a:rPr>
                        <a:t>First-contact resolution rate</a:t>
                      </a:r>
                      <a:endParaRPr sz="1800" b="0" i="0" u="none" strike="noStrike" dirty="0">
                        <a:latin typeface="+mn-lt"/>
                        <a:ea typeface="Arial"/>
                        <a:cs typeface="Arial"/>
                        <a:sym typeface="Arial"/>
                      </a:endParaRPr>
                    </a:p>
                    <a:p>
                      <a:pPr marL="0" marR="0" lvl="0" indent="0" algn="l" rtl="0">
                        <a:lnSpc>
                          <a:spcPct val="90000"/>
                        </a:lnSpc>
                        <a:spcBef>
                          <a:spcPts val="0"/>
                        </a:spcBef>
                        <a:spcAft>
                          <a:spcPts val="0"/>
                        </a:spcAft>
                        <a:buNone/>
                      </a:pPr>
                      <a:r>
                        <a:rPr lang="en-US" sz="1800" b="0" i="0" u="none" strike="noStrike" dirty="0">
                          <a:latin typeface="+mn-lt"/>
                          <a:ea typeface="Arial"/>
                          <a:cs typeface="Arial"/>
                          <a:sym typeface="Arial"/>
                        </a:rPr>
                        <a:t>Case deflection rate</a:t>
                      </a:r>
                      <a:endParaRPr dirty="0">
                        <a:latin typeface="+mn-lt"/>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extLst>
                  <a:ext uri="{0D108BD9-81ED-4DB2-BD59-A6C34878D82A}">
                    <a16:rowId xmlns:a16="http://schemas.microsoft.com/office/drawing/2014/main" val="10003"/>
                  </a:ext>
                </a:extLst>
              </a:tr>
              <a:tr h="653275">
                <a:tc>
                  <a:txBody>
                    <a:bodyPr/>
                    <a:lstStyle/>
                    <a:p>
                      <a:pPr marL="0" marR="0" lvl="0" indent="0" algn="l" rtl="0">
                        <a:lnSpc>
                          <a:spcPct val="90000"/>
                        </a:lnSpc>
                        <a:spcBef>
                          <a:spcPts val="0"/>
                        </a:spcBef>
                        <a:spcAft>
                          <a:spcPts val="0"/>
                        </a:spcAft>
                        <a:buClr>
                          <a:srgbClr val="000000"/>
                        </a:buClr>
                        <a:buSzPts val="1800"/>
                        <a:buFont typeface="Arial"/>
                        <a:buNone/>
                      </a:pPr>
                      <a:r>
                        <a:rPr lang="en-US" sz="1800" b="1" i="0" u="none" strike="noStrike" dirty="0">
                          <a:solidFill>
                            <a:srgbClr val="000000"/>
                          </a:solidFill>
                          <a:latin typeface="+mn-lt"/>
                          <a:ea typeface="Arial"/>
                          <a:cs typeface="Arial"/>
                          <a:sym typeface="Arial"/>
                        </a:rPr>
                        <a:t>Focus on skills and talent</a:t>
                      </a:r>
                      <a:endParaRPr dirty="0">
                        <a:latin typeface="+mn-lt"/>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tc>
                  <a:txBody>
                    <a:bodyPr/>
                    <a:lstStyle/>
                    <a:p>
                      <a:pPr marL="0" marR="0" lvl="0" indent="0" algn="l" rtl="0">
                        <a:lnSpc>
                          <a:spcPct val="90000"/>
                        </a:lnSpc>
                        <a:spcBef>
                          <a:spcPts val="0"/>
                        </a:spcBef>
                        <a:spcAft>
                          <a:spcPts val="0"/>
                        </a:spcAft>
                        <a:buNone/>
                      </a:pPr>
                      <a:r>
                        <a:rPr lang="en-US" sz="1800" b="0" i="0" u="none" strike="noStrike" dirty="0">
                          <a:latin typeface="+mn-lt"/>
                          <a:ea typeface="Arial"/>
                          <a:cs typeface="Arial"/>
                          <a:sym typeface="Arial"/>
                        </a:rPr>
                        <a:t>Talent retention rate</a:t>
                      </a:r>
                      <a:endParaRPr dirty="0">
                        <a:latin typeface="+mn-lt"/>
                      </a:endParaRPr>
                    </a:p>
                    <a:p>
                      <a:pPr marL="0" marR="0" lvl="0" indent="0" algn="l" rtl="0">
                        <a:lnSpc>
                          <a:spcPct val="90000"/>
                        </a:lnSpc>
                        <a:spcBef>
                          <a:spcPts val="0"/>
                        </a:spcBef>
                        <a:spcAft>
                          <a:spcPts val="0"/>
                        </a:spcAft>
                        <a:buNone/>
                      </a:pPr>
                      <a:r>
                        <a:rPr lang="en-US" sz="1800" b="0" i="0" u="none" strike="noStrike" dirty="0">
                          <a:latin typeface="+mn-lt"/>
                          <a:ea typeface="Arial"/>
                          <a:cs typeface="Arial"/>
                          <a:sym typeface="Arial"/>
                        </a:rPr>
                        <a:t>Internal mobility rate</a:t>
                      </a:r>
                      <a:endParaRPr dirty="0">
                        <a:latin typeface="+mn-lt"/>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extLst>
                  <a:ext uri="{0D108BD9-81ED-4DB2-BD59-A6C34878D82A}">
                    <a16:rowId xmlns:a16="http://schemas.microsoft.com/office/drawing/2014/main" val="10004"/>
                  </a:ext>
                </a:extLst>
              </a:tr>
            </a:tbl>
          </a:graphicData>
        </a:graphic>
      </p:graphicFrame>
      <p:sp>
        <p:nvSpPr>
          <p:cNvPr id="319" name="Google Shape;319;p16"/>
          <p:cNvSpPr txBox="1"/>
          <p:nvPr/>
        </p:nvSpPr>
        <p:spPr>
          <a:xfrm>
            <a:off x="454150" y="1331225"/>
            <a:ext cx="11160300" cy="4002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2000" dirty="0">
                <a:solidFill>
                  <a:schemeClr val="dk1"/>
                </a:solidFill>
                <a:ea typeface="Arial"/>
                <a:cs typeface="Arial"/>
                <a:sym typeface="Arial"/>
              </a:rPr>
              <a:t>Define metrics for measuring the benefits achieved for each goal. Samples provided below:</a:t>
            </a:r>
            <a:endParaRPr lang="en-US" dirty="0"/>
          </a:p>
        </p:txBody>
      </p:sp>
      <p:sp>
        <p:nvSpPr>
          <p:cNvPr id="320" name="Google Shape;320;p16"/>
          <p:cNvSpPr txBox="1"/>
          <p:nvPr/>
        </p:nvSpPr>
        <p:spPr>
          <a:xfrm>
            <a:off x="457200" y="5338275"/>
            <a:ext cx="10898372" cy="369291"/>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800" dirty="0">
                <a:solidFill>
                  <a:schemeClr val="dk1"/>
                </a:solidFill>
                <a:ea typeface="Arial"/>
                <a:cs typeface="Arial"/>
                <a:sym typeface="Arial"/>
              </a:rPr>
              <a:t>Note: </a:t>
            </a:r>
            <a:r>
              <a:rPr lang="en-US" sz="1800" dirty="0"/>
              <a:t>Gartner’s </a:t>
            </a:r>
            <a:r>
              <a:rPr lang="en-US" sz="1800" u="sng" dirty="0">
                <a:solidFill>
                  <a:schemeClr val="hlink"/>
                </a:solidFill>
                <a:ea typeface="Arial"/>
                <a:cs typeface="Arial"/>
                <a:sym typeface="Arial"/>
                <a:hlinkClick r:id="rId3"/>
              </a:rPr>
              <a:t>Tool: HR Technology Metrics and Measurement Map</a:t>
            </a:r>
            <a:r>
              <a:rPr lang="en-US" sz="1800" dirty="0">
                <a:solidFill>
                  <a:schemeClr val="dk1"/>
                </a:solidFill>
              </a:rPr>
              <a:t> </a:t>
            </a:r>
            <a:r>
              <a:rPr lang="en-US" sz="1800" dirty="0">
                <a:solidFill>
                  <a:schemeClr val="dk1"/>
                </a:solidFill>
                <a:ea typeface="Arial"/>
                <a:cs typeface="Arial"/>
                <a:sym typeface="Arial"/>
              </a:rPr>
              <a:t>can help you identify best-fit metrics.</a:t>
            </a:r>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17"/>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Value: Metrics Template</a:t>
            </a:r>
          </a:p>
        </p:txBody>
      </p:sp>
      <p:graphicFrame>
        <p:nvGraphicFramePr>
          <p:cNvPr id="326" name="Google Shape;326;p17"/>
          <p:cNvGraphicFramePr/>
          <p:nvPr/>
        </p:nvGraphicFramePr>
        <p:xfrm>
          <a:off x="457200" y="1313707"/>
          <a:ext cx="11036725" cy="4573725"/>
        </p:xfrm>
        <a:graphic>
          <a:graphicData uri="http://schemas.openxmlformats.org/drawingml/2006/table">
            <a:tbl>
              <a:tblPr bandRow="1">
                <a:noFill/>
              </a:tblPr>
              <a:tblGrid>
                <a:gridCol w="3613125">
                  <a:extLst>
                    <a:ext uri="{9D8B030D-6E8A-4147-A177-3AD203B41FA5}">
                      <a16:colId xmlns:a16="http://schemas.microsoft.com/office/drawing/2014/main" val="20000"/>
                    </a:ext>
                  </a:extLst>
                </a:gridCol>
                <a:gridCol w="5024975">
                  <a:extLst>
                    <a:ext uri="{9D8B030D-6E8A-4147-A177-3AD203B41FA5}">
                      <a16:colId xmlns:a16="http://schemas.microsoft.com/office/drawing/2014/main" val="20001"/>
                    </a:ext>
                  </a:extLst>
                </a:gridCol>
                <a:gridCol w="2398625">
                  <a:extLst>
                    <a:ext uri="{9D8B030D-6E8A-4147-A177-3AD203B41FA5}">
                      <a16:colId xmlns:a16="http://schemas.microsoft.com/office/drawing/2014/main" val="20002"/>
                    </a:ext>
                  </a:extLst>
                </a:gridCol>
              </a:tblGrid>
              <a:tr h="533850">
                <a:tc>
                  <a:txBody>
                    <a:bodyPr/>
                    <a:lstStyle/>
                    <a:p>
                      <a:pPr marL="0" marR="0" lvl="0" indent="0" algn="l" rtl="0">
                        <a:lnSpc>
                          <a:spcPct val="90000"/>
                        </a:lnSpc>
                        <a:spcBef>
                          <a:spcPts val="0"/>
                        </a:spcBef>
                        <a:spcAft>
                          <a:spcPts val="0"/>
                        </a:spcAft>
                        <a:buNone/>
                      </a:pPr>
                      <a:r>
                        <a:rPr lang="en-US" sz="1800" b="1" i="0" u="none" strike="noStrike" dirty="0">
                          <a:solidFill>
                            <a:srgbClr val="FFFFFF"/>
                          </a:solidFill>
                          <a:latin typeface="Arial"/>
                          <a:ea typeface="Arial"/>
                          <a:cs typeface="Arial"/>
                          <a:sym typeface="Arial"/>
                        </a:rPr>
                        <a:t>Goal</a:t>
                      </a:r>
                      <a:endParaRPr sz="1800" b="0" i="0" u="none" strike="noStrike" dirty="0">
                        <a:latin typeface="Arial"/>
                        <a:ea typeface="Arial"/>
                        <a:cs typeface="Arial"/>
                        <a:sym typeface="Arial"/>
                      </a:endParaRPr>
                    </a:p>
                  </a:txBody>
                  <a:tcPr marL="91450" marR="91450" marT="45725" marB="45725" anchor="ctr">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6F7878"/>
                      </a:solidFill>
                      <a:prstDash val="solid"/>
                      <a:round/>
                      <a:headEnd type="none" w="sm" len="sm"/>
                      <a:tailEnd type="none" w="sm" len="sm"/>
                    </a:lnB>
                    <a:solidFill>
                      <a:srgbClr val="002856"/>
                    </a:solidFill>
                  </a:tcPr>
                </a:tc>
                <a:tc>
                  <a:txBody>
                    <a:bodyPr/>
                    <a:lstStyle/>
                    <a:p>
                      <a:pPr marL="0" marR="0" lvl="0" indent="0" algn="l" rtl="0">
                        <a:lnSpc>
                          <a:spcPct val="90000"/>
                        </a:lnSpc>
                        <a:spcBef>
                          <a:spcPts val="0"/>
                        </a:spcBef>
                        <a:spcAft>
                          <a:spcPts val="0"/>
                        </a:spcAft>
                        <a:buNone/>
                      </a:pPr>
                      <a:r>
                        <a:rPr lang="en-US" sz="1800" b="1" i="0" u="none" strike="noStrike" dirty="0">
                          <a:solidFill>
                            <a:srgbClr val="FFFFFF"/>
                          </a:solidFill>
                          <a:latin typeface="Arial"/>
                          <a:ea typeface="Arial"/>
                          <a:cs typeface="Arial"/>
                          <a:sym typeface="Arial"/>
                        </a:rPr>
                        <a:t>Metric</a:t>
                      </a:r>
                      <a:endParaRPr sz="1800" b="0" i="0" u="none" strike="noStrike" dirty="0">
                        <a:latin typeface="Arial"/>
                        <a:ea typeface="Arial"/>
                        <a:cs typeface="Arial"/>
                        <a:sym typeface="Arial"/>
                      </a:endParaRPr>
                    </a:p>
                  </a:txBody>
                  <a:tcPr marL="91450" marR="91450" marT="45725" marB="45725" anchor="ctr">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6F7878"/>
                      </a:solidFill>
                      <a:prstDash val="solid"/>
                      <a:round/>
                      <a:headEnd type="none" w="sm" len="sm"/>
                      <a:tailEnd type="none" w="sm" len="sm"/>
                    </a:lnB>
                    <a:solidFill>
                      <a:srgbClr val="002856"/>
                    </a:solidFill>
                  </a:tcPr>
                </a:tc>
                <a:tc>
                  <a:txBody>
                    <a:bodyPr/>
                    <a:lstStyle/>
                    <a:p>
                      <a:pPr marL="0" marR="0" lvl="0" indent="0" algn="l" rtl="0">
                        <a:lnSpc>
                          <a:spcPct val="90000"/>
                        </a:lnSpc>
                        <a:spcBef>
                          <a:spcPts val="0"/>
                        </a:spcBef>
                        <a:spcAft>
                          <a:spcPts val="0"/>
                        </a:spcAft>
                        <a:buNone/>
                      </a:pPr>
                      <a:r>
                        <a:rPr lang="en-US" sz="1800" b="1" i="0" u="none" strike="noStrike" dirty="0">
                          <a:solidFill>
                            <a:srgbClr val="FFFFFF"/>
                          </a:solidFill>
                          <a:latin typeface="Arial"/>
                          <a:ea typeface="Arial"/>
                          <a:cs typeface="Arial"/>
                          <a:sym typeface="Arial"/>
                        </a:rPr>
                        <a:t>Success value</a:t>
                      </a:r>
                      <a:endParaRPr sz="1800" b="0" i="0" u="none" strike="noStrike" dirty="0">
                        <a:latin typeface="Arial"/>
                        <a:ea typeface="Arial"/>
                        <a:cs typeface="Arial"/>
                        <a:sym typeface="Arial"/>
                      </a:endParaRPr>
                    </a:p>
                  </a:txBody>
                  <a:tcPr marL="91450" marR="91450" marT="45725" marB="45725" anchor="ctr">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6F7878"/>
                      </a:solidFill>
                      <a:prstDash val="solid"/>
                      <a:round/>
                      <a:headEnd type="none" w="sm" len="sm"/>
                      <a:tailEnd type="none" w="sm" len="sm"/>
                    </a:lnB>
                    <a:solidFill>
                      <a:srgbClr val="002856"/>
                    </a:solidFill>
                  </a:tcPr>
                </a:tc>
                <a:extLst>
                  <a:ext uri="{0D108BD9-81ED-4DB2-BD59-A6C34878D82A}">
                    <a16:rowId xmlns:a16="http://schemas.microsoft.com/office/drawing/2014/main" val="10000"/>
                  </a:ext>
                </a:extLst>
              </a:tr>
              <a:tr h="577125">
                <a:tc>
                  <a:txBody>
                    <a:bodyPr/>
                    <a:lstStyle/>
                    <a:p>
                      <a:pPr marL="0" marR="0" lvl="0" indent="0" algn="l" rtl="0">
                        <a:lnSpc>
                          <a:spcPct val="90000"/>
                        </a:lnSpc>
                        <a:spcBef>
                          <a:spcPts val="0"/>
                        </a:spcBef>
                        <a:spcAft>
                          <a:spcPts val="0"/>
                        </a:spcAft>
                        <a:buNone/>
                      </a:pPr>
                      <a:endParaRPr sz="1800" b="1" i="0" u="none" strike="noStrike" dirty="0">
                        <a:solidFill>
                          <a:srgbClr val="000000"/>
                        </a:solidFill>
                        <a:latin typeface="Arial"/>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extLst>
                  <a:ext uri="{0D108BD9-81ED-4DB2-BD59-A6C34878D82A}">
                    <a16:rowId xmlns:a16="http://schemas.microsoft.com/office/drawing/2014/main" val="10001"/>
                  </a:ext>
                </a:extLst>
              </a:tr>
              <a:tr h="577125">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extLst>
                  <a:ext uri="{0D108BD9-81ED-4DB2-BD59-A6C34878D82A}">
                    <a16:rowId xmlns:a16="http://schemas.microsoft.com/office/drawing/2014/main" val="10002"/>
                  </a:ext>
                </a:extLst>
              </a:tr>
              <a:tr h="577125">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tcPr>
                </a:tc>
                <a:extLst>
                  <a:ext uri="{0D108BD9-81ED-4DB2-BD59-A6C34878D82A}">
                    <a16:rowId xmlns:a16="http://schemas.microsoft.com/office/drawing/2014/main" val="10003"/>
                  </a:ext>
                </a:extLst>
              </a:tr>
              <a:tr h="577125">
                <a:tc>
                  <a:txBody>
                    <a:bodyPr/>
                    <a:lstStyle/>
                    <a:p>
                      <a:pPr marL="0" marR="0" lvl="0" indent="0" algn="l" rtl="0">
                        <a:lnSpc>
                          <a:spcPct val="90000"/>
                        </a:lnSpc>
                        <a:spcBef>
                          <a:spcPts val="0"/>
                        </a:spcBef>
                        <a:spcAft>
                          <a:spcPts val="0"/>
                        </a:spcAft>
                        <a:buClr>
                          <a:schemeClr val="dk1"/>
                        </a:buClr>
                        <a:buSzPts val="1800"/>
                        <a:buFont typeface="Arial"/>
                        <a:buNone/>
                      </a:pPr>
                      <a:endParaRPr sz="1800" b="1" i="0" u="none" strike="noStrike" dirty="0">
                        <a:solidFill>
                          <a:srgbClr val="000000"/>
                        </a:solidFill>
                        <a:latin typeface="Arial"/>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extLst>
                  <a:ext uri="{0D108BD9-81ED-4DB2-BD59-A6C34878D82A}">
                    <a16:rowId xmlns:a16="http://schemas.microsoft.com/office/drawing/2014/main" val="10004"/>
                  </a:ext>
                </a:extLst>
              </a:tr>
              <a:tr h="577125">
                <a:tc>
                  <a:txBody>
                    <a:bodyPr/>
                    <a:lstStyle/>
                    <a:p>
                      <a:pPr marL="0" marR="0" lvl="0" indent="0" algn="l" rtl="0">
                        <a:lnSpc>
                          <a:spcPct val="90000"/>
                        </a:lnSpc>
                        <a:spcBef>
                          <a:spcPts val="0"/>
                        </a:spcBef>
                        <a:spcAft>
                          <a:spcPts val="0"/>
                        </a:spcAft>
                        <a:buNone/>
                      </a:pPr>
                      <a:endParaRPr sz="1800" b="1" i="0" u="none" strike="noStrike" dirty="0">
                        <a:solidFill>
                          <a:srgbClr val="000000"/>
                        </a:solidFill>
                        <a:latin typeface="Arial"/>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chemeClr val="lt1"/>
                    </a:solidFill>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chemeClr val="lt1"/>
                    </a:solidFill>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577125">
                <a:tc>
                  <a:txBody>
                    <a:bodyPr/>
                    <a:lstStyle/>
                    <a:p>
                      <a:pPr marL="0" marR="0" lvl="0" indent="0" algn="l" rtl="0">
                        <a:lnSpc>
                          <a:spcPct val="90000"/>
                        </a:lnSpc>
                        <a:spcBef>
                          <a:spcPts val="0"/>
                        </a:spcBef>
                        <a:spcAft>
                          <a:spcPts val="0"/>
                        </a:spcAft>
                        <a:buNone/>
                      </a:pPr>
                      <a:endParaRPr sz="1800" b="1" i="0" u="none" strike="noStrike" dirty="0">
                        <a:solidFill>
                          <a:srgbClr val="000000"/>
                        </a:solidFill>
                        <a:latin typeface="Arial"/>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extLst>
                  <a:ext uri="{0D108BD9-81ED-4DB2-BD59-A6C34878D82A}">
                    <a16:rowId xmlns:a16="http://schemas.microsoft.com/office/drawing/2014/main" val="10006"/>
                  </a:ext>
                </a:extLst>
              </a:tr>
              <a:tr h="577125">
                <a:tc>
                  <a:txBody>
                    <a:bodyPr/>
                    <a:lstStyle/>
                    <a:p>
                      <a:pPr marL="0" marR="0" lvl="0" indent="0" algn="l" rtl="0">
                        <a:lnSpc>
                          <a:spcPct val="90000"/>
                        </a:lnSpc>
                        <a:spcBef>
                          <a:spcPts val="0"/>
                        </a:spcBef>
                        <a:spcAft>
                          <a:spcPts val="0"/>
                        </a:spcAft>
                        <a:buNone/>
                      </a:pPr>
                      <a:endParaRPr sz="1800" b="1" i="0" u="none" strike="noStrike" dirty="0">
                        <a:solidFill>
                          <a:srgbClr val="000000"/>
                        </a:solidFill>
                        <a:latin typeface="Arial"/>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chemeClr val="lt1"/>
                    </a:solidFill>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chemeClr val="lt1"/>
                    </a:solidFill>
                  </a:tcPr>
                </a:tc>
                <a:tc>
                  <a:txBody>
                    <a:bodyPr/>
                    <a:lstStyle/>
                    <a:p>
                      <a:pPr marL="0" marR="0" lvl="0" indent="0" algn="l" rtl="0">
                        <a:lnSpc>
                          <a:spcPct val="90000"/>
                        </a:lnSpc>
                        <a:spcBef>
                          <a:spcPts val="0"/>
                        </a:spcBef>
                        <a:spcAft>
                          <a:spcPts val="0"/>
                        </a:spcAft>
                        <a:buNone/>
                      </a:pPr>
                      <a:endParaRPr sz="1800" b="0" i="0" u="none" strike="noStrike" dirty="0">
                        <a:latin typeface="Arial"/>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18"/>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Value: Define Your AI Ambition Level</a:t>
            </a:r>
          </a:p>
        </p:txBody>
      </p:sp>
      <p:sp>
        <p:nvSpPr>
          <p:cNvPr id="332" name="Google Shape;332;p18"/>
          <p:cNvSpPr txBox="1"/>
          <p:nvPr/>
        </p:nvSpPr>
        <p:spPr>
          <a:xfrm>
            <a:off x="457200" y="883550"/>
            <a:ext cx="11003400" cy="1939500"/>
          </a:xfrm>
          <a:prstGeom prst="rect">
            <a:avLst/>
          </a:prstGeom>
          <a:noFill/>
          <a:ln>
            <a:noFill/>
          </a:ln>
        </p:spPr>
        <p:txBody>
          <a:bodyPr spcFirstLastPara="1" wrap="square" lIns="0" tIns="45700" rIns="91425" bIns="45700" anchor="t" anchorCtr="0">
            <a:spAutoFit/>
          </a:bodyPr>
          <a:lstStyle/>
          <a:p>
            <a:pPr marL="0" marR="0" lvl="0" indent="0" algn="l" rtl="0">
              <a:lnSpc>
                <a:spcPct val="100000"/>
              </a:lnSpc>
              <a:spcBef>
                <a:spcPts val="0"/>
              </a:spcBef>
              <a:spcAft>
                <a:spcPts val="0"/>
              </a:spcAft>
              <a:buClr>
                <a:schemeClr val="dk1"/>
              </a:buClr>
              <a:buSzPts val="1600"/>
              <a:buFont typeface="Arial"/>
              <a:buNone/>
            </a:pPr>
            <a:r>
              <a:rPr lang="en-US" sz="2000" b="0" i="0" u="none" strike="noStrike" cap="none" dirty="0">
                <a:solidFill>
                  <a:schemeClr val="dk1"/>
                </a:solidFill>
                <a:ea typeface="Arial"/>
                <a:cs typeface="Arial"/>
                <a:sym typeface="Arial"/>
              </a:rPr>
              <a:t>It</a:t>
            </a:r>
            <a:r>
              <a:rPr lang="en-US" sz="2000" dirty="0">
                <a:solidFill>
                  <a:schemeClr val="dk1"/>
                </a:solidFill>
              </a:rPr>
              <a:t>’</a:t>
            </a:r>
            <a:r>
              <a:rPr lang="en-US" sz="2000" b="0" i="0" u="none" strike="noStrike" cap="none" dirty="0">
                <a:solidFill>
                  <a:schemeClr val="dk1"/>
                </a:solidFill>
                <a:ea typeface="Arial"/>
                <a:cs typeface="Arial"/>
                <a:sym typeface="Arial"/>
              </a:rPr>
              <a:t>s important to have a clear focus on how HR intends to leverage AI. Deciding how far HR wants to go with AI is what Gartner calls an AI ambition.</a:t>
            </a:r>
            <a:endParaRPr lang="en-US" dirty="0"/>
          </a:p>
          <a:p>
            <a:pPr marL="0" marR="0" lvl="0" indent="0" algn="l" rtl="0">
              <a:lnSpc>
                <a:spcPct val="100000"/>
              </a:lnSpc>
              <a:spcBef>
                <a:spcPts val="0"/>
              </a:spcBef>
              <a:spcAft>
                <a:spcPts val="0"/>
              </a:spcAft>
              <a:buClr>
                <a:schemeClr val="dk1"/>
              </a:buClr>
              <a:buSzPts val="1600"/>
              <a:buFont typeface="Arial"/>
              <a:buNone/>
            </a:pPr>
            <a:endParaRPr lang="en-US" sz="2000" dirty="0">
              <a:solidFill>
                <a:schemeClr val="dk1"/>
              </a:solidFill>
              <a:ea typeface="Arial"/>
              <a:cs typeface="Arial"/>
              <a:sym typeface="Arial"/>
            </a:endParaRPr>
          </a:p>
          <a:p>
            <a:pPr marL="0" marR="0" lvl="0" indent="0" algn="l" rtl="0">
              <a:lnSpc>
                <a:spcPct val="100000"/>
              </a:lnSpc>
              <a:spcBef>
                <a:spcPts val="0"/>
              </a:spcBef>
              <a:spcAft>
                <a:spcPts val="0"/>
              </a:spcAft>
              <a:buClr>
                <a:schemeClr val="dk1"/>
              </a:buClr>
              <a:buSzPts val="1600"/>
              <a:buFont typeface="Arial"/>
              <a:buNone/>
            </a:pPr>
            <a:r>
              <a:rPr lang="en-US" sz="2000" b="0" i="0" u="none" strike="noStrike" cap="none" dirty="0">
                <a:solidFill>
                  <a:schemeClr val="dk1"/>
                </a:solidFill>
                <a:ea typeface="Arial"/>
                <a:cs typeface="Arial"/>
                <a:sym typeface="Arial"/>
              </a:rPr>
              <a:t>The HR-focused AI </a:t>
            </a:r>
            <a:r>
              <a:rPr lang="en-US" sz="2000" dirty="0">
                <a:solidFill>
                  <a:schemeClr val="dk1"/>
                </a:solidFill>
              </a:rPr>
              <a:t>p</a:t>
            </a:r>
            <a:r>
              <a:rPr lang="en-US" sz="2000" b="0" i="0" u="none" strike="noStrike" cap="none" dirty="0">
                <a:solidFill>
                  <a:schemeClr val="dk1"/>
                </a:solidFill>
                <a:ea typeface="Arial"/>
                <a:cs typeface="Arial"/>
                <a:sym typeface="Arial"/>
              </a:rPr>
              <a:t>roduct </a:t>
            </a:r>
            <a:r>
              <a:rPr lang="en-US" sz="2000" dirty="0">
                <a:solidFill>
                  <a:schemeClr val="dk1"/>
                </a:solidFill>
              </a:rPr>
              <a:t>o</a:t>
            </a:r>
            <a:r>
              <a:rPr lang="en-US" sz="2000" b="0" i="0" u="none" strike="noStrike" cap="none" dirty="0">
                <a:solidFill>
                  <a:schemeClr val="dk1"/>
                </a:solidFill>
                <a:ea typeface="Arial"/>
                <a:cs typeface="Arial"/>
                <a:sym typeface="Arial"/>
              </a:rPr>
              <a:t>wner and IT </a:t>
            </a:r>
            <a:r>
              <a:rPr lang="en-US" sz="2000" dirty="0">
                <a:solidFill>
                  <a:schemeClr val="dk1"/>
                </a:solidFill>
              </a:rPr>
              <a:t>l</a:t>
            </a:r>
            <a:r>
              <a:rPr lang="en-US" sz="2000" b="0" i="0" u="none" strike="noStrike" cap="none" dirty="0">
                <a:solidFill>
                  <a:schemeClr val="dk1"/>
                </a:solidFill>
                <a:ea typeface="Arial"/>
                <a:cs typeface="Arial"/>
                <a:sym typeface="Arial"/>
              </a:rPr>
              <a:t>eader should lead a conversation on how aggressive to be with the opportunities, whether to leverage existing HR or enterprise tech or go custom, and the organi</a:t>
            </a:r>
            <a:r>
              <a:rPr lang="en-US" sz="2000" dirty="0">
                <a:solidFill>
                  <a:schemeClr val="dk1"/>
                </a:solidFill>
              </a:rPr>
              <a:t>zation’s </a:t>
            </a:r>
            <a:r>
              <a:rPr lang="en-US" sz="2000" b="0" i="0" u="none" strike="noStrike" cap="none" dirty="0">
                <a:solidFill>
                  <a:schemeClr val="dk1"/>
                </a:solidFill>
                <a:ea typeface="Arial"/>
                <a:cs typeface="Arial"/>
                <a:sym typeface="Arial"/>
              </a:rPr>
              <a:t>risk appetite.</a:t>
            </a:r>
          </a:p>
        </p:txBody>
      </p:sp>
      <p:sp>
        <p:nvSpPr>
          <p:cNvPr id="333" name="Google Shape;333;p18"/>
          <p:cNvSpPr txBox="1"/>
          <p:nvPr/>
        </p:nvSpPr>
        <p:spPr>
          <a:xfrm>
            <a:off x="3576318" y="2886604"/>
            <a:ext cx="4539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dirty="0">
                <a:solidFill>
                  <a:schemeClr val="dk1"/>
                </a:solidFill>
                <a:ea typeface="Arial"/>
                <a:cs typeface="Arial"/>
                <a:sym typeface="Arial"/>
              </a:rPr>
              <a:t>+</a:t>
            </a:r>
            <a:endParaRPr lang="en-US" dirty="0"/>
          </a:p>
        </p:txBody>
      </p:sp>
      <p:sp>
        <p:nvSpPr>
          <p:cNvPr id="334" name="Google Shape;334;p18"/>
          <p:cNvSpPr txBox="1"/>
          <p:nvPr/>
        </p:nvSpPr>
        <p:spPr>
          <a:xfrm>
            <a:off x="7364718" y="2880263"/>
            <a:ext cx="4539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dirty="0">
                <a:solidFill>
                  <a:schemeClr val="dk1"/>
                </a:solidFill>
                <a:ea typeface="Arial"/>
                <a:cs typeface="Arial"/>
                <a:sym typeface="Arial"/>
              </a:rPr>
              <a:t>+</a:t>
            </a:r>
            <a:endParaRPr lang="en-US" dirty="0"/>
          </a:p>
        </p:txBody>
      </p:sp>
      <p:grpSp>
        <p:nvGrpSpPr>
          <p:cNvPr id="335" name="Google Shape;335;p18"/>
          <p:cNvGrpSpPr/>
          <p:nvPr/>
        </p:nvGrpSpPr>
        <p:grpSpPr>
          <a:xfrm>
            <a:off x="513719" y="3009715"/>
            <a:ext cx="2949300" cy="3114759"/>
            <a:chOff x="208919" y="3009715"/>
            <a:chExt cx="2949300" cy="3114759"/>
          </a:xfrm>
        </p:grpSpPr>
        <p:sp>
          <p:nvSpPr>
            <p:cNvPr id="336" name="Google Shape;336;p18"/>
            <p:cNvSpPr txBox="1"/>
            <p:nvPr/>
          </p:nvSpPr>
          <p:spPr>
            <a:xfrm>
              <a:off x="208919" y="3009715"/>
              <a:ext cx="2949300" cy="400200"/>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2856"/>
                </a:buClr>
                <a:buSzPts val="2000"/>
                <a:buFont typeface="Arial"/>
                <a:buNone/>
              </a:pPr>
              <a:r>
                <a:rPr lang="en-US" sz="2000" b="1" i="0" u="none" strike="noStrike" cap="none" dirty="0">
                  <a:solidFill>
                    <a:srgbClr val="002856"/>
                  </a:solidFill>
                  <a:ea typeface="Arial"/>
                  <a:cs typeface="Arial"/>
                  <a:sym typeface="Arial"/>
                </a:rPr>
                <a:t>The “what”</a:t>
              </a:r>
              <a:endParaRPr lang="en-US" sz="1800" dirty="0">
                <a:solidFill>
                  <a:schemeClr val="dk1"/>
                </a:solidFill>
                <a:ea typeface="Arial"/>
                <a:cs typeface="Arial"/>
                <a:sym typeface="Arial"/>
              </a:endParaRPr>
            </a:p>
          </p:txBody>
        </p:sp>
        <p:sp>
          <p:nvSpPr>
            <p:cNvPr id="337" name="Google Shape;337;p18"/>
            <p:cNvSpPr txBox="1"/>
            <p:nvPr/>
          </p:nvSpPr>
          <p:spPr>
            <a:xfrm>
              <a:off x="356841" y="3370825"/>
              <a:ext cx="2653500" cy="554100"/>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chemeClr val="dk1"/>
                </a:buClr>
                <a:buSzPts val="1600"/>
                <a:buFont typeface="Arial"/>
                <a:buNone/>
              </a:pPr>
              <a:r>
                <a:rPr lang="en-US" sz="1500" b="0" i="0" u="none" strike="noStrike" cap="none" dirty="0">
                  <a:solidFill>
                    <a:schemeClr val="dk1"/>
                  </a:solidFill>
                  <a:ea typeface="Arial"/>
                  <a:cs typeface="Arial"/>
                  <a:sym typeface="Arial"/>
                </a:rPr>
                <a:t>What are the top opportunities and how to prioritize? </a:t>
              </a:r>
              <a:endParaRPr lang="en-US" sz="1700" dirty="0">
                <a:solidFill>
                  <a:schemeClr val="dk1"/>
                </a:solidFill>
                <a:ea typeface="Arial"/>
                <a:cs typeface="Arial"/>
                <a:sym typeface="Arial"/>
              </a:endParaRPr>
            </a:p>
          </p:txBody>
        </p:sp>
        <p:sp>
          <p:nvSpPr>
            <p:cNvPr id="338" name="Google Shape;338;p18"/>
            <p:cNvSpPr/>
            <p:nvPr/>
          </p:nvSpPr>
          <p:spPr>
            <a:xfrm>
              <a:off x="769191" y="4032574"/>
              <a:ext cx="1828800" cy="584700"/>
            </a:xfrm>
            <a:prstGeom prst="roundRect">
              <a:avLst>
                <a:gd name="adj" fmla="val 16667"/>
              </a:avLst>
            </a:prstGeom>
            <a:solidFill>
              <a:schemeClr val="accent1"/>
            </a:solidFill>
            <a:ln w="12700" cap="flat" cmpd="sng">
              <a:solidFill>
                <a:srgbClr val="00102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ea typeface="Arial"/>
                  <a:cs typeface="Arial"/>
                  <a:sym typeface="Arial"/>
                </a:rPr>
                <a:t>Productivity</a:t>
              </a:r>
              <a:endParaRPr lang="en-US" dirty="0"/>
            </a:p>
          </p:txBody>
        </p:sp>
        <p:sp>
          <p:nvSpPr>
            <p:cNvPr id="339" name="Google Shape;339;p18"/>
            <p:cNvSpPr/>
            <p:nvPr/>
          </p:nvSpPr>
          <p:spPr>
            <a:xfrm>
              <a:off x="769191" y="4777309"/>
              <a:ext cx="1828800" cy="589500"/>
            </a:xfrm>
            <a:prstGeom prst="roundRect">
              <a:avLst>
                <a:gd name="adj" fmla="val 16667"/>
              </a:avLst>
            </a:prstGeom>
            <a:solidFill>
              <a:schemeClr val="accent1"/>
            </a:solidFill>
            <a:ln w="12700" cap="flat" cmpd="sng">
              <a:solidFill>
                <a:srgbClr val="00102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ea typeface="Arial"/>
                  <a:cs typeface="Arial"/>
                  <a:sym typeface="Arial"/>
                </a:rPr>
                <a:t>Employee experience</a:t>
              </a:r>
              <a:endParaRPr lang="en-US" dirty="0"/>
            </a:p>
          </p:txBody>
        </p:sp>
        <p:sp>
          <p:nvSpPr>
            <p:cNvPr id="340" name="Google Shape;340;p18"/>
            <p:cNvSpPr/>
            <p:nvPr/>
          </p:nvSpPr>
          <p:spPr>
            <a:xfrm>
              <a:off x="769191" y="5526874"/>
              <a:ext cx="1828800" cy="597600"/>
            </a:xfrm>
            <a:prstGeom prst="roundRect">
              <a:avLst>
                <a:gd name="adj" fmla="val 16667"/>
              </a:avLst>
            </a:prstGeom>
            <a:solidFill>
              <a:schemeClr val="accent1"/>
            </a:solidFill>
            <a:ln w="12700" cap="flat" cmpd="sng">
              <a:solidFill>
                <a:srgbClr val="00102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ea typeface="Arial"/>
                  <a:cs typeface="Arial"/>
                  <a:sym typeface="Arial"/>
                </a:rPr>
                <a:t>AI first</a:t>
              </a:r>
              <a:r>
                <a:rPr lang="en-US" dirty="0">
                  <a:solidFill>
                    <a:schemeClr val="lt1"/>
                  </a:solidFill>
                  <a:ea typeface="Arial"/>
                  <a:cs typeface="Arial"/>
                  <a:sym typeface="Arial"/>
                </a:rPr>
                <a:t> and </a:t>
              </a:r>
              <a:r>
                <a:rPr lang="en-US" sz="1800" dirty="0">
                  <a:solidFill>
                    <a:schemeClr val="lt1"/>
                  </a:solidFill>
                  <a:ea typeface="Arial"/>
                  <a:cs typeface="Arial"/>
                  <a:sym typeface="Arial"/>
                </a:rPr>
                <a:t>everywhere</a:t>
              </a:r>
              <a:endParaRPr lang="en-US" dirty="0"/>
            </a:p>
          </p:txBody>
        </p:sp>
      </p:grpSp>
      <p:grpSp>
        <p:nvGrpSpPr>
          <p:cNvPr id="341" name="Google Shape;341;p18"/>
          <p:cNvGrpSpPr/>
          <p:nvPr/>
        </p:nvGrpSpPr>
        <p:grpSpPr>
          <a:xfrm>
            <a:off x="4306430" y="3003374"/>
            <a:ext cx="2949300" cy="3141742"/>
            <a:chOff x="3812566" y="3003374"/>
            <a:chExt cx="2949300" cy="3141742"/>
          </a:xfrm>
        </p:grpSpPr>
        <p:sp>
          <p:nvSpPr>
            <p:cNvPr id="342" name="Google Shape;342;p18"/>
            <p:cNvSpPr txBox="1"/>
            <p:nvPr/>
          </p:nvSpPr>
          <p:spPr>
            <a:xfrm>
              <a:off x="3812566" y="3003374"/>
              <a:ext cx="2949300" cy="400200"/>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2856"/>
                </a:buClr>
                <a:buSzPts val="2000"/>
                <a:buFont typeface="Arial"/>
                <a:buNone/>
              </a:pPr>
              <a:r>
                <a:rPr lang="en-US" sz="2000" b="1" i="0" u="none" strike="noStrike" cap="none" dirty="0">
                  <a:solidFill>
                    <a:srgbClr val="002856"/>
                  </a:solidFill>
                  <a:ea typeface="Arial"/>
                  <a:cs typeface="Arial"/>
                  <a:sym typeface="Arial"/>
                </a:rPr>
                <a:t>The “how”</a:t>
              </a:r>
              <a:endParaRPr lang="en-US" sz="1800" dirty="0">
                <a:solidFill>
                  <a:schemeClr val="dk1"/>
                </a:solidFill>
                <a:ea typeface="Arial"/>
                <a:cs typeface="Arial"/>
                <a:sym typeface="Arial"/>
              </a:endParaRPr>
            </a:p>
          </p:txBody>
        </p:sp>
        <p:sp>
          <p:nvSpPr>
            <p:cNvPr id="343" name="Google Shape;343;p18"/>
            <p:cNvSpPr txBox="1"/>
            <p:nvPr/>
          </p:nvSpPr>
          <p:spPr>
            <a:xfrm>
              <a:off x="3960488" y="3370816"/>
              <a:ext cx="2653500" cy="554100"/>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chemeClr val="dk1"/>
                </a:buClr>
                <a:buSzPts val="1600"/>
                <a:buFont typeface="Arial"/>
                <a:buNone/>
              </a:pPr>
              <a:r>
                <a:rPr lang="en-US" sz="1500" b="0" i="0" u="none" strike="noStrike" cap="none" dirty="0">
                  <a:solidFill>
                    <a:schemeClr val="dk1"/>
                  </a:solidFill>
                  <a:ea typeface="Arial"/>
                  <a:cs typeface="Arial"/>
                  <a:sym typeface="Arial"/>
                </a:rPr>
                <a:t>How do we execute to drive the greatest business value?</a:t>
              </a:r>
              <a:endParaRPr lang="en-US" sz="1700" dirty="0">
                <a:solidFill>
                  <a:schemeClr val="dk1"/>
                </a:solidFill>
                <a:ea typeface="Arial"/>
                <a:cs typeface="Arial"/>
                <a:sym typeface="Arial"/>
              </a:endParaRPr>
            </a:p>
          </p:txBody>
        </p:sp>
        <p:sp>
          <p:nvSpPr>
            <p:cNvPr id="344" name="Google Shape;344;p18"/>
            <p:cNvSpPr/>
            <p:nvPr/>
          </p:nvSpPr>
          <p:spPr>
            <a:xfrm>
              <a:off x="4372838" y="4028690"/>
              <a:ext cx="1828800" cy="589500"/>
            </a:xfrm>
            <a:prstGeom prst="roundRect">
              <a:avLst>
                <a:gd name="adj" fmla="val 16667"/>
              </a:avLst>
            </a:prstGeom>
            <a:solidFill>
              <a:schemeClr val="accent1"/>
            </a:solidFill>
            <a:ln w="12700" cap="flat" cmpd="sng">
              <a:solidFill>
                <a:srgbClr val="00102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ea typeface="Arial"/>
                  <a:cs typeface="Arial"/>
                  <a:sym typeface="Arial"/>
                </a:rPr>
                <a:t>Leverage our HR tech</a:t>
              </a:r>
              <a:endParaRPr lang="en-US" dirty="0"/>
            </a:p>
          </p:txBody>
        </p:sp>
        <p:sp>
          <p:nvSpPr>
            <p:cNvPr id="345" name="Google Shape;345;p18"/>
            <p:cNvSpPr/>
            <p:nvPr/>
          </p:nvSpPr>
          <p:spPr>
            <a:xfrm>
              <a:off x="4372838" y="4783466"/>
              <a:ext cx="1828800" cy="577200"/>
            </a:xfrm>
            <a:prstGeom prst="roundRect">
              <a:avLst>
                <a:gd name="adj" fmla="val 16667"/>
              </a:avLst>
            </a:prstGeom>
            <a:solidFill>
              <a:schemeClr val="accent1"/>
            </a:solidFill>
            <a:ln w="12700" cap="flat" cmpd="sng">
              <a:solidFill>
                <a:srgbClr val="00102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ea typeface="Arial"/>
                  <a:cs typeface="Arial"/>
                  <a:sym typeface="Arial"/>
                </a:rPr>
                <a:t>Adapt enterprise tech</a:t>
              </a:r>
              <a:endParaRPr lang="en-US" dirty="0"/>
            </a:p>
          </p:txBody>
        </p:sp>
        <p:sp>
          <p:nvSpPr>
            <p:cNvPr id="346" name="Google Shape;346;p18"/>
            <p:cNvSpPr/>
            <p:nvPr/>
          </p:nvSpPr>
          <p:spPr>
            <a:xfrm>
              <a:off x="4372838" y="5568516"/>
              <a:ext cx="1828800" cy="576600"/>
            </a:xfrm>
            <a:prstGeom prst="roundRect">
              <a:avLst>
                <a:gd name="adj" fmla="val 16667"/>
              </a:avLst>
            </a:prstGeom>
            <a:solidFill>
              <a:schemeClr val="accent1"/>
            </a:solidFill>
            <a:ln w="12700" cap="flat" cmpd="sng">
              <a:solidFill>
                <a:srgbClr val="00102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ea typeface="Arial"/>
                  <a:cs typeface="Arial"/>
                  <a:sym typeface="Arial"/>
                </a:rPr>
                <a:t>Build custom tech</a:t>
              </a:r>
              <a:endParaRPr lang="en-US" dirty="0"/>
            </a:p>
          </p:txBody>
        </p:sp>
      </p:grpSp>
      <p:grpSp>
        <p:nvGrpSpPr>
          <p:cNvPr id="347" name="Google Shape;347;p18"/>
          <p:cNvGrpSpPr/>
          <p:nvPr/>
        </p:nvGrpSpPr>
        <p:grpSpPr>
          <a:xfrm>
            <a:off x="8099141" y="2969959"/>
            <a:ext cx="3200100" cy="3188057"/>
            <a:chOff x="7794341" y="2969959"/>
            <a:chExt cx="3200100" cy="3188057"/>
          </a:xfrm>
        </p:grpSpPr>
        <p:sp>
          <p:nvSpPr>
            <p:cNvPr id="348" name="Google Shape;348;p18"/>
            <p:cNvSpPr txBox="1"/>
            <p:nvPr/>
          </p:nvSpPr>
          <p:spPr>
            <a:xfrm>
              <a:off x="8350415" y="2969959"/>
              <a:ext cx="2088000" cy="400200"/>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2856"/>
                </a:buClr>
                <a:buSzPts val="2000"/>
                <a:buFont typeface="Arial"/>
                <a:buNone/>
              </a:pPr>
              <a:r>
                <a:rPr lang="en-US" sz="2000" b="1" i="0" u="none" strike="noStrike" cap="none" dirty="0">
                  <a:solidFill>
                    <a:srgbClr val="002856"/>
                  </a:solidFill>
                  <a:ea typeface="Arial"/>
                  <a:cs typeface="Arial"/>
                  <a:sym typeface="Arial"/>
                </a:rPr>
                <a:t>The “how far”</a:t>
              </a:r>
              <a:endParaRPr lang="en-US" sz="1800" dirty="0">
                <a:solidFill>
                  <a:schemeClr val="dk1"/>
                </a:solidFill>
                <a:ea typeface="Arial"/>
                <a:cs typeface="Arial"/>
                <a:sym typeface="Arial"/>
              </a:endParaRPr>
            </a:p>
          </p:txBody>
        </p:sp>
        <p:sp>
          <p:nvSpPr>
            <p:cNvPr id="349" name="Google Shape;349;p18"/>
            <p:cNvSpPr txBox="1"/>
            <p:nvPr/>
          </p:nvSpPr>
          <p:spPr>
            <a:xfrm>
              <a:off x="7794341" y="3421859"/>
              <a:ext cx="3200100" cy="554100"/>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chemeClr val="dk1"/>
                </a:buClr>
                <a:buSzPts val="1600"/>
                <a:buFont typeface="Arial"/>
                <a:buNone/>
              </a:pPr>
              <a:r>
                <a:rPr lang="en-US" sz="1500" b="0" i="0" u="none" strike="noStrike" cap="none" dirty="0">
                  <a:solidFill>
                    <a:schemeClr val="dk1"/>
                  </a:solidFill>
                  <a:ea typeface="Arial"/>
                  <a:cs typeface="Arial"/>
                  <a:sym typeface="Arial"/>
                </a:rPr>
                <a:t>How far do we take our automation efforts within our risk appetite?</a:t>
              </a:r>
              <a:endParaRPr lang="en-US" sz="1700" dirty="0">
                <a:solidFill>
                  <a:schemeClr val="dk1"/>
                </a:solidFill>
                <a:ea typeface="Arial"/>
                <a:cs typeface="Arial"/>
                <a:sym typeface="Arial"/>
              </a:endParaRPr>
            </a:p>
          </p:txBody>
        </p:sp>
        <p:sp>
          <p:nvSpPr>
            <p:cNvPr id="350" name="Google Shape;350;p18"/>
            <p:cNvSpPr/>
            <p:nvPr/>
          </p:nvSpPr>
          <p:spPr>
            <a:xfrm>
              <a:off x="8479991" y="4027744"/>
              <a:ext cx="1828800" cy="589500"/>
            </a:xfrm>
            <a:prstGeom prst="roundRect">
              <a:avLst>
                <a:gd name="adj" fmla="val 16667"/>
              </a:avLst>
            </a:prstGeom>
            <a:solidFill>
              <a:schemeClr val="accent1"/>
            </a:solidFill>
            <a:ln w="12700" cap="flat" cmpd="sng">
              <a:solidFill>
                <a:srgbClr val="00102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ea typeface="Arial"/>
                  <a:cs typeface="Arial"/>
                  <a:sym typeface="Arial"/>
                </a:rPr>
                <a:t>Safe </a:t>
              </a:r>
              <a:r>
                <a:rPr lang="en-US" sz="1800" dirty="0">
                  <a:solidFill>
                    <a:schemeClr val="lt1"/>
                  </a:solidFill>
                </a:rPr>
                <a:t>b</a:t>
              </a:r>
              <a:r>
                <a:rPr lang="en-US" sz="1800" dirty="0">
                  <a:solidFill>
                    <a:schemeClr val="lt1"/>
                  </a:solidFill>
                  <a:ea typeface="Arial"/>
                  <a:cs typeface="Arial"/>
                  <a:sym typeface="Arial"/>
                </a:rPr>
                <a:t>ets</a:t>
              </a:r>
              <a:endParaRPr lang="en-US" dirty="0"/>
            </a:p>
          </p:txBody>
        </p:sp>
        <p:sp>
          <p:nvSpPr>
            <p:cNvPr id="351" name="Google Shape;351;p18"/>
            <p:cNvSpPr/>
            <p:nvPr/>
          </p:nvSpPr>
          <p:spPr>
            <a:xfrm>
              <a:off x="8479991" y="4777309"/>
              <a:ext cx="1828800" cy="577200"/>
            </a:xfrm>
            <a:prstGeom prst="roundRect">
              <a:avLst>
                <a:gd name="adj" fmla="val 16667"/>
              </a:avLst>
            </a:prstGeom>
            <a:solidFill>
              <a:schemeClr val="accent1"/>
            </a:solidFill>
            <a:ln w="12700" cap="flat" cmpd="sng">
              <a:solidFill>
                <a:srgbClr val="00102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ea typeface="Arial"/>
                  <a:cs typeface="Arial"/>
                  <a:sym typeface="Arial"/>
                </a:rPr>
                <a:t>Responsible automation</a:t>
              </a:r>
              <a:endParaRPr lang="en-US" dirty="0"/>
            </a:p>
          </p:txBody>
        </p:sp>
        <p:sp>
          <p:nvSpPr>
            <p:cNvPr id="352" name="Google Shape;352;p18"/>
            <p:cNvSpPr/>
            <p:nvPr/>
          </p:nvSpPr>
          <p:spPr>
            <a:xfrm>
              <a:off x="8479991" y="5568516"/>
              <a:ext cx="1828800" cy="589500"/>
            </a:xfrm>
            <a:prstGeom prst="roundRect">
              <a:avLst>
                <a:gd name="adj" fmla="val 16667"/>
              </a:avLst>
            </a:prstGeom>
            <a:solidFill>
              <a:schemeClr val="accent1"/>
            </a:solidFill>
            <a:ln w="12700" cap="flat" cmpd="sng">
              <a:solidFill>
                <a:srgbClr val="00102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ea typeface="Arial"/>
                  <a:cs typeface="Arial"/>
                  <a:sym typeface="Arial"/>
                </a:rPr>
                <a:t>Speed </a:t>
              </a:r>
              <a:r>
                <a:rPr lang="en-US" sz="1800" dirty="0">
                  <a:solidFill>
                    <a:schemeClr val="lt1"/>
                  </a:solidFill>
                </a:rPr>
                <a:t>a</a:t>
              </a:r>
              <a:r>
                <a:rPr lang="en-US" sz="1800" dirty="0">
                  <a:solidFill>
                    <a:schemeClr val="lt1"/>
                  </a:solidFill>
                  <a:ea typeface="Arial"/>
                  <a:cs typeface="Arial"/>
                  <a:sym typeface="Arial"/>
                </a:rPr>
                <a:t>head</a:t>
              </a:r>
              <a:endParaRPr lang="en-US" dirty="0"/>
            </a:p>
          </p:txBody>
        </p:sp>
      </p:grpSp>
      <p:cxnSp>
        <p:nvCxnSpPr>
          <p:cNvPr id="353" name="Google Shape;353;p18"/>
          <p:cNvCxnSpPr/>
          <p:nvPr/>
        </p:nvCxnSpPr>
        <p:spPr>
          <a:xfrm>
            <a:off x="495300" y="2909695"/>
            <a:ext cx="10920900" cy="1170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19"/>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Risk: Overview of Activities</a:t>
            </a:r>
          </a:p>
        </p:txBody>
      </p:sp>
      <p:sp>
        <p:nvSpPr>
          <p:cNvPr id="359" name="Google Shape;359;p19"/>
          <p:cNvSpPr txBox="1">
            <a:spLocks noGrp="1"/>
          </p:cNvSpPr>
          <p:nvPr>
            <p:ph type="body" idx="1"/>
          </p:nvPr>
        </p:nvSpPr>
        <p:spPr>
          <a:xfrm>
            <a:off x="5935331" y="1022168"/>
            <a:ext cx="5469848" cy="4813663"/>
          </a:xfrm>
          <a:prstGeom prst="rect">
            <a:avLst/>
          </a:prstGeom>
          <a:noFill/>
          <a:ln>
            <a:noFill/>
          </a:ln>
        </p:spPr>
        <p:txBody>
          <a:bodyPr spcFirstLastPara="1" wrap="square" lIns="0" tIns="0" rIns="0" bIns="0" anchor="t" anchorCtr="0">
            <a:noAutofit/>
          </a:bodyPr>
          <a:lstStyle/>
          <a:p>
            <a:pPr marL="457200" lvl="0" indent="-355600" algn="l" rtl="0">
              <a:lnSpc>
                <a:spcPct val="90000"/>
              </a:lnSpc>
              <a:spcBef>
                <a:spcPts val="0"/>
              </a:spcBef>
              <a:spcAft>
                <a:spcPts val="0"/>
              </a:spcAft>
              <a:buSzPts val="2000"/>
              <a:buAutoNum type="arabicPeriod"/>
            </a:pPr>
            <a:r>
              <a:rPr lang="en-US" dirty="0"/>
              <a:t>Formulate a </a:t>
            </a:r>
            <a:r>
              <a:rPr lang="en-US" b="1" dirty="0"/>
              <a:t>risk assessment </a:t>
            </a:r>
            <a:r>
              <a:rPr lang="en-US" dirty="0"/>
              <a:t>and </a:t>
            </a:r>
            <a:r>
              <a:rPr lang="en-US" b="1" dirty="0"/>
              <a:t>action plan.</a:t>
            </a:r>
            <a:endParaRPr lang="en-US" dirty="0"/>
          </a:p>
        </p:txBody>
      </p:sp>
      <p:grpSp>
        <p:nvGrpSpPr>
          <p:cNvPr id="360" name="Google Shape;360;p19"/>
          <p:cNvGrpSpPr/>
          <p:nvPr/>
        </p:nvGrpSpPr>
        <p:grpSpPr>
          <a:xfrm>
            <a:off x="457191" y="1022138"/>
            <a:ext cx="4987449" cy="4928216"/>
            <a:chOff x="457200" y="1514828"/>
            <a:chExt cx="4140336" cy="4091164"/>
          </a:xfrm>
        </p:grpSpPr>
        <p:grpSp>
          <p:nvGrpSpPr>
            <p:cNvPr id="361" name="Google Shape;361;p19"/>
            <p:cNvGrpSpPr/>
            <p:nvPr/>
          </p:nvGrpSpPr>
          <p:grpSpPr>
            <a:xfrm>
              <a:off x="489267" y="1517805"/>
              <a:ext cx="4096527" cy="4088187"/>
              <a:chOff x="1560285" y="1414704"/>
              <a:chExt cx="1244691" cy="1242157"/>
            </a:xfrm>
          </p:grpSpPr>
          <p:sp>
            <p:nvSpPr>
              <p:cNvPr id="362" name="Google Shape;362;p19"/>
              <p:cNvSpPr/>
              <p:nvPr/>
            </p:nvSpPr>
            <p:spPr>
              <a:xfrm>
                <a:off x="1592953" y="2043130"/>
                <a:ext cx="584671" cy="613731"/>
              </a:xfrm>
              <a:custGeom>
                <a:avLst/>
                <a:gdLst/>
                <a:ahLst/>
                <a:cxnLst/>
                <a:rect l="l" t="t" r="r" b="b"/>
                <a:pathLst>
                  <a:path w="584671" h="613731" extrusionOk="0">
                    <a:moveTo>
                      <a:pt x="0" y="188767"/>
                    </a:moveTo>
                    <a:cubicBezTo>
                      <a:pt x="84611" y="442038"/>
                      <a:pt x="322282" y="611834"/>
                      <a:pt x="584672" y="613731"/>
                    </a:cubicBezTo>
                    <a:lnTo>
                      <a:pt x="584672" y="0"/>
                    </a:lnTo>
                    <a:cubicBezTo>
                      <a:pt x="584672" y="0"/>
                      <a:pt x="0" y="189716"/>
                      <a:pt x="0" y="189716"/>
                    </a:cubicBez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363" name="Google Shape;363;p19"/>
              <p:cNvSpPr/>
              <p:nvPr/>
            </p:nvSpPr>
            <p:spPr>
              <a:xfrm>
                <a:off x="1821117" y="1414704"/>
                <a:ext cx="723471" cy="613248"/>
              </a:xfrm>
              <a:custGeom>
                <a:avLst/>
                <a:gdLst/>
                <a:ahLst/>
                <a:cxnLst/>
                <a:rect l="l" t="t" r="r" b="b"/>
                <a:pathLst>
                  <a:path w="723471" h="613248" extrusionOk="0">
                    <a:moveTo>
                      <a:pt x="723472" y="116192"/>
                    </a:moveTo>
                    <a:cubicBezTo>
                      <a:pt x="586573" y="18489"/>
                      <a:pt x="410696" y="-24198"/>
                      <a:pt x="232918" y="13746"/>
                    </a:cubicBezTo>
                    <a:cubicBezTo>
                      <a:pt x="146406" y="31769"/>
                      <a:pt x="67499" y="67815"/>
                      <a:pt x="0" y="116192"/>
                    </a:cubicBezTo>
                    <a:lnTo>
                      <a:pt x="361261" y="613248"/>
                    </a:lnTo>
                    <a:lnTo>
                      <a:pt x="723472" y="117141"/>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364" name="Google Shape;364;p19"/>
              <p:cNvSpPr/>
              <p:nvPr/>
            </p:nvSpPr>
            <p:spPr>
              <a:xfrm>
                <a:off x="2190934" y="1536588"/>
                <a:ext cx="614042" cy="686772"/>
              </a:xfrm>
              <a:custGeom>
                <a:avLst/>
                <a:gdLst/>
                <a:ahLst/>
                <a:cxnLst/>
                <a:rect l="l" t="t" r="r" b="b"/>
                <a:pathLst>
                  <a:path w="614042" h="686772" extrusionOk="0">
                    <a:moveTo>
                      <a:pt x="584672" y="686772"/>
                    </a:moveTo>
                    <a:cubicBezTo>
                      <a:pt x="616044" y="588120"/>
                      <a:pt x="623650" y="479982"/>
                      <a:pt x="600833" y="370895"/>
                    </a:cubicBezTo>
                    <a:cubicBezTo>
                      <a:pt x="568510" y="216276"/>
                      <a:pt x="480096" y="87269"/>
                      <a:pt x="362211" y="0"/>
                    </a:cubicBezTo>
                    <a:lnTo>
                      <a:pt x="0" y="496107"/>
                    </a:lnTo>
                    <a:lnTo>
                      <a:pt x="584672" y="685824"/>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365" name="Google Shape;365;p19"/>
              <p:cNvSpPr/>
              <p:nvPr/>
            </p:nvSpPr>
            <p:spPr>
              <a:xfrm>
                <a:off x="1560285" y="1536588"/>
                <a:ext cx="614487" cy="686772"/>
              </a:xfrm>
              <a:custGeom>
                <a:avLst/>
                <a:gdLst/>
                <a:ahLst/>
                <a:cxnLst/>
                <a:rect l="l" t="t" r="r" b="b"/>
                <a:pathLst>
                  <a:path w="614487" h="686772" extrusionOk="0">
                    <a:moveTo>
                      <a:pt x="253226" y="0"/>
                    </a:moveTo>
                    <a:cubicBezTo>
                      <a:pt x="63089" y="140390"/>
                      <a:pt x="-38634" y="382278"/>
                      <a:pt x="13654" y="627960"/>
                    </a:cubicBezTo>
                    <a:cubicBezTo>
                      <a:pt x="17456" y="647880"/>
                      <a:pt x="23161" y="667801"/>
                      <a:pt x="28865" y="686772"/>
                    </a:cubicBezTo>
                    <a:lnTo>
                      <a:pt x="614487" y="497056"/>
                    </a:lnTo>
                    <a:lnTo>
                      <a:pt x="253226" y="0"/>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366" name="Google Shape;366;p19"/>
              <p:cNvSpPr/>
              <p:nvPr/>
            </p:nvSpPr>
            <p:spPr>
              <a:xfrm>
                <a:off x="2187131" y="2043130"/>
                <a:ext cx="585622" cy="613731"/>
              </a:xfrm>
              <a:custGeom>
                <a:avLst/>
                <a:gdLst/>
                <a:ahLst/>
                <a:cxnLst/>
                <a:rect l="l" t="t" r="r" b="b"/>
                <a:pathLst>
                  <a:path w="585622" h="613731" extrusionOk="0">
                    <a:moveTo>
                      <a:pt x="0" y="613731"/>
                    </a:moveTo>
                    <a:cubicBezTo>
                      <a:pt x="40880" y="613731"/>
                      <a:pt x="82710" y="608989"/>
                      <a:pt x="124540" y="600451"/>
                    </a:cubicBezTo>
                    <a:cubicBezTo>
                      <a:pt x="347951" y="553022"/>
                      <a:pt x="518124" y="391764"/>
                      <a:pt x="585622" y="189716"/>
                    </a:cubicBezTo>
                    <a:lnTo>
                      <a:pt x="951" y="0"/>
                    </a:lnTo>
                    <a:lnTo>
                      <a:pt x="951" y="613731"/>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dirty="0">
                  <a:solidFill>
                    <a:srgbClr val="000000"/>
                  </a:solidFill>
                  <a:ea typeface="Arial"/>
                  <a:cs typeface="Arial"/>
                  <a:sym typeface="Arial"/>
                </a:endParaRPr>
              </a:p>
            </p:txBody>
          </p:sp>
        </p:grpSp>
        <p:sp>
          <p:nvSpPr>
            <p:cNvPr id="367" name="Google Shape;367;p19"/>
            <p:cNvSpPr/>
            <p:nvPr/>
          </p:nvSpPr>
          <p:spPr>
            <a:xfrm rot="10800000">
              <a:off x="1608000" y="2774959"/>
              <a:ext cx="1858800" cy="1763400"/>
            </a:xfrm>
            <a:prstGeom prst="pentagon">
              <a:avLst>
                <a:gd name="hf" fmla="val 105146"/>
                <a:gd name="vf" fmla="val 110557"/>
              </a:avLst>
            </a:prstGeom>
            <a:solidFill>
              <a:srgbClr val="002856"/>
            </a:solidFill>
            <a:ln w="44450" cap="flat" cmpd="sng">
              <a:solidFill>
                <a:srgbClr val="FFFFFF"/>
              </a:solidFill>
              <a:prstDash val="solid"/>
              <a:round/>
              <a:headEnd type="none" w="sm" len="sm"/>
              <a:tailEnd type="none" w="sm" len="sm"/>
            </a:ln>
          </p:spPr>
          <p:txBody>
            <a:bodyPr spcFirstLastPara="1" wrap="square" lIns="0" tIns="91425" rIns="0" bIns="313000" anchor="ctr" anchorCtr="0">
              <a:noAutofit/>
            </a:bodyPr>
            <a:lstStyle/>
            <a:p>
              <a:pPr marL="0" marR="0" lvl="0" indent="0" algn="ctr" rtl="0">
                <a:lnSpc>
                  <a:spcPct val="90000"/>
                </a:lnSpc>
                <a:spcBef>
                  <a:spcPts val="0"/>
                </a:spcBef>
                <a:spcAft>
                  <a:spcPts val="0"/>
                </a:spcAft>
                <a:buNone/>
              </a:pPr>
              <a:endParaRPr sz="2800" b="1" i="0" u="none" strike="noStrike" cap="none" dirty="0">
                <a:solidFill>
                  <a:srgbClr val="FFFFFF"/>
                </a:solidFill>
                <a:ea typeface="Arial"/>
                <a:cs typeface="Arial"/>
                <a:sym typeface="Arial"/>
              </a:endParaRPr>
            </a:p>
          </p:txBody>
        </p:sp>
        <p:sp>
          <p:nvSpPr>
            <p:cNvPr id="368" name="Google Shape;368;p19"/>
            <p:cNvSpPr txBox="1"/>
            <p:nvPr/>
          </p:nvSpPr>
          <p:spPr>
            <a:xfrm>
              <a:off x="1757704" y="3254000"/>
              <a:ext cx="1560300" cy="628499"/>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2400"/>
                <a:buFont typeface="Arial"/>
                <a:buNone/>
              </a:pPr>
              <a:r>
                <a:rPr lang="en-US" sz="2400" b="1" i="0" u="none" strike="noStrike" cap="none" dirty="0">
                  <a:solidFill>
                    <a:srgbClr val="FFFFFF"/>
                  </a:solidFill>
                  <a:ea typeface="Arial"/>
                  <a:cs typeface="Arial"/>
                  <a:sym typeface="Arial"/>
                </a:rPr>
                <a:t>HR-focused </a:t>
              </a:r>
              <a:br>
                <a:rPr lang="en-US" sz="2400" b="1" i="0" u="none" strike="noStrike" cap="none" dirty="0">
                  <a:solidFill>
                    <a:srgbClr val="FFFFFF"/>
                  </a:solidFill>
                  <a:ea typeface="Arial"/>
                  <a:cs typeface="Arial"/>
                  <a:sym typeface="Arial"/>
                </a:rPr>
              </a:br>
              <a:r>
                <a:rPr lang="en-US" sz="2400" b="1" i="0" u="none" strike="noStrike" cap="none" dirty="0">
                  <a:solidFill>
                    <a:srgbClr val="FFFFFF"/>
                  </a:solidFill>
                  <a:ea typeface="Arial"/>
                  <a:cs typeface="Arial"/>
                  <a:sym typeface="Arial"/>
                </a:rPr>
                <a:t>AI strategy</a:t>
              </a:r>
              <a:endParaRPr lang="en-US" sz="2400" dirty="0"/>
            </a:p>
          </p:txBody>
        </p:sp>
        <p:sp>
          <p:nvSpPr>
            <p:cNvPr id="369" name="Google Shape;369;p19"/>
            <p:cNvSpPr/>
            <p:nvPr/>
          </p:nvSpPr>
          <p:spPr>
            <a:xfrm>
              <a:off x="1874536" y="1514828"/>
              <a:ext cx="1326000" cy="1229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Vision</a:t>
              </a:r>
              <a:endParaRPr lang="en-US" dirty="0"/>
            </a:p>
          </p:txBody>
        </p:sp>
        <p:sp>
          <p:nvSpPr>
            <p:cNvPr id="370" name="Google Shape;370;p19"/>
            <p:cNvSpPr/>
            <p:nvPr/>
          </p:nvSpPr>
          <p:spPr>
            <a:xfrm>
              <a:off x="3157236" y="2428586"/>
              <a:ext cx="1440300" cy="132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Value</a:t>
              </a:r>
              <a:endParaRPr lang="en-US" dirty="0"/>
            </a:p>
          </p:txBody>
        </p:sp>
        <p:sp>
          <p:nvSpPr>
            <p:cNvPr id="371" name="Google Shape;371;p19"/>
            <p:cNvSpPr/>
            <p:nvPr/>
          </p:nvSpPr>
          <p:spPr>
            <a:xfrm>
              <a:off x="457200" y="2426402"/>
              <a:ext cx="1470600" cy="1330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Alignment</a:t>
              </a:r>
              <a:endParaRPr lang="en-US" dirty="0"/>
            </a:p>
          </p:txBody>
        </p:sp>
        <p:sp>
          <p:nvSpPr>
            <p:cNvPr id="372" name="Google Shape;372;p19"/>
            <p:cNvSpPr/>
            <p:nvPr/>
          </p:nvSpPr>
          <p:spPr>
            <a:xfrm>
              <a:off x="2537476"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ea typeface="Arial"/>
                  <a:cs typeface="Arial"/>
                  <a:sym typeface="Arial"/>
                </a:rPr>
                <a:t>Risk</a:t>
              </a:r>
              <a:endParaRPr lang="en-US" dirty="0"/>
            </a:p>
          </p:txBody>
        </p:sp>
        <p:sp>
          <p:nvSpPr>
            <p:cNvPr id="373" name="Google Shape;373;p19"/>
            <p:cNvSpPr/>
            <p:nvPr/>
          </p:nvSpPr>
          <p:spPr>
            <a:xfrm>
              <a:off x="811049"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Adoption</a:t>
              </a:r>
              <a:endParaRPr lang="en-US" dirty="0"/>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20"/>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Risk: Formulate Risk Assessment and Action Plan</a:t>
            </a:r>
          </a:p>
        </p:txBody>
      </p:sp>
      <p:sp>
        <p:nvSpPr>
          <p:cNvPr id="379" name="Google Shape;379;p20"/>
          <p:cNvSpPr txBox="1"/>
          <p:nvPr/>
        </p:nvSpPr>
        <p:spPr>
          <a:xfrm>
            <a:off x="457200" y="1271600"/>
            <a:ext cx="11274600" cy="5416827"/>
          </a:xfrm>
          <a:prstGeom prst="rect">
            <a:avLst/>
          </a:prstGeom>
          <a:noFill/>
          <a:ln>
            <a:noFill/>
          </a:ln>
        </p:spPr>
        <p:txBody>
          <a:bodyPr spcFirstLastPara="1" wrap="square" lIns="91425" tIns="45700" rIns="91425" bIns="45700" anchor="t" anchorCtr="0">
            <a:spAutoFit/>
          </a:bodyPr>
          <a:lstStyle/>
          <a:p>
            <a:pPr marL="342900" marR="0" lvl="0" indent="-342900" algn="l" rtl="0">
              <a:lnSpc>
                <a:spcPct val="115000"/>
              </a:lnSpc>
              <a:spcBef>
                <a:spcPts val="1200"/>
              </a:spcBef>
              <a:spcAft>
                <a:spcPts val="0"/>
              </a:spcAft>
              <a:buClr>
                <a:schemeClr val="dk1"/>
              </a:buClr>
              <a:buSzPts val="2400"/>
              <a:buFont typeface="Arial" panose="020B0604020202020204" pitchFamily="34" charset="0"/>
              <a:buChar char="•"/>
            </a:pPr>
            <a:r>
              <a:rPr lang="en-US" sz="2400" dirty="0">
                <a:solidFill>
                  <a:schemeClr val="dk1"/>
                </a:solidFill>
                <a:ea typeface="Arial"/>
                <a:cs typeface="Arial"/>
                <a:sym typeface="Arial"/>
              </a:rPr>
              <a:t>Leverage your stakeholder team, ensuring you’re including the appropriate </a:t>
            </a:r>
            <a:r>
              <a:rPr lang="en-US" sz="2400" dirty="0">
                <a:solidFill>
                  <a:schemeClr val="dk1"/>
                </a:solidFill>
              </a:rPr>
              <a:t>l</a:t>
            </a:r>
            <a:r>
              <a:rPr lang="en-US" sz="2400" dirty="0">
                <a:solidFill>
                  <a:schemeClr val="dk1"/>
                </a:solidFill>
                <a:ea typeface="Arial"/>
                <a:cs typeface="Arial"/>
                <a:sym typeface="Arial"/>
              </a:rPr>
              <a:t>egal and/or </a:t>
            </a:r>
            <a:r>
              <a:rPr lang="en-US" sz="2400" dirty="0">
                <a:solidFill>
                  <a:schemeClr val="dk1"/>
                </a:solidFill>
              </a:rPr>
              <a:t>c</a:t>
            </a:r>
            <a:r>
              <a:rPr lang="en-US" sz="2400" dirty="0">
                <a:solidFill>
                  <a:schemeClr val="dk1"/>
                </a:solidFill>
                <a:ea typeface="Arial"/>
                <a:cs typeface="Arial"/>
                <a:sym typeface="Arial"/>
              </a:rPr>
              <a:t>ompliance representatives to formulate a risk assessment plan. </a:t>
            </a:r>
            <a:endParaRPr lang="en-US" sz="2400" dirty="0">
              <a:solidFill>
                <a:schemeClr val="dk1"/>
              </a:solidFill>
            </a:endParaRPr>
          </a:p>
          <a:p>
            <a:pPr marL="342900" marR="0" lvl="0" indent="-342900" algn="l" rtl="0">
              <a:lnSpc>
                <a:spcPct val="115000"/>
              </a:lnSpc>
              <a:spcBef>
                <a:spcPts val="1200"/>
              </a:spcBef>
              <a:spcAft>
                <a:spcPts val="0"/>
              </a:spcAft>
              <a:buClr>
                <a:schemeClr val="dk1"/>
              </a:buClr>
              <a:buSzPts val="2400"/>
              <a:buFont typeface="Arial" panose="020B0604020202020204" pitchFamily="34" charset="0"/>
              <a:buChar char="•"/>
            </a:pPr>
            <a:r>
              <a:rPr lang="en-US" sz="2400" dirty="0">
                <a:solidFill>
                  <a:schemeClr val="dk1"/>
                </a:solidFill>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47"/>
                  </a:ext>
                </a:extLst>
              </a:rPr>
              <a:t>If your organization has an AI COE, determine w</a:t>
            </a:r>
            <a:r>
              <a:rPr lang="en-US" sz="2400"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48"/>
                  </a:ext>
                </a:extLst>
              </a:rPr>
              <a:t>hether a risk assessment plan already exists and if </a:t>
            </a:r>
            <a:r>
              <a:rPr lang="en-US" sz="2400" dirty="0">
                <a:solidFill>
                  <a:schemeClr val="dk1"/>
                </a:solidFill>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49"/>
                  </a:ext>
                </a:extLst>
              </a:rPr>
              <a:t>it </a:t>
            </a:r>
            <a:r>
              <a:rPr lang="en-US" sz="2400"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50"/>
                  </a:ext>
                </a:extLst>
              </a:rPr>
              <a:t>includes </a:t>
            </a:r>
            <a:r>
              <a:rPr lang="en-US" sz="2400" dirty="0">
                <a:solidFill>
                  <a:schemeClr val="dk1"/>
                </a:solidFill>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51"/>
                  </a:ext>
                </a:extLst>
              </a:rPr>
              <a:t>HR</a:t>
            </a:r>
            <a:r>
              <a:rPr lang="en-US" sz="2400"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52"/>
                  </a:ext>
                </a:extLst>
              </a:rPr>
              <a:t>-</a:t>
            </a:r>
            <a:r>
              <a:rPr lang="en-US" sz="2400" dirty="0">
                <a:solidFill>
                  <a:schemeClr val="dk1"/>
                </a:solidFill>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53"/>
                  </a:ext>
                </a:extLst>
              </a:rPr>
              <a:t>specific risks. </a:t>
            </a:r>
            <a:endParaRPr lang="en-US" sz="1000" dirty="0"/>
          </a:p>
          <a:p>
            <a:pPr marL="342900" indent="-342900">
              <a:lnSpc>
                <a:spcPct val="115000"/>
              </a:lnSpc>
              <a:spcBef>
                <a:spcPts val="1200"/>
              </a:spcBef>
              <a:buClr>
                <a:schemeClr val="dk1"/>
              </a:buClr>
              <a:buSzPts val="2400"/>
              <a:buFont typeface="Arial" panose="020B0604020202020204" pitchFamily="34" charset="0"/>
              <a:buChar char="•"/>
            </a:pPr>
            <a:r>
              <a:rPr lang="en-US" sz="2400" dirty="0">
                <a:solidFill>
                  <a:schemeClr val="dk1"/>
                </a:solidFill>
                <a:ea typeface="Arial"/>
                <a:cs typeface="Arial"/>
                <a:sym typeface="Arial"/>
              </a:rPr>
              <a:t>You may leverage </a:t>
            </a:r>
            <a:r>
              <a:rPr lang="en-US" sz="2400" dirty="0"/>
              <a:t>Gartner’s </a:t>
            </a:r>
            <a:r>
              <a:rPr lang="en-US" sz="2400" u="sng" dirty="0">
                <a:solidFill>
                  <a:schemeClr val="hlink"/>
                </a:solidFill>
                <a:ea typeface="Arial"/>
                <a:cs typeface="Arial"/>
                <a:sym typeface="Arial"/>
                <a:hlinkClick r:id="rId3"/>
              </a:rPr>
              <a:t>Tool: Identify and Mitigate Top GenAI Usage Risks</a:t>
            </a:r>
            <a:r>
              <a:rPr lang="en-US" sz="2400" dirty="0">
                <a:solidFill>
                  <a:schemeClr val="dk1"/>
                </a:solidFill>
              </a:rPr>
              <a:t> and </a:t>
            </a:r>
            <a:r>
              <a:rPr lang="en-US" sz="2400" u="sng" dirty="0">
                <a:hlinkClick r:id="rId4"/>
              </a:rPr>
              <a:t>Communicating AI Talent Risks: A Guide for CHROs</a:t>
            </a:r>
            <a:r>
              <a:rPr lang="en-US" sz="2400" u="sng" dirty="0"/>
              <a:t> </a:t>
            </a:r>
            <a:r>
              <a:rPr lang="en-US" sz="2400" dirty="0">
                <a:solidFill>
                  <a:schemeClr val="dk1"/>
                </a:solidFill>
                <a:ea typeface="Arial"/>
                <a:cs typeface="Arial"/>
                <a:sym typeface="Arial"/>
              </a:rPr>
              <a:t>to complete a broader risk assessment plan.</a:t>
            </a:r>
          </a:p>
          <a:p>
            <a:pPr marL="342900" marR="0" lvl="0" indent="-342900" algn="l" rtl="0">
              <a:lnSpc>
                <a:spcPct val="115000"/>
              </a:lnSpc>
              <a:spcBef>
                <a:spcPts val="1200"/>
              </a:spcBef>
              <a:spcAft>
                <a:spcPts val="0"/>
              </a:spcAft>
              <a:buClr>
                <a:schemeClr val="dk1"/>
              </a:buClr>
              <a:buSzPts val="2400"/>
              <a:buFont typeface="Arial" panose="020B0604020202020204" pitchFamily="34" charset="0"/>
              <a:buChar char="•"/>
            </a:pPr>
            <a:r>
              <a:rPr lang="en-US" sz="2400" dirty="0">
                <a:solidFill>
                  <a:schemeClr val="dk1"/>
                </a:solidFill>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54"/>
                  </a:ext>
                </a:extLst>
              </a:rPr>
              <a:t>Examples have been provided on the subsequent slides, </a:t>
            </a:r>
            <a:r>
              <a:rPr lang="en-US" sz="2400" dirty="0">
                <a:solidFill>
                  <a:schemeClr val="dk1"/>
                </a:solidFil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55"/>
                  </a:ext>
                </a:extLst>
              </a:rPr>
              <a:t>followed by</a:t>
            </a:r>
            <a:r>
              <a:rPr lang="en-US" sz="2400" dirty="0">
                <a:solidFill>
                  <a:schemeClr val="dk1"/>
                </a:solidFill>
                <a:ea typeface="Arial"/>
                <a:cs typeface="Arial"/>
                <a:sym typeface="Arial"/>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56"/>
                  </a:ext>
                </a:extLst>
              </a:rPr>
              <a:t> a blank template.</a:t>
            </a:r>
            <a:endParaRPr lang="en-US" sz="1000" dirty="0"/>
          </a:p>
          <a:p>
            <a:pPr marL="109728" marR="0" lvl="0" indent="-109728" algn="l" rtl="0">
              <a:lnSpc>
                <a:spcPct val="115000"/>
              </a:lnSpc>
              <a:spcBef>
                <a:spcPts val="1200"/>
              </a:spcBef>
              <a:spcAft>
                <a:spcPts val="1200"/>
              </a:spcAft>
              <a:buClr>
                <a:schemeClr val="dk1"/>
              </a:buClr>
              <a:buSzPts val="2800"/>
              <a:buFont typeface="Arial"/>
              <a:buNone/>
            </a:pPr>
            <a:endParaRPr lang="en-US" sz="2400" dirty="0">
              <a:solidFill>
                <a:schemeClr val="dk1"/>
              </a:solidFil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21"/>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Risk: Identify Main Categories and Risks</a:t>
            </a:r>
          </a:p>
        </p:txBody>
      </p:sp>
      <p:graphicFrame>
        <p:nvGraphicFramePr>
          <p:cNvPr id="385" name="Google Shape;385;p21"/>
          <p:cNvGraphicFramePr/>
          <p:nvPr>
            <p:extLst>
              <p:ext uri="{D42A27DB-BD31-4B8C-83A1-F6EECF244321}">
                <p14:modId xmlns:p14="http://schemas.microsoft.com/office/powerpoint/2010/main" val="2357195423"/>
              </p:ext>
            </p:extLst>
          </p:nvPr>
        </p:nvGraphicFramePr>
        <p:xfrm>
          <a:off x="528563" y="1395957"/>
          <a:ext cx="11209400" cy="4298900"/>
        </p:xfrm>
        <a:graphic>
          <a:graphicData uri="http://schemas.openxmlformats.org/drawingml/2006/table">
            <a:tbl>
              <a:tblPr firstRow="1" bandRow="1">
                <a:noFill/>
              </a:tblPr>
              <a:tblGrid>
                <a:gridCol w="5604700">
                  <a:extLst>
                    <a:ext uri="{9D8B030D-6E8A-4147-A177-3AD203B41FA5}">
                      <a16:colId xmlns:a16="http://schemas.microsoft.com/office/drawing/2014/main" val="20000"/>
                    </a:ext>
                  </a:extLst>
                </a:gridCol>
                <a:gridCol w="5604700">
                  <a:extLst>
                    <a:ext uri="{9D8B030D-6E8A-4147-A177-3AD203B41FA5}">
                      <a16:colId xmlns:a16="http://schemas.microsoft.com/office/drawing/2014/main" val="20001"/>
                    </a:ext>
                  </a:extLst>
                </a:gridCol>
              </a:tblGrid>
              <a:tr h="682500">
                <a:tc>
                  <a:txBody>
                    <a:bodyPr/>
                    <a:lstStyle/>
                    <a:p>
                      <a:pPr marL="0" marR="0" lvl="0" indent="0" algn="ctr" rtl="0">
                        <a:spcBef>
                          <a:spcPts val="0"/>
                        </a:spcBef>
                        <a:spcAft>
                          <a:spcPts val="0"/>
                        </a:spcAft>
                        <a:buNone/>
                      </a:pPr>
                      <a:r>
                        <a:rPr lang="en-US" sz="2100" b="1" dirty="0">
                          <a:solidFill>
                            <a:schemeClr val="bg1"/>
                          </a:solidFill>
                        </a:rPr>
                        <a:t>Human impact </a:t>
                      </a:r>
                      <a:endParaRPr sz="1100" b="1" dirty="0">
                        <a:solidFill>
                          <a:schemeClr val="bg1"/>
                        </a:solidFill>
                      </a:endParaRPr>
                    </a:p>
                  </a:txBody>
                  <a:tcPr marL="91450" marR="91450" marT="45725" marB="45725">
                    <a:solidFill>
                      <a:schemeClr val="accent1"/>
                    </a:solidFill>
                  </a:tcPr>
                </a:tc>
                <a:tc>
                  <a:txBody>
                    <a:bodyPr/>
                    <a:lstStyle/>
                    <a:p>
                      <a:pPr marL="0" marR="0" lvl="0" indent="0" algn="ctr" rtl="0">
                        <a:spcBef>
                          <a:spcPts val="0"/>
                        </a:spcBef>
                        <a:spcAft>
                          <a:spcPts val="0"/>
                        </a:spcAft>
                        <a:buNone/>
                      </a:pPr>
                      <a:r>
                        <a:rPr lang="en-US" sz="2100" b="1" dirty="0">
                          <a:solidFill>
                            <a:schemeClr val="bg1"/>
                          </a:solidFill>
                        </a:rPr>
                        <a:t>Process</a:t>
                      </a:r>
                      <a:endParaRPr sz="1100" b="1" dirty="0">
                        <a:solidFill>
                          <a:schemeClr val="bg1"/>
                        </a:solidFill>
                      </a:endParaRPr>
                    </a:p>
                  </a:txBody>
                  <a:tcPr marL="91450" marR="91450" marT="45725" marB="45725">
                    <a:solidFill>
                      <a:schemeClr val="accent1"/>
                    </a:solidFill>
                  </a:tcPr>
                </a:tc>
                <a:extLst>
                  <a:ext uri="{0D108BD9-81ED-4DB2-BD59-A6C34878D82A}">
                    <a16:rowId xmlns:a16="http://schemas.microsoft.com/office/drawing/2014/main" val="10000"/>
                  </a:ext>
                </a:extLst>
              </a:tr>
              <a:tr h="1328125">
                <a:tc>
                  <a:txBody>
                    <a:bodyPr/>
                    <a:lstStyle/>
                    <a:p>
                      <a:pPr marL="285750" marR="0" lvl="0" indent="-266700" algn="l" rtl="0">
                        <a:spcBef>
                          <a:spcPts val="0"/>
                        </a:spcBef>
                        <a:spcAft>
                          <a:spcPts val="0"/>
                        </a:spcAft>
                        <a:buClr>
                          <a:schemeClr val="dk1"/>
                        </a:buClr>
                        <a:buSzPts val="2100"/>
                        <a:buFont typeface="Arial"/>
                        <a:buChar char="•"/>
                      </a:pPr>
                      <a:r>
                        <a:rPr lang="en-US" sz="2100" dirty="0"/>
                        <a:t>Resistance to change</a:t>
                      </a:r>
                      <a:endParaRPr sz="1100" dirty="0"/>
                    </a:p>
                    <a:p>
                      <a:pPr marL="285750" marR="0" lvl="0" indent="-266700" algn="l" rtl="0">
                        <a:spcBef>
                          <a:spcPts val="0"/>
                        </a:spcBef>
                        <a:spcAft>
                          <a:spcPts val="0"/>
                        </a:spcAft>
                        <a:buClr>
                          <a:schemeClr val="dk1"/>
                        </a:buClr>
                        <a:buSzPts val="2100"/>
                        <a:buFont typeface="Arial"/>
                        <a:buChar char="•"/>
                      </a:pPr>
                      <a:r>
                        <a:rPr lang="en-US" sz="2100" dirty="0"/>
                        <a:t>Fear surrounding AI</a:t>
                      </a:r>
                      <a:endParaRPr sz="1100" dirty="0"/>
                    </a:p>
                  </a:txBody>
                  <a:tcPr marL="91450" marR="91450" marT="45725" marB="45725"/>
                </a:tc>
                <a:tc>
                  <a:txBody>
                    <a:bodyPr/>
                    <a:lstStyle/>
                    <a:p>
                      <a:pPr marL="285750" marR="0" lvl="0" indent="-266700" algn="l" rtl="0">
                        <a:spcBef>
                          <a:spcPts val="0"/>
                        </a:spcBef>
                        <a:spcAft>
                          <a:spcPts val="0"/>
                        </a:spcAft>
                        <a:buClr>
                          <a:schemeClr val="dk1"/>
                        </a:buClr>
                        <a:buSzPts val="2100"/>
                        <a:buFont typeface="Arial"/>
                        <a:buChar char="•"/>
                      </a:pPr>
                      <a:r>
                        <a:rPr lang="en-US" sz="2100" dirty="0">
                          <a:latin typeface="+mn-lt"/>
                        </a:rPr>
                        <a:t>Accuracy</a:t>
                      </a:r>
                      <a:endParaRPr sz="2100" dirty="0">
                        <a:latin typeface="+mn-lt"/>
                      </a:endParaRPr>
                    </a:p>
                    <a:p>
                      <a:pPr marL="285750" marR="0" lvl="0" indent="-266700" algn="l" rtl="0">
                        <a:spcBef>
                          <a:spcPts val="0"/>
                        </a:spcBef>
                        <a:spcAft>
                          <a:spcPts val="0"/>
                        </a:spcAft>
                        <a:buClr>
                          <a:schemeClr val="dk1"/>
                        </a:buClr>
                        <a:buSzPts val="2100"/>
                        <a:buFont typeface="Arial"/>
                        <a:buChar char="•"/>
                      </a:pPr>
                      <a:r>
                        <a:rPr lang="en-US" sz="2100" dirty="0">
                          <a:latin typeface="+mn-lt"/>
                        </a:rPr>
                        <a:t>Biased </a:t>
                      </a:r>
                      <a:r>
                        <a:rPr lang="en-US" sz="2100" b="0" i="0" u="none" strike="noStrike" cap="none" dirty="0">
                          <a:solidFill>
                            <a:schemeClr val="dk1"/>
                          </a:solidFill>
                          <a:latin typeface="+mn-lt"/>
                          <a:ea typeface="Arial"/>
                          <a:cs typeface="Arial"/>
                          <a:sym typeface="Arial"/>
                        </a:rPr>
                        <a:t>outputs</a:t>
                      </a:r>
                      <a:r>
                        <a:rPr lang="en-US" sz="2100" dirty="0">
                          <a:latin typeface="+mn-lt"/>
                        </a:rPr>
                        <a:t>/fairness</a:t>
                      </a:r>
                      <a:endParaRPr sz="2100" dirty="0">
                        <a:latin typeface="+mn-lt"/>
                      </a:endParaRPr>
                    </a:p>
                    <a:p>
                      <a:pPr marL="285750" marR="0" lvl="0" indent="-266700" algn="l" rtl="0">
                        <a:spcBef>
                          <a:spcPts val="0"/>
                        </a:spcBef>
                        <a:spcAft>
                          <a:spcPts val="0"/>
                        </a:spcAft>
                        <a:buClr>
                          <a:schemeClr val="dk1"/>
                        </a:buClr>
                        <a:buSzPts val="2100"/>
                        <a:buFont typeface="Arial"/>
                        <a:buChar char="•"/>
                      </a:pPr>
                      <a:r>
                        <a:rPr lang="en-US" sz="2100" dirty="0">
                          <a:latin typeface="+mn-lt"/>
                        </a:rPr>
                        <a:t>Outdated information</a:t>
                      </a:r>
                      <a:endParaRPr sz="2100" dirty="0">
                        <a:latin typeface="+mn-lt"/>
                      </a:endParaRPr>
                    </a:p>
                  </a:txBody>
                  <a:tcPr marL="91450" marR="91450" marT="45725" marB="45725"/>
                </a:tc>
                <a:extLst>
                  <a:ext uri="{0D108BD9-81ED-4DB2-BD59-A6C34878D82A}">
                    <a16:rowId xmlns:a16="http://schemas.microsoft.com/office/drawing/2014/main" val="10001"/>
                  </a:ext>
                </a:extLst>
              </a:tr>
              <a:tr h="682500">
                <a:tc>
                  <a:txBody>
                    <a:bodyPr/>
                    <a:lstStyle/>
                    <a:p>
                      <a:pPr marL="0" marR="0" lvl="0" indent="0" algn="ctr" rtl="0">
                        <a:spcBef>
                          <a:spcPts val="0"/>
                        </a:spcBef>
                        <a:spcAft>
                          <a:spcPts val="0"/>
                        </a:spcAft>
                        <a:buNone/>
                      </a:pPr>
                      <a:r>
                        <a:rPr lang="en-US" sz="2100" b="1" dirty="0">
                          <a:solidFill>
                            <a:schemeClr val="lt1"/>
                          </a:solidFill>
                        </a:rPr>
                        <a:t>Security and data</a:t>
                      </a:r>
                      <a:endParaRPr sz="1100" dirty="0">
                        <a:solidFill>
                          <a:schemeClr val="lt1"/>
                        </a:solidFill>
                      </a:endParaRPr>
                    </a:p>
                  </a:txBody>
                  <a:tcPr marL="91450" marR="91450" marT="45725" marB="45725">
                    <a:solidFill>
                      <a:schemeClr val="accent1"/>
                    </a:solidFill>
                  </a:tcPr>
                </a:tc>
                <a:tc>
                  <a:txBody>
                    <a:bodyPr/>
                    <a:lstStyle/>
                    <a:p>
                      <a:pPr marL="0" marR="0" lvl="0" indent="0" algn="ctr" rtl="0">
                        <a:spcBef>
                          <a:spcPts val="0"/>
                        </a:spcBef>
                        <a:spcAft>
                          <a:spcPts val="0"/>
                        </a:spcAft>
                        <a:buNone/>
                      </a:pPr>
                      <a:r>
                        <a:rPr lang="en-US" sz="2100" b="1" dirty="0">
                          <a:solidFill>
                            <a:schemeClr val="lt1"/>
                          </a:solidFill>
                        </a:rPr>
                        <a:t>Other</a:t>
                      </a:r>
                      <a:endParaRPr sz="1100" dirty="0">
                        <a:solidFill>
                          <a:schemeClr val="lt1"/>
                        </a:solidFill>
                      </a:endParaRPr>
                    </a:p>
                  </a:txBody>
                  <a:tcPr marL="91450" marR="91450" marT="45725" marB="45725">
                    <a:solidFill>
                      <a:schemeClr val="accent1"/>
                    </a:solidFill>
                  </a:tcPr>
                </a:tc>
                <a:extLst>
                  <a:ext uri="{0D108BD9-81ED-4DB2-BD59-A6C34878D82A}">
                    <a16:rowId xmlns:a16="http://schemas.microsoft.com/office/drawing/2014/main" val="10002"/>
                  </a:ext>
                </a:extLst>
              </a:tr>
              <a:tr h="1605775">
                <a:tc>
                  <a:txBody>
                    <a:bodyPr/>
                    <a:lstStyle/>
                    <a:p>
                      <a:pPr marL="285750" marR="0" lvl="0" indent="-266700" algn="l" rtl="0">
                        <a:spcBef>
                          <a:spcPts val="0"/>
                        </a:spcBef>
                        <a:spcAft>
                          <a:spcPts val="0"/>
                        </a:spcAft>
                        <a:buClr>
                          <a:schemeClr val="dk1"/>
                        </a:buClr>
                        <a:buSzPts val="2100"/>
                        <a:buFont typeface="Arial"/>
                        <a:buChar char="•"/>
                      </a:pPr>
                      <a:r>
                        <a:rPr lang="en-US" sz="2100" dirty="0"/>
                        <a:t>Sensitive information leakage</a:t>
                      </a:r>
                      <a:endParaRPr sz="1100" dirty="0"/>
                    </a:p>
                    <a:p>
                      <a:pPr marL="285750" marR="0" lvl="0" indent="-266700" algn="l" rtl="0">
                        <a:spcBef>
                          <a:spcPts val="0"/>
                        </a:spcBef>
                        <a:spcAft>
                          <a:spcPts val="0"/>
                        </a:spcAft>
                        <a:buClr>
                          <a:schemeClr val="dk1"/>
                        </a:buClr>
                        <a:buSzPts val="2100"/>
                        <a:buFont typeface="Arial"/>
                        <a:buChar char="•"/>
                      </a:pPr>
                      <a:r>
                        <a:rPr lang="en-US" sz="2100" dirty="0"/>
                        <a:t>Fraud</a:t>
                      </a:r>
                      <a:endParaRPr sz="1100" dirty="0"/>
                    </a:p>
                    <a:p>
                      <a:pPr marL="285750" marR="0" lvl="0" indent="-266700" algn="l" rtl="0">
                        <a:spcBef>
                          <a:spcPts val="0"/>
                        </a:spcBef>
                        <a:spcAft>
                          <a:spcPts val="0"/>
                        </a:spcAft>
                        <a:buClr>
                          <a:schemeClr val="dk1"/>
                        </a:buClr>
                        <a:buSzPts val="2100"/>
                        <a:buFont typeface="Arial"/>
                        <a:buChar char="•"/>
                      </a:pPr>
                      <a:r>
                        <a:rPr lang="en-US" sz="2100" dirty="0"/>
                        <a:t>Unauthorized information access</a:t>
                      </a:r>
                      <a:endParaRPr sz="1100" dirty="0"/>
                    </a:p>
                  </a:txBody>
                  <a:tcPr marL="91450" marR="91450" marT="45725" marB="45725"/>
                </a:tc>
                <a:tc>
                  <a:txBody>
                    <a:bodyPr/>
                    <a:lstStyle/>
                    <a:p>
                      <a:pPr marL="285750" marR="0" lvl="0" indent="-266700" algn="l" rtl="0">
                        <a:spcBef>
                          <a:spcPts val="0"/>
                        </a:spcBef>
                        <a:spcAft>
                          <a:spcPts val="0"/>
                        </a:spcAft>
                        <a:buClr>
                          <a:schemeClr val="dk1"/>
                        </a:buClr>
                        <a:buSzPts val="2100"/>
                        <a:buFont typeface="Arial"/>
                        <a:buChar char="•"/>
                      </a:pPr>
                      <a:r>
                        <a:rPr lang="en-US" sz="2100" dirty="0"/>
                        <a:t>Regulatory shifts</a:t>
                      </a:r>
                      <a:endParaRPr sz="1100" dirty="0"/>
                    </a:p>
                    <a:p>
                      <a:pPr marL="285750" marR="0" lvl="0" indent="-266700" algn="l" rtl="0">
                        <a:spcBef>
                          <a:spcPts val="0"/>
                        </a:spcBef>
                        <a:spcAft>
                          <a:spcPts val="0"/>
                        </a:spcAft>
                        <a:buClr>
                          <a:schemeClr val="dk1"/>
                        </a:buClr>
                        <a:buSzPts val="2100"/>
                        <a:buFont typeface="Arial"/>
                        <a:buChar char="•"/>
                      </a:pPr>
                      <a:r>
                        <a:rPr lang="en-US" sz="2100" dirty="0"/>
                        <a:t>Legal implications</a:t>
                      </a:r>
                      <a:endParaRPr sz="1100" dirty="0"/>
                    </a:p>
                    <a:p>
                      <a:pPr marL="285750" marR="0" lvl="0" indent="-266700" algn="l" rtl="0">
                        <a:spcBef>
                          <a:spcPts val="0"/>
                        </a:spcBef>
                        <a:spcAft>
                          <a:spcPts val="0"/>
                        </a:spcAft>
                        <a:buClr>
                          <a:schemeClr val="dk1"/>
                        </a:buClr>
                        <a:buSzPts val="2100"/>
                        <a:buFont typeface="Arial"/>
                        <a:buChar char="•"/>
                      </a:pPr>
                      <a:r>
                        <a:rPr lang="en-US" sz="2100" dirty="0"/>
                        <a:t>Employee AI abuse</a:t>
                      </a:r>
                      <a:endParaRPr sz="1100" dirty="0"/>
                    </a:p>
                    <a:p>
                      <a:pPr marL="285750" marR="0" lvl="0" indent="-266700" algn="l" rtl="0">
                        <a:spcBef>
                          <a:spcPts val="0"/>
                        </a:spcBef>
                        <a:spcAft>
                          <a:spcPts val="0"/>
                        </a:spcAft>
                        <a:buClr>
                          <a:schemeClr val="dk1"/>
                        </a:buClr>
                        <a:buSzPts val="2100"/>
                        <a:buFont typeface="Arial"/>
                        <a:buChar char="•"/>
                      </a:pPr>
                      <a:r>
                        <a:rPr lang="en-US" sz="2100" dirty="0"/>
                        <a:t>Limited vendor liabilities</a:t>
                      </a:r>
                      <a:endParaRPr sz="1100" dirty="0"/>
                    </a:p>
                  </a:txBody>
                  <a:tcPr marL="91450" marR="91450" marT="45725" marB="45725"/>
                </a:tc>
                <a:extLst>
                  <a:ext uri="{0D108BD9-81ED-4DB2-BD59-A6C34878D82A}">
                    <a16:rowId xmlns:a16="http://schemas.microsoft.com/office/drawing/2014/main" val="10003"/>
                  </a:ext>
                </a:extLst>
              </a:tr>
            </a:tbl>
          </a:graphicData>
        </a:graphic>
      </p:graphicFrame>
      <p:sp>
        <p:nvSpPr>
          <p:cNvPr id="386" name="Google Shape;386;p21"/>
          <p:cNvSpPr txBox="1"/>
          <p:nvPr/>
        </p:nvSpPr>
        <p:spPr>
          <a:xfrm>
            <a:off x="457200" y="995840"/>
            <a:ext cx="756328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ea typeface="Arial"/>
                <a:cs typeface="Arial"/>
                <a:sym typeface="Arial"/>
              </a:rPr>
              <a:t>Below are sample risks to guide you in formulating your risk plan</a:t>
            </a:r>
            <a:r>
              <a:rPr lang="en-US" sz="2000" dirty="0">
                <a:solidFill>
                  <a:schemeClr val="dk1"/>
                </a:solidFill>
              </a:rPr>
              <a:t>:</a:t>
            </a:r>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2"/>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Risk: Example Risk Assessment and Action Plan</a:t>
            </a:r>
          </a:p>
        </p:txBody>
      </p:sp>
      <p:graphicFrame>
        <p:nvGraphicFramePr>
          <p:cNvPr id="392" name="Google Shape;392;p22"/>
          <p:cNvGraphicFramePr/>
          <p:nvPr/>
        </p:nvGraphicFramePr>
        <p:xfrm>
          <a:off x="457200" y="1165981"/>
          <a:ext cx="11274525" cy="4699040"/>
        </p:xfrm>
        <a:graphic>
          <a:graphicData uri="http://schemas.openxmlformats.org/drawingml/2006/table">
            <a:tbl>
              <a:tblPr firstRow="1" bandRow="1">
                <a:noFill/>
              </a:tblPr>
              <a:tblGrid>
                <a:gridCol w="1600200">
                  <a:extLst>
                    <a:ext uri="{9D8B030D-6E8A-4147-A177-3AD203B41FA5}">
                      <a16:colId xmlns:a16="http://schemas.microsoft.com/office/drawing/2014/main" val="20000"/>
                    </a:ext>
                  </a:extLst>
                </a:gridCol>
                <a:gridCol w="1404250">
                  <a:extLst>
                    <a:ext uri="{9D8B030D-6E8A-4147-A177-3AD203B41FA5}">
                      <a16:colId xmlns:a16="http://schemas.microsoft.com/office/drawing/2014/main" val="20001"/>
                    </a:ext>
                  </a:extLst>
                </a:gridCol>
                <a:gridCol w="968825">
                  <a:extLst>
                    <a:ext uri="{9D8B030D-6E8A-4147-A177-3AD203B41FA5}">
                      <a16:colId xmlns:a16="http://schemas.microsoft.com/office/drawing/2014/main" val="20002"/>
                    </a:ext>
                  </a:extLst>
                </a:gridCol>
                <a:gridCol w="1230075">
                  <a:extLst>
                    <a:ext uri="{9D8B030D-6E8A-4147-A177-3AD203B41FA5}">
                      <a16:colId xmlns:a16="http://schemas.microsoft.com/office/drawing/2014/main" val="20003"/>
                    </a:ext>
                  </a:extLst>
                </a:gridCol>
                <a:gridCol w="6071175">
                  <a:extLst>
                    <a:ext uri="{9D8B030D-6E8A-4147-A177-3AD203B41FA5}">
                      <a16:colId xmlns:a16="http://schemas.microsoft.com/office/drawing/2014/main" val="20004"/>
                    </a:ext>
                  </a:extLst>
                </a:gridCol>
              </a:tblGrid>
              <a:tr h="370850">
                <a:tc>
                  <a:txBody>
                    <a:bodyPr/>
                    <a:lstStyle/>
                    <a:p>
                      <a:pPr marL="0" marR="0" lvl="0" indent="0" algn="l" rtl="0">
                        <a:spcBef>
                          <a:spcPts val="0"/>
                        </a:spcBef>
                        <a:spcAft>
                          <a:spcPts val="0"/>
                        </a:spcAft>
                        <a:buNone/>
                      </a:pPr>
                      <a:r>
                        <a:rPr lang="en-US" dirty="0"/>
                        <a:t>Risk</a:t>
                      </a:r>
                      <a:endParaRPr sz="1000" dirty="0"/>
                    </a:p>
                  </a:txBody>
                  <a:tcPr marL="91450" marR="91450" marT="45725" marB="45725"/>
                </a:tc>
                <a:tc>
                  <a:txBody>
                    <a:bodyPr/>
                    <a:lstStyle/>
                    <a:p>
                      <a:pPr marL="0" marR="0" lvl="0" indent="0" algn="l" rtl="0">
                        <a:spcBef>
                          <a:spcPts val="0"/>
                        </a:spcBef>
                        <a:spcAft>
                          <a:spcPts val="0"/>
                        </a:spcAft>
                        <a:buNone/>
                      </a:pPr>
                      <a:r>
                        <a:rPr lang="en-US" dirty="0"/>
                        <a:t>Risk category</a:t>
                      </a:r>
                      <a:endParaRPr sz="1000" dirty="0"/>
                    </a:p>
                  </a:txBody>
                  <a:tcPr marL="91450" marR="91450" marT="45725" marB="45725"/>
                </a:tc>
                <a:tc>
                  <a:txBody>
                    <a:bodyPr/>
                    <a:lstStyle/>
                    <a:p>
                      <a:pPr marL="0" marR="0" lvl="0" indent="0" algn="l" rtl="0">
                        <a:spcBef>
                          <a:spcPts val="0"/>
                        </a:spcBef>
                        <a:spcAft>
                          <a:spcPts val="0"/>
                        </a:spcAft>
                        <a:buNone/>
                      </a:pPr>
                      <a:r>
                        <a:rPr lang="en-US" dirty="0"/>
                        <a:t>Priority</a:t>
                      </a:r>
                      <a:endParaRPr sz="1000" dirty="0"/>
                    </a:p>
                  </a:txBody>
                  <a:tcPr marL="91450" marR="91450" marT="45725" marB="45725"/>
                </a:tc>
                <a:tc>
                  <a:txBody>
                    <a:bodyPr/>
                    <a:lstStyle/>
                    <a:p>
                      <a:pPr marL="0" marR="0" lvl="0" indent="0" algn="l" rtl="0">
                        <a:spcBef>
                          <a:spcPts val="0"/>
                        </a:spcBef>
                        <a:spcAft>
                          <a:spcPts val="0"/>
                        </a:spcAft>
                        <a:buNone/>
                      </a:pPr>
                      <a:r>
                        <a:rPr lang="en-US" dirty="0"/>
                        <a:t>Owner</a:t>
                      </a:r>
                      <a:endParaRPr sz="1000" dirty="0"/>
                    </a:p>
                  </a:txBody>
                  <a:tcPr marL="91450" marR="91450" marT="45725" marB="45725"/>
                </a:tc>
                <a:tc>
                  <a:txBody>
                    <a:bodyPr/>
                    <a:lstStyle/>
                    <a:p>
                      <a:pPr marL="0" marR="0" lvl="0" indent="0" algn="l" rtl="0">
                        <a:spcBef>
                          <a:spcPts val="0"/>
                        </a:spcBef>
                        <a:spcAft>
                          <a:spcPts val="0"/>
                        </a:spcAft>
                        <a:buNone/>
                      </a:pPr>
                      <a:r>
                        <a:rPr lang="en-US" dirty="0"/>
                        <a:t>Mitigation strategies</a:t>
                      </a:r>
                      <a:endParaRPr sz="1000"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dirty="0"/>
                        <a:t>Biased outputs</a:t>
                      </a:r>
                      <a:endParaRPr sz="1000" dirty="0"/>
                    </a:p>
                  </a:txBody>
                  <a:tcPr marL="91450" marR="91450" marT="45725" marB="45725"/>
                </a:tc>
                <a:tc>
                  <a:txBody>
                    <a:bodyPr/>
                    <a:lstStyle/>
                    <a:p>
                      <a:pPr marL="0" marR="0" lvl="0" indent="0" algn="l" rtl="0">
                        <a:spcBef>
                          <a:spcPts val="0"/>
                        </a:spcBef>
                        <a:spcAft>
                          <a:spcPts val="0"/>
                        </a:spcAft>
                        <a:buNone/>
                      </a:pPr>
                      <a:r>
                        <a:rPr lang="en-US" dirty="0"/>
                        <a:t>Process</a:t>
                      </a:r>
                      <a:endParaRPr sz="1000" dirty="0"/>
                    </a:p>
                  </a:txBody>
                  <a:tcPr marL="91450" marR="91450" marT="45725" marB="45725"/>
                </a:tc>
                <a:tc>
                  <a:txBody>
                    <a:bodyPr/>
                    <a:lstStyle/>
                    <a:p>
                      <a:pPr marL="0" marR="0" lvl="0" indent="0" algn="l" rtl="0">
                        <a:spcBef>
                          <a:spcPts val="0"/>
                        </a:spcBef>
                        <a:spcAft>
                          <a:spcPts val="0"/>
                        </a:spcAft>
                        <a:buNone/>
                      </a:pPr>
                      <a:r>
                        <a:rPr lang="en-US" dirty="0"/>
                        <a:t>High</a:t>
                      </a:r>
                      <a:endParaRPr sz="1000" dirty="0"/>
                    </a:p>
                  </a:txBody>
                  <a:tcPr marL="91450" marR="91450" marT="45725" marB="45725"/>
                </a:tc>
                <a:tc>
                  <a:txBody>
                    <a:bodyPr/>
                    <a:lstStyle/>
                    <a:p>
                      <a:pPr marL="0" marR="0" lvl="0" indent="0" algn="l" rtl="0">
                        <a:spcBef>
                          <a:spcPts val="0"/>
                        </a:spcBef>
                        <a:spcAft>
                          <a:spcPts val="0"/>
                        </a:spcAft>
                        <a:buNone/>
                      </a:pPr>
                      <a:r>
                        <a:rPr lang="en-US" dirty="0"/>
                        <a:t>AI product owner</a:t>
                      </a:r>
                      <a:endParaRPr sz="1000" dirty="0"/>
                    </a:p>
                  </a:txBody>
                  <a:tcPr marL="91450" marR="91450" marT="45725" marB="45725"/>
                </a:tc>
                <a:tc>
                  <a:txBody>
                    <a:bodyPr/>
                    <a:lstStyle/>
                    <a:p>
                      <a:pPr marL="285750" marR="0" lvl="0" indent="-260350" algn="l" rtl="0">
                        <a:spcBef>
                          <a:spcPts val="0"/>
                        </a:spcBef>
                        <a:spcAft>
                          <a:spcPts val="0"/>
                        </a:spcAft>
                        <a:buClr>
                          <a:schemeClr val="dk1"/>
                        </a:buClr>
                        <a:buSzPts val="1400"/>
                        <a:buFont typeface="Arial"/>
                        <a:buChar char="•"/>
                      </a:pPr>
                      <a:r>
                        <a:rPr lang="en-US" dirty="0"/>
                        <a:t>Informing users: Provide notice to users of algorithmic or data bias.</a:t>
                      </a:r>
                      <a:endParaRPr sz="1000" dirty="0"/>
                    </a:p>
                    <a:p>
                      <a:pPr marL="285750" marR="0" lvl="0" indent="-260350" algn="l" rtl="0">
                        <a:spcBef>
                          <a:spcPts val="0"/>
                        </a:spcBef>
                        <a:spcAft>
                          <a:spcPts val="0"/>
                        </a:spcAft>
                        <a:buClr>
                          <a:schemeClr val="dk1"/>
                        </a:buClr>
                        <a:buSzPts val="1400"/>
                        <a:buFont typeface="Arial"/>
                        <a:buChar char="•"/>
                      </a:pPr>
                      <a:r>
                        <a:rPr lang="en-US" dirty="0"/>
                        <a:t>Testing: Rigorously test to understand if bias is applicable.</a:t>
                      </a:r>
                      <a:endParaRPr sz="1000" dirty="0"/>
                    </a:p>
                    <a:p>
                      <a:pPr marL="285750" marR="0" lvl="0" indent="-260350" algn="l" rtl="0">
                        <a:spcBef>
                          <a:spcPts val="0"/>
                        </a:spcBef>
                        <a:spcAft>
                          <a:spcPts val="0"/>
                        </a:spcAft>
                        <a:buClr>
                          <a:schemeClr val="dk1"/>
                        </a:buClr>
                        <a:buSzPts val="1400"/>
                        <a:buFont typeface="Arial"/>
                        <a:buChar char="•"/>
                      </a:pPr>
                      <a:r>
                        <a:rPr lang="en-US" dirty="0"/>
                        <a:t>Choosing appropriate GenAI solutions: Specifically review training data in internal solutions or ask vendors how models are trained.</a:t>
                      </a:r>
                      <a:endParaRPr sz="1000" dirty="0"/>
                    </a:p>
                    <a:p>
                      <a:pPr marL="285750" marR="0" lvl="0" indent="-260350" algn="l" rtl="0">
                        <a:spcBef>
                          <a:spcPts val="0"/>
                        </a:spcBef>
                        <a:spcAft>
                          <a:spcPts val="0"/>
                        </a:spcAft>
                        <a:buClr>
                          <a:schemeClr val="dk1"/>
                        </a:buClr>
                        <a:buSzPts val="1400"/>
                        <a:buFont typeface="Arial"/>
                        <a:buChar char="•"/>
                      </a:pPr>
                      <a:r>
                        <a:rPr lang="en-US" dirty="0"/>
                        <a:t>Continuous feedback loops: Establish feedback loop that pertains to bias incidents.</a:t>
                      </a:r>
                      <a:endParaRPr sz="1000"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dirty="0"/>
                        <a:t>Regulatory shifts</a:t>
                      </a:r>
                      <a:endParaRPr sz="1000" dirty="0"/>
                    </a:p>
                  </a:txBody>
                  <a:tcPr marL="91450" marR="91450" marT="45725" marB="45725"/>
                </a:tc>
                <a:tc>
                  <a:txBody>
                    <a:bodyPr/>
                    <a:lstStyle/>
                    <a:p>
                      <a:pPr marL="0" marR="0" lvl="0" indent="0" algn="l" rtl="0">
                        <a:spcBef>
                          <a:spcPts val="0"/>
                        </a:spcBef>
                        <a:spcAft>
                          <a:spcPts val="0"/>
                        </a:spcAft>
                        <a:buNone/>
                      </a:pPr>
                      <a:r>
                        <a:rPr lang="en-US" dirty="0"/>
                        <a:t>Other</a:t>
                      </a:r>
                      <a:endParaRPr sz="1000" dirty="0"/>
                    </a:p>
                  </a:txBody>
                  <a:tcPr marL="91450" marR="91450" marT="45725" marB="45725"/>
                </a:tc>
                <a:tc>
                  <a:txBody>
                    <a:bodyPr/>
                    <a:lstStyle/>
                    <a:p>
                      <a:pPr marL="0" marR="0" lvl="0" indent="0" algn="l" rtl="0">
                        <a:spcBef>
                          <a:spcPts val="0"/>
                        </a:spcBef>
                        <a:spcAft>
                          <a:spcPts val="0"/>
                        </a:spcAft>
                        <a:buNone/>
                      </a:pPr>
                      <a:r>
                        <a:rPr lang="en-US" dirty="0"/>
                        <a:t>Critical</a:t>
                      </a:r>
                      <a:endParaRPr sz="1000" dirty="0"/>
                    </a:p>
                  </a:txBody>
                  <a:tcPr marL="91450" marR="91450" marT="45725" marB="45725"/>
                </a:tc>
                <a:tc>
                  <a:txBody>
                    <a:bodyPr/>
                    <a:lstStyle/>
                    <a:p>
                      <a:pPr marL="0" marR="0" lvl="0" indent="0" algn="l" rtl="0">
                        <a:spcBef>
                          <a:spcPts val="0"/>
                        </a:spcBef>
                        <a:spcAft>
                          <a:spcPts val="0"/>
                        </a:spcAft>
                        <a:buNone/>
                      </a:pPr>
                      <a:r>
                        <a:rPr lang="en-US" dirty="0"/>
                        <a:t>Legal, compliance</a:t>
                      </a:r>
                      <a:endParaRPr sz="1000" dirty="0"/>
                    </a:p>
                  </a:txBody>
                  <a:tcPr marL="91450" marR="91450" marT="45725" marB="45725"/>
                </a:tc>
                <a:tc>
                  <a:txBody>
                    <a:bodyPr/>
                    <a:lstStyle/>
                    <a:p>
                      <a:pPr marL="285750" marR="0" lvl="0" indent="-260350" algn="l" rtl="0">
                        <a:spcBef>
                          <a:spcPts val="0"/>
                        </a:spcBef>
                        <a:spcAft>
                          <a:spcPts val="0"/>
                        </a:spcAft>
                        <a:buClr>
                          <a:schemeClr val="dk1"/>
                        </a:buClr>
                        <a:buSzPts val="1400"/>
                        <a:buFont typeface="Arial"/>
                        <a:buChar char="•"/>
                      </a:pPr>
                      <a:r>
                        <a:rPr lang="en-US" dirty="0"/>
                        <a:t>Designate responsibility: Assign clear accountability for regulatory compliance within the organization.</a:t>
                      </a:r>
                      <a:endParaRPr sz="1000" dirty="0"/>
                    </a:p>
                    <a:p>
                      <a:pPr marL="285750" marR="0" lvl="0" indent="-260350" algn="l" rtl="0">
                        <a:spcBef>
                          <a:spcPts val="0"/>
                        </a:spcBef>
                        <a:spcAft>
                          <a:spcPts val="0"/>
                        </a:spcAft>
                        <a:buClr>
                          <a:schemeClr val="dk1"/>
                        </a:buClr>
                        <a:buSzPts val="1400"/>
                        <a:buFont typeface="Arial"/>
                        <a:buChar char="•"/>
                      </a:pPr>
                      <a:r>
                        <a:rPr lang="en-US" dirty="0"/>
                        <a:t>Regulatory scanning and analysis: Establish processes for continually scanning the regulatory landscape for new developments.</a:t>
                      </a:r>
                      <a:endParaRPr sz="1000" dirty="0"/>
                    </a:p>
                    <a:p>
                      <a:pPr marL="285750" marR="0" lvl="0" indent="-260350" algn="l" rtl="0">
                        <a:spcBef>
                          <a:spcPts val="0"/>
                        </a:spcBef>
                        <a:spcAft>
                          <a:spcPts val="0"/>
                        </a:spcAft>
                        <a:buClr>
                          <a:schemeClr val="dk1"/>
                        </a:buClr>
                        <a:buSzPts val="1400"/>
                        <a:buFont typeface="Arial"/>
                        <a:buChar char="•"/>
                      </a:pPr>
                      <a:r>
                        <a:rPr lang="en-US" dirty="0"/>
                        <a:t>Continuous education and training: Implement ongoing education programs for staff to keep abreast of new regulations and understand their implications.</a:t>
                      </a:r>
                      <a:endParaRPr sz="1000" dirty="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dirty="0"/>
                        <a:t>Fear of AI</a:t>
                      </a:r>
                      <a:endParaRPr sz="1000" dirty="0"/>
                    </a:p>
                  </a:txBody>
                  <a:tcPr marL="91450" marR="91450" marT="45725" marB="45725"/>
                </a:tc>
                <a:tc>
                  <a:txBody>
                    <a:bodyPr/>
                    <a:lstStyle/>
                    <a:p>
                      <a:pPr marL="0" marR="0" lvl="0" indent="0" algn="l" rtl="0">
                        <a:spcBef>
                          <a:spcPts val="0"/>
                        </a:spcBef>
                        <a:spcAft>
                          <a:spcPts val="0"/>
                        </a:spcAft>
                        <a:buNone/>
                      </a:pPr>
                      <a:r>
                        <a:rPr lang="en-US" dirty="0"/>
                        <a:t>Human impact</a:t>
                      </a:r>
                      <a:endParaRPr sz="1000" dirty="0"/>
                    </a:p>
                  </a:txBody>
                  <a:tcPr marL="91450" marR="91450" marT="45725" marB="45725"/>
                </a:tc>
                <a:tc>
                  <a:txBody>
                    <a:bodyPr/>
                    <a:lstStyle/>
                    <a:p>
                      <a:pPr marL="0" marR="0" lvl="0" indent="0" algn="l" rtl="0">
                        <a:spcBef>
                          <a:spcPts val="0"/>
                        </a:spcBef>
                        <a:spcAft>
                          <a:spcPts val="0"/>
                        </a:spcAft>
                        <a:buNone/>
                      </a:pPr>
                      <a:r>
                        <a:rPr lang="en-US" dirty="0"/>
                        <a:t>High</a:t>
                      </a:r>
                      <a:endParaRPr sz="1000" dirty="0"/>
                    </a:p>
                  </a:txBody>
                  <a:tcPr marL="91450" marR="91450" marT="45725" marB="45725"/>
                </a:tc>
                <a:tc>
                  <a:txBody>
                    <a:bodyPr/>
                    <a:lstStyle/>
                    <a:p>
                      <a:pPr marL="0" marR="0" lvl="0" indent="0" algn="l" rtl="0">
                        <a:spcBef>
                          <a:spcPts val="0"/>
                        </a:spcBef>
                        <a:spcAft>
                          <a:spcPts val="0"/>
                        </a:spcAft>
                        <a:buNone/>
                      </a:pPr>
                      <a:r>
                        <a:rPr lang="en-US" dirty="0"/>
                        <a:t>HR</a:t>
                      </a:r>
                      <a:endParaRPr sz="1000" dirty="0"/>
                    </a:p>
                  </a:txBody>
                  <a:tcPr marL="91450" marR="91450" marT="45725" marB="45725"/>
                </a:tc>
                <a:tc>
                  <a:txBody>
                    <a:bodyPr/>
                    <a:lstStyle/>
                    <a:p>
                      <a:pPr marL="285750" marR="0" lvl="0" indent="-260350" algn="l" rtl="0">
                        <a:spcBef>
                          <a:spcPts val="0"/>
                        </a:spcBef>
                        <a:spcAft>
                          <a:spcPts val="0"/>
                        </a:spcAft>
                        <a:buClr>
                          <a:schemeClr val="dk1"/>
                        </a:buClr>
                        <a:buSzPts val="1400"/>
                        <a:buFont typeface="Arial"/>
                        <a:buChar char="•"/>
                      </a:pPr>
                      <a:r>
                        <a:rPr lang="en-US" dirty="0"/>
                        <a:t>Engagement and communication: Engage with all stakeholders about AI deployment. Keep employees informed about the role in the organization and support their transition to new roles.</a:t>
                      </a:r>
                      <a:endParaRPr sz="1000" dirty="0"/>
                    </a:p>
                    <a:p>
                      <a:pPr marL="285750" marR="0" lvl="0" indent="-260350" algn="l" rtl="0">
                        <a:spcBef>
                          <a:spcPts val="0"/>
                        </a:spcBef>
                        <a:spcAft>
                          <a:spcPts val="0"/>
                        </a:spcAft>
                        <a:buClr>
                          <a:schemeClr val="dk1"/>
                        </a:buClr>
                        <a:buSzPts val="1400"/>
                        <a:buFont typeface="Arial"/>
                        <a:buChar char="•"/>
                      </a:pPr>
                      <a:r>
                        <a:rPr lang="en-US" dirty="0"/>
                        <a:t>Reskilling and upskilling: Invest in training programs to equip employees with skills that complement AI, increasing adaptability and enhancing their ability to work with AI technologies.</a:t>
                      </a:r>
                      <a:endParaRPr sz="1000" dirty="0"/>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23"/>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Risk: Risk Assessment and Action Plan Template</a:t>
            </a:r>
          </a:p>
        </p:txBody>
      </p:sp>
      <p:graphicFrame>
        <p:nvGraphicFramePr>
          <p:cNvPr id="398" name="Google Shape;398;p23"/>
          <p:cNvGraphicFramePr/>
          <p:nvPr/>
        </p:nvGraphicFramePr>
        <p:xfrm>
          <a:off x="457200" y="1203960"/>
          <a:ext cx="11274525" cy="4518725"/>
        </p:xfrm>
        <a:graphic>
          <a:graphicData uri="http://schemas.openxmlformats.org/drawingml/2006/table">
            <a:tbl>
              <a:tblPr firstRow="1" bandRow="1">
                <a:noFill/>
              </a:tblPr>
              <a:tblGrid>
                <a:gridCol w="1600200">
                  <a:extLst>
                    <a:ext uri="{9D8B030D-6E8A-4147-A177-3AD203B41FA5}">
                      <a16:colId xmlns:a16="http://schemas.microsoft.com/office/drawing/2014/main" val="20000"/>
                    </a:ext>
                  </a:extLst>
                </a:gridCol>
                <a:gridCol w="1404250">
                  <a:extLst>
                    <a:ext uri="{9D8B030D-6E8A-4147-A177-3AD203B41FA5}">
                      <a16:colId xmlns:a16="http://schemas.microsoft.com/office/drawing/2014/main" val="20001"/>
                    </a:ext>
                  </a:extLst>
                </a:gridCol>
                <a:gridCol w="1081675">
                  <a:extLst>
                    <a:ext uri="{9D8B030D-6E8A-4147-A177-3AD203B41FA5}">
                      <a16:colId xmlns:a16="http://schemas.microsoft.com/office/drawing/2014/main" val="20002"/>
                    </a:ext>
                  </a:extLst>
                </a:gridCol>
                <a:gridCol w="1117225">
                  <a:extLst>
                    <a:ext uri="{9D8B030D-6E8A-4147-A177-3AD203B41FA5}">
                      <a16:colId xmlns:a16="http://schemas.microsoft.com/office/drawing/2014/main" val="20003"/>
                    </a:ext>
                  </a:extLst>
                </a:gridCol>
                <a:gridCol w="6071175">
                  <a:extLst>
                    <a:ext uri="{9D8B030D-6E8A-4147-A177-3AD203B41FA5}">
                      <a16:colId xmlns:a16="http://schemas.microsoft.com/office/drawing/2014/main" val="20004"/>
                    </a:ext>
                  </a:extLst>
                </a:gridCol>
              </a:tblGrid>
              <a:tr h="757275">
                <a:tc>
                  <a:txBody>
                    <a:bodyPr/>
                    <a:lstStyle/>
                    <a:p>
                      <a:pPr marL="0" marR="0" lvl="0" indent="0" algn="l" rtl="0">
                        <a:spcBef>
                          <a:spcPts val="0"/>
                        </a:spcBef>
                        <a:spcAft>
                          <a:spcPts val="0"/>
                        </a:spcAft>
                        <a:buNone/>
                      </a:pPr>
                      <a:r>
                        <a:rPr lang="en-US" sz="1800" dirty="0"/>
                        <a:t>Risk</a:t>
                      </a:r>
                      <a:endParaRPr dirty="0"/>
                    </a:p>
                  </a:txBody>
                  <a:tcPr marL="91450" marR="91450" marT="45725" marB="45725"/>
                </a:tc>
                <a:tc>
                  <a:txBody>
                    <a:bodyPr/>
                    <a:lstStyle/>
                    <a:p>
                      <a:pPr marL="0" marR="0" lvl="0" indent="0" algn="l" rtl="0">
                        <a:spcBef>
                          <a:spcPts val="0"/>
                        </a:spcBef>
                        <a:spcAft>
                          <a:spcPts val="0"/>
                        </a:spcAft>
                        <a:buNone/>
                      </a:pPr>
                      <a:r>
                        <a:rPr lang="en-US" sz="1800" dirty="0"/>
                        <a:t>Risk category</a:t>
                      </a:r>
                      <a:endParaRPr dirty="0"/>
                    </a:p>
                  </a:txBody>
                  <a:tcPr marL="91450" marR="91450" marT="45725" marB="45725"/>
                </a:tc>
                <a:tc>
                  <a:txBody>
                    <a:bodyPr/>
                    <a:lstStyle/>
                    <a:p>
                      <a:pPr marL="0" marR="0" lvl="0" indent="0" algn="l" rtl="0">
                        <a:spcBef>
                          <a:spcPts val="0"/>
                        </a:spcBef>
                        <a:spcAft>
                          <a:spcPts val="0"/>
                        </a:spcAft>
                        <a:buNone/>
                      </a:pPr>
                      <a:r>
                        <a:rPr lang="en-US" sz="1800" dirty="0"/>
                        <a:t>Priority</a:t>
                      </a:r>
                      <a:endParaRPr dirty="0"/>
                    </a:p>
                  </a:txBody>
                  <a:tcPr marL="91450" marR="91450" marT="45725" marB="45725"/>
                </a:tc>
                <a:tc>
                  <a:txBody>
                    <a:bodyPr/>
                    <a:lstStyle/>
                    <a:p>
                      <a:pPr marL="0" marR="0" lvl="0" indent="0" algn="l" rtl="0">
                        <a:spcBef>
                          <a:spcPts val="0"/>
                        </a:spcBef>
                        <a:spcAft>
                          <a:spcPts val="0"/>
                        </a:spcAft>
                        <a:buNone/>
                      </a:pPr>
                      <a:r>
                        <a:rPr lang="en-US" sz="1800" dirty="0"/>
                        <a:t>Owner</a:t>
                      </a:r>
                      <a:endParaRPr dirty="0"/>
                    </a:p>
                  </a:txBody>
                  <a:tcPr marL="91450" marR="91450" marT="45725" marB="45725"/>
                </a:tc>
                <a:tc>
                  <a:txBody>
                    <a:bodyPr/>
                    <a:lstStyle/>
                    <a:p>
                      <a:pPr marL="0" marR="0" lvl="0" indent="0" algn="l" rtl="0">
                        <a:spcBef>
                          <a:spcPts val="0"/>
                        </a:spcBef>
                        <a:spcAft>
                          <a:spcPts val="0"/>
                        </a:spcAft>
                        <a:buNone/>
                      </a:pPr>
                      <a:r>
                        <a:rPr lang="en-US" sz="1800" dirty="0"/>
                        <a:t>Mitigation strategies</a:t>
                      </a:r>
                      <a:endParaRPr dirty="0"/>
                    </a:p>
                  </a:txBody>
                  <a:tcPr marL="91450" marR="91450" marT="45725" marB="45725"/>
                </a:tc>
                <a:extLst>
                  <a:ext uri="{0D108BD9-81ED-4DB2-BD59-A6C34878D82A}">
                    <a16:rowId xmlns:a16="http://schemas.microsoft.com/office/drawing/2014/main" val="10000"/>
                  </a:ext>
                </a:extLst>
              </a:tr>
              <a:tr h="537350">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285750" marR="0" lvl="0" indent="-171450" algn="l" rtl="0">
                        <a:spcBef>
                          <a:spcPts val="0"/>
                        </a:spcBef>
                        <a:spcAft>
                          <a:spcPts val="0"/>
                        </a:spcAft>
                        <a:buClr>
                          <a:schemeClr val="dk1"/>
                        </a:buClr>
                        <a:buSzPts val="1800"/>
                        <a:buFont typeface="Arial"/>
                        <a:buNone/>
                      </a:pPr>
                      <a:endParaRPr sz="1800" dirty="0"/>
                    </a:p>
                  </a:txBody>
                  <a:tcPr marL="91450" marR="91450" marT="45725" marB="45725"/>
                </a:tc>
                <a:extLst>
                  <a:ext uri="{0D108BD9-81ED-4DB2-BD59-A6C34878D82A}">
                    <a16:rowId xmlns:a16="http://schemas.microsoft.com/office/drawing/2014/main" val="10001"/>
                  </a:ext>
                </a:extLst>
              </a:tr>
              <a:tr h="537350">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285750" marR="0" lvl="0" indent="-171450" algn="l" rtl="0">
                        <a:spcBef>
                          <a:spcPts val="0"/>
                        </a:spcBef>
                        <a:spcAft>
                          <a:spcPts val="0"/>
                        </a:spcAft>
                        <a:buClr>
                          <a:schemeClr val="dk1"/>
                        </a:buClr>
                        <a:buSzPts val="1800"/>
                        <a:buFont typeface="Arial"/>
                        <a:buNone/>
                      </a:pPr>
                      <a:endParaRPr sz="1800" dirty="0"/>
                    </a:p>
                  </a:txBody>
                  <a:tcPr marL="91450" marR="91450" marT="45725" marB="45725"/>
                </a:tc>
                <a:extLst>
                  <a:ext uri="{0D108BD9-81ED-4DB2-BD59-A6C34878D82A}">
                    <a16:rowId xmlns:a16="http://schemas.microsoft.com/office/drawing/2014/main" val="10002"/>
                  </a:ext>
                </a:extLst>
              </a:tr>
              <a:tr h="537350">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285750" marR="0" lvl="0" indent="-171450" algn="l" rtl="0">
                        <a:spcBef>
                          <a:spcPts val="0"/>
                        </a:spcBef>
                        <a:spcAft>
                          <a:spcPts val="0"/>
                        </a:spcAft>
                        <a:buClr>
                          <a:schemeClr val="dk1"/>
                        </a:buClr>
                        <a:buSzPts val="1800"/>
                        <a:buFont typeface="Arial"/>
                        <a:buNone/>
                      </a:pPr>
                      <a:endParaRPr sz="1800" dirty="0"/>
                    </a:p>
                  </a:txBody>
                  <a:tcPr marL="91450" marR="91450" marT="45725" marB="45725"/>
                </a:tc>
                <a:extLst>
                  <a:ext uri="{0D108BD9-81ED-4DB2-BD59-A6C34878D82A}">
                    <a16:rowId xmlns:a16="http://schemas.microsoft.com/office/drawing/2014/main" val="10003"/>
                  </a:ext>
                </a:extLst>
              </a:tr>
              <a:tr h="537350">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285750" marR="0" lvl="0" indent="-171450" algn="l" rtl="0">
                        <a:spcBef>
                          <a:spcPts val="0"/>
                        </a:spcBef>
                        <a:spcAft>
                          <a:spcPts val="0"/>
                        </a:spcAft>
                        <a:buClr>
                          <a:schemeClr val="dk1"/>
                        </a:buClr>
                        <a:buSzPts val="1800"/>
                        <a:buFont typeface="Arial"/>
                        <a:buNone/>
                      </a:pPr>
                      <a:endParaRPr sz="1800" dirty="0"/>
                    </a:p>
                  </a:txBody>
                  <a:tcPr marL="91450" marR="91450" marT="45725" marB="45725"/>
                </a:tc>
                <a:extLst>
                  <a:ext uri="{0D108BD9-81ED-4DB2-BD59-A6C34878D82A}">
                    <a16:rowId xmlns:a16="http://schemas.microsoft.com/office/drawing/2014/main" val="10004"/>
                  </a:ext>
                </a:extLst>
              </a:tr>
              <a:tr h="537350">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285750" marR="0" lvl="0" indent="-171450" algn="l" rtl="0">
                        <a:spcBef>
                          <a:spcPts val="0"/>
                        </a:spcBef>
                        <a:spcAft>
                          <a:spcPts val="0"/>
                        </a:spcAft>
                        <a:buClr>
                          <a:schemeClr val="dk1"/>
                        </a:buClr>
                        <a:buSzPts val="1800"/>
                        <a:buFont typeface="Arial"/>
                        <a:buNone/>
                      </a:pPr>
                      <a:endParaRPr sz="1800" dirty="0"/>
                    </a:p>
                  </a:txBody>
                  <a:tcPr marL="91450" marR="91450" marT="45725" marB="45725"/>
                </a:tc>
                <a:extLst>
                  <a:ext uri="{0D108BD9-81ED-4DB2-BD59-A6C34878D82A}">
                    <a16:rowId xmlns:a16="http://schemas.microsoft.com/office/drawing/2014/main" val="10005"/>
                  </a:ext>
                </a:extLst>
              </a:tr>
              <a:tr h="537350">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285750" marR="0" lvl="0" indent="-171450" algn="l" rtl="0">
                        <a:spcBef>
                          <a:spcPts val="0"/>
                        </a:spcBef>
                        <a:spcAft>
                          <a:spcPts val="0"/>
                        </a:spcAft>
                        <a:buNone/>
                      </a:pPr>
                      <a:endParaRPr sz="1800" dirty="0"/>
                    </a:p>
                  </a:txBody>
                  <a:tcPr marL="91450" marR="91450" marT="45725" marB="45725"/>
                </a:tc>
                <a:extLst>
                  <a:ext uri="{0D108BD9-81ED-4DB2-BD59-A6C34878D82A}">
                    <a16:rowId xmlns:a16="http://schemas.microsoft.com/office/drawing/2014/main" val="10006"/>
                  </a:ext>
                </a:extLst>
              </a:tr>
              <a:tr h="537350">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285750" marR="0" lvl="0" indent="-171450" algn="l" rtl="0">
                        <a:spcBef>
                          <a:spcPts val="0"/>
                        </a:spcBef>
                        <a:spcAft>
                          <a:spcPts val="0"/>
                        </a:spcAft>
                        <a:buNone/>
                      </a:pPr>
                      <a:endParaRPr sz="1800" dirty="0"/>
                    </a:p>
                  </a:txBody>
                  <a:tcPr marL="91450" marR="91450" marT="45725" marB="45725"/>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24"/>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Adoption: Overview of Activities</a:t>
            </a:r>
          </a:p>
        </p:txBody>
      </p:sp>
      <p:sp>
        <p:nvSpPr>
          <p:cNvPr id="404" name="Google Shape;404;p24"/>
          <p:cNvSpPr txBox="1">
            <a:spLocks noGrp="1"/>
          </p:cNvSpPr>
          <p:nvPr>
            <p:ph type="body" idx="1"/>
          </p:nvPr>
        </p:nvSpPr>
        <p:spPr>
          <a:xfrm>
            <a:off x="5935331" y="1022168"/>
            <a:ext cx="5469848" cy="4813663"/>
          </a:xfrm>
          <a:prstGeom prst="rect">
            <a:avLst/>
          </a:prstGeom>
          <a:noFill/>
          <a:ln>
            <a:noFill/>
          </a:ln>
        </p:spPr>
        <p:txBody>
          <a:bodyPr spcFirstLastPara="1" wrap="square" lIns="0" tIns="0" rIns="0" bIns="0" anchor="t" anchorCtr="0">
            <a:noAutofit/>
          </a:bodyPr>
          <a:lstStyle/>
          <a:p>
            <a:pPr marL="457200" lvl="0" indent="-355600" algn="l" rtl="0">
              <a:lnSpc>
                <a:spcPct val="90000"/>
              </a:lnSpc>
              <a:spcBef>
                <a:spcPts val="0"/>
              </a:spcBef>
              <a:spcAft>
                <a:spcPts val="0"/>
              </a:spcAft>
              <a:buSzPts val="2000"/>
              <a:buAutoNum type="arabicPeriod"/>
            </a:pPr>
            <a:r>
              <a:rPr lang="en-US" dirty="0"/>
              <a:t>Form an </a:t>
            </a:r>
            <a:r>
              <a:rPr lang="en-US" b="1" dirty="0"/>
              <a:t>HR-focused AI fusion team.</a:t>
            </a:r>
            <a:endParaRPr lang="en-US" dirty="0"/>
          </a:p>
          <a:p>
            <a:pPr marL="457200" lvl="0" indent="-355600" algn="l" rtl="0">
              <a:lnSpc>
                <a:spcPct val="90000"/>
              </a:lnSpc>
              <a:spcBef>
                <a:spcPts val="0"/>
              </a:spcBef>
              <a:spcAft>
                <a:spcPts val="0"/>
              </a:spcAft>
              <a:buSzPts val="2000"/>
              <a:buAutoNum type="arabicPeriod"/>
            </a:pPr>
            <a:r>
              <a:rPr lang="en-US" dirty="0"/>
              <a:t>Recognize your </a:t>
            </a:r>
            <a:r>
              <a:rPr lang="en-US" b="1" dirty="0"/>
              <a:t>adoption stage.</a:t>
            </a:r>
            <a:endParaRPr lang="en-US" dirty="0"/>
          </a:p>
          <a:p>
            <a:pPr marL="457200" lvl="0" indent="-355600" algn="l" rtl="0">
              <a:lnSpc>
                <a:spcPct val="90000"/>
              </a:lnSpc>
              <a:spcBef>
                <a:spcPts val="0"/>
              </a:spcBef>
              <a:spcAft>
                <a:spcPts val="0"/>
              </a:spcAft>
              <a:buSzPts val="2000"/>
              <a:buAutoNum type="arabicPeriod"/>
            </a:pPr>
            <a:r>
              <a:rPr lang="en-US" dirty="0"/>
              <a:t>Define AI’s </a:t>
            </a:r>
            <a:r>
              <a:rPr lang="en-US" b="1" dirty="0"/>
              <a:t>impact</a:t>
            </a:r>
            <a:r>
              <a:rPr lang="en-US" dirty="0"/>
              <a:t> on the HR function.</a:t>
            </a:r>
          </a:p>
          <a:p>
            <a:pPr marL="457200" lvl="0" indent="-355600" algn="l" rtl="0">
              <a:lnSpc>
                <a:spcPct val="90000"/>
              </a:lnSpc>
              <a:spcBef>
                <a:spcPts val="0"/>
              </a:spcBef>
              <a:spcAft>
                <a:spcPts val="0"/>
              </a:spcAft>
              <a:buSzPts val="2000"/>
              <a:buAutoNum type="arabicPeriod"/>
            </a:pPr>
            <a:r>
              <a:rPr lang="en-US" dirty="0"/>
              <a:t>Plan for building HR’s </a:t>
            </a:r>
            <a:r>
              <a:rPr lang="en-US" b="1" dirty="0"/>
              <a:t>AI literacy </a:t>
            </a:r>
            <a:r>
              <a:rPr lang="en-US" dirty="0"/>
              <a:t>and </a:t>
            </a:r>
            <a:r>
              <a:rPr lang="en-US" b="1" dirty="0"/>
              <a:t>digital skills.</a:t>
            </a:r>
            <a:endParaRPr lang="en-US" dirty="0"/>
          </a:p>
        </p:txBody>
      </p:sp>
      <p:grpSp>
        <p:nvGrpSpPr>
          <p:cNvPr id="405" name="Google Shape;405;p24"/>
          <p:cNvGrpSpPr/>
          <p:nvPr/>
        </p:nvGrpSpPr>
        <p:grpSpPr>
          <a:xfrm>
            <a:off x="457191" y="1022138"/>
            <a:ext cx="4987449" cy="4928216"/>
            <a:chOff x="457200" y="1514828"/>
            <a:chExt cx="4140336" cy="4091164"/>
          </a:xfrm>
        </p:grpSpPr>
        <p:grpSp>
          <p:nvGrpSpPr>
            <p:cNvPr id="406" name="Google Shape;406;p24"/>
            <p:cNvGrpSpPr/>
            <p:nvPr/>
          </p:nvGrpSpPr>
          <p:grpSpPr>
            <a:xfrm>
              <a:off x="489267" y="1517805"/>
              <a:ext cx="4096527" cy="4088187"/>
              <a:chOff x="1560285" y="1414704"/>
              <a:chExt cx="1244691" cy="1242157"/>
            </a:xfrm>
          </p:grpSpPr>
          <p:sp>
            <p:nvSpPr>
              <p:cNvPr id="407" name="Google Shape;407;p24"/>
              <p:cNvSpPr/>
              <p:nvPr/>
            </p:nvSpPr>
            <p:spPr>
              <a:xfrm>
                <a:off x="1592953" y="2043130"/>
                <a:ext cx="584671" cy="613731"/>
              </a:xfrm>
              <a:custGeom>
                <a:avLst/>
                <a:gdLst/>
                <a:ahLst/>
                <a:cxnLst/>
                <a:rect l="l" t="t" r="r" b="b"/>
                <a:pathLst>
                  <a:path w="584671" h="613731" extrusionOk="0">
                    <a:moveTo>
                      <a:pt x="0" y="188767"/>
                    </a:moveTo>
                    <a:cubicBezTo>
                      <a:pt x="84611" y="442038"/>
                      <a:pt x="322282" y="611834"/>
                      <a:pt x="584672" y="613731"/>
                    </a:cubicBezTo>
                    <a:lnTo>
                      <a:pt x="584672" y="0"/>
                    </a:lnTo>
                    <a:cubicBezTo>
                      <a:pt x="584672" y="0"/>
                      <a:pt x="0" y="189716"/>
                      <a:pt x="0" y="189716"/>
                    </a:cubicBez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dirty="0">
                  <a:solidFill>
                    <a:srgbClr val="000000"/>
                  </a:solidFill>
                  <a:ea typeface="Arial"/>
                  <a:cs typeface="Arial"/>
                  <a:sym typeface="Arial"/>
                </a:endParaRPr>
              </a:p>
            </p:txBody>
          </p:sp>
          <p:sp>
            <p:nvSpPr>
              <p:cNvPr id="408" name="Google Shape;408;p24"/>
              <p:cNvSpPr/>
              <p:nvPr/>
            </p:nvSpPr>
            <p:spPr>
              <a:xfrm>
                <a:off x="1821117" y="1414704"/>
                <a:ext cx="723471" cy="613248"/>
              </a:xfrm>
              <a:custGeom>
                <a:avLst/>
                <a:gdLst/>
                <a:ahLst/>
                <a:cxnLst/>
                <a:rect l="l" t="t" r="r" b="b"/>
                <a:pathLst>
                  <a:path w="723471" h="613248" extrusionOk="0">
                    <a:moveTo>
                      <a:pt x="723472" y="116192"/>
                    </a:moveTo>
                    <a:cubicBezTo>
                      <a:pt x="586573" y="18489"/>
                      <a:pt x="410696" y="-24198"/>
                      <a:pt x="232918" y="13746"/>
                    </a:cubicBezTo>
                    <a:cubicBezTo>
                      <a:pt x="146406" y="31769"/>
                      <a:pt x="67499" y="67815"/>
                      <a:pt x="0" y="116192"/>
                    </a:cubicBezTo>
                    <a:lnTo>
                      <a:pt x="361261" y="613248"/>
                    </a:lnTo>
                    <a:lnTo>
                      <a:pt x="723472" y="117141"/>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409" name="Google Shape;409;p24"/>
              <p:cNvSpPr/>
              <p:nvPr/>
            </p:nvSpPr>
            <p:spPr>
              <a:xfrm>
                <a:off x="2190934" y="1536588"/>
                <a:ext cx="614042" cy="686772"/>
              </a:xfrm>
              <a:custGeom>
                <a:avLst/>
                <a:gdLst/>
                <a:ahLst/>
                <a:cxnLst/>
                <a:rect l="l" t="t" r="r" b="b"/>
                <a:pathLst>
                  <a:path w="614042" h="686772" extrusionOk="0">
                    <a:moveTo>
                      <a:pt x="584672" y="686772"/>
                    </a:moveTo>
                    <a:cubicBezTo>
                      <a:pt x="616044" y="588120"/>
                      <a:pt x="623650" y="479982"/>
                      <a:pt x="600833" y="370895"/>
                    </a:cubicBezTo>
                    <a:cubicBezTo>
                      <a:pt x="568510" y="216276"/>
                      <a:pt x="480096" y="87269"/>
                      <a:pt x="362211" y="0"/>
                    </a:cubicBezTo>
                    <a:lnTo>
                      <a:pt x="0" y="496107"/>
                    </a:lnTo>
                    <a:lnTo>
                      <a:pt x="584672" y="685824"/>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410" name="Google Shape;410;p24"/>
              <p:cNvSpPr/>
              <p:nvPr/>
            </p:nvSpPr>
            <p:spPr>
              <a:xfrm>
                <a:off x="1560285" y="1536588"/>
                <a:ext cx="614487" cy="686772"/>
              </a:xfrm>
              <a:custGeom>
                <a:avLst/>
                <a:gdLst/>
                <a:ahLst/>
                <a:cxnLst/>
                <a:rect l="l" t="t" r="r" b="b"/>
                <a:pathLst>
                  <a:path w="614487" h="686772" extrusionOk="0">
                    <a:moveTo>
                      <a:pt x="253226" y="0"/>
                    </a:moveTo>
                    <a:cubicBezTo>
                      <a:pt x="63089" y="140390"/>
                      <a:pt x="-38634" y="382278"/>
                      <a:pt x="13654" y="627960"/>
                    </a:cubicBezTo>
                    <a:cubicBezTo>
                      <a:pt x="17456" y="647880"/>
                      <a:pt x="23161" y="667801"/>
                      <a:pt x="28865" y="686772"/>
                    </a:cubicBezTo>
                    <a:lnTo>
                      <a:pt x="614487" y="497056"/>
                    </a:lnTo>
                    <a:lnTo>
                      <a:pt x="253226" y="0"/>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411" name="Google Shape;411;p24"/>
              <p:cNvSpPr/>
              <p:nvPr/>
            </p:nvSpPr>
            <p:spPr>
              <a:xfrm>
                <a:off x="2187131" y="2043130"/>
                <a:ext cx="585622" cy="613731"/>
              </a:xfrm>
              <a:custGeom>
                <a:avLst/>
                <a:gdLst/>
                <a:ahLst/>
                <a:cxnLst/>
                <a:rect l="l" t="t" r="r" b="b"/>
                <a:pathLst>
                  <a:path w="585622" h="613731" extrusionOk="0">
                    <a:moveTo>
                      <a:pt x="0" y="613731"/>
                    </a:moveTo>
                    <a:cubicBezTo>
                      <a:pt x="40880" y="613731"/>
                      <a:pt x="82710" y="608989"/>
                      <a:pt x="124540" y="600451"/>
                    </a:cubicBezTo>
                    <a:cubicBezTo>
                      <a:pt x="347951" y="553022"/>
                      <a:pt x="518124" y="391764"/>
                      <a:pt x="585622" y="189716"/>
                    </a:cubicBezTo>
                    <a:lnTo>
                      <a:pt x="951" y="0"/>
                    </a:lnTo>
                    <a:lnTo>
                      <a:pt x="951" y="613731"/>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grpSp>
        <p:sp>
          <p:nvSpPr>
            <p:cNvPr id="412" name="Google Shape;412;p24"/>
            <p:cNvSpPr/>
            <p:nvPr/>
          </p:nvSpPr>
          <p:spPr>
            <a:xfrm rot="10800000">
              <a:off x="1608000" y="2774959"/>
              <a:ext cx="1858800" cy="1763400"/>
            </a:xfrm>
            <a:prstGeom prst="pentagon">
              <a:avLst>
                <a:gd name="hf" fmla="val 105146"/>
                <a:gd name="vf" fmla="val 110557"/>
              </a:avLst>
            </a:prstGeom>
            <a:solidFill>
              <a:srgbClr val="002856"/>
            </a:solidFill>
            <a:ln w="44450" cap="flat" cmpd="sng">
              <a:solidFill>
                <a:srgbClr val="FFFFFF"/>
              </a:solidFill>
              <a:prstDash val="solid"/>
              <a:round/>
              <a:headEnd type="none" w="sm" len="sm"/>
              <a:tailEnd type="none" w="sm" len="sm"/>
            </a:ln>
          </p:spPr>
          <p:txBody>
            <a:bodyPr spcFirstLastPara="1" wrap="square" lIns="0" tIns="91425" rIns="0" bIns="313000" anchor="ctr" anchorCtr="0">
              <a:noAutofit/>
            </a:bodyPr>
            <a:lstStyle/>
            <a:p>
              <a:pPr marL="0" marR="0" lvl="0" indent="0" algn="ctr" rtl="0">
                <a:lnSpc>
                  <a:spcPct val="90000"/>
                </a:lnSpc>
                <a:spcBef>
                  <a:spcPts val="0"/>
                </a:spcBef>
                <a:spcAft>
                  <a:spcPts val="0"/>
                </a:spcAft>
                <a:buNone/>
              </a:pPr>
              <a:endParaRPr sz="2800" b="1" i="0" u="none" strike="noStrike" cap="none" dirty="0">
                <a:solidFill>
                  <a:srgbClr val="FFFFFF"/>
                </a:solidFill>
                <a:ea typeface="Arial"/>
                <a:cs typeface="Arial"/>
                <a:sym typeface="Arial"/>
              </a:endParaRPr>
            </a:p>
          </p:txBody>
        </p:sp>
        <p:sp>
          <p:nvSpPr>
            <p:cNvPr id="413" name="Google Shape;413;p24"/>
            <p:cNvSpPr txBox="1"/>
            <p:nvPr/>
          </p:nvSpPr>
          <p:spPr>
            <a:xfrm>
              <a:off x="1756548" y="3273223"/>
              <a:ext cx="1560300" cy="628499"/>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2400"/>
                <a:buFont typeface="Arial"/>
                <a:buNone/>
              </a:pPr>
              <a:r>
                <a:rPr lang="en-US" sz="2400" b="1" i="0" u="none" strike="noStrike" cap="none" dirty="0">
                  <a:solidFill>
                    <a:srgbClr val="FFFFFF"/>
                  </a:solidFill>
                  <a:ea typeface="Arial"/>
                  <a:cs typeface="Arial"/>
                  <a:sym typeface="Arial"/>
                </a:rPr>
                <a:t>HR-focused </a:t>
              </a:r>
              <a:br>
                <a:rPr lang="en-US" sz="2400" b="1" i="0" u="none" strike="noStrike" cap="none" dirty="0">
                  <a:solidFill>
                    <a:srgbClr val="FFFFFF"/>
                  </a:solidFill>
                  <a:ea typeface="Arial"/>
                  <a:cs typeface="Arial"/>
                  <a:sym typeface="Arial"/>
                </a:rPr>
              </a:br>
              <a:r>
                <a:rPr lang="en-US" sz="2400" b="1" i="0" u="none" strike="noStrike" cap="none" dirty="0">
                  <a:solidFill>
                    <a:srgbClr val="FFFFFF"/>
                  </a:solidFill>
                  <a:ea typeface="Arial"/>
                  <a:cs typeface="Arial"/>
                  <a:sym typeface="Arial"/>
                </a:rPr>
                <a:t>AI strategy</a:t>
              </a:r>
              <a:endParaRPr lang="en-US" dirty="0"/>
            </a:p>
          </p:txBody>
        </p:sp>
        <p:sp>
          <p:nvSpPr>
            <p:cNvPr id="414" name="Google Shape;414;p24"/>
            <p:cNvSpPr/>
            <p:nvPr/>
          </p:nvSpPr>
          <p:spPr>
            <a:xfrm>
              <a:off x="1874536" y="1514828"/>
              <a:ext cx="1326000" cy="1229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Vision</a:t>
              </a:r>
              <a:endParaRPr lang="en-US" dirty="0"/>
            </a:p>
          </p:txBody>
        </p:sp>
        <p:sp>
          <p:nvSpPr>
            <p:cNvPr id="415" name="Google Shape;415;p24"/>
            <p:cNvSpPr/>
            <p:nvPr/>
          </p:nvSpPr>
          <p:spPr>
            <a:xfrm>
              <a:off x="3157236" y="2428586"/>
              <a:ext cx="1440300" cy="132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Value</a:t>
              </a:r>
              <a:endParaRPr lang="en-US" dirty="0"/>
            </a:p>
          </p:txBody>
        </p:sp>
        <p:sp>
          <p:nvSpPr>
            <p:cNvPr id="416" name="Google Shape;416;p24"/>
            <p:cNvSpPr/>
            <p:nvPr/>
          </p:nvSpPr>
          <p:spPr>
            <a:xfrm>
              <a:off x="457200" y="2426402"/>
              <a:ext cx="1470600" cy="1330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Alignment</a:t>
              </a:r>
              <a:endParaRPr lang="en-US" dirty="0"/>
            </a:p>
          </p:txBody>
        </p:sp>
        <p:sp>
          <p:nvSpPr>
            <p:cNvPr id="417" name="Google Shape;417;p24"/>
            <p:cNvSpPr/>
            <p:nvPr/>
          </p:nvSpPr>
          <p:spPr>
            <a:xfrm>
              <a:off x="2537476"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Risk</a:t>
              </a:r>
              <a:endParaRPr lang="en-US" dirty="0"/>
            </a:p>
          </p:txBody>
        </p:sp>
        <p:sp>
          <p:nvSpPr>
            <p:cNvPr id="418" name="Google Shape;418;p24"/>
            <p:cNvSpPr/>
            <p:nvPr/>
          </p:nvSpPr>
          <p:spPr>
            <a:xfrm>
              <a:off x="811049"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ea typeface="Arial"/>
                  <a:cs typeface="Arial"/>
                  <a:sym typeface="Arial"/>
                </a:rPr>
                <a:t>Adoption</a:t>
              </a:r>
              <a:endParaRPr lang="en-US" dirty="0"/>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25"/>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Adoption: Form an HR-Focused AI Fusion Team</a:t>
            </a:r>
          </a:p>
        </p:txBody>
      </p:sp>
      <p:sp>
        <p:nvSpPr>
          <p:cNvPr id="424" name="Google Shape;424;p25"/>
          <p:cNvSpPr txBox="1">
            <a:spLocks noGrp="1"/>
          </p:cNvSpPr>
          <p:nvPr>
            <p:ph type="body" idx="1"/>
          </p:nvPr>
        </p:nvSpPr>
        <p:spPr>
          <a:xfrm>
            <a:off x="457200" y="1197864"/>
            <a:ext cx="11274552" cy="4462272"/>
          </a:xfrm>
          <a:prstGeom prst="rect">
            <a:avLst/>
          </a:prstGeom>
          <a:noFill/>
          <a:ln>
            <a:noFill/>
          </a:ln>
        </p:spPr>
        <p:txBody>
          <a:bodyPr spcFirstLastPara="1" wrap="square" lIns="0" tIns="0" rIns="0" bIns="0" anchor="t" anchorCtr="0">
            <a:noAutofit/>
          </a:bodyPr>
          <a:lstStyle/>
          <a:p>
            <a:pPr marL="342900">
              <a:spcBef>
                <a:spcPts val="0"/>
              </a:spcBef>
              <a:buSzPts val="2400"/>
            </a:pPr>
            <a:r>
              <a:rPr lang="en-US" dirty="0"/>
              <a:t>The </a:t>
            </a:r>
            <a:r>
              <a:rPr lang="en-US" b="1" dirty="0"/>
              <a:t>fusion team</a:t>
            </a:r>
            <a:r>
              <a:rPr lang="en-US" dirty="0"/>
              <a:t> within HR helps to </a:t>
            </a:r>
            <a:r>
              <a:rPr lang="en-US" dirty="0">
                <a:highlight>
                  <a:schemeClr val="lt1"/>
                </a:highlight>
              </a:rPr>
              <a:t>propel </a:t>
            </a:r>
            <a:r>
              <a:rPr lang="en-US" dirty="0"/>
              <a:t>the program forward, effectively leveraging AI to </a:t>
            </a:r>
            <a:r>
              <a:rPr lang="en-US" dirty="0">
                <a:highlight>
                  <a:schemeClr val="lt1"/>
                </a:highligh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57"/>
                  </a:ext>
                </a:extLst>
              </a:rPr>
              <a:t>drive</a:t>
            </a:r>
            <a:r>
              <a:rPr lang="en-US" dirty="0">
                <a:highlight>
                  <a:schemeClr val="lt1"/>
                </a:highlight>
              </a:rPr>
              <a:t> </a:t>
            </a:r>
            <a:r>
              <a:rPr lang="en-US" dirty="0"/>
              <a:t>the right priorities and business value, while managing risks. Beyond an identified AI program leader, it typically includes representation across the HR functions and IT as well as tangential relationships with legal, compliance and internal communication.</a:t>
            </a:r>
          </a:p>
          <a:p>
            <a:pPr marL="342900">
              <a:buSzPts val="2400"/>
            </a:pPr>
            <a:r>
              <a:rPr lang="en-US" dirty="0"/>
              <a:t>Roles and responsibilities include:</a:t>
            </a:r>
          </a:p>
          <a:p>
            <a:pPr marL="685800" lvl="1" indent="-355600" algn="l" rtl="0">
              <a:lnSpc>
                <a:spcPct val="90000"/>
              </a:lnSpc>
              <a:spcBef>
                <a:spcPts val="1200"/>
              </a:spcBef>
              <a:spcAft>
                <a:spcPts val="0"/>
              </a:spcAft>
              <a:buClr>
                <a:schemeClr val="dk1"/>
              </a:buClr>
              <a:buSzPts val="2000"/>
              <a:buFont typeface="Arial" panose="020B0604020202020204" pitchFamily="34" charset="0"/>
              <a:buChar char="—"/>
            </a:pPr>
            <a:r>
              <a:rPr lang="en-US" dirty="0"/>
              <a:t>Sponsor: C-level, applies budget to effort.</a:t>
            </a:r>
          </a:p>
          <a:p>
            <a:pPr marL="685800" lvl="1" indent="-355600" algn="l" rtl="0">
              <a:lnSpc>
                <a:spcPct val="90000"/>
              </a:lnSpc>
              <a:spcBef>
                <a:spcPts val="1200"/>
              </a:spcBef>
              <a:spcAft>
                <a:spcPts val="0"/>
              </a:spcAft>
              <a:buClr>
                <a:schemeClr val="dk1"/>
              </a:buClr>
              <a:buSzPts val="2000"/>
              <a:buFont typeface="Arial" panose="020B0604020202020204" pitchFamily="34" charset="0"/>
              <a:buChar char="—"/>
            </a:pPr>
            <a:r>
              <a:rPr lang="en-US" dirty="0"/>
              <a:t>Leadership: Evangelize, set priorities.</a:t>
            </a:r>
          </a:p>
          <a:p>
            <a:pPr marL="685800" lvl="1" indent="-355600" algn="l" rtl="0">
              <a:lnSpc>
                <a:spcPct val="90000"/>
              </a:lnSpc>
              <a:spcBef>
                <a:spcPts val="1200"/>
              </a:spcBef>
              <a:spcAft>
                <a:spcPts val="0"/>
              </a:spcAft>
              <a:buClr>
                <a:schemeClr val="dk1"/>
              </a:buClr>
              <a:buSzPts val="2000"/>
              <a:buFont typeface="Arial" panose="020B0604020202020204" pitchFamily="34" charset="0"/>
              <a:buChar char="—"/>
            </a:pPr>
            <a:r>
              <a:rPr lang="en-US" dirty="0"/>
              <a:t>Member roles: Representation from each HR subfunction and IT, ensuring they have strength in HR transformation. Avoid novices or less committed workers.</a:t>
            </a:r>
          </a:p>
          <a:p>
            <a:pPr marL="685800" lvl="1" indent="-355600" algn="l" rtl="0">
              <a:lnSpc>
                <a:spcPct val="90000"/>
              </a:lnSpc>
              <a:spcBef>
                <a:spcPts val="1200"/>
              </a:spcBef>
              <a:spcAft>
                <a:spcPts val="0"/>
              </a:spcAft>
              <a:buClr>
                <a:schemeClr val="dk1"/>
              </a:buClr>
              <a:buSzPts val="2000"/>
              <a:buFont typeface="Arial" panose="020B0604020202020204" pitchFamily="34" charset="0"/>
              <a:buChar char="—"/>
            </a:pPr>
            <a:r>
              <a:rPr lang="en-US" dirty="0"/>
              <a:t>Tangential roles: Legal, compliance and internal communication.</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26"/>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Adoption: Recognize Your Adoption Phase</a:t>
            </a:r>
          </a:p>
        </p:txBody>
      </p:sp>
      <p:sp>
        <p:nvSpPr>
          <p:cNvPr id="430" name="Google Shape;430;p26"/>
          <p:cNvSpPr txBox="1"/>
          <p:nvPr/>
        </p:nvSpPr>
        <p:spPr>
          <a:xfrm>
            <a:off x="409778" y="1200739"/>
            <a:ext cx="11369400" cy="11082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2200" dirty="0">
                <a:solidFill>
                  <a:schemeClr val="dk1"/>
                </a:solidFill>
                <a:ea typeface="Arial"/>
                <a:cs typeface="Arial"/>
                <a:sym typeface="Arial"/>
              </a:rPr>
              <a:t>Successful AI programs require an element of experimentation. As organizations move into each phase, they find themselves requiring different approaches, structures and resourcing.</a:t>
            </a:r>
            <a:endParaRPr lang="en-US" sz="2200" dirty="0"/>
          </a:p>
        </p:txBody>
      </p:sp>
      <p:grpSp>
        <p:nvGrpSpPr>
          <p:cNvPr id="431" name="Google Shape;431;p26"/>
          <p:cNvGrpSpPr/>
          <p:nvPr/>
        </p:nvGrpSpPr>
        <p:grpSpPr>
          <a:xfrm>
            <a:off x="463797" y="2818412"/>
            <a:ext cx="11274951" cy="1542436"/>
            <a:chOff x="2228207" y="2005562"/>
            <a:chExt cx="9196534" cy="738856"/>
          </a:xfrm>
        </p:grpSpPr>
        <p:sp>
          <p:nvSpPr>
            <p:cNvPr id="432" name="Google Shape;432;p26"/>
            <p:cNvSpPr/>
            <p:nvPr/>
          </p:nvSpPr>
          <p:spPr>
            <a:xfrm>
              <a:off x="2228207" y="2005562"/>
              <a:ext cx="2521075" cy="738856"/>
            </a:xfrm>
            <a:custGeom>
              <a:avLst/>
              <a:gdLst/>
              <a:ahLst/>
              <a:cxnLst/>
              <a:rect l="l" t="t" r="r" b="b"/>
              <a:pathLst>
                <a:path w="1018616" h="379387" extrusionOk="0">
                  <a:moveTo>
                    <a:pt x="829043" y="39"/>
                  </a:moveTo>
                  <a:lnTo>
                    <a:pt x="1018616" y="189713"/>
                  </a:lnTo>
                  <a:lnTo>
                    <a:pt x="829043" y="379388"/>
                  </a:lnTo>
                  <a:lnTo>
                    <a:pt x="0" y="379388"/>
                  </a:lnTo>
                  <a:lnTo>
                    <a:pt x="189534" y="189700"/>
                  </a:lnTo>
                  <a:lnTo>
                    <a:pt x="0" y="0"/>
                  </a:lnTo>
                  <a:close/>
                </a:path>
              </a:pathLst>
            </a:custGeom>
            <a:solidFill>
              <a:srgbClr val="002856"/>
            </a:solidFill>
            <a:ln>
              <a:noFill/>
            </a:ln>
          </p:spPr>
          <p:txBody>
            <a:bodyPr/>
            <a:lstStyle/>
            <a:p>
              <a:endParaRPr lang="en-IN" dirty="0"/>
            </a:p>
          </p:txBody>
        </p:sp>
        <p:sp>
          <p:nvSpPr>
            <p:cNvPr id="433" name="Google Shape;433;p26"/>
            <p:cNvSpPr/>
            <p:nvPr/>
          </p:nvSpPr>
          <p:spPr>
            <a:xfrm>
              <a:off x="6677414" y="2005562"/>
              <a:ext cx="2521075" cy="738856"/>
            </a:xfrm>
            <a:custGeom>
              <a:avLst/>
              <a:gdLst/>
              <a:ahLst/>
              <a:cxnLst/>
              <a:rect l="l" t="t" r="r" b="b"/>
              <a:pathLst>
                <a:path w="1018616" h="379387" extrusionOk="0">
                  <a:moveTo>
                    <a:pt x="829043" y="39"/>
                  </a:moveTo>
                  <a:lnTo>
                    <a:pt x="1018616" y="189713"/>
                  </a:lnTo>
                  <a:lnTo>
                    <a:pt x="829043" y="379388"/>
                  </a:lnTo>
                  <a:lnTo>
                    <a:pt x="0" y="379388"/>
                  </a:lnTo>
                  <a:lnTo>
                    <a:pt x="189535" y="189700"/>
                  </a:lnTo>
                  <a:lnTo>
                    <a:pt x="0" y="0"/>
                  </a:lnTo>
                  <a:close/>
                </a:path>
              </a:pathLst>
            </a:custGeom>
            <a:solidFill>
              <a:srgbClr val="00285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ea typeface="Arial"/>
                <a:cs typeface="Arial"/>
                <a:sym typeface="Arial"/>
              </a:endParaRPr>
            </a:p>
          </p:txBody>
        </p:sp>
        <p:sp>
          <p:nvSpPr>
            <p:cNvPr id="434" name="Google Shape;434;p26"/>
            <p:cNvSpPr/>
            <p:nvPr/>
          </p:nvSpPr>
          <p:spPr>
            <a:xfrm>
              <a:off x="4438183" y="2005562"/>
              <a:ext cx="2521075" cy="738856"/>
            </a:xfrm>
            <a:custGeom>
              <a:avLst/>
              <a:gdLst/>
              <a:ahLst/>
              <a:cxnLst/>
              <a:rect l="l" t="t" r="r" b="b"/>
              <a:pathLst>
                <a:path w="1018616" h="379387" extrusionOk="0">
                  <a:moveTo>
                    <a:pt x="829043" y="39"/>
                  </a:moveTo>
                  <a:lnTo>
                    <a:pt x="1018616" y="189713"/>
                  </a:lnTo>
                  <a:lnTo>
                    <a:pt x="829043" y="379388"/>
                  </a:lnTo>
                  <a:lnTo>
                    <a:pt x="0" y="379388"/>
                  </a:lnTo>
                  <a:lnTo>
                    <a:pt x="189534" y="189700"/>
                  </a:lnTo>
                  <a:lnTo>
                    <a:pt x="0" y="0"/>
                  </a:lnTo>
                  <a:close/>
                </a:path>
              </a:pathLst>
            </a:custGeom>
            <a:solidFill>
              <a:srgbClr val="002856"/>
            </a:solidFill>
            <a:ln>
              <a:noFill/>
            </a:ln>
          </p:spPr>
          <p:txBody>
            <a:bodyPr/>
            <a:lstStyle/>
            <a:p>
              <a:endParaRPr lang="en-IN" dirty="0"/>
            </a:p>
          </p:txBody>
        </p:sp>
        <p:sp>
          <p:nvSpPr>
            <p:cNvPr id="435" name="Google Shape;435;p26"/>
            <p:cNvSpPr/>
            <p:nvPr/>
          </p:nvSpPr>
          <p:spPr>
            <a:xfrm>
              <a:off x="8903667" y="2005562"/>
              <a:ext cx="2521075" cy="738856"/>
            </a:xfrm>
            <a:custGeom>
              <a:avLst/>
              <a:gdLst/>
              <a:ahLst/>
              <a:cxnLst/>
              <a:rect l="l" t="t" r="r" b="b"/>
              <a:pathLst>
                <a:path w="1018616" h="379387" extrusionOk="0">
                  <a:moveTo>
                    <a:pt x="829043" y="39"/>
                  </a:moveTo>
                  <a:lnTo>
                    <a:pt x="1018616" y="189713"/>
                  </a:lnTo>
                  <a:lnTo>
                    <a:pt x="829043" y="379388"/>
                  </a:lnTo>
                  <a:lnTo>
                    <a:pt x="0" y="379388"/>
                  </a:lnTo>
                  <a:lnTo>
                    <a:pt x="189535" y="189700"/>
                  </a:lnTo>
                  <a:lnTo>
                    <a:pt x="0" y="0"/>
                  </a:lnTo>
                  <a:close/>
                </a:path>
              </a:pathLst>
            </a:custGeom>
            <a:solidFill>
              <a:srgbClr val="002856"/>
            </a:solidFill>
            <a:ln>
              <a:noFill/>
            </a:ln>
          </p:spPr>
          <p:txBody>
            <a:bodyPr/>
            <a:lstStyle/>
            <a:p>
              <a:endParaRPr lang="en-IN" dirty="0"/>
            </a:p>
          </p:txBody>
        </p:sp>
      </p:grpSp>
      <p:sp>
        <p:nvSpPr>
          <p:cNvPr id="436" name="Google Shape;436;p26"/>
          <p:cNvSpPr txBox="1"/>
          <p:nvPr/>
        </p:nvSpPr>
        <p:spPr>
          <a:xfrm>
            <a:off x="1384325" y="3453625"/>
            <a:ext cx="1456800" cy="272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1" dirty="0">
                <a:solidFill>
                  <a:schemeClr val="lt1"/>
                </a:solidFill>
              </a:rPr>
              <a:t>Planning</a:t>
            </a:r>
          </a:p>
          <a:p>
            <a:pPr marL="0" marR="0" lvl="0" indent="0" algn="ctr" rtl="0">
              <a:spcBef>
                <a:spcPts val="0"/>
              </a:spcBef>
              <a:spcAft>
                <a:spcPts val="0"/>
              </a:spcAft>
              <a:buNone/>
            </a:pPr>
            <a:r>
              <a:rPr lang="en-US" sz="1800" b="1" dirty="0">
                <a:solidFill>
                  <a:schemeClr val="lt1"/>
                </a:solidFill>
              </a:rPr>
              <a:t>mode</a:t>
            </a:r>
            <a:endParaRPr lang="en-US" sz="1800" dirty="0"/>
          </a:p>
        </p:txBody>
      </p:sp>
      <p:sp>
        <p:nvSpPr>
          <p:cNvPr id="437" name="Google Shape;437;p26"/>
          <p:cNvSpPr txBox="1"/>
          <p:nvPr/>
        </p:nvSpPr>
        <p:spPr>
          <a:xfrm>
            <a:off x="6774200" y="3453625"/>
            <a:ext cx="1568100" cy="272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1" dirty="0">
                <a:solidFill>
                  <a:schemeClr val="lt1"/>
                </a:solidFill>
              </a:rPr>
              <a:t>Stabilization mode</a:t>
            </a:r>
            <a:endParaRPr lang="en-US" sz="1800" dirty="0"/>
          </a:p>
        </p:txBody>
      </p:sp>
      <p:sp>
        <p:nvSpPr>
          <p:cNvPr id="438" name="Google Shape;438;p26"/>
          <p:cNvSpPr txBox="1"/>
          <p:nvPr/>
        </p:nvSpPr>
        <p:spPr>
          <a:xfrm>
            <a:off x="3980000" y="3453625"/>
            <a:ext cx="1884600" cy="272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1" dirty="0">
                <a:solidFill>
                  <a:schemeClr val="lt1"/>
                </a:solidFill>
              </a:rPr>
              <a:t>Experimentation mode</a:t>
            </a:r>
            <a:endParaRPr lang="en-US" sz="1800" dirty="0"/>
          </a:p>
        </p:txBody>
      </p:sp>
      <p:sp>
        <p:nvSpPr>
          <p:cNvPr id="439" name="Google Shape;439;p26"/>
          <p:cNvSpPr txBox="1"/>
          <p:nvPr/>
        </p:nvSpPr>
        <p:spPr>
          <a:xfrm>
            <a:off x="9585800" y="3453625"/>
            <a:ext cx="1456800" cy="272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1" dirty="0">
                <a:solidFill>
                  <a:schemeClr val="lt1"/>
                </a:solidFill>
              </a:rPr>
              <a:t>Expansion </a:t>
            </a:r>
          </a:p>
          <a:p>
            <a:pPr marL="0" marR="0" lvl="0" indent="0" algn="ctr" rtl="0">
              <a:spcBef>
                <a:spcPts val="0"/>
              </a:spcBef>
              <a:spcAft>
                <a:spcPts val="0"/>
              </a:spcAft>
              <a:buNone/>
            </a:pPr>
            <a:r>
              <a:rPr lang="en-US" sz="1800" b="1" dirty="0">
                <a:solidFill>
                  <a:schemeClr val="lt1"/>
                </a:solidFill>
              </a:rPr>
              <a:t>mode</a:t>
            </a:r>
            <a:endParaRPr lang="en-US" sz="18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27"/>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Adoption: Define AI’s Impact on the HR Function and Roles</a:t>
            </a:r>
          </a:p>
        </p:txBody>
      </p:sp>
      <p:graphicFrame>
        <p:nvGraphicFramePr>
          <p:cNvPr id="445" name="Google Shape;445;p27"/>
          <p:cNvGraphicFramePr/>
          <p:nvPr>
            <p:extLst>
              <p:ext uri="{D42A27DB-BD31-4B8C-83A1-F6EECF244321}">
                <p14:modId xmlns:p14="http://schemas.microsoft.com/office/powerpoint/2010/main" val="3750551818"/>
              </p:ext>
            </p:extLst>
          </p:nvPr>
        </p:nvGraphicFramePr>
        <p:xfrm>
          <a:off x="457200" y="2878926"/>
          <a:ext cx="11274550" cy="2944438"/>
        </p:xfrm>
        <a:graphic>
          <a:graphicData uri="http://schemas.openxmlformats.org/drawingml/2006/table">
            <a:tbl>
              <a:tblPr>
                <a:noFill/>
              </a:tblPr>
              <a:tblGrid>
                <a:gridCol w="5583000">
                  <a:extLst>
                    <a:ext uri="{9D8B030D-6E8A-4147-A177-3AD203B41FA5}">
                      <a16:colId xmlns:a16="http://schemas.microsoft.com/office/drawing/2014/main" val="20000"/>
                    </a:ext>
                  </a:extLst>
                </a:gridCol>
                <a:gridCol w="5691550">
                  <a:extLst>
                    <a:ext uri="{9D8B030D-6E8A-4147-A177-3AD203B41FA5}">
                      <a16:colId xmlns:a16="http://schemas.microsoft.com/office/drawing/2014/main" val="20001"/>
                    </a:ext>
                  </a:extLst>
                </a:gridCol>
              </a:tblGrid>
              <a:tr h="177800">
                <a:tc>
                  <a:txBody>
                    <a:bodyPr/>
                    <a:lstStyle/>
                    <a:p>
                      <a:pPr marL="0" marR="0" lvl="0" indent="0" algn="l" rtl="0">
                        <a:lnSpc>
                          <a:spcPct val="90000"/>
                        </a:lnSpc>
                        <a:spcBef>
                          <a:spcPts val="0"/>
                        </a:spcBef>
                        <a:spcAft>
                          <a:spcPts val="0"/>
                        </a:spcAft>
                        <a:buClr>
                          <a:srgbClr val="000000"/>
                        </a:buClr>
                        <a:buSzPts val="1800"/>
                        <a:buFont typeface="Arial"/>
                        <a:buNone/>
                      </a:pPr>
                      <a:r>
                        <a:rPr lang="en-US" sz="1400" b="1" u="none" strike="noStrike" cap="none" dirty="0">
                          <a:solidFill>
                            <a:srgbClr val="FFFFFF"/>
                          </a:solidFill>
                          <a:latin typeface="+mj-lt"/>
                          <a:ea typeface="Arial"/>
                          <a:cs typeface="Arial"/>
                          <a:sym typeface="Arial"/>
                        </a:rPr>
                        <a:t>Strategic questions </a:t>
                      </a:r>
                      <a:endParaRPr sz="1400" b="1" u="none" strike="noStrike" cap="none" dirty="0">
                        <a:solidFill>
                          <a:srgbClr val="FFFFFF"/>
                        </a:solidFill>
                        <a:latin typeface="+mj-lt"/>
                        <a:ea typeface="Arial"/>
                        <a:cs typeface="Arial"/>
                        <a:sym typeface="Arial"/>
                      </a:endParaRPr>
                    </a:p>
                  </a:txBody>
                  <a:tcPr marL="91450" marR="91450" marT="45725" marB="45725" anchor="ctr">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2856"/>
                    </a:solidFill>
                  </a:tcPr>
                </a:tc>
                <a:tc>
                  <a:txBody>
                    <a:bodyPr/>
                    <a:lstStyle/>
                    <a:p>
                      <a:pPr marL="0" marR="0" lvl="0" indent="0" algn="l" rtl="0">
                        <a:lnSpc>
                          <a:spcPct val="90000"/>
                        </a:lnSpc>
                        <a:spcBef>
                          <a:spcPts val="0"/>
                        </a:spcBef>
                        <a:spcAft>
                          <a:spcPts val="0"/>
                        </a:spcAft>
                        <a:buClr>
                          <a:srgbClr val="000000"/>
                        </a:buClr>
                        <a:buSzPts val="1400"/>
                        <a:buFont typeface="Arial"/>
                        <a:buNone/>
                      </a:pPr>
                      <a:r>
                        <a:rPr lang="en-US" sz="1400" b="1" u="none" strike="noStrike" cap="none" dirty="0">
                          <a:solidFill>
                            <a:srgbClr val="FFFFFF"/>
                          </a:solidFill>
                          <a:latin typeface="+mj-lt"/>
                          <a:ea typeface="Arial"/>
                          <a:cs typeface="Arial"/>
                          <a:sym typeface="Arial"/>
                        </a:rPr>
                        <a:t>Your answer </a:t>
                      </a:r>
                      <a:endParaRPr sz="1400" b="1" u="none" strike="noStrike" cap="none" dirty="0">
                        <a:solidFill>
                          <a:srgbClr val="FFFFFF"/>
                        </a:solidFill>
                        <a:latin typeface="+mj-lt"/>
                        <a:ea typeface="Arial"/>
                        <a:cs typeface="Arial"/>
                        <a:sym typeface="Arial"/>
                      </a:endParaRPr>
                    </a:p>
                  </a:txBody>
                  <a:tcPr marL="91450" marR="91450" marT="45725" marB="45725" anchor="ctr">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002856"/>
                    </a:solidFill>
                  </a:tcPr>
                </a:tc>
                <a:extLst>
                  <a:ext uri="{0D108BD9-81ED-4DB2-BD59-A6C34878D82A}">
                    <a16:rowId xmlns:a16="http://schemas.microsoft.com/office/drawing/2014/main" val="10000"/>
                  </a:ext>
                </a:extLst>
              </a:tr>
              <a:tr h="152725">
                <a:tc>
                  <a:txBody>
                    <a:bodyPr/>
                    <a:lstStyle/>
                    <a:p>
                      <a:pPr marL="0" marR="0" lvl="0" indent="0" algn="l" rtl="0">
                        <a:lnSpc>
                          <a:spcPct val="90000"/>
                        </a:lnSpc>
                        <a:spcBef>
                          <a:spcPts val="0"/>
                        </a:spcBef>
                        <a:spcAft>
                          <a:spcPts val="0"/>
                        </a:spcAft>
                        <a:buClr>
                          <a:srgbClr val="000000"/>
                        </a:buClr>
                        <a:buSzPts val="1400"/>
                        <a:buFont typeface="Arial"/>
                        <a:buNone/>
                      </a:pPr>
                      <a:r>
                        <a:rPr lang="en-US" sz="1400" u="none" strike="noStrike" cap="none" dirty="0">
                          <a:solidFill>
                            <a:srgbClr val="000000"/>
                          </a:solidFill>
                          <a:latin typeface="+mn-lt"/>
                          <a:ea typeface="Arial"/>
                          <a:cs typeface="Arial"/>
                          <a:sym typeface="Arial"/>
                        </a:rPr>
                        <a:t>What specific HR processes and functions can benefit most from AI integration?</a:t>
                      </a:r>
                      <a:endParaRPr sz="1400" u="none" strike="noStrike" cap="non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FFFFF"/>
                    </a:solidFill>
                  </a:tcPr>
                </a:tc>
                <a:tc>
                  <a:txBody>
                    <a:bodyPr/>
                    <a:lstStyle/>
                    <a:p>
                      <a:pPr marL="0" marR="0" lvl="0" indent="0" algn="l" rtl="0">
                        <a:lnSpc>
                          <a:spcPct val="90000"/>
                        </a:lnSpc>
                        <a:spcBef>
                          <a:spcPts val="0"/>
                        </a:spcBef>
                        <a:spcAft>
                          <a:spcPts val="0"/>
                        </a:spcAft>
                        <a:buClr>
                          <a:srgbClr val="000000"/>
                        </a:buClr>
                        <a:buSzPts val="1400"/>
                        <a:buFont typeface="Arial"/>
                        <a:buNone/>
                      </a:pPr>
                      <a:endParaRPr sz="1400" u="none" strike="noStrike" cap="non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77800">
                <a:tc>
                  <a:txBody>
                    <a:bodyPr/>
                    <a:lstStyle/>
                    <a:p>
                      <a:pPr marL="0" marR="0" lvl="0" indent="0" algn="l" rtl="0">
                        <a:lnSpc>
                          <a:spcPct val="90000"/>
                        </a:lnSpc>
                        <a:spcBef>
                          <a:spcPts val="0"/>
                        </a:spcBef>
                        <a:spcAft>
                          <a:spcPts val="0"/>
                        </a:spcAft>
                        <a:buClr>
                          <a:srgbClr val="000000"/>
                        </a:buClr>
                        <a:buSzPts val="1400"/>
                        <a:buFont typeface="Arial"/>
                        <a:buNone/>
                      </a:pPr>
                      <a:r>
                        <a:rPr lang="en-US" sz="1400" u="none" strike="noStrike" cap="none" dirty="0">
                          <a:solidFill>
                            <a:srgbClr val="000000"/>
                          </a:solidFill>
                          <a:latin typeface="+mn-lt"/>
                          <a:ea typeface="Arial"/>
                          <a:cs typeface="Arial"/>
                          <a:sym typeface="Arial"/>
                        </a:rPr>
                        <a:t>How will AI-driven insights be integrated into strategic HR </a:t>
                      </a:r>
                      <a:br>
                        <a:rPr lang="en-US" sz="1400" u="none" strike="noStrike" cap="none" dirty="0">
                          <a:solidFill>
                            <a:srgbClr val="000000"/>
                          </a:solidFill>
                          <a:latin typeface="+mn-lt"/>
                          <a:ea typeface="Arial"/>
                          <a:cs typeface="Arial"/>
                          <a:sym typeface="Arial"/>
                        </a:rPr>
                      </a:br>
                      <a:r>
                        <a:rPr lang="en-US" sz="1400" u="none" strike="noStrike" cap="none" dirty="0">
                          <a:solidFill>
                            <a:srgbClr val="000000"/>
                          </a:solidFill>
                          <a:latin typeface="+mn-lt"/>
                          <a:ea typeface="Arial"/>
                          <a:cs typeface="Arial"/>
                          <a:sym typeface="Arial"/>
                        </a:rPr>
                        <a:t>decision making?</a:t>
                      </a:r>
                      <a:endParaRPr sz="1400" u="none" strike="noStrike" cap="non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tc>
                  <a:txBody>
                    <a:bodyPr/>
                    <a:lstStyle/>
                    <a:p>
                      <a:pPr marL="0" marR="0" lvl="0" indent="0" algn="l" rtl="0">
                        <a:lnSpc>
                          <a:spcPct val="90000"/>
                        </a:lnSpc>
                        <a:spcBef>
                          <a:spcPts val="0"/>
                        </a:spcBef>
                        <a:spcAft>
                          <a:spcPts val="0"/>
                        </a:spcAft>
                        <a:buClr>
                          <a:srgbClr val="000000"/>
                        </a:buClr>
                        <a:buSzPts val="1400"/>
                        <a:buFont typeface="Arial"/>
                        <a:buNone/>
                      </a:pPr>
                      <a:endParaRPr sz="1400" u="none" strike="noStrike" cap="non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extLst>
                  <a:ext uri="{0D108BD9-81ED-4DB2-BD59-A6C34878D82A}">
                    <a16:rowId xmlns:a16="http://schemas.microsoft.com/office/drawing/2014/main" val="10002"/>
                  </a:ext>
                </a:extLst>
              </a:tr>
              <a:tr h="177800">
                <a:tc>
                  <a:txBody>
                    <a:bodyPr/>
                    <a:lstStyle/>
                    <a:p>
                      <a:pPr marL="0" marR="0" lvl="0" indent="0" algn="l" rtl="0">
                        <a:lnSpc>
                          <a:spcPct val="90000"/>
                        </a:lnSpc>
                        <a:spcBef>
                          <a:spcPts val="0"/>
                        </a:spcBef>
                        <a:spcAft>
                          <a:spcPts val="0"/>
                        </a:spcAft>
                        <a:buClr>
                          <a:srgbClr val="000000"/>
                        </a:buClr>
                        <a:buSzPts val="1400"/>
                        <a:buFont typeface="Arial"/>
                        <a:buNone/>
                      </a:pPr>
                      <a:r>
                        <a:rPr lang="en-US" sz="1400" u="none" strike="noStrike" cap="none" dirty="0">
                          <a:solidFill>
                            <a:srgbClr val="000000"/>
                          </a:solidFill>
                          <a:latin typeface="+mn-lt"/>
                          <a:ea typeface="Arial"/>
                          <a:cs typeface="Arial"/>
                          <a:sym typeface="Arial"/>
                        </a:rPr>
                        <a:t>How will AI adoption affect current HR roles, and what new skills or roles will be required?</a:t>
                      </a:r>
                      <a:endParaRPr sz="1400" u="none" strike="noStrike" cap="non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FFFFF"/>
                    </a:solidFill>
                  </a:tcPr>
                </a:tc>
                <a:tc>
                  <a:txBody>
                    <a:bodyPr/>
                    <a:lstStyle/>
                    <a:p>
                      <a:pPr marL="0" marR="0" lvl="0" indent="0" algn="l" rtl="0">
                        <a:lnSpc>
                          <a:spcPct val="90000"/>
                        </a:lnSpc>
                        <a:spcBef>
                          <a:spcPts val="0"/>
                        </a:spcBef>
                        <a:spcAft>
                          <a:spcPts val="0"/>
                        </a:spcAft>
                        <a:buClr>
                          <a:srgbClr val="000000"/>
                        </a:buClr>
                        <a:buSzPts val="1400"/>
                        <a:buFont typeface="Arial"/>
                        <a:buNone/>
                      </a:pPr>
                      <a:endParaRPr sz="1400" u="none" strike="noStrike" cap="non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77800">
                <a:tc>
                  <a:txBody>
                    <a:bodyPr/>
                    <a:lstStyle/>
                    <a:p>
                      <a:pPr marL="0" marR="0" lvl="0" indent="0" algn="l" rtl="0">
                        <a:lnSpc>
                          <a:spcPct val="90000"/>
                        </a:lnSpc>
                        <a:spcBef>
                          <a:spcPts val="0"/>
                        </a:spcBef>
                        <a:spcAft>
                          <a:spcPts val="0"/>
                        </a:spcAft>
                        <a:buClr>
                          <a:srgbClr val="000000"/>
                        </a:buClr>
                        <a:buSzPts val="1400"/>
                        <a:buFont typeface="Arial"/>
                        <a:buNone/>
                      </a:pPr>
                      <a:r>
                        <a:rPr lang="en-US" sz="1400" u="none" strike="noStrike" cap="none" dirty="0">
                          <a:solidFill>
                            <a:srgbClr val="000000"/>
                          </a:solidFill>
                          <a:latin typeface="+mn-lt"/>
                          <a:ea typeface="Arial"/>
                          <a:cs typeface="Arial"/>
                          <a:sym typeface="Arial"/>
                        </a:rPr>
                        <a:t>What measures will be implemented to ensure data privacy and security?</a:t>
                      </a:r>
                      <a:endParaRPr sz="1400" u="none" strike="noStrike" cap="non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tc>
                  <a:txBody>
                    <a:bodyPr/>
                    <a:lstStyle/>
                    <a:p>
                      <a:pPr marL="0" marR="0" lvl="0" indent="0" algn="l" rtl="0">
                        <a:lnSpc>
                          <a:spcPct val="90000"/>
                        </a:lnSpc>
                        <a:spcBef>
                          <a:spcPts val="0"/>
                        </a:spcBef>
                        <a:spcAft>
                          <a:spcPts val="0"/>
                        </a:spcAft>
                        <a:buClr>
                          <a:srgbClr val="000000"/>
                        </a:buClr>
                        <a:buSzPts val="1400"/>
                        <a:buFont typeface="Arial"/>
                        <a:buNone/>
                      </a:pPr>
                      <a:endParaRPr sz="1400" u="none" strike="noStrike" cap="non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D3D3D3"/>
                    </a:solidFill>
                  </a:tcPr>
                </a:tc>
                <a:extLst>
                  <a:ext uri="{0D108BD9-81ED-4DB2-BD59-A6C34878D82A}">
                    <a16:rowId xmlns:a16="http://schemas.microsoft.com/office/drawing/2014/main" val="10004"/>
                  </a:ext>
                </a:extLst>
              </a:tr>
              <a:tr h="152725">
                <a:tc>
                  <a:txBody>
                    <a:bodyPr/>
                    <a:lstStyle/>
                    <a:p>
                      <a:pPr marL="0" marR="0" lvl="0" indent="0" algn="l" rtl="0">
                        <a:lnSpc>
                          <a:spcPct val="90000"/>
                        </a:lnSpc>
                        <a:spcBef>
                          <a:spcPts val="0"/>
                        </a:spcBef>
                        <a:spcAft>
                          <a:spcPts val="0"/>
                        </a:spcAft>
                        <a:buClr>
                          <a:srgbClr val="000000"/>
                        </a:buClr>
                        <a:buSzPts val="1400"/>
                        <a:buFont typeface="Arial"/>
                        <a:buNone/>
                      </a:pPr>
                      <a:r>
                        <a:rPr lang="en-US" sz="1400" u="none" strike="noStrike" cap="none" dirty="0">
                          <a:solidFill>
                            <a:srgbClr val="000000"/>
                          </a:solidFill>
                          <a:latin typeface="+mn-lt"/>
                          <a:ea typeface="Arial"/>
                          <a:cs typeface="Arial"/>
                          <a:sym typeface="Arial"/>
                        </a:rPr>
                        <a:t>How will we measure the success and ROI of AI initiatives in HR, and what metrics will </a:t>
                      </a:r>
                      <a:r>
                        <a:rPr lang="en-US" dirty="0">
                          <a:latin typeface="+mn-lt"/>
                        </a:rPr>
                        <a:t>w</a:t>
                      </a:r>
                      <a:r>
                        <a:rPr lang="en-US" sz="1400" u="none" strike="noStrike" cap="none" dirty="0">
                          <a:solidFill>
                            <a:srgbClr val="000000"/>
                          </a:solidFill>
                          <a:latin typeface="+mn-lt"/>
                          <a:ea typeface="Arial"/>
                          <a:cs typeface="Arial"/>
                          <a:sym typeface="Arial"/>
                        </a:rPr>
                        <a:t>e use to track progress and impact?</a:t>
                      </a:r>
                      <a:endParaRPr sz="1400" u="none" strike="noStrike" cap="non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FFFFF"/>
                    </a:solidFill>
                  </a:tcPr>
                </a:tc>
                <a:tc>
                  <a:txBody>
                    <a:bodyPr/>
                    <a:lstStyle/>
                    <a:p>
                      <a:pPr marL="0" marR="0" lvl="0" indent="0" algn="l" rtl="0">
                        <a:lnSpc>
                          <a:spcPct val="90000"/>
                        </a:lnSpc>
                        <a:spcBef>
                          <a:spcPts val="0"/>
                        </a:spcBef>
                        <a:spcAft>
                          <a:spcPts val="0"/>
                        </a:spcAft>
                        <a:buClr>
                          <a:srgbClr val="000000"/>
                        </a:buClr>
                        <a:buSzPts val="1400"/>
                        <a:buFont typeface="Arial"/>
                        <a:buNone/>
                      </a:pPr>
                      <a:endParaRPr sz="1400" u="none" strike="noStrike" cap="non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solidFill>
                        <a:srgbClr val="6F7878"/>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52725">
                <a:tc>
                  <a:txBody>
                    <a:bodyPr/>
                    <a:lstStyle/>
                    <a:p>
                      <a:pPr marL="0" marR="0" lvl="0" indent="0" algn="l" rtl="0">
                        <a:lnSpc>
                          <a:spcPct val="90000"/>
                        </a:lnSpc>
                        <a:spcBef>
                          <a:spcPts val="0"/>
                        </a:spcBef>
                        <a:spcAft>
                          <a:spcPts val="0"/>
                        </a:spcAft>
                        <a:buClr>
                          <a:srgbClr val="000000"/>
                        </a:buClr>
                        <a:buSzPts val="1400"/>
                        <a:buFont typeface="Arial"/>
                        <a:buNone/>
                      </a:pPr>
                      <a:r>
                        <a:rPr lang="en-US" sz="1400" u="none" strike="noStrike" cap="none" dirty="0">
                          <a:solidFill>
                            <a:srgbClr val="000000"/>
                          </a:solidFill>
                          <a:latin typeface="+mn-lt"/>
                          <a:ea typeface="Arial"/>
                          <a:cs typeface="Arial"/>
                          <a:sym typeface="Arial"/>
                        </a:rPr>
                        <a:t>How will we change our employment model based on this change?</a:t>
                      </a:r>
                      <a:endParaRPr sz="1400" u="none" strike="noStrike" cap="non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lgn="ctr">
                      <a:solidFill>
                        <a:srgbClr val="6F7878"/>
                      </a:solidFill>
                      <a:prstDash val="solid"/>
                      <a:round/>
                      <a:headEnd type="none" w="sm" len="sm"/>
                      <a:tailEnd type="none" w="sm" len="sm"/>
                    </a:lnB>
                    <a:solidFill>
                      <a:srgbClr val="D3D3D3"/>
                    </a:solidFill>
                  </a:tcPr>
                </a:tc>
                <a:tc>
                  <a:txBody>
                    <a:bodyPr/>
                    <a:lstStyle/>
                    <a:p>
                      <a:pPr marL="0" marR="0" lvl="0" indent="0" algn="l" rtl="0">
                        <a:lnSpc>
                          <a:spcPct val="90000"/>
                        </a:lnSpc>
                        <a:spcBef>
                          <a:spcPts val="0"/>
                        </a:spcBef>
                        <a:spcAft>
                          <a:spcPts val="0"/>
                        </a:spcAft>
                        <a:buClr>
                          <a:srgbClr val="000000"/>
                        </a:buClr>
                        <a:buSzPts val="1400"/>
                        <a:buFont typeface="Arial"/>
                        <a:buNone/>
                      </a:pPr>
                      <a:endParaRPr sz="1400" u="none" strike="noStrike" cap="none" dirty="0">
                        <a:solidFill>
                          <a:srgbClr val="000000"/>
                        </a:solidFill>
                        <a:latin typeface="+mn-lt"/>
                        <a:ea typeface="Arial"/>
                        <a:cs typeface="Arial"/>
                        <a:sym typeface="Arial"/>
                      </a:endParaRPr>
                    </a:p>
                  </a:txBody>
                  <a:tcPr marL="91450" marR="91450" marT="45725" marB="45725">
                    <a:lnL w="9525" cap="flat" cmpd="sng">
                      <a:solidFill>
                        <a:srgbClr val="6F7878"/>
                      </a:solidFill>
                      <a:prstDash val="solid"/>
                      <a:round/>
                      <a:headEnd type="none" w="sm" len="sm"/>
                      <a:tailEnd type="none" w="sm" len="sm"/>
                    </a:lnL>
                    <a:lnR w="9525" cap="flat" cmpd="sng">
                      <a:solidFill>
                        <a:srgbClr val="6F7878"/>
                      </a:solidFill>
                      <a:prstDash val="solid"/>
                      <a:round/>
                      <a:headEnd type="none" w="sm" len="sm"/>
                      <a:tailEnd type="none" w="sm" len="sm"/>
                    </a:lnR>
                    <a:lnT w="9525" cap="flat" cmpd="sng">
                      <a:solidFill>
                        <a:srgbClr val="6F7878"/>
                      </a:solidFill>
                      <a:prstDash val="solid"/>
                      <a:round/>
                      <a:headEnd type="none" w="sm" len="sm"/>
                      <a:tailEnd type="none" w="sm" len="sm"/>
                    </a:lnT>
                    <a:lnB w="9525" cap="flat" cmpd="sng" algn="ctr">
                      <a:solidFill>
                        <a:srgbClr val="6F7878"/>
                      </a:solidFill>
                      <a:prstDash val="solid"/>
                      <a:round/>
                      <a:headEnd type="none" w="sm" len="sm"/>
                      <a:tailEnd type="none" w="sm" len="sm"/>
                    </a:lnB>
                    <a:solidFill>
                      <a:srgbClr val="D3D3D3"/>
                    </a:solidFill>
                  </a:tcPr>
                </a:tc>
                <a:extLst>
                  <a:ext uri="{0D108BD9-81ED-4DB2-BD59-A6C34878D82A}">
                    <a16:rowId xmlns:a16="http://schemas.microsoft.com/office/drawing/2014/main" val="10006"/>
                  </a:ext>
                </a:extLst>
              </a:tr>
            </a:tbl>
          </a:graphicData>
        </a:graphic>
      </p:graphicFrame>
      <p:sp>
        <p:nvSpPr>
          <p:cNvPr id="446" name="Google Shape;446;p27"/>
          <p:cNvSpPr txBox="1"/>
          <p:nvPr/>
        </p:nvSpPr>
        <p:spPr>
          <a:xfrm>
            <a:off x="457200" y="1392250"/>
            <a:ext cx="11274600" cy="1323399"/>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2000" dirty="0">
                <a:solidFill>
                  <a:schemeClr val="dk1"/>
                </a:solidFill>
                <a:ea typeface="Arial"/>
                <a:cs typeface="Arial"/>
                <a:sym typeface="Arial"/>
              </a:rPr>
              <a:t>Identify strategic questions that will affect AI adoption. We have provided a list for you that you may leverage and/or amend. U</a:t>
            </a:r>
            <a:r>
              <a:rPr lang="en-US" sz="2000" dirty="0">
                <a:solidFill>
                  <a:schemeClr val="dk1"/>
                </a:solidFill>
              </a:rPr>
              <a:t>s</a:t>
            </a:r>
            <a:r>
              <a:rPr lang="en-US" sz="2000" dirty="0">
                <a:solidFill>
                  <a:schemeClr val="dk1"/>
                </a:solidFill>
                <a:ea typeface="Arial"/>
                <a:cs typeface="Arial"/>
                <a:sym typeface="Arial"/>
              </a:rPr>
              <a:t>e these impacts as part of the broader roadmap or implementation planning as part of adoption planning or change management activities. See </a:t>
            </a:r>
            <a:r>
              <a:rPr lang="en-US" sz="2000" dirty="0">
                <a:solidFill>
                  <a:schemeClr val="dk1"/>
                </a:solidFill>
                <a:ea typeface="Arial"/>
                <a:cs typeface="Arial"/>
                <a:sym typeface="Arial"/>
                <a:hlinkClick r:id="rId3"/>
              </a:rPr>
              <a:t>Resource Guide for AI People and Culture in HR</a:t>
            </a:r>
            <a:r>
              <a:rPr lang="en-US" sz="2000" dirty="0">
                <a:solidFill>
                  <a:schemeClr val="dk1"/>
                </a:solidFill>
                <a:ea typeface="Arial"/>
                <a:cs typeface="Arial"/>
                <a:sym typeface="Arial"/>
              </a:rPr>
              <a:t> for deeper support.</a:t>
            </a:r>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28"/>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Adoption: Plan for Building HR’s AI Literacy and Digital Skills </a:t>
            </a:r>
          </a:p>
        </p:txBody>
      </p:sp>
      <p:pic>
        <p:nvPicPr>
          <p:cNvPr id="452" name="Google Shape;452;p28"/>
          <p:cNvPicPr preferRelativeResize="0"/>
          <p:nvPr/>
        </p:nvPicPr>
        <p:blipFill rotWithShape="1">
          <a:blip r:embed="rId3">
            <a:alphaModFix/>
          </a:blip>
          <a:srcRect l="13623" t="6658" r="16329" b="12923"/>
          <a:stretch/>
        </p:blipFill>
        <p:spPr>
          <a:xfrm>
            <a:off x="5215309" y="2142248"/>
            <a:ext cx="4710223" cy="4052437"/>
          </a:xfrm>
          <a:prstGeom prst="rect">
            <a:avLst/>
          </a:prstGeom>
          <a:noFill/>
          <a:ln>
            <a:noFill/>
          </a:ln>
        </p:spPr>
      </p:pic>
      <p:sp>
        <p:nvSpPr>
          <p:cNvPr id="453" name="Google Shape;453;p28"/>
          <p:cNvSpPr txBox="1"/>
          <p:nvPr/>
        </p:nvSpPr>
        <p:spPr>
          <a:xfrm>
            <a:off x="1835758" y="3752966"/>
            <a:ext cx="2254200" cy="831000"/>
          </a:xfrm>
          <a:prstGeom prst="rect">
            <a:avLst/>
          </a:prstGeom>
          <a:solidFill>
            <a:schemeClr val="dk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lt1"/>
                </a:solidFill>
                <a:ea typeface="Arial"/>
                <a:cs typeface="Arial"/>
                <a:sym typeface="Arial"/>
              </a:rPr>
              <a:t>Key benefits of</a:t>
            </a:r>
            <a:endParaRPr lang="en-US" dirty="0"/>
          </a:p>
          <a:p>
            <a:pPr marL="0" marR="0" lvl="0" indent="0" algn="ctr" rtl="0">
              <a:spcBef>
                <a:spcPts val="0"/>
              </a:spcBef>
              <a:spcAft>
                <a:spcPts val="0"/>
              </a:spcAft>
              <a:buNone/>
            </a:pPr>
            <a:r>
              <a:rPr lang="en-US" sz="2400" dirty="0">
                <a:solidFill>
                  <a:schemeClr val="lt1"/>
                </a:solidFill>
                <a:ea typeface="Arial"/>
                <a:cs typeface="Arial"/>
                <a:sym typeface="Arial"/>
              </a:rPr>
              <a:t>AI literacy</a:t>
            </a:r>
            <a:endParaRPr lang="en-US" dirty="0"/>
          </a:p>
        </p:txBody>
      </p:sp>
      <p:sp>
        <p:nvSpPr>
          <p:cNvPr id="454" name="Google Shape;454;p28"/>
          <p:cNvSpPr/>
          <p:nvPr/>
        </p:nvSpPr>
        <p:spPr>
          <a:xfrm>
            <a:off x="4465037" y="3945182"/>
            <a:ext cx="903767" cy="446567"/>
          </a:xfrm>
          <a:prstGeom prst="rightArrow">
            <a:avLst>
              <a:gd name="adj1" fmla="val 50000"/>
              <a:gd name="adj2" fmla="val 50000"/>
            </a:avLst>
          </a:prstGeom>
          <a:solidFill>
            <a:schemeClr val="accent1"/>
          </a:solidFill>
          <a:ln w="12700" cap="flat" cmpd="sng">
            <a:solidFill>
              <a:srgbClr val="00102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ea typeface="Arial"/>
              <a:cs typeface="Arial"/>
              <a:sym typeface="Arial"/>
            </a:endParaRPr>
          </a:p>
        </p:txBody>
      </p:sp>
      <p:sp>
        <p:nvSpPr>
          <p:cNvPr id="455" name="Google Shape;455;p28"/>
          <p:cNvSpPr txBox="1">
            <a:spLocks noGrp="1"/>
          </p:cNvSpPr>
          <p:nvPr>
            <p:ph type="body" idx="1"/>
          </p:nvPr>
        </p:nvSpPr>
        <p:spPr>
          <a:xfrm>
            <a:off x="457152" y="1197900"/>
            <a:ext cx="11274600" cy="4462200"/>
          </a:xfrm>
          <a:prstGeom prst="rect">
            <a:avLst/>
          </a:prstGeom>
        </p:spPr>
        <p:txBody>
          <a:bodyPr spcFirstLastPara="1" wrap="square" lIns="0" tIns="0" rIns="0" bIns="0" anchor="t" anchorCtr="0">
            <a:noAutofit/>
          </a:bodyPr>
          <a:lstStyle/>
          <a:p>
            <a:pPr marL="27432" lvl="0" indent="0" algn="l" rtl="0">
              <a:spcBef>
                <a:spcPts val="0"/>
              </a:spcBef>
              <a:spcAft>
                <a:spcPts val="0"/>
              </a:spcAft>
              <a:buClr>
                <a:schemeClr val="dk1"/>
              </a:buClr>
              <a:buSzPts val="2400"/>
              <a:buFont typeface="Arial"/>
              <a:buNone/>
            </a:pPr>
            <a:r>
              <a:rPr lang="en-US" dirty="0"/>
              <a:t>An organization’s AI literacy level can make or break its AI investments. Knowledge must go beyond technical skills to include an understanding of AI in its business and social context. </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29"/>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Adoption: Plan for Building HR’s AI Literacy and Digital Skills</a:t>
            </a:r>
            <a:br>
              <a:rPr lang="en-US" dirty="0"/>
            </a:br>
            <a:endParaRPr lang="en-US" dirty="0"/>
          </a:p>
        </p:txBody>
      </p:sp>
      <p:sp>
        <p:nvSpPr>
          <p:cNvPr id="461" name="Google Shape;461;p29"/>
          <p:cNvSpPr txBox="1"/>
          <p:nvPr/>
        </p:nvSpPr>
        <p:spPr>
          <a:xfrm>
            <a:off x="831518" y="3883095"/>
            <a:ext cx="1117500" cy="32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dirty="0">
                <a:solidFill>
                  <a:srgbClr val="000000"/>
                </a:solidFill>
                <a:ea typeface="Arial"/>
                <a:cs typeface="Arial"/>
                <a:sym typeface="Arial"/>
              </a:rPr>
              <a:t>HR </a:t>
            </a:r>
            <a:r>
              <a:rPr lang="en-US" sz="1500" dirty="0"/>
              <a:t>l</a:t>
            </a:r>
            <a:r>
              <a:rPr lang="en-US" sz="1500" dirty="0">
                <a:solidFill>
                  <a:srgbClr val="000000"/>
                </a:solidFill>
                <a:ea typeface="Arial"/>
                <a:cs typeface="Arial"/>
                <a:sym typeface="Arial"/>
              </a:rPr>
              <a:t>eader</a:t>
            </a:r>
            <a:endParaRPr lang="en-US" dirty="0"/>
          </a:p>
        </p:txBody>
      </p:sp>
      <p:sp>
        <p:nvSpPr>
          <p:cNvPr id="462" name="Google Shape;462;p29"/>
          <p:cNvSpPr/>
          <p:nvPr/>
        </p:nvSpPr>
        <p:spPr>
          <a:xfrm>
            <a:off x="3725345" y="3892484"/>
            <a:ext cx="325200" cy="325200"/>
          </a:xfrm>
          <a:prstGeom prst="ellipse">
            <a:avLst/>
          </a:prstGeom>
          <a:solidFill>
            <a:srgbClr val="FFFFFF"/>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FFFFFF"/>
              </a:solidFill>
              <a:ea typeface="Arial"/>
              <a:cs typeface="Arial"/>
              <a:sym typeface="Arial"/>
            </a:endParaRPr>
          </a:p>
        </p:txBody>
      </p:sp>
      <p:sp>
        <p:nvSpPr>
          <p:cNvPr id="463" name="Google Shape;463;p29"/>
          <p:cNvSpPr/>
          <p:nvPr/>
        </p:nvSpPr>
        <p:spPr>
          <a:xfrm>
            <a:off x="3725345" y="3892484"/>
            <a:ext cx="325200" cy="325200"/>
          </a:xfrm>
          <a:prstGeom prst="pie">
            <a:avLst>
              <a:gd name="adj1" fmla="val 5400000"/>
              <a:gd name="adj2" fmla="val 16200000"/>
            </a:avLst>
          </a:prstGeom>
          <a:solidFill>
            <a:srgbClr val="009A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000000"/>
              </a:solidFill>
              <a:ea typeface="Arial"/>
              <a:cs typeface="Arial"/>
              <a:sym typeface="Arial"/>
            </a:endParaRPr>
          </a:p>
        </p:txBody>
      </p:sp>
      <p:sp>
        <p:nvSpPr>
          <p:cNvPr id="464" name="Google Shape;464;p29"/>
          <p:cNvSpPr/>
          <p:nvPr/>
        </p:nvSpPr>
        <p:spPr>
          <a:xfrm>
            <a:off x="3725345" y="4338405"/>
            <a:ext cx="325200" cy="325200"/>
          </a:xfrm>
          <a:prstGeom prst="ellipse">
            <a:avLst/>
          </a:prstGeom>
          <a:solidFill>
            <a:srgbClr val="FFFFFF"/>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FFFFFF"/>
              </a:solidFill>
              <a:ea typeface="Arial"/>
              <a:cs typeface="Arial"/>
              <a:sym typeface="Arial"/>
            </a:endParaRPr>
          </a:p>
        </p:txBody>
      </p:sp>
      <p:sp>
        <p:nvSpPr>
          <p:cNvPr id="465" name="Google Shape;465;p29"/>
          <p:cNvSpPr/>
          <p:nvPr/>
        </p:nvSpPr>
        <p:spPr>
          <a:xfrm>
            <a:off x="3725345" y="4338405"/>
            <a:ext cx="325200" cy="325200"/>
          </a:xfrm>
          <a:prstGeom prst="pie">
            <a:avLst>
              <a:gd name="adj1" fmla="val 5400000"/>
              <a:gd name="adj2" fmla="val 16200000"/>
            </a:avLst>
          </a:prstGeom>
          <a:solidFill>
            <a:srgbClr val="009A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000000"/>
              </a:solidFill>
              <a:ea typeface="Arial"/>
              <a:cs typeface="Arial"/>
              <a:sym typeface="Arial"/>
            </a:endParaRPr>
          </a:p>
        </p:txBody>
      </p:sp>
      <p:sp>
        <p:nvSpPr>
          <p:cNvPr id="466" name="Google Shape;466;p29"/>
          <p:cNvSpPr/>
          <p:nvPr/>
        </p:nvSpPr>
        <p:spPr>
          <a:xfrm>
            <a:off x="3724617" y="4748436"/>
            <a:ext cx="325200" cy="325200"/>
          </a:xfrm>
          <a:prstGeom prst="ellipse">
            <a:avLst/>
          </a:prstGeom>
          <a:solidFill>
            <a:srgbClr val="009AD7"/>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FFFFFF"/>
              </a:solidFill>
              <a:ea typeface="Arial"/>
              <a:cs typeface="Arial"/>
              <a:sym typeface="Arial"/>
            </a:endParaRPr>
          </a:p>
        </p:txBody>
      </p:sp>
      <p:sp>
        <p:nvSpPr>
          <p:cNvPr id="467" name="Google Shape;467;p29"/>
          <p:cNvSpPr/>
          <p:nvPr/>
        </p:nvSpPr>
        <p:spPr>
          <a:xfrm>
            <a:off x="9037641" y="4327162"/>
            <a:ext cx="325200" cy="325200"/>
          </a:xfrm>
          <a:prstGeom prst="ellipse">
            <a:avLst/>
          </a:prstGeom>
          <a:solidFill>
            <a:srgbClr val="009AD7"/>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FFFFFF"/>
              </a:solidFill>
              <a:ea typeface="Arial"/>
              <a:cs typeface="Arial"/>
              <a:sym typeface="Arial"/>
            </a:endParaRPr>
          </a:p>
        </p:txBody>
      </p:sp>
      <p:sp>
        <p:nvSpPr>
          <p:cNvPr id="468" name="Google Shape;468;p29"/>
          <p:cNvSpPr/>
          <p:nvPr/>
        </p:nvSpPr>
        <p:spPr>
          <a:xfrm>
            <a:off x="9037641" y="4749811"/>
            <a:ext cx="325200" cy="325200"/>
          </a:xfrm>
          <a:prstGeom prst="ellipse">
            <a:avLst/>
          </a:prstGeom>
          <a:solidFill>
            <a:srgbClr val="009AD7"/>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FFFFFF"/>
              </a:solidFill>
              <a:ea typeface="Arial"/>
              <a:cs typeface="Arial"/>
              <a:sym typeface="Arial"/>
            </a:endParaRPr>
          </a:p>
        </p:txBody>
      </p:sp>
      <p:sp>
        <p:nvSpPr>
          <p:cNvPr id="469" name="Google Shape;469;p29"/>
          <p:cNvSpPr/>
          <p:nvPr/>
        </p:nvSpPr>
        <p:spPr>
          <a:xfrm>
            <a:off x="5495625" y="4750682"/>
            <a:ext cx="325200" cy="325200"/>
          </a:xfrm>
          <a:prstGeom prst="ellipse">
            <a:avLst/>
          </a:prstGeom>
          <a:solidFill>
            <a:srgbClr val="009AD7"/>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FFFFFF"/>
              </a:solidFill>
              <a:ea typeface="Arial"/>
              <a:cs typeface="Arial"/>
              <a:sym typeface="Arial"/>
            </a:endParaRPr>
          </a:p>
        </p:txBody>
      </p:sp>
      <p:sp>
        <p:nvSpPr>
          <p:cNvPr id="470" name="Google Shape;470;p29"/>
          <p:cNvSpPr/>
          <p:nvPr/>
        </p:nvSpPr>
        <p:spPr>
          <a:xfrm>
            <a:off x="7263887" y="4750682"/>
            <a:ext cx="325200" cy="325200"/>
          </a:xfrm>
          <a:prstGeom prst="ellipse">
            <a:avLst/>
          </a:prstGeom>
          <a:solidFill>
            <a:srgbClr val="009AD7"/>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FFFFFF"/>
              </a:solidFill>
              <a:ea typeface="Arial"/>
              <a:cs typeface="Arial"/>
              <a:sym typeface="Arial"/>
            </a:endParaRPr>
          </a:p>
        </p:txBody>
      </p:sp>
      <p:sp>
        <p:nvSpPr>
          <p:cNvPr id="471" name="Google Shape;471;p29"/>
          <p:cNvSpPr/>
          <p:nvPr/>
        </p:nvSpPr>
        <p:spPr>
          <a:xfrm flipH="1">
            <a:off x="5495773" y="4330454"/>
            <a:ext cx="325200" cy="325200"/>
          </a:xfrm>
          <a:prstGeom prst="ellipse">
            <a:avLst/>
          </a:prstGeom>
          <a:solidFill>
            <a:srgbClr val="FFFFFF"/>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FFFFFF"/>
              </a:solidFill>
              <a:ea typeface="Arial"/>
              <a:cs typeface="Arial"/>
              <a:sym typeface="Arial"/>
            </a:endParaRPr>
          </a:p>
        </p:txBody>
      </p:sp>
      <p:sp>
        <p:nvSpPr>
          <p:cNvPr id="472" name="Google Shape;472;p29"/>
          <p:cNvSpPr/>
          <p:nvPr/>
        </p:nvSpPr>
        <p:spPr>
          <a:xfrm flipH="1">
            <a:off x="5495773" y="4330454"/>
            <a:ext cx="325200" cy="325200"/>
          </a:xfrm>
          <a:prstGeom prst="pie">
            <a:avLst>
              <a:gd name="adj1" fmla="val 0"/>
              <a:gd name="adj2" fmla="val 16200000"/>
            </a:avLst>
          </a:prstGeom>
          <a:solidFill>
            <a:srgbClr val="009A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000000"/>
              </a:solidFill>
              <a:ea typeface="Arial"/>
              <a:cs typeface="Arial"/>
              <a:sym typeface="Arial"/>
            </a:endParaRPr>
          </a:p>
        </p:txBody>
      </p:sp>
      <p:sp>
        <p:nvSpPr>
          <p:cNvPr id="473" name="Google Shape;473;p29"/>
          <p:cNvSpPr/>
          <p:nvPr/>
        </p:nvSpPr>
        <p:spPr>
          <a:xfrm>
            <a:off x="5495625" y="3892484"/>
            <a:ext cx="325200" cy="325200"/>
          </a:xfrm>
          <a:prstGeom prst="ellipse">
            <a:avLst/>
          </a:prstGeom>
          <a:solidFill>
            <a:srgbClr val="009AD7"/>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FFFFFF"/>
              </a:solidFill>
              <a:ea typeface="Arial"/>
              <a:cs typeface="Arial"/>
              <a:sym typeface="Arial"/>
            </a:endParaRPr>
          </a:p>
        </p:txBody>
      </p:sp>
      <p:sp>
        <p:nvSpPr>
          <p:cNvPr id="474" name="Google Shape;474;p29"/>
          <p:cNvSpPr/>
          <p:nvPr/>
        </p:nvSpPr>
        <p:spPr>
          <a:xfrm flipH="1">
            <a:off x="7264035" y="3903876"/>
            <a:ext cx="325200" cy="325200"/>
          </a:xfrm>
          <a:prstGeom prst="ellipse">
            <a:avLst/>
          </a:prstGeom>
          <a:solidFill>
            <a:srgbClr val="FFFFFF"/>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FFFFFF"/>
              </a:solidFill>
              <a:ea typeface="Arial"/>
              <a:cs typeface="Arial"/>
              <a:sym typeface="Arial"/>
            </a:endParaRPr>
          </a:p>
        </p:txBody>
      </p:sp>
      <p:sp>
        <p:nvSpPr>
          <p:cNvPr id="475" name="Google Shape;475;p29"/>
          <p:cNvSpPr/>
          <p:nvPr/>
        </p:nvSpPr>
        <p:spPr>
          <a:xfrm flipH="1">
            <a:off x="7264035" y="3903876"/>
            <a:ext cx="325200" cy="325200"/>
          </a:xfrm>
          <a:prstGeom prst="pie">
            <a:avLst>
              <a:gd name="adj1" fmla="val 10800000"/>
              <a:gd name="adj2" fmla="val 16200000"/>
            </a:avLst>
          </a:prstGeom>
          <a:solidFill>
            <a:srgbClr val="009A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000000"/>
              </a:solidFill>
              <a:ea typeface="Arial"/>
              <a:cs typeface="Arial"/>
              <a:sym typeface="Arial"/>
            </a:endParaRPr>
          </a:p>
        </p:txBody>
      </p:sp>
      <p:sp>
        <p:nvSpPr>
          <p:cNvPr id="476" name="Google Shape;476;p29"/>
          <p:cNvSpPr/>
          <p:nvPr/>
        </p:nvSpPr>
        <p:spPr>
          <a:xfrm flipH="1">
            <a:off x="7264035" y="4340141"/>
            <a:ext cx="325200" cy="325200"/>
          </a:xfrm>
          <a:prstGeom prst="ellipse">
            <a:avLst/>
          </a:prstGeom>
          <a:solidFill>
            <a:srgbClr val="FFFFFF"/>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FFFFFF"/>
              </a:solidFill>
              <a:ea typeface="Arial"/>
              <a:cs typeface="Arial"/>
              <a:sym typeface="Arial"/>
            </a:endParaRPr>
          </a:p>
        </p:txBody>
      </p:sp>
      <p:sp>
        <p:nvSpPr>
          <p:cNvPr id="477" name="Google Shape;477;p29"/>
          <p:cNvSpPr/>
          <p:nvPr/>
        </p:nvSpPr>
        <p:spPr>
          <a:xfrm flipH="1">
            <a:off x="7264035" y="4340141"/>
            <a:ext cx="325200" cy="325200"/>
          </a:xfrm>
          <a:prstGeom prst="pie">
            <a:avLst>
              <a:gd name="adj1" fmla="val 10800000"/>
              <a:gd name="adj2" fmla="val 16200000"/>
            </a:avLst>
          </a:prstGeom>
          <a:solidFill>
            <a:srgbClr val="009A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000000"/>
              </a:solidFill>
              <a:ea typeface="Arial"/>
              <a:cs typeface="Arial"/>
              <a:sym typeface="Arial"/>
            </a:endParaRPr>
          </a:p>
        </p:txBody>
      </p:sp>
      <p:sp>
        <p:nvSpPr>
          <p:cNvPr id="478" name="Google Shape;478;p29"/>
          <p:cNvSpPr/>
          <p:nvPr/>
        </p:nvSpPr>
        <p:spPr>
          <a:xfrm flipH="1">
            <a:off x="9032297" y="3892484"/>
            <a:ext cx="325200" cy="325200"/>
          </a:xfrm>
          <a:prstGeom prst="ellipse">
            <a:avLst/>
          </a:prstGeom>
          <a:solidFill>
            <a:srgbClr val="FFFFFF"/>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FFFFFF"/>
              </a:solidFill>
              <a:ea typeface="Arial"/>
              <a:cs typeface="Arial"/>
              <a:sym typeface="Arial"/>
            </a:endParaRPr>
          </a:p>
        </p:txBody>
      </p:sp>
      <p:sp>
        <p:nvSpPr>
          <p:cNvPr id="479" name="Google Shape;479;p29"/>
          <p:cNvSpPr/>
          <p:nvPr/>
        </p:nvSpPr>
        <p:spPr>
          <a:xfrm flipH="1">
            <a:off x="9032297" y="3892484"/>
            <a:ext cx="325200" cy="325200"/>
          </a:xfrm>
          <a:prstGeom prst="pie">
            <a:avLst>
              <a:gd name="adj1" fmla="val 0"/>
              <a:gd name="adj2" fmla="val 16200000"/>
            </a:avLst>
          </a:prstGeom>
          <a:solidFill>
            <a:srgbClr val="009A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000000"/>
              </a:solidFill>
              <a:ea typeface="Arial"/>
              <a:cs typeface="Arial"/>
              <a:sym typeface="Arial"/>
            </a:endParaRPr>
          </a:p>
        </p:txBody>
      </p:sp>
      <p:sp>
        <p:nvSpPr>
          <p:cNvPr id="480" name="Google Shape;480;p29"/>
          <p:cNvSpPr/>
          <p:nvPr/>
        </p:nvSpPr>
        <p:spPr>
          <a:xfrm>
            <a:off x="831519" y="3812165"/>
            <a:ext cx="9242400" cy="467100"/>
          </a:xfrm>
          <a:prstGeom prst="rect">
            <a:avLst/>
          </a:prstGeom>
          <a:solidFill>
            <a:srgbClr val="979D9D">
              <a:alpha val="2392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FFFFFF"/>
              </a:solidFill>
              <a:ea typeface="Arial"/>
              <a:cs typeface="Arial"/>
              <a:sym typeface="Arial"/>
            </a:endParaRPr>
          </a:p>
        </p:txBody>
      </p:sp>
      <p:sp>
        <p:nvSpPr>
          <p:cNvPr id="481" name="Google Shape;481;p29"/>
          <p:cNvSpPr/>
          <p:nvPr/>
        </p:nvSpPr>
        <p:spPr>
          <a:xfrm>
            <a:off x="831519" y="4700256"/>
            <a:ext cx="9242400" cy="461700"/>
          </a:xfrm>
          <a:prstGeom prst="rect">
            <a:avLst/>
          </a:prstGeom>
          <a:solidFill>
            <a:srgbClr val="979D9D">
              <a:alpha val="2392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dirty="0">
              <a:solidFill>
                <a:srgbClr val="FFFFFF"/>
              </a:solidFill>
              <a:ea typeface="Arial"/>
              <a:cs typeface="Arial"/>
              <a:sym typeface="Arial"/>
            </a:endParaRPr>
          </a:p>
        </p:txBody>
      </p:sp>
      <p:sp>
        <p:nvSpPr>
          <p:cNvPr id="482" name="Google Shape;482;p29"/>
          <p:cNvSpPr/>
          <p:nvPr/>
        </p:nvSpPr>
        <p:spPr>
          <a:xfrm>
            <a:off x="10425221" y="2309731"/>
            <a:ext cx="230700" cy="219600"/>
          </a:xfrm>
          <a:prstGeom prst="ellipse">
            <a:avLst/>
          </a:prstGeom>
          <a:solidFill>
            <a:srgbClr val="FFFFFF"/>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dirty="0">
              <a:solidFill>
                <a:srgbClr val="FFFFFF"/>
              </a:solidFill>
              <a:ea typeface="Arial"/>
              <a:cs typeface="Arial"/>
              <a:sym typeface="Arial"/>
            </a:endParaRPr>
          </a:p>
        </p:txBody>
      </p:sp>
      <p:sp>
        <p:nvSpPr>
          <p:cNvPr id="483" name="Google Shape;483;p29"/>
          <p:cNvSpPr/>
          <p:nvPr/>
        </p:nvSpPr>
        <p:spPr>
          <a:xfrm>
            <a:off x="10425221" y="2309731"/>
            <a:ext cx="230700" cy="219600"/>
          </a:xfrm>
          <a:prstGeom prst="pie">
            <a:avLst>
              <a:gd name="adj1" fmla="val 5400000"/>
              <a:gd name="adj2" fmla="val 16200000"/>
            </a:avLst>
          </a:prstGeom>
          <a:solidFill>
            <a:srgbClr val="009A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dirty="0">
              <a:solidFill>
                <a:srgbClr val="000000"/>
              </a:solidFill>
              <a:ea typeface="Arial"/>
              <a:cs typeface="Arial"/>
              <a:sym typeface="Arial"/>
            </a:endParaRPr>
          </a:p>
        </p:txBody>
      </p:sp>
      <p:sp>
        <p:nvSpPr>
          <p:cNvPr id="484" name="Google Shape;484;p29"/>
          <p:cNvSpPr/>
          <p:nvPr/>
        </p:nvSpPr>
        <p:spPr>
          <a:xfrm>
            <a:off x="10424470" y="3181260"/>
            <a:ext cx="230700" cy="219600"/>
          </a:xfrm>
          <a:prstGeom prst="ellipse">
            <a:avLst/>
          </a:prstGeom>
          <a:solidFill>
            <a:srgbClr val="009AD7"/>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dirty="0">
              <a:solidFill>
                <a:srgbClr val="FFFFFF"/>
              </a:solidFill>
              <a:ea typeface="Arial"/>
              <a:cs typeface="Arial"/>
              <a:sym typeface="Arial"/>
            </a:endParaRPr>
          </a:p>
        </p:txBody>
      </p:sp>
      <p:sp>
        <p:nvSpPr>
          <p:cNvPr id="485" name="Google Shape;485;p29"/>
          <p:cNvSpPr/>
          <p:nvPr/>
        </p:nvSpPr>
        <p:spPr>
          <a:xfrm flipH="1">
            <a:off x="10424517" y="2737840"/>
            <a:ext cx="230700" cy="219600"/>
          </a:xfrm>
          <a:prstGeom prst="ellipse">
            <a:avLst/>
          </a:prstGeom>
          <a:solidFill>
            <a:srgbClr val="FFFFFF"/>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dirty="0">
              <a:solidFill>
                <a:srgbClr val="FFFFFF"/>
              </a:solidFill>
              <a:ea typeface="Arial"/>
              <a:cs typeface="Arial"/>
              <a:sym typeface="Arial"/>
            </a:endParaRPr>
          </a:p>
        </p:txBody>
      </p:sp>
      <p:sp>
        <p:nvSpPr>
          <p:cNvPr id="486" name="Google Shape;486;p29"/>
          <p:cNvSpPr/>
          <p:nvPr/>
        </p:nvSpPr>
        <p:spPr>
          <a:xfrm flipH="1">
            <a:off x="10424517" y="2737840"/>
            <a:ext cx="230700" cy="219600"/>
          </a:xfrm>
          <a:prstGeom prst="pie">
            <a:avLst>
              <a:gd name="adj1" fmla="val 0"/>
              <a:gd name="adj2" fmla="val 16200000"/>
            </a:avLst>
          </a:prstGeom>
          <a:solidFill>
            <a:srgbClr val="009A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dirty="0">
              <a:solidFill>
                <a:srgbClr val="000000"/>
              </a:solidFill>
              <a:ea typeface="Arial"/>
              <a:cs typeface="Arial"/>
              <a:sym typeface="Arial"/>
            </a:endParaRPr>
          </a:p>
        </p:txBody>
      </p:sp>
      <p:sp>
        <p:nvSpPr>
          <p:cNvPr id="487" name="Google Shape;487;p29"/>
          <p:cNvSpPr/>
          <p:nvPr/>
        </p:nvSpPr>
        <p:spPr>
          <a:xfrm flipH="1">
            <a:off x="10414758" y="1892003"/>
            <a:ext cx="230700" cy="219600"/>
          </a:xfrm>
          <a:prstGeom prst="ellipse">
            <a:avLst/>
          </a:prstGeom>
          <a:solidFill>
            <a:srgbClr val="FFFFFF"/>
          </a:solidFill>
          <a:ln w="25400" cap="flat" cmpd="sng">
            <a:solidFill>
              <a:srgbClr val="009AD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dirty="0">
              <a:solidFill>
                <a:srgbClr val="FFFFFF"/>
              </a:solidFill>
              <a:ea typeface="Arial"/>
              <a:cs typeface="Arial"/>
              <a:sym typeface="Arial"/>
            </a:endParaRPr>
          </a:p>
        </p:txBody>
      </p:sp>
      <p:sp>
        <p:nvSpPr>
          <p:cNvPr id="488" name="Google Shape;488;p29"/>
          <p:cNvSpPr/>
          <p:nvPr/>
        </p:nvSpPr>
        <p:spPr>
          <a:xfrm flipH="1">
            <a:off x="10414758" y="1892003"/>
            <a:ext cx="230700" cy="219600"/>
          </a:xfrm>
          <a:prstGeom prst="pie">
            <a:avLst>
              <a:gd name="adj1" fmla="val 10800000"/>
              <a:gd name="adj2" fmla="val 16200000"/>
            </a:avLst>
          </a:prstGeom>
          <a:solidFill>
            <a:srgbClr val="009A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dirty="0">
              <a:solidFill>
                <a:srgbClr val="000000"/>
              </a:solidFill>
              <a:ea typeface="Arial"/>
              <a:cs typeface="Arial"/>
              <a:sym typeface="Arial"/>
            </a:endParaRPr>
          </a:p>
        </p:txBody>
      </p:sp>
      <p:sp>
        <p:nvSpPr>
          <p:cNvPr id="489" name="Google Shape;489;p29"/>
          <p:cNvSpPr txBox="1"/>
          <p:nvPr/>
        </p:nvSpPr>
        <p:spPr>
          <a:xfrm>
            <a:off x="10671532" y="1843160"/>
            <a:ext cx="1252244" cy="1600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000000"/>
                </a:solidFill>
                <a:ea typeface="Arial"/>
                <a:cs typeface="Arial"/>
                <a:sym typeface="Arial"/>
              </a:rPr>
              <a:t>Minimal</a:t>
            </a:r>
            <a:endParaRPr lang="en-US" dirty="0"/>
          </a:p>
          <a:p>
            <a:pPr marL="0" marR="0" lvl="0" indent="0" algn="l" rtl="0">
              <a:spcBef>
                <a:spcPts val="0"/>
              </a:spcBef>
              <a:spcAft>
                <a:spcPts val="0"/>
              </a:spcAft>
              <a:buNone/>
            </a:pPr>
            <a:endParaRPr lang="en-US" sz="1400" dirty="0">
              <a:solidFill>
                <a:srgbClr val="000000"/>
              </a:solidFill>
              <a:ea typeface="Arial"/>
              <a:cs typeface="Arial"/>
              <a:sym typeface="Arial"/>
            </a:endParaRPr>
          </a:p>
          <a:p>
            <a:pPr marL="0" marR="0" lvl="0" indent="0" algn="l" rtl="0">
              <a:spcBef>
                <a:spcPts val="0"/>
              </a:spcBef>
              <a:spcAft>
                <a:spcPts val="0"/>
              </a:spcAft>
              <a:buNone/>
            </a:pPr>
            <a:r>
              <a:rPr lang="en-US" sz="1400" dirty="0">
                <a:solidFill>
                  <a:srgbClr val="000000"/>
                </a:solidFill>
                <a:ea typeface="Arial"/>
                <a:cs typeface="Arial"/>
                <a:sym typeface="Arial"/>
              </a:rPr>
              <a:t>Basic</a:t>
            </a:r>
            <a:endParaRPr lang="en-US" dirty="0"/>
          </a:p>
          <a:p>
            <a:pPr marL="0" marR="0" lvl="0" indent="0" algn="l" rtl="0">
              <a:spcBef>
                <a:spcPts val="0"/>
              </a:spcBef>
              <a:spcAft>
                <a:spcPts val="0"/>
              </a:spcAft>
              <a:buNone/>
            </a:pPr>
            <a:endParaRPr lang="en-US" sz="1400" dirty="0">
              <a:solidFill>
                <a:srgbClr val="000000"/>
              </a:solidFill>
              <a:ea typeface="Arial"/>
              <a:cs typeface="Arial"/>
              <a:sym typeface="Arial"/>
            </a:endParaRPr>
          </a:p>
          <a:p>
            <a:pPr marL="0" marR="0" lvl="0" indent="0" algn="l" rtl="0">
              <a:spcBef>
                <a:spcPts val="0"/>
              </a:spcBef>
              <a:spcAft>
                <a:spcPts val="0"/>
              </a:spcAft>
              <a:buNone/>
            </a:pPr>
            <a:r>
              <a:rPr lang="en-US" sz="1400" dirty="0">
                <a:solidFill>
                  <a:srgbClr val="000000"/>
                </a:solidFill>
                <a:ea typeface="Arial"/>
                <a:cs typeface="Arial"/>
                <a:sym typeface="Arial"/>
              </a:rPr>
              <a:t>Intermediate</a:t>
            </a:r>
            <a:endParaRPr lang="en-US" dirty="0"/>
          </a:p>
          <a:p>
            <a:pPr marL="0" marR="0" lvl="0" indent="0" algn="l" rtl="0">
              <a:spcBef>
                <a:spcPts val="0"/>
              </a:spcBef>
              <a:spcAft>
                <a:spcPts val="0"/>
              </a:spcAft>
              <a:buNone/>
            </a:pPr>
            <a:endParaRPr lang="en-US" sz="1400" dirty="0">
              <a:solidFill>
                <a:srgbClr val="000000"/>
              </a:solidFill>
              <a:ea typeface="Arial"/>
              <a:cs typeface="Arial"/>
              <a:sym typeface="Arial"/>
            </a:endParaRPr>
          </a:p>
          <a:p>
            <a:pPr marL="0" marR="0" lvl="0" indent="0" algn="l" rtl="0">
              <a:spcBef>
                <a:spcPts val="0"/>
              </a:spcBef>
              <a:spcAft>
                <a:spcPts val="0"/>
              </a:spcAft>
              <a:buNone/>
            </a:pPr>
            <a:r>
              <a:rPr lang="en-US" sz="1400" dirty="0">
                <a:solidFill>
                  <a:srgbClr val="000000"/>
                </a:solidFill>
                <a:ea typeface="Arial"/>
                <a:cs typeface="Arial"/>
                <a:sym typeface="Arial"/>
              </a:rPr>
              <a:t>Full</a:t>
            </a:r>
            <a:endParaRPr lang="en-US" dirty="0"/>
          </a:p>
        </p:txBody>
      </p:sp>
      <p:sp>
        <p:nvSpPr>
          <p:cNvPr id="490" name="Google Shape;490;p29"/>
          <p:cNvSpPr txBox="1"/>
          <p:nvPr/>
        </p:nvSpPr>
        <p:spPr>
          <a:xfrm>
            <a:off x="373152" y="868111"/>
            <a:ext cx="11358600" cy="6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dirty="0">
                <a:solidFill>
                  <a:srgbClr val="000000"/>
                </a:solidFill>
                <a:ea typeface="Arial"/>
                <a:cs typeface="Arial"/>
                <a:sym typeface="Arial"/>
              </a:rPr>
              <a:t>Required knowledge and skill levels will vary across goals. Leverage this illustrative model and document current and required literacy levels for your roles.</a:t>
            </a:r>
            <a:endParaRPr lang="en-US" dirty="0"/>
          </a:p>
        </p:txBody>
      </p:sp>
      <p:sp>
        <p:nvSpPr>
          <p:cNvPr id="491" name="Google Shape;491;p29"/>
          <p:cNvSpPr txBox="1"/>
          <p:nvPr/>
        </p:nvSpPr>
        <p:spPr>
          <a:xfrm>
            <a:off x="457200" y="5443166"/>
            <a:ext cx="10226400" cy="861734"/>
          </a:xfrm>
          <a:prstGeom prst="rect">
            <a:avLst/>
          </a:prstGeom>
          <a:noFill/>
          <a:ln>
            <a:noFill/>
          </a:ln>
        </p:spPr>
        <p:txBody>
          <a:bodyPr spcFirstLastPara="1" wrap="square" lIns="91425" tIns="45700" rIns="91425" bIns="45700" anchor="t" anchorCtr="0">
            <a:spAutoFit/>
          </a:bodyPr>
          <a:lstStyle/>
          <a:p>
            <a:r>
              <a:rPr lang="en-US" sz="1600" dirty="0">
                <a:solidFill>
                  <a:srgbClr val="000000"/>
                </a:solidFill>
                <a:ea typeface="Arial"/>
                <a:cs typeface="Arial"/>
                <a:sym typeface="Arial"/>
              </a:rPr>
              <a:t>Note: You may leverage </a:t>
            </a:r>
            <a:r>
              <a:rPr lang="en-US" sz="1600" dirty="0">
                <a:solidFill>
                  <a:schemeClr val="tx1"/>
                </a:solidFill>
                <a:ea typeface="Arial"/>
                <a:cs typeface="Arial"/>
                <a:sym typeface="Arial"/>
              </a:rPr>
              <a:t>Gartner’s </a:t>
            </a:r>
            <a:r>
              <a:rPr lang="en-US" sz="1600" u="sng" dirty="0">
                <a:solidFill>
                  <a:srgbClr val="0052D6"/>
                </a:solidFill>
                <a:ea typeface="Arial"/>
                <a:cs typeface="Arial"/>
                <a:sym typeface="Arial"/>
                <a:hlinkClick r:id="rId3"/>
              </a:rPr>
              <a:t>Create an AI Literacy Roadmap to Drive Responsible and Productive AI</a:t>
            </a:r>
            <a:r>
              <a:rPr lang="en-US" sz="1600" dirty="0"/>
              <a:t> and </a:t>
            </a:r>
            <a:r>
              <a:rPr lang="en-US" sz="1600" dirty="0">
                <a:hlinkClick r:id="rId4"/>
              </a:rPr>
              <a:t>Develop AI-Ready HR Talent Beyond AI Literacy Foundations</a:t>
            </a:r>
            <a:r>
              <a:rPr lang="en-US" sz="1600" dirty="0"/>
              <a:t> </a:t>
            </a:r>
            <a:r>
              <a:rPr lang="en-US" sz="1600" dirty="0">
                <a:solidFill>
                  <a:srgbClr val="000000"/>
                </a:solidFill>
                <a:ea typeface="Arial"/>
                <a:cs typeface="Arial"/>
                <a:sym typeface="Arial"/>
              </a:rPr>
              <a:t>for further guidance on building AI literacy and skills.</a:t>
            </a:r>
            <a:endParaRPr lang="en-US" sz="1200" dirty="0"/>
          </a:p>
        </p:txBody>
      </p:sp>
      <p:sp>
        <p:nvSpPr>
          <p:cNvPr id="492" name="Google Shape;492;p29"/>
          <p:cNvSpPr txBox="1"/>
          <p:nvPr/>
        </p:nvSpPr>
        <p:spPr>
          <a:xfrm>
            <a:off x="831518" y="4354142"/>
            <a:ext cx="875400" cy="32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dirty="0">
                <a:solidFill>
                  <a:srgbClr val="000000"/>
                </a:solidFill>
                <a:ea typeface="Arial"/>
                <a:cs typeface="Arial"/>
                <a:sym typeface="Arial"/>
              </a:rPr>
              <a:t>HR staff</a:t>
            </a:r>
            <a:endParaRPr lang="en-US" dirty="0"/>
          </a:p>
        </p:txBody>
      </p:sp>
      <p:sp>
        <p:nvSpPr>
          <p:cNvPr id="493" name="Google Shape;493;p29"/>
          <p:cNvSpPr txBox="1"/>
          <p:nvPr/>
        </p:nvSpPr>
        <p:spPr>
          <a:xfrm>
            <a:off x="831518" y="4769497"/>
            <a:ext cx="1395000" cy="32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dirty="0">
                <a:solidFill>
                  <a:srgbClr val="000000"/>
                </a:solidFill>
                <a:ea typeface="Arial"/>
                <a:cs typeface="Arial"/>
                <a:sym typeface="Arial"/>
              </a:rPr>
              <a:t>AI champions</a:t>
            </a:r>
            <a:endParaRPr lang="en-US" dirty="0"/>
          </a:p>
        </p:txBody>
      </p:sp>
      <p:grpSp>
        <p:nvGrpSpPr>
          <p:cNvPr id="494" name="Google Shape;494;p29"/>
          <p:cNvGrpSpPr/>
          <p:nvPr/>
        </p:nvGrpSpPr>
        <p:grpSpPr>
          <a:xfrm>
            <a:off x="3037040" y="1613398"/>
            <a:ext cx="7284090" cy="4825309"/>
            <a:chOff x="2427440" y="911202"/>
            <a:chExt cx="7284090" cy="4825309"/>
          </a:xfrm>
        </p:grpSpPr>
        <p:sp>
          <p:nvSpPr>
            <p:cNvPr id="495" name="Google Shape;495;p29"/>
            <p:cNvSpPr/>
            <p:nvPr/>
          </p:nvSpPr>
          <p:spPr>
            <a:xfrm>
              <a:off x="4174946" y="911202"/>
              <a:ext cx="1747506" cy="2009632"/>
            </a:xfrm>
            <a:custGeom>
              <a:avLst/>
              <a:gdLst/>
              <a:ahLst/>
              <a:cxnLst/>
              <a:rect l="l" t="t" r="r" b="b"/>
              <a:pathLst>
                <a:path w="2008628" h="1747506" extrusionOk="0">
                  <a:moveTo>
                    <a:pt x="1004314" y="0"/>
                  </a:moveTo>
                  <a:lnTo>
                    <a:pt x="2008627" y="380083"/>
                  </a:lnTo>
                  <a:lnTo>
                    <a:pt x="2008627" y="1367424"/>
                  </a:lnTo>
                  <a:lnTo>
                    <a:pt x="1004314" y="1747506"/>
                  </a:lnTo>
                  <a:lnTo>
                    <a:pt x="1" y="1367424"/>
                  </a:lnTo>
                  <a:lnTo>
                    <a:pt x="1" y="380083"/>
                  </a:lnTo>
                  <a:lnTo>
                    <a:pt x="1004314" y="0"/>
                  </a:lnTo>
                  <a:close/>
                </a:path>
              </a:pathLst>
            </a:custGeom>
            <a:solidFill>
              <a:srgbClr val="002856"/>
            </a:solidFill>
            <a:ln w="25400" cap="flat" cmpd="sng">
              <a:solidFill>
                <a:srgbClr val="FFFFFF"/>
              </a:solidFill>
              <a:prstDash val="solid"/>
              <a:round/>
              <a:headEnd type="none" w="sm" len="sm"/>
              <a:tailEnd type="none" w="sm" len="sm"/>
            </a:ln>
          </p:spPr>
          <p:txBody>
            <a:bodyPr spcFirstLastPara="1" wrap="square" lIns="0" tIns="431100" rIns="0" bIns="431100" anchor="ctr" anchorCtr="0">
              <a:noAutofit/>
            </a:bodyPr>
            <a:lstStyle/>
            <a:p>
              <a:pPr marL="0" marR="0" lvl="0" indent="0" algn="ctr" rtl="0">
                <a:lnSpc>
                  <a:spcPct val="90000"/>
                </a:lnSpc>
                <a:spcBef>
                  <a:spcPts val="0"/>
                </a:spcBef>
                <a:spcAft>
                  <a:spcPts val="0"/>
                </a:spcAft>
                <a:buClr>
                  <a:srgbClr val="FFFFFF"/>
                </a:buClr>
                <a:buSzPts val="1400"/>
                <a:buFont typeface="Arial"/>
                <a:buNone/>
              </a:pPr>
              <a:r>
                <a:rPr lang="en-US" sz="1400" dirty="0">
                  <a:solidFill>
                    <a:srgbClr val="FFFFFF"/>
                  </a:solidFill>
                  <a:ea typeface="Arial"/>
                  <a:cs typeface="Arial"/>
                  <a:sym typeface="Arial"/>
                </a:rPr>
                <a:t>AI value:</a:t>
              </a:r>
              <a:endParaRPr lang="en-US" dirty="0"/>
            </a:p>
            <a:p>
              <a:pPr marL="0" marR="0" lvl="0" indent="0" algn="ctr" rtl="0">
                <a:lnSpc>
                  <a:spcPct val="90000"/>
                </a:lnSpc>
                <a:spcBef>
                  <a:spcPts val="490"/>
                </a:spcBef>
                <a:spcAft>
                  <a:spcPts val="0"/>
                </a:spcAft>
                <a:buClr>
                  <a:srgbClr val="FFFFFF"/>
                </a:buClr>
                <a:buSzPts val="1400"/>
                <a:buFont typeface="Arial"/>
                <a:buNone/>
              </a:pPr>
              <a:r>
                <a:rPr lang="en-US" sz="1400" dirty="0">
                  <a:solidFill>
                    <a:srgbClr val="FFFFFF"/>
                  </a:solidFill>
                  <a:ea typeface="Arial"/>
                  <a:cs typeface="Arial"/>
                  <a:sym typeface="Arial"/>
                </a:rPr>
                <a:t>Use cases, benefits, costs, effective use, change management and culture</a:t>
              </a:r>
            </a:p>
          </p:txBody>
        </p:sp>
        <p:sp>
          <p:nvSpPr>
            <p:cNvPr id="496" name="Google Shape;496;p29"/>
            <p:cNvSpPr/>
            <p:nvPr/>
          </p:nvSpPr>
          <p:spPr>
            <a:xfrm>
              <a:off x="7469901" y="1121487"/>
              <a:ext cx="2241629" cy="1205177"/>
            </a:xfrm>
            <a:custGeom>
              <a:avLst/>
              <a:gdLst/>
              <a:ahLst/>
              <a:cxnLst/>
              <a:rect l="l" t="t" r="r" b="b"/>
              <a:pathLst>
                <a:path w="2241629" h="1205177" extrusionOk="0">
                  <a:moveTo>
                    <a:pt x="0" y="0"/>
                  </a:moveTo>
                  <a:lnTo>
                    <a:pt x="2241629" y="0"/>
                  </a:lnTo>
                  <a:lnTo>
                    <a:pt x="2241629" y="1205177"/>
                  </a:lnTo>
                  <a:lnTo>
                    <a:pt x="0" y="1205177"/>
                  </a:lnTo>
                  <a:lnTo>
                    <a:pt x="0" y="0"/>
                  </a:lnTo>
                  <a:close/>
                </a:path>
              </a:pathLst>
            </a:custGeom>
            <a:noFill/>
            <a:ln>
              <a:noFill/>
            </a:ln>
          </p:spPr>
          <p:txBody>
            <a:bodyPr spcFirstLastPara="1" wrap="square" lIns="137150" tIns="137150" rIns="137150" bIns="137150" anchor="ctr" anchorCtr="0">
              <a:noAutofit/>
            </a:bodyPr>
            <a:lstStyle/>
            <a:p>
              <a:pPr marL="0" marR="0" lvl="0" indent="0" algn="l" rtl="0">
                <a:lnSpc>
                  <a:spcPct val="90000"/>
                </a:lnSpc>
                <a:spcBef>
                  <a:spcPts val="0"/>
                </a:spcBef>
                <a:spcAft>
                  <a:spcPts val="0"/>
                </a:spcAft>
                <a:buClr>
                  <a:srgbClr val="000000"/>
                </a:buClr>
                <a:buSzPts val="3600"/>
                <a:buFont typeface="Arial"/>
                <a:buNone/>
              </a:pPr>
              <a:endParaRPr sz="3600" dirty="0">
                <a:solidFill>
                  <a:srgbClr val="000000"/>
                </a:solidFill>
                <a:ea typeface="Arial"/>
                <a:cs typeface="Arial"/>
                <a:sym typeface="Arial"/>
              </a:endParaRPr>
            </a:p>
          </p:txBody>
        </p:sp>
        <p:sp>
          <p:nvSpPr>
            <p:cNvPr id="497" name="Google Shape;497;p29"/>
            <p:cNvSpPr/>
            <p:nvPr/>
          </p:nvSpPr>
          <p:spPr>
            <a:xfrm>
              <a:off x="2427440" y="911202"/>
              <a:ext cx="1747506" cy="2009632"/>
            </a:xfrm>
            <a:custGeom>
              <a:avLst/>
              <a:gdLst/>
              <a:ahLst/>
              <a:cxnLst/>
              <a:rect l="l" t="t" r="r" b="b"/>
              <a:pathLst>
                <a:path w="2008628" h="1747506" extrusionOk="0">
                  <a:moveTo>
                    <a:pt x="1004314" y="0"/>
                  </a:moveTo>
                  <a:lnTo>
                    <a:pt x="2008627" y="380083"/>
                  </a:lnTo>
                  <a:lnTo>
                    <a:pt x="2008627" y="1367424"/>
                  </a:lnTo>
                  <a:lnTo>
                    <a:pt x="1004314" y="1747506"/>
                  </a:lnTo>
                  <a:lnTo>
                    <a:pt x="1" y="1367424"/>
                  </a:lnTo>
                  <a:lnTo>
                    <a:pt x="1" y="380083"/>
                  </a:lnTo>
                  <a:lnTo>
                    <a:pt x="1004314" y="0"/>
                  </a:lnTo>
                  <a:close/>
                </a:path>
              </a:pathLst>
            </a:custGeom>
            <a:solidFill>
              <a:srgbClr val="002856"/>
            </a:solidFill>
            <a:ln w="25400" cap="flat" cmpd="sng">
              <a:solidFill>
                <a:srgbClr val="FFFFFF"/>
              </a:solidFill>
              <a:prstDash val="solid"/>
              <a:round/>
              <a:headEnd type="none" w="sm" len="sm"/>
              <a:tailEnd type="none" w="sm" len="sm"/>
            </a:ln>
          </p:spPr>
          <p:txBody>
            <a:bodyPr spcFirstLastPara="1" wrap="square" lIns="0" tIns="313000" rIns="0" bIns="313000" anchor="ctr" anchorCtr="0">
              <a:noAutofit/>
            </a:bodyPr>
            <a:lstStyle/>
            <a:p>
              <a:pPr marL="0" marR="0" lvl="0" indent="0" algn="ctr" rtl="0">
                <a:lnSpc>
                  <a:spcPct val="90000"/>
                </a:lnSpc>
                <a:spcBef>
                  <a:spcPts val="0"/>
                </a:spcBef>
                <a:spcAft>
                  <a:spcPts val="0"/>
                </a:spcAft>
                <a:buClr>
                  <a:srgbClr val="FFFFFF"/>
                </a:buClr>
                <a:buSzPts val="1400"/>
                <a:buFont typeface="Arial"/>
                <a:buNone/>
              </a:pPr>
              <a:r>
                <a:rPr lang="en-US" sz="1400" dirty="0">
                  <a:solidFill>
                    <a:srgbClr val="FFFFFF"/>
                  </a:solidFill>
                  <a:ea typeface="Arial"/>
                  <a:cs typeface="Arial"/>
                  <a:sym typeface="Arial"/>
                </a:rPr>
                <a:t>AI foundations:</a:t>
              </a:r>
            </a:p>
            <a:p>
              <a:pPr marL="0" marR="0" lvl="0" indent="0" algn="ctr" rtl="0">
                <a:lnSpc>
                  <a:spcPct val="90000"/>
                </a:lnSpc>
                <a:spcBef>
                  <a:spcPts val="490"/>
                </a:spcBef>
                <a:spcAft>
                  <a:spcPts val="0"/>
                </a:spcAft>
                <a:buClr>
                  <a:srgbClr val="FFFFFF"/>
                </a:buClr>
                <a:buSzPts val="1400"/>
                <a:buFont typeface="Arial"/>
                <a:buNone/>
              </a:pPr>
              <a:r>
                <a:rPr lang="en-US" sz="1400" dirty="0">
                  <a:solidFill>
                    <a:srgbClr val="FFFFFF"/>
                  </a:solidFill>
                  <a:ea typeface="Arial"/>
                  <a:cs typeface="Arial"/>
                  <a:sym typeface="Arial"/>
                </a:rPr>
                <a:t>Concepts, applications, techniques, methods and practices</a:t>
              </a:r>
            </a:p>
          </p:txBody>
        </p:sp>
        <p:sp>
          <p:nvSpPr>
            <p:cNvPr id="498" name="Google Shape;498;p29"/>
            <p:cNvSpPr/>
            <p:nvPr/>
          </p:nvSpPr>
          <p:spPr>
            <a:xfrm>
              <a:off x="7716962" y="911202"/>
              <a:ext cx="1747506" cy="2009632"/>
            </a:xfrm>
            <a:custGeom>
              <a:avLst/>
              <a:gdLst/>
              <a:ahLst/>
              <a:cxnLst/>
              <a:rect l="l" t="t" r="r" b="b"/>
              <a:pathLst>
                <a:path w="2008628" h="1747506" extrusionOk="0">
                  <a:moveTo>
                    <a:pt x="1004314" y="0"/>
                  </a:moveTo>
                  <a:lnTo>
                    <a:pt x="2008627" y="380083"/>
                  </a:lnTo>
                  <a:lnTo>
                    <a:pt x="2008627" y="1367424"/>
                  </a:lnTo>
                  <a:lnTo>
                    <a:pt x="1004314" y="1747506"/>
                  </a:lnTo>
                  <a:lnTo>
                    <a:pt x="1" y="1367424"/>
                  </a:lnTo>
                  <a:lnTo>
                    <a:pt x="1" y="380083"/>
                  </a:lnTo>
                  <a:lnTo>
                    <a:pt x="1004314" y="0"/>
                  </a:lnTo>
                  <a:close/>
                </a:path>
              </a:pathLst>
            </a:custGeom>
            <a:solidFill>
              <a:srgbClr val="002856"/>
            </a:solidFill>
            <a:ln w="25400" cap="flat" cmpd="sng">
              <a:solidFill>
                <a:srgbClr val="FFFFFF"/>
              </a:solidFill>
              <a:prstDash val="solid"/>
              <a:round/>
              <a:headEnd type="none" w="sm" len="sm"/>
              <a:tailEnd type="none" w="sm" len="sm"/>
            </a:ln>
          </p:spPr>
          <p:txBody>
            <a:bodyPr spcFirstLastPara="1" wrap="square" lIns="0" tIns="431100" rIns="0" bIns="431100" anchor="ctr" anchorCtr="0">
              <a:noAutofit/>
            </a:bodyPr>
            <a:lstStyle/>
            <a:p>
              <a:pPr marL="0" marR="0" lvl="0" indent="0" algn="ctr" rtl="0">
                <a:lnSpc>
                  <a:spcPct val="90000"/>
                </a:lnSpc>
                <a:spcBef>
                  <a:spcPts val="0"/>
                </a:spcBef>
                <a:spcAft>
                  <a:spcPts val="0"/>
                </a:spcAft>
                <a:buClr>
                  <a:srgbClr val="FFFFFF"/>
                </a:buClr>
                <a:buSzPts val="1400"/>
                <a:buFont typeface="Arial"/>
                <a:buNone/>
              </a:pPr>
              <a:r>
                <a:rPr lang="en-US" sz="1400" dirty="0">
                  <a:solidFill>
                    <a:srgbClr val="FFFFFF"/>
                  </a:solidFill>
                  <a:ea typeface="Arial"/>
                  <a:cs typeface="Arial"/>
                  <a:sym typeface="Arial"/>
                </a:rPr>
                <a:t>AI governance:</a:t>
              </a:r>
              <a:endParaRPr lang="en-US" dirty="0"/>
            </a:p>
            <a:p>
              <a:pPr marL="0" marR="0" lvl="0" indent="0" algn="ctr" rtl="0">
                <a:lnSpc>
                  <a:spcPct val="90000"/>
                </a:lnSpc>
                <a:spcBef>
                  <a:spcPts val="490"/>
                </a:spcBef>
                <a:spcAft>
                  <a:spcPts val="0"/>
                </a:spcAft>
                <a:buClr>
                  <a:srgbClr val="FFFFFF"/>
                </a:buClr>
                <a:buSzPts val="1400"/>
                <a:buFont typeface="Arial"/>
                <a:buNone/>
              </a:pPr>
              <a:r>
                <a:rPr lang="en-US" sz="1400" dirty="0">
                  <a:solidFill>
                    <a:srgbClr val="FFFFFF"/>
                  </a:solidFill>
                  <a:ea typeface="Arial"/>
                  <a:cs typeface="Arial"/>
                  <a:sym typeface="Arial"/>
                </a:rPr>
                <a:t>Regulations, policies, ethics, risk management, trust, explainability and data governance</a:t>
              </a:r>
            </a:p>
          </p:txBody>
        </p:sp>
        <p:sp>
          <p:nvSpPr>
            <p:cNvPr id="499" name="Google Shape;499;p29"/>
            <p:cNvSpPr/>
            <p:nvPr/>
          </p:nvSpPr>
          <p:spPr>
            <a:xfrm>
              <a:off x="2480468" y="2826410"/>
              <a:ext cx="2169318" cy="1205177"/>
            </a:xfrm>
            <a:custGeom>
              <a:avLst/>
              <a:gdLst/>
              <a:ahLst/>
              <a:cxnLst/>
              <a:rect l="l" t="t" r="r" b="b"/>
              <a:pathLst>
                <a:path w="2169318" h="1205177" extrusionOk="0">
                  <a:moveTo>
                    <a:pt x="0" y="0"/>
                  </a:moveTo>
                  <a:lnTo>
                    <a:pt x="2169318" y="0"/>
                  </a:lnTo>
                  <a:lnTo>
                    <a:pt x="2169318" y="1205177"/>
                  </a:lnTo>
                  <a:lnTo>
                    <a:pt x="0" y="1205177"/>
                  </a:lnTo>
                  <a:lnTo>
                    <a:pt x="0" y="0"/>
                  </a:lnTo>
                  <a:close/>
                </a:path>
              </a:pathLst>
            </a:custGeom>
            <a:noFill/>
            <a:ln>
              <a:noFill/>
            </a:ln>
          </p:spPr>
          <p:txBody>
            <a:bodyPr spcFirstLastPara="1" wrap="square" lIns="137150" tIns="137150" rIns="137150" bIns="137150" anchor="ctr" anchorCtr="0">
              <a:noAutofit/>
            </a:bodyPr>
            <a:lstStyle/>
            <a:p>
              <a:pPr marL="0" marR="0" lvl="0" indent="0" algn="r" rtl="0">
                <a:lnSpc>
                  <a:spcPct val="90000"/>
                </a:lnSpc>
                <a:spcBef>
                  <a:spcPts val="0"/>
                </a:spcBef>
                <a:spcAft>
                  <a:spcPts val="0"/>
                </a:spcAft>
                <a:buClr>
                  <a:srgbClr val="000000"/>
                </a:buClr>
                <a:buSzPts val="3600"/>
                <a:buFont typeface="Arial"/>
                <a:buNone/>
              </a:pPr>
              <a:endParaRPr sz="3600" dirty="0">
                <a:solidFill>
                  <a:srgbClr val="000000"/>
                </a:solidFill>
                <a:ea typeface="Arial"/>
                <a:cs typeface="Arial"/>
                <a:sym typeface="Arial"/>
              </a:endParaRPr>
            </a:p>
          </p:txBody>
        </p:sp>
        <p:sp>
          <p:nvSpPr>
            <p:cNvPr id="500" name="Google Shape;500;p29"/>
            <p:cNvSpPr/>
            <p:nvPr/>
          </p:nvSpPr>
          <p:spPr>
            <a:xfrm>
              <a:off x="5943208" y="911202"/>
              <a:ext cx="1747506" cy="2009632"/>
            </a:xfrm>
            <a:custGeom>
              <a:avLst/>
              <a:gdLst/>
              <a:ahLst/>
              <a:cxnLst/>
              <a:rect l="l" t="t" r="r" b="b"/>
              <a:pathLst>
                <a:path w="2008628" h="1747506" extrusionOk="0">
                  <a:moveTo>
                    <a:pt x="1004314" y="0"/>
                  </a:moveTo>
                  <a:lnTo>
                    <a:pt x="2008627" y="380083"/>
                  </a:lnTo>
                  <a:lnTo>
                    <a:pt x="2008627" y="1367424"/>
                  </a:lnTo>
                  <a:lnTo>
                    <a:pt x="1004314" y="1747506"/>
                  </a:lnTo>
                  <a:lnTo>
                    <a:pt x="1" y="1367424"/>
                  </a:lnTo>
                  <a:lnTo>
                    <a:pt x="1" y="380083"/>
                  </a:lnTo>
                  <a:lnTo>
                    <a:pt x="1004314" y="0"/>
                  </a:lnTo>
                  <a:close/>
                </a:path>
              </a:pathLst>
            </a:custGeom>
            <a:solidFill>
              <a:srgbClr val="002856"/>
            </a:solidFill>
            <a:ln w="25400" cap="flat" cmpd="sng">
              <a:solidFill>
                <a:srgbClr val="FFFFFF"/>
              </a:solidFill>
              <a:prstDash val="solid"/>
              <a:round/>
              <a:headEnd type="none" w="sm" len="sm"/>
              <a:tailEnd type="none" w="sm" len="sm"/>
            </a:ln>
          </p:spPr>
          <p:txBody>
            <a:bodyPr spcFirstLastPara="1" wrap="square" lIns="0" tIns="313000" rIns="0" bIns="313000" anchor="ctr" anchorCtr="0">
              <a:noAutofit/>
            </a:bodyPr>
            <a:lstStyle/>
            <a:p>
              <a:pPr marL="0" marR="0" lvl="0" indent="0" algn="ctr" rtl="0">
                <a:lnSpc>
                  <a:spcPct val="90000"/>
                </a:lnSpc>
                <a:spcBef>
                  <a:spcPts val="0"/>
                </a:spcBef>
                <a:spcAft>
                  <a:spcPts val="0"/>
                </a:spcAft>
                <a:buClr>
                  <a:srgbClr val="FFFFFF"/>
                </a:buClr>
                <a:buSzPts val="1400"/>
                <a:buFont typeface="Arial"/>
                <a:buNone/>
              </a:pPr>
              <a:r>
                <a:rPr lang="en-US" sz="1400" dirty="0">
                  <a:solidFill>
                    <a:srgbClr val="FFFFFF"/>
                  </a:solidFill>
                  <a:ea typeface="Arial"/>
                  <a:cs typeface="Arial"/>
                  <a:sym typeface="Arial"/>
                </a:rPr>
                <a:t>AI designing:</a:t>
              </a:r>
              <a:endParaRPr lang="en-US" dirty="0"/>
            </a:p>
            <a:p>
              <a:pPr marL="0" marR="0" lvl="0" indent="0" algn="ctr" rtl="0">
                <a:lnSpc>
                  <a:spcPct val="90000"/>
                </a:lnSpc>
                <a:spcBef>
                  <a:spcPts val="490"/>
                </a:spcBef>
                <a:spcAft>
                  <a:spcPts val="0"/>
                </a:spcAft>
                <a:buClr>
                  <a:srgbClr val="FFFFFF"/>
                </a:buClr>
                <a:buSzPts val="1400"/>
                <a:buFont typeface="Arial"/>
                <a:buNone/>
              </a:pPr>
              <a:r>
                <a:rPr lang="en-US" sz="1400" dirty="0">
                  <a:solidFill>
                    <a:srgbClr val="FFFFFF"/>
                  </a:solidFill>
                  <a:ea typeface="Arial"/>
                  <a:cs typeface="Arial"/>
                  <a:sym typeface="Arial"/>
                </a:rPr>
                <a:t>Design, build or buy decisions; validation, deployment; monitoring and analytics </a:t>
              </a:r>
              <a:endParaRPr lang="en-US" dirty="0"/>
            </a:p>
          </p:txBody>
        </p:sp>
        <p:sp>
          <p:nvSpPr>
            <p:cNvPr id="501" name="Google Shape;501;p29"/>
            <p:cNvSpPr/>
            <p:nvPr/>
          </p:nvSpPr>
          <p:spPr>
            <a:xfrm>
              <a:off x="7469901" y="4531334"/>
              <a:ext cx="2241629" cy="1205177"/>
            </a:xfrm>
            <a:custGeom>
              <a:avLst/>
              <a:gdLst/>
              <a:ahLst/>
              <a:cxnLst/>
              <a:rect l="l" t="t" r="r" b="b"/>
              <a:pathLst>
                <a:path w="2241629" h="1205177" extrusionOk="0">
                  <a:moveTo>
                    <a:pt x="0" y="0"/>
                  </a:moveTo>
                  <a:lnTo>
                    <a:pt x="2241629" y="0"/>
                  </a:lnTo>
                  <a:lnTo>
                    <a:pt x="2241629" y="1205177"/>
                  </a:lnTo>
                  <a:lnTo>
                    <a:pt x="0" y="1205177"/>
                  </a:lnTo>
                  <a:lnTo>
                    <a:pt x="0" y="0"/>
                  </a:lnTo>
                  <a:close/>
                </a:path>
              </a:pathLst>
            </a:custGeom>
            <a:noFill/>
            <a:ln>
              <a:noFill/>
            </a:ln>
          </p:spPr>
          <p:txBody>
            <a:bodyPr spcFirstLastPara="1" wrap="square" lIns="137150" tIns="137150" rIns="137150" bIns="137150" anchor="ctr" anchorCtr="0">
              <a:noAutofit/>
            </a:bodyPr>
            <a:lstStyle/>
            <a:p>
              <a:pPr marL="0" marR="0" lvl="0" indent="0" algn="l" rtl="0">
                <a:lnSpc>
                  <a:spcPct val="90000"/>
                </a:lnSpc>
                <a:spcBef>
                  <a:spcPts val="0"/>
                </a:spcBef>
                <a:spcAft>
                  <a:spcPts val="0"/>
                </a:spcAft>
                <a:buClr>
                  <a:srgbClr val="000000"/>
                </a:buClr>
                <a:buSzPts val="3600"/>
                <a:buFont typeface="Arial"/>
                <a:buNone/>
              </a:pPr>
              <a:endParaRPr sz="3600" dirty="0">
                <a:solidFill>
                  <a:srgbClr val="000000"/>
                </a:solidFil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30"/>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Alignment: Overview of Activities</a:t>
            </a:r>
          </a:p>
        </p:txBody>
      </p:sp>
      <p:sp>
        <p:nvSpPr>
          <p:cNvPr id="507" name="Google Shape;507;p30"/>
          <p:cNvSpPr txBox="1">
            <a:spLocks noGrp="1"/>
          </p:cNvSpPr>
          <p:nvPr>
            <p:ph type="body" idx="1"/>
          </p:nvPr>
        </p:nvSpPr>
        <p:spPr>
          <a:xfrm>
            <a:off x="5935330" y="1022168"/>
            <a:ext cx="5796421" cy="4813663"/>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None/>
            </a:pPr>
            <a:r>
              <a:rPr lang="en-US" dirty="0"/>
              <a:t>Align to other </a:t>
            </a:r>
            <a:r>
              <a:rPr lang="en-US" b="1" dirty="0"/>
              <a:t>organizational strategies:</a:t>
            </a:r>
            <a:endParaRPr lang="en-US" dirty="0"/>
          </a:p>
          <a:p>
            <a:pPr marL="742950" lvl="1" indent="-457200" algn="l" rtl="0">
              <a:lnSpc>
                <a:spcPct val="90000"/>
              </a:lnSpc>
              <a:spcBef>
                <a:spcPts val="1200"/>
              </a:spcBef>
              <a:spcAft>
                <a:spcPts val="0"/>
              </a:spcAft>
              <a:buClr>
                <a:schemeClr val="dk1"/>
              </a:buClr>
              <a:buSzPts val="2400"/>
              <a:buFont typeface="Arial"/>
              <a:buChar char="•"/>
            </a:pPr>
            <a:r>
              <a:rPr lang="en-US" dirty="0"/>
              <a:t>HR business and HR technology</a:t>
            </a:r>
          </a:p>
          <a:p>
            <a:pPr marL="742950" lvl="1" indent="-457200" algn="l" rtl="0">
              <a:lnSpc>
                <a:spcPct val="90000"/>
              </a:lnSpc>
              <a:spcBef>
                <a:spcPts val="1200"/>
              </a:spcBef>
              <a:spcAft>
                <a:spcPts val="0"/>
              </a:spcAft>
              <a:buClr>
                <a:schemeClr val="dk1"/>
              </a:buClr>
              <a:buSzPts val="2400"/>
              <a:buFont typeface="Arial"/>
              <a:buChar char="•"/>
            </a:pPr>
            <a:r>
              <a:rPr lang="en-US" dirty="0"/>
              <a:t>Enterprise</a:t>
            </a:r>
          </a:p>
          <a:p>
            <a:pPr marL="0" lvl="0" indent="0" algn="l" rtl="0">
              <a:lnSpc>
                <a:spcPct val="90000"/>
              </a:lnSpc>
              <a:spcBef>
                <a:spcPts val="1200"/>
              </a:spcBef>
              <a:spcAft>
                <a:spcPts val="0"/>
              </a:spcAft>
              <a:buClr>
                <a:schemeClr val="dk1"/>
              </a:buClr>
              <a:buSzPts val="2400"/>
              <a:buNone/>
            </a:pPr>
            <a:endParaRPr dirty="0"/>
          </a:p>
        </p:txBody>
      </p:sp>
      <p:grpSp>
        <p:nvGrpSpPr>
          <p:cNvPr id="508" name="Google Shape;508;p30"/>
          <p:cNvGrpSpPr/>
          <p:nvPr/>
        </p:nvGrpSpPr>
        <p:grpSpPr>
          <a:xfrm>
            <a:off x="457191" y="1022138"/>
            <a:ext cx="4987449" cy="4928216"/>
            <a:chOff x="457200" y="1514828"/>
            <a:chExt cx="4140336" cy="4091164"/>
          </a:xfrm>
        </p:grpSpPr>
        <p:grpSp>
          <p:nvGrpSpPr>
            <p:cNvPr id="509" name="Google Shape;509;p30"/>
            <p:cNvGrpSpPr/>
            <p:nvPr/>
          </p:nvGrpSpPr>
          <p:grpSpPr>
            <a:xfrm>
              <a:off x="489267" y="1517805"/>
              <a:ext cx="4096527" cy="4088187"/>
              <a:chOff x="1560285" y="1414704"/>
              <a:chExt cx="1244691" cy="1242157"/>
            </a:xfrm>
          </p:grpSpPr>
          <p:sp>
            <p:nvSpPr>
              <p:cNvPr id="510" name="Google Shape;510;p30"/>
              <p:cNvSpPr/>
              <p:nvPr/>
            </p:nvSpPr>
            <p:spPr>
              <a:xfrm>
                <a:off x="1592953" y="2043130"/>
                <a:ext cx="584671" cy="613731"/>
              </a:xfrm>
              <a:custGeom>
                <a:avLst/>
                <a:gdLst/>
                <a:ahLst/>
                <a:cxnLst/>
                <a:rect l="l" t="t" r="r" b="b"/>
                <a:pathLst>
                  <a:path w="584671" h="613731" extrusionOk="0">
                    <a:moveTo>
                      <a:pt x="0" y="188767"/>
                    </a:moveTo>
                    <a:cubicBezTo>
                      <a:pt x="84611" y="442038"/>
                      <a:pt x="322282" y="611834"/>
                      <a:pt x="584672" y="613731"/>
                    </a:cubicBezTo>
                    <a:lnTo>
                      <a:pt x="584672" y="0"/>
                    </a:lnTo>
                    <a:cubicBezTo>
                      <a:pt x="584672" y="0"/>
                      <a:pt x="0" y="189716"/>
                      <a:pt x="0" y="189716"/>
                    </a:cubicBez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511" name="Google Shape;511;p30"/>
              <p:cNvSpPr/>
              <p:nvPr/>
            </p:nvSpPr>
            <p:spPr>
              <a:xfrm>
                <a:off x="1821117" y="1414704"/>
                <a:ext cx="723471" cy="613248"/>
              </a:xfrm>
              <a:custGeom>
                <a:avLst/>
                <a:gdLst/>
                <a:ahLst/>
                <a:cxnLst/>
                <a:rect l="l" t="t" r="r" b="b"/>
                <a:pathLst>
                  <a:path w="723471" h="613248" extrusionOk="0">
                    <a:moveTo>
                      <a:pt x="723472" y="116192"/>
                    </a:moveTo>
                    <a:cubicBezTo>
                      <a:pt x="586573" y="18489"/>
                      <a:pt x="410696" y="-24198"/>
                      <a:pt x="232918" y="13746"/>
                    </a:cubicBezTo>
                    <a:cubicBezTo>
                      <a:pt x="146406" y="31769"/>
                      <a:pt x="67499" y="67815"/>
                      <a:pt x="0" y="116192"/>
                    </a:cubicBezTo>
                    <a:lnTo>
                      <a:pt x="361261" y="613248"/>
                    </a:lnTo>
                    <a:lnTo>
                      <a:pt x="723472" y="117141"/>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512" name="Google Shape;512;p30"/>
              <p:cNvSpPr/>
              <p:nvPr/>
            </p:nvSpPr>
            <p:spPr>
              <a:xfrm>
                <a:off x="2190934" y="1536588"/>
                <a:ext cx="614042" cy="686772"/>
              </a:xfrm>
              <a:custGeom>
                <a:avLst/>
                <a:gdLst/>
                <a:ahLst/>
                <a:cxnLst/>
                <a:rect l="l" t="t" r="r" b="b"/>
                <a:pathLst>
                  <a:path w="614042" h="686772" extrusionOk="0">
                    <a:moveTo>
                      <a:pt x="584672" y="686772"/>
                    </a:moveTo>
                    <a:cubicBezTo>
                      <a:pt x="616044" y="588120"/>
                      <a:pt x="623650" y="479982"/>
                      <a:pt x="600833" y="370895"/>
                    </a:cubicBezTo>
                    <a:cubicBezTo>
                      <a:pt x="568510" y="216276"/>
                      <a:pt x="480096" y="87269"/>
                      <a:pt x="362211" y="0"/>
                    </a:cubicBezTo>
                    <a:lnTo>
                      <a:pt x="0" y="496107"/>
                    </a:lnTo>
                    <a:lnTo>
                      <a:pt x="584672" y="685824"/>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sp>
            <p:nvSpPr>
              <p:cNvPr id="513" name="Google Shape;513;p30"/>
              <p:cNvSpPr/>
              <p:nvPr/>
            </p:nvSpPr>
            <p:spPr>
              <a:xfrm>
                <a:off x="1560285" y="1536588"/>
                <a:ext cx="614487" cy="686772"/>
              </a:xfrm>
              <a:custGeom>
                <a:avLst/>
                <a:gdLst/>
                <a:ahLst/>
                <a:cxnLst/>
                <a:rect l="l" t="t" r="r" b="b"/>
                <a:pathLst>
                  <a:path w="614487" h="686772" extrusionOk="0">
                    <a:moveTo>
                      <a:pt x="253226" y="0"/>
                    </a:moveTo>
                    <a:cubicBezTo>
                      <a:pt x="63089" y="140390"/>
                      <a:pt x="-38634" y="382278"/>
                      <a:pt x="13654" y="627960"/>
                    </a:cubicBezTo>
                    <a:cubicBezTo>
                      <a:pt x="17456" y="647880"/>
                      <a:pt x="23161" y="667801"/>
                      <a:pt x="28865" y="686772"/>
                    </a:cubicBezTo>
                    <a:lnTo>
                      <a:pt x="614487" y="497056"/>
                    </a:lnTo>
                    <a:lnTo>
                      <a:pt x="253226" y="0"/>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dirty="0">
                  <a:solidFill>
                    <a:srgbClr val="000000"/>
                  </a:solidFill>
                  <a:ea typeface="Arial"/>
                  <a:cs typeface="Arial"/>
                  <a:sym typeface="Arial"/>
                </a:endParaRPr>
              </a:p>
            </p:txBody>
          </p:sp>
          <p:sp>
            <p:nvSpPr>
              <p:cNvPr id="514" name="Google Shape;514;p30"/>
              <p:cNvSpPr/>
              <p:nvPr/>
            </p:nvSpPr>
            <p:spPr>
              <a:xfrm>
                <a:off x="2187131" y="2043130"/>
                <a:ext cx="585622" cy="613731"/>
              </a:xfrm>
              <a:custGeom>
                <a:avLst/>
                <a:gdLst/>
                <a:ahLst/>
                <a:cxnLst/>
                <a:rect l="l" t="t" r="r" b="b"/>
                <a:pathLst>
                  <a:path w="585622" h="613731" extrusionOk="0">
                    <a:moveTo>
                      <a:pt x="0" y="613731"/>
                    </a:moveTo>
                    <a:cubicBezTo>
                      <a:pt x="40880" y="613731"/>
                      <a:pt x="82710" y="608989"/>
                      <a:pt x="124540" y="600451"/>
                    </a:cubicBezTo>
                    <a:cubicBezTo>
                      <a:pt x="347951" y="553022"/>
                      <a:pt x="518124" y="391764"/>
                      <a:pt x="585622" y="189716"/>
                    </a:cubicBezTo>
                    <a:lnTo>
                      <a:pt x="951" y="0"/>
                    </a:lnTo>
                    <a:lnTo>
                      <a:pt x="951" y="613731"/>
                    </a:lnTo>
                    <a:close/>
                  </a:path>
                </a:pathLst>
              </a:custGeom>
              <a:solidFill>
                <a:srgbClr val="BDBD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ea typeface="Arial"/>
                  <a:cs typeface="Arial"/>
                  <a:sym typeface="Arial"/>
                </a:endParaRPr>
              </a:p>
            </p:txBody>
          </p:sp>
        </p:grpSp>
        <p:sp>
          <p:nvSpPr>
            <p:cNvPr id="515" name="Google Shape;515;p30"/>
            <p:cNvSpPr/>
            <p:nvPr/>
          </p:nvSpPr>
          <p:spPr>
            <a:xfrm rot="10800000">
              <a:off x="1608000" y="2774959"/>
              <a:ext cx="1858800" cy="1763400"/>
            </a:xfrm>
            <a:prstGeom prst="pentagon">
              <a:avLst>
                <a:gd name="hf" fmla="val 105146"/>
                <a:gd name="vf" fmla="val 110557"/>
              </a:avLst>
            </a:prstGeom>
            <a:solidFill>
              <a:srgbClr val="002856"/>
            </a:solidFill>
            <a:ln w="44450" cap="flat" cmpd="sng">
              <a:solidFill>
                <a:srgbClr val="FFFFFF"/>
              </a:solidFill>
              <a:prstDash val="solid"/>
              <a:round/>
              <a:headEnd type="none" w="sm" len="sm"/>
              <a:tailEnd type="none" w="sm" len="sm"/>
            </a:ln>
          </p:spPr>
          <p:txBody>
            <a:bodyPr spcFirstLastPara="1" wrap="square" lIns="0" tIns="91425" rIns="0" bIns="313000" anchor="ctr" anchorCtr="0">
              <a:noAutofit/>
            </a:bodyPr>
            <a:lstStyle/>
            <a:p>
              <a:pPr marL="0" marR="0" lvl="0" indent="0" algn="ctr" rtl="0">
                <a:lnSpc>
                  <a:spcPct val="90000"/>
                </a:lnSpc>
                <a:spcBef>
                  <a:spcPts val="0"/>
                </a:spcBef>
                <a:spcAft>
                  <a:spcPts val="0"/>
                </a:spcAft>
                <a:buNone/>
              </a:pPr>
              <a:endParaRPr sz="2800" b="1" i="0" u="none" strike="noStrike" cap="none" dirty="0">
                <a:solidFill>
                  <a:srgbClr val="FFFFFF"/>
                </a:solidFill>
                <a:ea typeface="Arial"/>
                <a:cs typeface="Arial"/>
                <a:sym typeface="Arial"/>
              </a:endParaRPr>
            </a:p>
          </p:txBody>
        </p:sp>
        <p:sp>
          <p:nvSpPr>
            <p:cNvPr id="516" name="Google Shape;516;p30"/>
            <p:cNvSpPr txBox="1"/>
            <p:nvPr/>
          </p:nvSpPr>
          <p:spPr>
            <a:xfrm>
              <a:off x="1757704" y="3273223"/>
              <a:ext cx="1560300" cy="628499"/>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2400"/>
                <a:buFont typeface="Arial"/>
                <a:buNone/>
              </a:pPr>
              <a:r>
                <a:rPr lang="en-US" sz="2400" b="1" i="0" u="none" strike="noStrike" cap="none" dirty="0">
                  <a:solidFill>
                    <a:srgbClr val="FFFFFF"/>
                  </a:solidFill>
                  <a:ea typeface="Arial"/>
                  <a:cs typeface="Arial"/>
                  <a:sym typeface="Arial"/>
                </a:rPr>
                <a:t>HR-focused </a:t>
              </a:r>
              <a:endParaRPr lang="en-US" dirty="0"/>
            </a:p>
            <a:p>
              <a:pPr marL="0" marR="0" lvl="0" indent="0" algn="ctr" rtl="0">
                <a:lnSpc>
                  <a:spcPct val="90000"/>
                </a:lnSpc>
                <a:spcBef>
                  <a:spcPts val="0"/>
                </a:spcBef>
                <a:spcAft>
                  <a:spcPts val="0"/>
                </a:spcAft>
                <a:buClr>
                  <a:srgbClr val="000000"/>
                </a:buClr>
                <a:buSzPts val="2400"/>
                <a:buFont typeface="Arial"/>
                <a:buNone/>
              </a:pPr>
              <a:r>
                <a:rPr lang="en-US" sz="2400" b="1" i="0" u="none" strike="noStrike" cap="none" dirty="0">
                  <a:solidFill>
                    <a:srgbClr val="FFFFFF"/>
                  </a:solidFill>
                  <a:ea typeface="Arial"/>
                  <a:cs typeface="Arial"/>
                  <a:sym typeface="Arial"/>
                </a:rPr>
                <a:t>AI strategy</a:t>
              </a:r>
              <a:endParaRPr lang="en-US" dirty="0"/>
            </a:p>
          </p:txBody>
        </p:sp>
        <p:sp>
          <p:nvSpPr>
            <p:cNvPr id="517" name="Google Shape;517;p30"/>
            <p:cNvSpPr/>
            <p:nvPr/>
          </p:nvSpPr>
          <p:spPr>
            <a:xfrm>
              <a:off x="1874536" y="1514828"/>
              <a:ext cx="1326000" cy="1229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Vision</a:t>
              </a:r>
              <a:endParaRPr lang="en-US" dirty="0"/>
            </a:p>
          </p:txBody>
        </p:sp>
        <p:sp>
          <p:nvSpPr>
            <p:cNvPr id="518" name="Google Shape;518;p30"/>
            <p:cNvSpPr/>
            <p:nvPr/>
          </p:nvSpPr>
          <p:spPr>
            <a:xfrm>
              <a:off x="3157236" y="2428586"/>
              <a:ext cx="1440300" cy="132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Value</a:t>
              </a:r>
              <a:endParaRPr lang="en-US" dirty="0"/>
            </a:p>
          </p:txBody>
        </p:sp>
        <p:sp>
          <p:nvSpPr>
            <p:cNvPr id="519" name="Google Shape;519;p30"/>
            <p:cNvSpPr/>
            <p:nvPr/>
          </p:nvSpPr>
          <p:spPr>
            <a:xfrm>
              <a:off x="457200" y="2426402"/>
              <a:ext cx="1470600" cy="1330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ea typeface="Arial"/>
                  <a:cs typeface="Arial"/>
                  <a:sym typeface="Arial"/>
                </a:rPr>
                <a:t>Alignment</a:t>
              </a:r>
              <a:endParaRPr lang="en-US" dirty="0"/>
            </a:p>
          </p:txBody>
        </p:sp>
        <p:sp>
          <p:nvSpPr>
            <p:cNvPr id="520" name="Google Shape;520;p30"/>
            <p:cNvSpPr/>
            <p:nvPr/>
          </p:nvSpPr>
          <p:spPr>
            <a:xfrm>
              <a:off x="2537476"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Risk</a:t>
              </a:r>
              <a:endParaRPr lang="en-US" dirty="0"/>
            </a:p>
          </p:txBody>
        </p:sp>
        <p:sp>
          <p:nvSpPr>
            <p:cNvPr id="521" name="Google Shape;521;p30"/>
            <p:cNvSpPr/>
            <p:nvPr/>
          </p:nvSpPr>
          <p:spPr>
            <a:xfrm>
              <a:off x="811049"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ea typeface="Arial"/>
                  <a:cs typeface="Arial"/>
                  <a:sym typeface="Arial"/>
                </a:rPr>
                <a:t>Adoption</a:t>
              </a:r>
              <a:endParaRPr lang="en-US" dirty="0"/>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31"/>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Alignment: Hierarchical Relationship of Strategies</a:t>
            </a:r>
          </a:p>
        </p:txBody>
      </p:sp>
      <p:grpSp>
        <p:nvGrpSpPr>
          <p:cNvPr id="527" name="Google Shape;527;p31"/>
          <p:cNvGrpSpPr/>
          <p:nvPr/>
        </p:nvGrpSpPr>
        <p:grpSpPr>
          <a:xfrm>
            <a:off x="7076904" y="1085299"/>
            <a:ext cx="4687402" cy="4687402"/>
            <a:chOff x="1329215" y="0"/>
            <a:chExt cx="4687402" cy="4687402"/>
          </a:xfrm>
        </p:grpSpPr>
        <p:sp>
          <p:nvSpPr>
            <p:cNvPr id="528" name="Google Shape;528;p31"/>
            <p:cNvSpPr/>
            <p:nvPr/>
          </p:nvSpPr>
          <p:spPr>
            <a:xfrm>
              <a:off x="1329215" y="0"/>
              <a:ext cx="4687402" cy="4687402"/>
            </a:xfrm>
            <a:prstGeom prst="ellipse">
              <a:avLst/>
            </a:prstGeom>
            <a:solidFill>
              <a:schemeClr val="dk2"/>
            </a:solidFill>
            <a:ln w="19050" cap="flat" cmpd="sng">
              <a:solidFill>
                <a:schemeClr val="l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9" name="Google Shape;529;p31"/>
            <p:cNvSpPr txBox="1"/>
            <p:nvPr/>
          </p:nvSpPr>
          <p:spPr>
            <a:xfrm>
              <a:off x="3017617" y="234370"/>
              <a:ext cx="1310597" cy="703110"/>
            </a:xfrm>
            <a:prstGeom prst="rect">
              <a:avLst/>
            </a:prstGeom>
            <a:noFill/>
            <a:ln>
              <a:noFill/>
            </a:ln>
          </p:spPr>
          <p:txBody>
            <a:bodyPr spcFirstLastPara="1" wrap="square" lIns="0" tIns="228600" rIns="0" bIns="1280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dirty="0">
                  <a:solidFill>
                    <a:schemeClr val="lt1"/>
                  </a:solidFill>
                  <a:ea typeface="Arial"/>
                  <a:cs typeface="Arial"/>
                  <a:sym typeface="Arial"/>
                </a:rPr>
                <a:t>Enterprise</a:t>
              </a:r>
            </a:p>
          </p:txBody>
        </p:sp>
        <p:sp>
          <p:nvSpPr>
            <p:cNvPr id="530" name="Google Shape;530;p31"/>
            <p:cNvSpPr/>
            <p:nvPr/>
          </p:nvSpPr>
          <p:spPr>
            <a:xfrm>
              <a:off x="1797955" y="937480"/>
              <a:ext cx="3749921" cy="3749921"/>
            </a:xfrm>
            <a:prstGeom prst="ellipse">
              <a:avLst/>
            </a:prstGeom>
            <a:solidFill>
              <a:schemeClr val="dk2"/>
            </a:solidFill>
            <a:ln w="19050" cap="flat" cmpd="sng">
              <a:solidFill>
                <a:schemeClr val="l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1" name="Google Shape;531;p31"/>
            <p:cNvSpPr txBox="1"/>
            <p:nvPr/>
          </p:nvSpPr>
          <p:spPr>
            <a:xfrm>
              <a:off x="3017617" y="1162475"/>
              <a:ext cx="1310597" cy="674985"/>
            </a:xfrm>
            <a:prstGeom prst="rect">
              <a:avLst/>
            </a:prstGeom>
            <a:noFill/>
            <a:ln>
              <a:noFill/>
            </a:ln>
          </p:spPr>
          <p:txBody>
            <a:bodyPr spcFirstLastPara="1" wrap="square" lIns="0" tIns="128000" rIns="0" bIns="1280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dirty="0">
                  <a:solidFill>
                    <a:schemeClr val="lt1"/>
                  </a:solidFill>
                  <a:ea typeface="Arial"/>
                  <a:cs typeface="Arial"/>
                  <a:sym typeface="Arial"/>
                </a:rPr>
                <a:t>HR function</a:t>
              </a:r>
              <a:endParaRPr lang="en-US" dirty="0"/>
            </a:p>
          </p:txBody>
        </p:sp>
        <p:sp>
          <p:nvSpPr>
            <p:cNvPr id="532" name="Google Shape;532;p31"/>
            <p:cNvSpPr/>
            <p:nvPr/>
          </p:nvSpPr>
          <p:spPr>
            <a:xfrm>
              <a:off x="2266695" y="1874960"/>
              <a:ext cx="2812441" cy="2812441"/>
            </a:xfrm>
            <a:prstGeom prst="ellipse">
              <a:avLst/>
            </a:prstGeom>
            <a:solidFill>
              <a:schemeClr val="dk2"/>
            </a:solidFill>
            <a:ln w="19050" cap="flat" cmpd="sng">
              <a:solidFill>
                <a:schemeClr val="l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3" name="Google Shape;533;p31"/>
            <p:cNvSpPr txBox="1"/>
            <p:nvPr/>
          </p:nvSpPr>
          <p:spPr>
            <a:xfrm>
              <a:off x="3017617" y="2085893"/>
              <a:ext cx="1310597" cy="632799"/>
            </a:xfrm>
            <a:prstGeom prst="rect">
              <a:avLst/>
            </a:prstGeom>
            <a:noFill/>
            <a:ln>
              <a:noFill/>
            </a:ln>
          </p:spPr>
          <p:txBody>
            <a:bodyPr spcFirstLastPara="1" wrap="square" lIns="0" tIns="128000" rIns="0" bIns="1280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dirty="0">
                  <a:solidFill>
                    <a:schemeClr val="lt1"/>
                  </a:solidFill>
                  <a:ea typeface="Arial"/>
                  <a:cs typeface="Arial"/>
                  <a:sym typeface="Arial"/>
                </a:rPr>
                <a:t>HR technology</a:t>
              </a:r>
            </a:p>
          </p:txBody>
        </p:sp>
        <p:sp>
          <p:nvSpPr>
            <p:cNvPr id="534" name="Google Shape;534;p31"/>
            <p:cNvSpPr/>
            <p:nvPr/>
          </p:nvSpPr>
          <p:spPr>
            <a:xfrm>
              <a:off x="2735436" y="2812441"/>
              <a:ext cx="1874960" cy="1874960"/>
            </a:xfrm>
            <a:prstGeom prst="ellipse">
              <a:avLst/>
            </a:prstGeom>
            <a:solidFill>
              <a:schemeClr val="dk2"/>
            </a:solidFill>
            <a:ln w="19050" cap="flat" cmpd="sng">
              <a:solidFill>
                <a:schemeClr val="l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5" name="Google Shape;535;p31"/>
            <p:cNvSpPr txBox="1"/>
            <p:nvPr/>
          </p:nvSpPr>
          <p:spPr>
            <a:xfrm>
              <a:off x="3010017" y="3281181"/>
              <a:ext cx="1325797" cy="937480"/>
            </a:xfrm>
            <a:prstGeom prst="rect">
              <a:avLst/>
            </a:prstGeom>
            <a:noFill/>
            <a:ln>
              <a:noFill/>
            </a:ln>
          </p:spPr>
          <p:txBody>
            <a:bodyPr spcFirstLastPara="1" wrap="square" lIns="0" tIns="228600" rIns="0" bIns="1280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dirty="0">
                  <a:solidFill>
                    <a:schemeClr val="lt1"/>
                  </a:solidFill>
                  <a:ea typeface="Arial"/>
                  <a:cs typeface="Arial"/>
                  <a:sym typeface="Arial"/>
                </a:rPr>
                <a:t>HR-focused AI</a:t>
              </a:r>
            </a:p>
          </p:txBody>
        </p:sp>
      </p:grpSp>
      <p:sp>
        <p:nvSpPr>
          <p:cNvPr id="536" name="Google Shape;536;p31"/>
          <p:cNvSpPr txBox="1"/>
          <p:nvPr/>
        </p:nvSpPr>
        <p:spPr>
          <a:xfrm>
            <a:off x="457200" y="1010350"/>
            <a:ext cx="6423600" cy="5478382"/>
          </a:xfrm>
          <a:prstGeom prst="rect">
            <a:avLst/>
          </a:prstGeom>
          <a:noFill/>
          <a:ln>
            <a:noFill/>
          </a:ln>
        </p:spPr>
        <p:txBody>
          <a:bodyPr spcFirstLastPara="1" wrap="square" lIns="0" tIns="45700" rIns="91425" bIns="45700" anchor="t" anchorCtr="0">
            <a:spAutoFit/>
          </a:bodyPr>
          <a:lstStyle/>
          <a:p>
            <a:pPr marL="342900" marR="0" lvl="0" indent="-342900" algn="l" rtl="0">
              <a:spcBef>
                <a:spcPts val="0"/>
              </a:spcBef>
              <a:spcAft>
                <a:spcPts val="0"/>
              </a:spcAft>
              <a:buFont typeface="Arial" panose="020B0604020202020204" pitchFamily="34" charset="0"/>
              <a:buChar char="•"/>
            </a:pPr>
            <a:r>
              <a:rPr lang="en-US" sz="2000" dirty="0">
                <a:solidFill>
                  <a:schemeClr val="dk1"/>
                </a:solidFill>
                <a:ea typeface="Arial"/>
                <a:cs typeface="Arial"/>
                <a:sym typeface="Arial"/>
              </a:rPr>
              <a:t>These strategies should not exist in isolation. Rather, they should support and enhance one another as they become more detailed and specific.</a:t>
            </a:r>
            <a:endParaRPr lang="en-US" dirty="0"/>
          </a:p>
          <a:p>
            <a:pPr marL="342900" marR="0" lvl="0" indent="-342900" algn="l" rtl="0">
              <a:spcBef>
                <a:spcPts val="0"/>
              </a:spcBef>
              <a:spcAft>
                <a:spcPts val="0"/>
              </a:spcAft>
              <a:buFont typeface="Arial" panose="020B0604020202020204" pitchFamily="34" charset="0"/>
              <a:buChar char="•"/>
            </a:pPr>
            <a:endParaRPr lang="en-US" sz="2000" dirty="0">
              <a:solidFill>
                <a:schemeClr val="dk1"/>
              </a:solidFill>
              <a:ea typeface="Arial"/>
              <a:cs typeface="Arial"/>
              <a:sym typeface="Arial"/>
            </a:endParaRPr>
          </a:p>
          <a:p>
            <a:pPr marL="342900" marR="0" lvl="0" indent="-342900" algn="l" rtl="0">
              <a:spcBef>
                <a:spcPts val="0"/>
              </a:spcBef>
              <a:spcAft>
                <a:spcPts val="0"/>
              </a:spcAft>
              <a:buFont typeface="Arial" panose="020B0604020202020204" pitchFamily="34" charset="0"/>
              <a:buChar char="•"/>
            </a:pPr>
            <a:r>
              <a:rPr lang="en-US" sz="2000" dirty="0">
                <a:solidFill>
                  <a:schemeClr val="dk1"/>
                </a:solidFill>
                <a:ea typeface="Arial"/>
                <a:cs typeface="Arial"/>
                <a:sym typeface="Arial"/>
              </a:rPr>
              <a:t>Consider and address the following questions:</a:t>
            </a:r>
            <a:endParaRPr lang="en-US" dirty="0"/>
          </a:p>
          <a:p>
            <a:pPr marL="687600" indent="-381600">
              <a:spcBef>
                <a:spcPts val="1200"/>
              </a:spcBef>
              <a:buClr>
                <a:schemeClr val="dk1"/>
              </a:buClr>
              <a:buSzPts val="2000"/>
              <a:buFont typeface="Arial" panose="020B0604020202020204" pitchFamily="34" charset="0"/>
              <a:buChar char="—"/>
            </a:pPr>
            <a:r>
              <a:rPr lang="en-US" sz="2000" dirty="0">
                <a:solidFill>
                  <a:schemeClr val="dk1"/>
                </a:solidFill>
                <a:ea typeface="Arial"/>
                <a:cs typeface="Arial"/>
                <a:sym typeface="Arial"/>
              </a:rPr>
              <a:t>What are your enterprise business and AI strategies?</a:t>
            </a:r>
            <a:endParaRPr lang="en-US" dirty="0"/>
          </a:p>
          <a:p>
            <a:pPr marL="687600" indent="-381600">
              <a:spcBef>
                <a:spcPts val="1200"/>
              </a:spcBef>
              <a:buClr>
                <a:schemeClr val="dk1"/>
              </a:buClr>
              <a:buSzPts val="2000"/>
              <a:buFont typeface="Arial" panose="020B0604020202020204" pitchFamily="34" charset="0"/>
              <a:buChar char="—"/>
            </a:pPr>
            <a:r>
              <a:rPr lang="en-US" sz="2000" dirty="0">
                <a:solidFill>
                  <a:schemeClr val="dk1"/>
                </a:solidFill>
                <a:ea typeface="Arial"/>
                <a:cs typeface="Arial"/>
                <a:sym typeface="Arial"/>
              </a:rPr>
              <a:t>How does your HR functional strategy align with and support the enterprise strategy?</a:t>
            </a:r>
            <a:endParaRPr lang="en-US" dirty="0"/>
          </a:p>
          <a:p>
            <a:pPr marL="687600" indent="-381600">
              <a:spcBef>
                <a:spcPts val="1200"/>
              </a:spcBef>
              <a:buClr>
                <a:schemeClr val="dk1"/>
              </a:buClr>
              <a:buSzPts val="2000"/>
              <a:buFont typeface="Arial" panose="020B0604020202020204" pitchFamily="34" charset="0"/>
              <a:buChar char="—"/>
            </a:pPr>
            <a:r>
              <a:rPr lang="en-US" sz="2000" dirty="0">
                <a:solidFill>
                  <a:schemeClr val="dk1"/>
                </a:solidFill>
                <a:ea typeface="Arial"/>
                <a:cs typeface="Arial"/>
                <a:sym typeface="Arial"/>
              </a:rPr>
              <a:t>In what ways does your HR technology strategy facilitate the accomplishment of your HR objectives?</a:t>
            </a:r>
            <a:endParaRPr lang="en-US" dirty="0"/>
          </a:p>
          <a:p>
            <a:pPr marL="687600" indent="-381600">
              <a:spcBef>
                <a:spcPts val="1200"/>
              </a:spcBef>
              <a:spcAft>
                <a:spcPts val="1200"/>
              </a:spcAft>
              <a:buClr>
                <a:schemeClr val="dk1"/>
              </a:buClr>
              <a:buSzPts val="2000"/>
              <a:buFont typeface="Arial" panose="020B0604020202020204" pitchFamily="34" charset="0"/>
              <a:buChar char="—"/>
            </a:pPr>
            <a:r>
              <a:rPr lang="en-US" sz="2000" dirty="0">
                <a:solidFill>
                  <a:schemeClr val="dk1"/>
                </a:solidFill>
                <a:ea typeface="Arial"/>
                <a:cs typeface="Arial"/>
                <a:sym typeface="Arial"/>
              </a:rPr>
              <a:t>What role does AI play in your HR technology strategy, and how do these elements enable and enhance each other?</a:t>
            </a:r>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32"/>
          <p:cNvSpPr txBox="1">
            <a:spLocks noGrp="1"/>
          </p:cNvSpPr>
          <p:nvPr>
            <p:ph type="title"/>
          </p:nvPr>
        </p:nvSpPr>
        <p:spPr>
          <a:xfrm>
            <a:off x="457200" y="361950"/>
            <a:ext cx="11274600" cy="451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200"/>
              <a:buFont typeface="Arial Black"/>
              <a:buNone/>
            </a:pPr>
            <a:br>
              <a:rPr lang="en-US" dirty="0">
                <a:solidFill>
                  <a:schemeClr val="dk1"/>
                </a:solidFill>
              </a:rPr>
            </a:br>
            <a:endParaRPr lang="en-US" dirty="0">
              <a:solidFill>
                <a:schemeClr val="dk1"/>
              </a:solidFill>
            </a:endParaRPr>
          </a:p>
        </p:txBody>
      </p:sp>
      <p:sp>
        <p:nvSpPr>
          <p:cNvPr id="542" name="Google Shape;542;p32"/>
          <p:cNvSpPr/>
          <p:nvPr/>
        </p:nvSpPr>
        <p:spPr>
          <a:xfrm>
            <a:off x="675350" y="2538543"/>
            <a:ext cx="2623500" cy="979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n-US" sz="1800" b="0" i="0" u="none" strike="noStrike" cap="none" dirty="0">
                <a:solidFill>
                  <a:srgbClr val="FFFFFF"/>
                </a:solidFill>
                <a:ea typeface="Arial"/>
                <a:cs typeface="Arial"/>
                <a:sym typeface="Arial"/>
              </a:rPr>
              <a:t>Phase 1</a:t>
            </a:r>
            <a:endParaRPr lang="en-US" dirty="0"/>
          </a:p>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dirty="0">
                <a:solidFill>
                  <a:srgbClr val="FFFFFF"/>
                </a:solidFill>
                <a:ea typeface="Arial"/>
                <a:cs typeface="Arial"/>
                <a:sym typeface="Arial"/>
              </a:rPr>
              <a:t>Defining business outcomes</a:t>
            </a:r>
            <a:endParaRPr lang="en-US" dirty="0"/>
          </a:p>
        </p:txBody>
      </p:sp>
      <p:sp>
        <p:nvSpPr>
          <p:cNvPr id="543" name="Google Shape;543;p32"/>
          <p:cNvSpPr/>
          <p:nvPr/>
        </p:nvSpPr>
        <p:spPr>
          <a:xfrm>
            <a:off x="3386280" y="2538543"/>
            <a:ext cx="2623500" cy="979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n-US" sz="1800" b="0" i="0" u="none" strike="noStrike" cap="none" dirty="0">
                <a:solidFill>
                  <a:srgbClr val="FFFFFF"/>
                </a:solidFill>
                <a:ea typeface="Arial"/>
                <a:cs typeface="Arial"/>
                <a:sym typeface="Arial"/>
              </a:rPr>
              <a:t>Phase 2</a:t>
            </a:r>
            <a:endParaRPr lang="en-US" dirty="0"/>
          </a:p>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dirty="0">
                <a:solidFill>
                  <a:srgbClr val="FFFFFF"/>
                </a:solidFill>
                <a:ea typeface="Arial"/>
                <a:cs typeface="Arial"/>
                <a:sym typeface="Arial"/>
              </a:rPr>
              <a:t>Capture gaps and requirements</a:t>
            </a:r>
            <a:endParaRPr lang="en-US" dirty="0"/>
          </a:p>
        </p:txBody>
      </p:sp>
      <p:sp>
        <p:nvSpPr>
          <p:cNvPr id="544" name="Google Shape;544;p32"/>
          <p:cNvSpPr/>
          <p:nvPr/>
        </p:nvSpPr>
        <p:spPr>
          <a:xfrm>
            <a:off x="6107715" y="2538543"/>
            <a:ext cx="2623500" cy="979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n-US" sz="1800" b="0" i="0" u="none" strike="noStrike" cap="none" dirty="0">
                <a:solidFill>
                  <a:srgbClr val="FFFFFF"/>
                </a:solidFill>
                <a:ea typeface="Arial"/>
                <a:cs typeface="Arial"/>
                <a:sym typeface="Arial"/>
              </a:rPr>
              <a:t>Phase 3</a:t>
            </a:r>
            <a:endParaRPr lang="en-US" dirty="0"/>
          </a:p>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dirty="0">
                <a:solidFill>
                  <a:srgbClr val="FFFFFF"/>
                </a:solidFill>
                <a:ea typeface="Arial"/>
                <a:cs typeface="Arial"/>
                <a:sym typeface="Arial"/>
              </a:rPr>
              <a:t>Determine best-fit future state</a:t>
            </a:r>
            <a:endParaRPr lang="en-US" dirty="0"/>
          </a:p>
        </p:txBody>
      </p:sp>
      <p:sp>
        <p:nvSpPr>
          <p:cNvPr id="545" name="Google Shape;545;p32"/>
          <p:cNvSpPr/>
          <p:nvPr/>
        </p:nvSpPr>
        <p:spPr>
          <a:xfrm>
            <a:off x="8818261" y="2538545"/>
            <a:ext cx="2623500" cy="979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n-US" sz="1800" b="0" i="0" u="none" strike="noStrike" cap="none" dirty="0">
                <a:solidFill>
                  <a:srgbClr val="FFFFFF"/>
                </a:solidFill>
                <a:ea typeface="Arial"/>
                <a:cs typeface="Arial"/>
                <a:sym typeface="Arial"/>
              </a:rPr>
              <a:t>Phase 4</a:t>
            </a:r>
            <a:endParaRPr lang="en-US" dirty="0"/>
          </a:p>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dirty="0">
                <a:solidFill>
                  <a:srgbClr val="FFFFFF"/>
                </a:solidFill>
                <a:ea typeface="Arial"/>
                <a:cs typeface="Arial"/>
                <a:sym typeface="Arial"/>
              </a:rPr>
              <a:t>Develop </a:t>
            </a:r>
            <a:endParaRPr lang="en-US" dirty="0"/>
          </a:p>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dirty="0">
                <a:solidFill>
                  <a:srgbClr val="FFFFFF"/>
                </a:solidFill>
                <a:ea typeface="Arial"/>
                <a:cs typeface="Arial"/>
                <a:sym typeface="Arial"/>
              </a:rPr>
              <a:t>roadmap</a:t>
            </a:r>
            <a:endParaRPr lang="en-US" dirty="0"/>
          </a:p>
        </p:txBody>
      </p:sp>
      <p:sp>
        <p:nvSpPr>
          <p:cNvPr id="546" name="Google Shape;546;p32"/>
          <p:cNvSpPr/>
          <p:nvPr/>
        </p:nvSpPr>
        <p:spPr>
          <a:xfrm>
            <a:off x="674900" y="3491575"/>
            <a:ext cx="2624400" cy="2040600"/>
          </a:xfrm>
          <a:prstGeom prst="rect">
            <a:avLst/>
          </a:prstGeom>
          <a:solidFill>
            <a:srgbClr val="009AD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n-US" sz="1800" b="0" i="0" u="none" strike="noStrike" cap="none" dirty="0">
                <a:solidFill>
                  <a:srgbClr val="FFFFFF"/>
                </a:solidFill>
                <a:ea typeface="Arial"/>
                <a:cs typeface="Arial"/>
                <a:sym typeface="Arial"/>
              </a:rPr>
              <a:t>Articulate outcomes that AI can generate to support your HR vision.</a:t>
            </a:r>
            <a:endParaRPr lang="en-US" dirty="0"/>
          </a:p>
        </p:txBody>
      </p:sp>
      <p:sp>
        <p:nvSpPr>
          <p:cNvPr id="547" name="Google Shape;547;p32"/>
          <p:cNvSpPr/>
          <p:nvPr/>
        </p:nvSpPr>
        <p:spPr>
          <a:xfrm>
            <a:off x="3386280" y="3491580"/>
            <a:ext cx="2623500" cy="2040600"/>
          </a:xfrm>
          <a:prstGeom prst="rect">
            <a:avLst/>
          </a:prstGeom>
          <a:solidFill>
            <a:srgbClr val="009AD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n-US" sz="1800" b="0" i="0" u="none" strike="noStrike" cap="none" dirty="0">
                <a:solidFill>
                  <a:srgbClr val="FFFFFF"/>
                </a:solidFill>
                <a:ea typeface="Arial"/>
                <a:cs typeface="Arial"/>
                <a:sym typeface="Arial"/>
              </a:rPr>
              <a:t>Capture unique and critical AI-related needs as well (bias mitigation, explainability, etc.).</a:t>
            </a:r>
            <a:endParaRPr lang="en-US" dirty="0"/>
          </a:p>
        </p:txBody>
      </p:sp>
      <p:sp>
        <p:nvSpPr>
          <p:cNvPr id="548" name="Google Shape;548;p32"/>
          <p:cNvSpPr/>
          <p:nvPr/>
        </p:nvSpPr>
        <p:spPr>
          <a:xfrm>
            <a:off x="6107715" y="3491581"/>
            <a:ext cx="2623500" cy="2040600"/>
          </a:xfrm>
          <a:prstGeom prst="rect">
            <a:avLst/>
          </a:prstGeom>
          <a:solidFill>
            <a:srgbClr val="009AD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n-US" sz="1800" b="0" i="0" u="none" strike="noStrike" cap="none" dirty="0">
                <a:solidFill>
                  <a:srgbClr val="FFFFFF"/>
                </a:solidFill>
                <a:ea typeface="Arial"/>
                <a:cs typeface="Arial"/>
                <a:sym typeface="Arial"/>
              </a:rPr>
              <a:t>Assess how AI can enhance the chosen future</a:t>
            </a:r>
            <a:r>
              <a:rPr lang="en-US" sz="1800" dirty="0">
                <a:solidFill>
                  <a:srgbClr val="FFFFFF"/>
                </a:solidFill>
              </a:rPr>
              <a:t>-</a:t>
            </a:r>
            <a:r>
              <a:rPr lang="en-US" sz="1800" b="0" i="0" u="none" strike="noStrike" cap="none" dirty="0">
                <a:solidFill>
                  <a:srgbClr val="FFFFFF"/>
                </a:solidFill>
                <a:ea typeface="Arial"/>
                <a:cs typeface="Arial"/>
                <a:sym typeface="Arial"/>
              </a:rPr>
              <a:t>state HR technology portfolio option.</a:t>
            </a:r>
            <a:endParaRPr lang="en-US" dirty="0"/>
          </a:p>
        </p:txBody>
      </p:sp>
      <p:sp>
        <p:nvSpPr>
          <p:cNvPr id="549" name="Google Shape;549;p32"/>
          <p:cNvSpPr/>
          <p:nvPr/>
        </p:nvSpPr>
        <p:spPr>
          <a:xfrm>
            <a:off x="8818261" y="3491584"/>
            <a:ext cx="2623500" cy="2040600"/>
          </a:xfrm>
          <a:prstGeom prst="rect">
            <a:avLst/>
          </a:prstGeom>
          <a:solidFill>
            <a:srgbClr val="009AD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n-US" sz="1800" b="0" i="0" u="none" strike="noStrike" cap="none" dirty="0">
                <a:solidFill>
                  <a:srgbClr val="FFFFFF"/>
                </a:solidFill>
                <a:ea typeface="Arial"/>
                <a:cs typeface="Arial"/>
                <a:sym typeface="Arial"/>
              </a:rPr>
              <a:t>Capture AI readiness and implementation initiatives on the roadmap across people, process, tech and data aspects.</a:t>
            </a:r>
            <a:endParaRPr lang="en-US" dirty="0"/>
          </a:p>
        </p:txBody>
      </p:sp>
      <p:sp>
        <p:nvSpPr>
          <p:cNvPr id="550" name="Google Shape;550;p32"/>
          <p:cNvSpPr/>
          <p:nvPr/>
        </p:nvSpPr>
        <p:spPr>
          <a:xfrm>
            <a:off x="675350" y="5532115"/>
            <a:ext cx="2623500" cy="5553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dirty="0">
                <a:solidFill>
                  <a:srgbClr val="FFFFFF"/>
                </a:solidFill>
                <a:ea typeface="Arial"/>
                <a:cs typeface="Arial"/>
                <a:sym typeface="Arial"/>
              </a:rPr>
              <a:t>Clarity on </a:t>
            </a:r>
            <a:endParaRPr lang="en-US" dirty="0"/>
          </a:p>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dirty="0">
                <a:solidFill>
                  <a:srgbClr val="FFFFFF"/>
                </a:solidFill>
                <a:ea typeface="Arial"/>
                <a:cs typeface="Arial"/>
                <a:sym typeface="Arial"/>
              </a:rPr>
              <a:t>destination</a:t>
            </a:r>
            <a:endParaRPr lang="en-US" dirty="0"/>
          </a:p>
        </p:txBody>
      </p:sp>
      <p:sp>
        <p:nvSpPr>
          <p:cNvPr id="551" name="Google Shape;551;p32"/>
          <p:cNvSpPr/>
          <p:nvPr/>
        </p:nvSpPr>
        <p:spPr>
          <a:xfrm>
            <a:off x="3386303" y="5532115"/>
            <a:ext cx="2623500" cy="5553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dirty="0">
                <a:solidFill>
                  <a:srgbClr val="FFFFFF"/>
                </a:solidFill>
                <a:ea typeface="Arial"/>
                <a:cs typeface="Arial"/>
                <a:sym typeface="Arial"/>
              </a:rPr>
              <a:t>Distinctive gaps</a:t>
            </a:r>
            <a:endParaRPr lang="en-US" dirty="0"/>
          </a:p>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dirty="0">
                <a:solidFill>
                  <a:srgbClr val="FFFFFF"/>
                </a:solidFill>
                <a:ea typeface="Arial"/>
                <a:cs typeface="Arial"/>
                <a:sym typeface="Arial"/>
              </a:rPr>
              <a:t>And needs</a:t>
            </a:r>
            <a:endParaRPr lang="en-US" dirty="0"/>
          </a:p>
        </p:txBody>
      </p:sp>
      <p:sp>
        <p:nvSpPr>
          <p:cNvPr id="552" name="Google Shape;552;p32"/>
          <p:cNvSpPr/>
          <p:nvPr/>
        </p:nvSpPr>
        <p:spPr>
          <a:xfrm>
            <a:off x="6107738" y="5532115"/>
            <a:ext cx="2623500" cy="5553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dirty="0">
                <a:solidFill>
                  <a:srgbClr val="FFFFFF"/>
                </a:solidFill>
                <a:ea typeface="Arial"/>
                <a:cs typeface="Arial"/>
                <a:sym typeface="Arial"/>
              </a:rPr>
              <a:t>Best-fit technology portfolio</a:t>
            </a:r>
            <a:endParaRPr lang="en-US" dirty="0"/>
          </a:p>
        </p:txBody>
      </p:sp>
      <p:sp>
        <p:nvSpPr>
          <p:cNvPr id="553" name="Google Shape;553;p32"/>
          <p:cNvSpPr/>
          <p:nvPr/>
        </p:nvSpPr>
        <p:spPr>
          <a:xfrm>
            <a:off x="8818284" y="5532117"/>
            <a:ext cx="2623500" cy="5553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dirty="0">
                <a:solidFill>
                  <a:srgbClr val="FFFFFF"/>
                </a:solidFill>
                <a:ea typeface="Arial"/>
                <a:cs typeface="Arial"/>
                <a:sym typeface="Arial"/>
              </a:rPr>
              <a:t>Path for transformation</a:t>
            </a:r>
            <a:endParaRPr lang="en-US" dirty="0"/>
          </a:p>
        </p:txBody>
      </p:sp>
      <p:sp>
        <p:nvSpPr>
          <p:cNvPr id="554" name="Google Shape;554;p32"/>
          <p:cNvSpPr/>
          <p:nvPr/>
        </p:nvSpPr>
        <p:spPr>
          <a:xfrm>
            <a:off x="7224710" y="1946111"/>
            <a:ext cx="409575" cy="495300"/>
          </a:xfrm>
          <a:custGeom>
            <a:avLst/>
            <a:gdLst/>
            <a:ahLst/>
            <a:cxnLst/>
            <a:rect l="l" t="t" r="r" b="b"/>
            <a:pathLst>
              <a:path w="409575" h="495300" extrusionOk="0">
                <a:moveTo>
                  <a:pt x="50768" y="134779"/>
                </a:moveTo>
                <a:lnTo>
                  <a:pt x="84963" y="100584"/>
                </a:lnTo>
                <a:lnTo>
                  <a:pt x="50768" y="66389"/>
                </a:lnTo>
                <a:lnTo>
                  <a:pt x="77724" y="39434"/>
                </a:lnTo>
                <a:lnTo>
                  <a:pt x="111919" y="73628"/>
                </a:lnTo>
                <a:lnTo>
                  <a:pt x="146113" y="39434"/>
                </a:lnTo>
                <a:lnTo>
                  <a:pt x="173069" y="66389"/>
                </a:lnTo>
                <a:lnTo>
                  <a:pt x="138874" y="100584"/>
                </a:lnTo>
                <a:lnTo>
                  <a:pt x="173069" y="134779"/>
                </a:lnTo>
                <a:lnTo>
                  <a:pt x="146113" y="161735"/>
                </a:lnTo>
                <a:lnTo>
                  <a:pt x="111919" y="127540"/>
                </a:lnTo>
                <a:lnTo>
                  <a:pt x="77724" y="161735"/>
                </a:lnTo>
                <a:lnTo>
                  <a:pt x="50768" y="134779"/>
                </a:lnTo>
                <a:close/>
                <a:moveTo>
                  <a:pt x="411099" y="87154"/>
                </a:moveTo>
                <a:lnTo>
                  <a:pt x="384143" y="114110"/>
                </a:lnTo>
                <a:lnTo>
                  <a:pt x="349377" y="79343"/>
                </a:lnTo>
                <a:lnTo>
                  <a:pt x="349377" y="268224"/>
                </a:lnTo>
                <a:lnTo>
                  <a:pt x="91821" y="268224"/>
                </a:lnTo>
                <a:lnTo>
                  <a:pt x="92678" y="360521"/>
                </a:lnTo>
                <a:cubicBezTo>
                  <a:pt x="120301" y="368713"/>
                  <a:pt x="140494" y="394240"/>
                  <a:pt x="140494" y="424434"/>
                </a:cubicBezTo>
                <a:cubicBezTo>
                  <a:pt x="140494" y="461201"/>
                  <a:pt x="110585" y="491109"/>
                  <a:pt x="73819" y="491109"/>
                </a:cubicBezTo>
                <a:cubicBezTo>
                  <a:pt x="37052" y="491109"/>
                  <a:pt x="7144" y="461201"/>
                  <a:pt x="7144" y="424434"/>
                </a:cubicBezTo>
                <a:cubicBezTo>
                  <a:pt x="7144" y="394335"/>
                  <a:pt x="27146" y="368903"/>
                  <a:pt x="54578" y="360617"/>
                </a:cubicBezTo>
                <a:lnTo>
                  <a:pt x="53340" y="230124"/>
                </a:lnTo>
                <a:lnTo>
                  <a:pt x="311277" y="230124"/>
                </a:lnTo>
                <a:lnTo>
                  <a:pt x="311277" y="81058"/>
                </a:lnTo>
                <a:lnTo>
                  <a:pt x="278321" y="114014"/>
                </a:lnTo>
                <a:lnTo>
                  <a:pt x="251365" y="87059"/>
                </a:lnTo>
                <a:lnTo>
                  <a:pt x="331184" y="7144"/>
                </a:lnTo>
                <a:lnTo>
                  <a:pt x="411099" y="87154"/>
                </a:lnTo>
                <a:close/>
                <a:moveTo>
                  <a:pt x="73819" y="395859"/>
                </a:moveTo>
                <a:cubicBezTo>
                  <a:pt x="58103" y="395859"/>
                  <a:pt x="45244" y="408718"/>
                  <a:pt x="45244" y="424434"/>
                </a:cubicBezTo>
                <a:cubicBezTo>
                  <a:pt x="45244" y="440150"/>
                  <a:pt x="58103" y="453009"/>
                  <a:pt x="73819" y="453009"/>
                </a:cubicBezTo>
                <a:cubicBezTo>
                  <a:pt x="89535" y="453009"/>
                  <a:pt x="102394" y="440150"/>
                  <a:pt x="102394" y="424434"/>
                </a:cubicBezTo>
                <a:cubicBezTo>
                  <a:pt x="102394" y="408718"/>
                  <a:pt x="89535" y="395859"/>
                  <a:pt x="73819" y="395859"/>
                </a:cubicBezTo>
                <a:close/>
                <a:moveTo>
                  <a:pt x="327565" y="344329"/>
                </a:moveTo>
                <a:lnTo>
                  <a:pt x="293370" y="378524"/>
                </a:lnTo>
                <a:lnTo>
                  <a:pt x="259175" y="344329"/>
                </a:lnTo>
                <a:lnTo>
                  <a:pt x="232220" y="371285"/>
                </a:lnTo>
                <a:lnTo>
                  <a:pt x="266414" y="405479"/>
                </a:lnTo>
                <a:lnTo>
                  <a:pt x="232220" y="439674"/>
                </a:lnTo>
                <a:lnTo>
                  <a:pt x="259175" y="466630"/>
                </a:lnTo>
                <a:lnTo>
                  <a:pt x="293370" y="432435"/>
                </a:lnTo>
                <a:lnTo>
                  <a:pt x="327565" y="466630"/>
                </a:lnTo>
                <a:lnTo>
                  <a:pt x="354521" y="439674"/>
                </a:lnTo>
                <a:lnTo>
                  <a:pt x="320326" y="405479"/>
                </a:lnTo>
                <a:lnTo>
                  <a:pt x="354521" y="371285"/>
                </a:lnTo>
                <a:lnTo>
                  <a:pt x="327565" y="344329"/>
                </a:lnTo>
                <a:close/>
              </a:path>
            </a:pathLst>
          </a:custGeom>
          <a:solidFill>
            <a:srgbClr val="0028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dirty="0">
              <a:solidFill>
                <a:srgbClr val="000000"/>
              </a:solidFill>
              <a:ea typeface="Arial"/>
              <a:cs typeface="Arial"/>
              <a:sym typeface="Arial"/>
            </a:endParaRPr>
          </a:p>
        </p:txBody>
      </p:sp>
      <p:sp>
        <p:nvSpPr>
          <p:cNvPr id="555" name="Google Shape;555;p32"/>
          <p:cNvSpPr/>
          <p:nvPr/>
        </p:nvSpPr>
        <p:spPr>
          <a:xfrm>
            <a:off x="1796128" y="1946111"/>
            <a:ext cx="381000" cy="495300"/>
          </a:xfrm>
          <a:custGeom>
            <a:avLst/>
            <a:gdLst/>
            <a:ahLst/>
            <a:cxnLst/>
            <a:rect l="l" t="t" r="r" b="b"/>
            <a:pathLst>
              <a:path w="381000" h="495300" extrusionOk="0">
                <a:moveTo>
                  <a:pt x="279092" y="284807"/>
                </a:moveTo>
                <a:lnTo>
                  <a:pt x="302590" y="308448"/>
                </a:lnTo>
                <a:lnTo>
                  <a:pt x="210264" y="400183"/>
                </a:lnTo>
                <a:lnTo>
                  <a:pt x="157020" y="346939"/>
                </a:lnTo>
                <a:lnTo>
                  <a:pt x="101994" y="401965"/>
                </a:lnTo>
                <a:lnTo>
                  <a:pt x="78419" y="378390"/>
                </a:lnTo>
                <a:lnTo>
                  <a:pt x="157020" y="299790"/>
                </a:lnTo>
                <a:lnTo>
                  <a:pt x="210341" y="353111"/>
                </a:lnTo>
                <a:lnTo>
                  <a:pt x="279092" y="284807"/>
                </a:lnTo>
                <a:close/>
                <a:moveTo>
                  <a:pt x="247650" y="209550"/>
                </a:moveTo>
                <a:lnTo>
                  <a:pt x="76200" y="209550"/>
                </a:lnTo>
                <a:lnTo>
                  <a:pt x="76200" y="247650"/>
                </a:lnTo>
                <a:lnTo>
                  <a:pt x="247650" y="247650"/>
                </a:lnTo>
                <a:lnTo>
                  <a:pt x="247650" y="209550"/>
                </a:lnTo>
                <a:close/>
                <a:moveTo>
                  <a:pt x="381000" y="0"/>
                </a:moveTo>
                <a:lnTo>
                  <a:pt x="381000" y="495300"/>
                </a:lnTo>
                <a:lnTo>
                  <a:pt x="0" y="495300"/>
                </a:lnTo>
                <a:lnTo>
                  <a:pt x="0" y="0"/>
                </a:lnTo>
                <a:lnTo>
                  <a:pt x="381000" y="0"/>
                </a:lnTo>
                <a:close/>
                <a:moveTo>
                  <a:pt x="342900" y="38100"/>
                </a:moveTo>
                <a:lnTo>
                  <a:pt x="38100" y="38100"/>
                </a:lnTo>
                <a:lnTo>
                  <a:pt x="38100" y="457200"/>
                </a:lnTo>
                <a:lnTo>
                  <a:pt x="342900" y="457200"/>
                </a:lnTo>
                <a:lnTo>
                  <a:pt x="342900" y="38100"/>
                </a:lnTo>
                <a:close/>
                <a:moveTo>
                  <a:pt x="304800" y="142875"/>
                </a:moveTo>
                <a:lnTo>
                  <a:pt x="76200" y="142875"/>
                </a:lnTo>
                <a:lnTo>
                  <a:pt x="76200" y="180975"/>
                </a:lnTo>
                <a:lnTo>
                  <a:pt x="304800" y="180975"/>
                </a:lnTo>
                <a:lnTo>
                  <a:pt x="304800" y="142875"/>
                </a:lnTo>
                <a:close/>
                <a:moveTo>
                  <a:pt x="304800" y="76257"/>
                </a:moveTo>
                <a:lnTo>
                  <a:pt x="76200" y="76257"/>
                </a:lnTo>
                <a:lnTo>
                  <a:pt x="76200" y="114357"/>
                </a:lnTo>
                <a:lnTo>
                  <a:pt x="304800" y="114357"/>
                </a:lnTo>
                <a:lnTo>
                  <a:pt x="304800" y="76257"/>
                </a:lnTo>
                <a:close/>
              </a:path>
            </a:pathLst>
          </a:custGeom>
          <a:solidFill>
            <a:srgbClr val="0028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dirty="0">
              <a:solidFill>
                <a:srgbClr val="000000"/>
              </a:solidFill>
              <a:ea typeface="Arial"/>
              <a:cs typeface="Arial"/>
              <a:sym typeface="Arial"/>
            </a:endParaRPr>
          </a:p>
        </p:txBody>
      </p:sp>
      <p:sp>
        <p:nvSpPr>
          <p:cNvPr id="556" name="Google Shape;556;p32"/>
          <p:cNvSpPr/>
          <p:nvPr/>
        </p:nvSpPr>
        <p:spPr>
          <a:xfrm>
            <a:off x="4448506" y="2050886"/>
            <a:ext cx="504825" cy="390525"/>
          </a:xfrm>
          <a:custGeom>
            <a:avLst/>
            <a:gdLst/>
            <a:ahLst/>
            <a:cxnLst/>
            <a:rect l="l" t="t" r="r" b="b"/>
            <a:pathLst>
              <a:path w="504825" h="390525" extrusionOk="0">
                <a:moveTo>
                  <a:pt x="7144" y="159544"/>
                </a:moveTo>
                <a:lnTo>
                  <a:pt x="159544" y="159544"/>
                </a:lnTo>
                <a:lnTo>
                  <a:pt x="159544" y="7144"/>
                </a:lnTo>
                <a:lnTo>
                  <a:pt x="7144" y="7144"/>
                </a:lnTo>
                <a:lnTo>
                  <a:pt x="7144" y="159544"/>
                </a:lnTo>
                <a:close/>
                <a:moveTo>
                  <a:pt x="45244" y="45244"/>
                </a:moveTo>
                <a:lnTo>
                  <a:pt x="121444" y="45244"/>
                </a:lnTo>
                <a:lnTo>
                  <a:pt x="121444" y="121444"/>
                </a:lnTo>
                <a:lnTo>
                  <a:pt x="45244" y="121444"/>
                </a:lnTo>
                <a:lnTo>
                  <a:pt x="45244" y="45244"/>
                </a:lnTo>
                <a:close/>
                <a:moveTo>
                  <a:pt x="7144" y="388144"/>
                </a:moveTo>
                <a:lnTo>
                  <a:pt x="159544" y="388144"/>
                </a:lnTo>
                <a:lnTo>
                  <a:pt x="159544" y="235744"/>
                </a:lnTo>
                <a:lnTo>
                  <a:pt x="7144" y="235744"/>
                </a:lnTo>
                <a:lnTo>
                  <a:pt x="7144" y="388144"/>
                </a:lnTo>
                <a:close/>
                <a:moveTo>
                  <a:pt x="45244" y="273844"/>
                </a:moveTo>
                <a:lnTo>
                  <a:pt x="121444" y="273844"/>
                </a:lnTo>
                <a:lnTo>
                  <a:pt x="121444" y="350044"/>
                </a:lnTo>
                <a:lnTo>
                  <a:pt x="45244" y="350044"/>
                </a:lnTo>
                <a:lnTo>
                  <a:pt x="45244" y="273844"/>
                </a:lnTo>
                <a:close/>
                <a:moveTo>
                  <a:pt x="502444" y="26194"/>
                </a:moveTo>
                <a:lnTo>
                  <a:pt x="502444" y="64294"/>
                </a:lnTo>
                <a:lnTo>
                  <a:pt x="197644" y="64294"/>
                </a:lnTo>
                <a:lnTo>
                  <a:pt x="197644" y="26194"/>
                </a:lnTo>
                <a:lnTo>
                  <a:pt x="502444" y="26194"/>
                </a:lnTo>
                <a:close/>
                <a:moveTo>
                  <a:pt x="426244" y="140494"/>
                </a:moveTo>
                <a:lnTo>
                  <a:pt x="197644" y="140494"/>
                </a:lnTo>
                <a:lnTo>
                  <a:pt x="197644" y="102394"/>
                </a:lnTo>
                <a:lnTo>
                  <a:pt x="426244" y="102394"/>
                </a:lnTo>
                <a:lnTo>
                  <a:pt x="426244" y="140494"/>
                </a:lnTo>
                <a:close/>
                <a:moveTo>
                  <a:pt x="197644" y="254794"/>
                </a:moveTo>
                <a:lnTo>
                  <a:pt x="502444" y="254794"/>
                </a:lnTo>
                <a:lnTo>
                  <a:pt x="502444" y="292894"/>
                </a:lnTo>
                <a:lnTo>
                  <a:pt x="197644" y="292894"/>
                </a:lnTo>
                <a:lnTo>
                  <a:pt x="197644" y="254794"/>
                </a:lnTo>
                <a:close/>
                <a:moveTo>
                  <a:pt x="197644" y="330994"/>
                </a:moveTo>
                <a:lnTo>
                  <a:pt x="426244" y="330994"/>
                </a:lnTo>
                <a:lnTo>
                  <a:pt x="426244" y="369094"/>
                </a:lnTo>
                <a:lnTo>
                  <a:pt x="197644" y="369094"/>
                </a:lnTo>
                <a:lnTo>
                  <a:pt x="197644" y="330994"/>
                </a:lnTo>
                <a:close/>
              </a:path>
            </a:pathLst>
          </a:custGeom>
          <a:solidFill>
            <a:srgbClr val="0028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dirty="0">
              <a:solidFill>
                <a:srgbClr val="000000"/>
              </a:solidFill>
              <a:ea typeface="Arial"/>
              <a:cs typeface="Arial"/>
              <a:sym typeface="Arial"/>
            </a:endParaRPr>
          </a:p>
        </p:txBody>
      </p:sp>
      <p:sp>
        <p:nvSpPr>
          <p:cNvPr id="557" name="Google Shape;557;p32"/>
          <p:cNvSpPr/>
          <p:nvPr/>
        </p:nvSpPr>
        <p:spPr>
          <a:xfrm>
            <a:off x="9910097" y="1917536"/>
            <a:ext cx="485775" cy="523875"/>
          </a:xfrm>
          <a:custGeom>
            <a:avLst/>
            <a:gdLst/>
            <a:ahLst/>
            <a:cxnLst/>
            <a:rect l="l" t="t" r="r" b="b"/>
            <a:pathLst>
              <a:path w="485775" h="523875" extrusionOk="0">
                <a:moveTo>
                  <a:pt x="407194" y="411194"/>
                </a:moveTo>
                <a:cubicBezTo>
                  <a:pt x="407194" y="474250"/>
                  <a:pt x="355949" y="525494"/>
                  <a:pt x="292894" y="525494"/>
                </a:cubicBezTo>
                <a:lnTo>
                  <a:pt x="26194" y="525494"/>
                </a:lnTo>
                <a:lnTo>
                  <a:pt x="26194" y="487394"/>
                </a:lnTo>
                <a:lnTo>
                  <a:pt x="292894" y="487394"/>
                </a:lnTo>
                <a:cubicBezTo>
                  <a:pt x="334899" y="487394"/>
                  <a:pt x="369094" y="453200"/>
                  <a:pt x="369094" y="411194"/>
                </a:cubicBezTo>
                <a:cubicBezTo>
                  <a:pt x="369094" y="369189"/>
                  <a:pt x="334899" y="334994"/>
                  <a:pt x="292894" y="334994"/>
                </a:cubicBezTo>
                <a:lnTo>
                  <a:pt x="121444" y="334994"/>
                </a:lnTo>
                <a:cubicBezTo>
                  <a:pt x="58388" y="334994"/>
                  <a:pt x="7144" y="283750"/>
                  <a:pt x="7144" y="220694"/>
                </a:cubicBezTo>
                <a:cubicBezTo>
                  <a:pt x="7144" y="157639"/>
                  <a:pt x="58388" y="106394"/>
                  <a:pt x="121444" y="106394"/>
                </a:cubicBezTo>
                <a:lnTo>
                  <a:pt x="408813" y="106394"/>
                </a:lnTo>
                <a:lnTo>
                  <a:pt x="336518" y="34100"/>
                </a:lnTo>
                <a:lnTo>
                  <a:pt x="363474" y="7144"/>
                </a:lnTo>
                <a:lnTo>
                  <a:pt x="481679" y="125349"/>
                </a:lnTo>
                <a:lnTo>
                  <a:pt x="363474" y="243650"/>
                </a:lnTo>
                <a:lnTo>
                  <a:pt x="336518" y="216694"/>
                </a:lnTo>
                <a:lnTo>
                  <a:pt x="408813" y="144399"/>
                </a:lnTo>
                <a:lnTo>
                  <a:pt x="121444" y="144399"/>
                </a:lnTo>
                <a:cubicBezTo>
                  <a:pt x="79438" y="144399"/>
                  <a:pt x="45244" y="178594"/>
                  <a:pt x="45244" y="220599"/>
                </a:cubicBezTo>
                <a:cubicBezTo>
                  <a:pt x="45244" y="262604"/>
                  <a:pt x="79438" y="296799"/>
                  <a:pt x="121444" y="296799"/>
                </a:cubicBezTo>
                <a:lnTo>
                  <a:pt x="292894" y="296799"/>
                </a:lnTo>
                <a:cubicBezTo>
                  <a:pt x="355854" y="296894"/>
                  <a:pt x="407194" y="348139"/>
                  <a:pt x="407194" y="411194"/>
                </a:cubicBezTo>
                <a:close/>
                <a:moveTo>
                  <a:pt x="83344" y="220694"/>
                </a:moveTo>
                <a:cubicBezTo>
                  <a:pt x="83344" y="241745"/>
                  <a:pt x="100394" y="258794"/>
                  <a:pt x="121444" y="258794"/>
                </a:cubicBezTo>
                <a:cubicBezTo>
                  <a:pt x="142494" y="258794"/>
                  <a:pt x="159544" y="241745"/>
                  <a:pt x="159544" y="220694"/>
                </a:cubicBezTo>
                <a:cubicBezTo>
                  <a:pt x="159544" y="199644"/>
                  <a:pt x="142494" y="182594"/>
                  <a:pt x="121444" y="182594"/>
                </a:cubicBezTo>
                <a:cubicBezTo>
                  <a:pt x="100394" y="182594"/>
                  <a:pt x="83344" y="199644"/>
                  <a:pt x="83344" y="220694"/>
                </a:cubicBezTo>
                <a:close/>
                <a:moveTo>
                  <a:pt x="330994" y="411194"/>
                </a:moveTo>
                <a:cubicBezTo>
                  <a:pt x="330994" y="390144"/>
                  <a:pt x="313944" y="373094"/>
                  <a:pt x="292894" y="373094"/>
                </a:cubicBezTo>
                <a:cubicBezTo>
                  <a:pt x="271844" y="373094"/>
                  <a:pt x="254794" y="390144"/>
                  <a:pt x="254794" y="411194"/>
                </a:cubicBezTo>
                <a:cubicBezTo>
                  <a:pt x="254794" y="432244"/>
                  <a:pt x="271844" y="449294"/>
                  <a:pt x="292894" y="449294"/>
                </a:cubicBezTo>
                <a:cubicBezTo>
                  <a:pt x="313944" y="449294"/>
                  <a:pt x="330994" y="432244"/>
                  <a:pt x="330994" y="411194"/>
                </a:cubicBezTo>
                <a:close/>
              </a:path>
            </a:pathLst>
          </a:custGeom>
          <a:solidFill>
            <a:srgbClr val="0028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dirty="0">
              <a:solidFill>
                <a:srgbClr val="000000"/>
              </a:solidFill>
              <a:ea typeface="Arial"/>
              <a:cs typeface="Arial"/>
              <a:sym typeface="Arial"/>
            </a:endParaRPr>
          </a:p>
        </p:txBody>
      </p:sp>
      <p:sp>
        <p:nvSpPr>
          <p:cNvPr id="558" name="Google Shape;558;p32"/>
          <p:cNvSpPr txBox="1"/>
          <p:nvPr/>
        </p:nvSpPr>
        <p:spPr>
          <a:xfrm>
            <a:off x="457200" y="365760"/>
            <a:ext cx="11274600" cy="4512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2"/>
              </a:buClr>
              <a:buSzPts val="3200"/>
              <a:buFont typeface="Arial Black"/>
              <a:buNone/>
            </a:pPr>
            <a:r>
              <a:rPr lang="en-US" sz="2800" dirty="0">
                <a:solidFill>
                  <a:schemeClr val="dk2"/>
                </a:solidFill>
                <a:latin typeface="+mj-lt"/>
                <a:ea typeface="Arial Black"/>
                <a:cs typeface="Arial Black"/>
                <a:sym typeface="Arial Black"/>
              </a:rPr>
              <a:t>Alignment: HR Business and Technology Strategy</a:t>
            </a:r>
            <a:endParaRPr lang="en-US" sz="2800" dirty="0">
              <a:latin typeface="+mj-lt"/>
            </a:endParaRPr>
          </a:p>
        </p:txBody>
      </p:sp>
      <p:sp>
        <p:nvSpPr>
          <p:cNvPr id="559" name="Google Shape;559;p32"/>
          <p:cNvSpPr txBox="1">
            <a:spLocks noGrp="1"/>
          </p:cNvSpPr>
          <p:nvPr>
            <p:ph type="body" idx="1"/>
          </p:nvPr>
        </p:nvSpPr>
        <p:spPr>
          <a:xfrm>
            <a:off x="457200" y="887825"/>
            <a:ext cx="11274600" cy="9798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3200"/>
              <a:buFont typeface="Arial Black"/>
              <a:buNone/>
            </a:pPr>
            <a:r>
              <a:rPr lang="en-US" sz="2000" dirty="0"/>
              <a:t>Leverage your stakeholders to decide on key outcomes that AI can support. Some organizations may wish to ensure this is bidirectional, infusing AI into the HR technology strategy as well or in subsequent years merging into a single strategy document.</a:t>
            </a:r>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3"/>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Alignment: Enterprise-Level AI Strategy</a:t>
            </a:r>
          </a:p>
        </p:txBody>
      </p:sp>
      <p:sp>
        <p:nvSpPr>
          <p:cNvPr id="565" name="Google Shape;565;p33"/>
          <p:cNvSpPr/>
          <p:nvPr/>
        </p:nvSpPr>
        <p:spPr>
          <a:xfrm>
            <a:off x="5168395" y="4987044"/>
            <a:ext cx="1852200" cy="319800"/>
          </a:xfrm>
          <a:prstGeom prst="leftRightArrow">
            <a:avLst>
              <a:gd name="adj1" fmla="val 50000"/>
              <a:gd name="adj2" fmla="val 50000"/>
            </a:avLst>
          </a:prstGeom>
          <a:solidFill>
            <a:srgbClr val="979D9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mn-lt"/>
              <a:ea typeface="Arial"/>
              <a:cs typeface="Arial"/>
              <a:sym typeface="Arial"/>
            </a:endParaRPr>
          </a:p>
        </p:txBody>
      </p:sp>
      <p:sp>
        <p:nvSpPr>
          <p:cNvPr id="566" name="Google Shape;566;p33"/>
          <p:cNvSpPr txBox="1"/>
          <p:nvPr/>
        </p:nvSpPr>
        <p:spPr>
          <a:xfrm>
            <a:off x="5564522" y="4746817"/>
            <a:ext cx="1059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mn-lt"/>
                <a:ea typeface="Arial"/>
                <a:cs typeface="Arial"/>
                <a:sym typeface="Arial"/>
              </a:rPr>
              <a:t>Alignment</a:t>
            </a:r>
            <a:endParaRPr lang="en-US" sz="1400" b="0" i="0" u="none" strike="noStrike" cap="none" dirty="0">
              <a:solidFill>
                <a:srgbClr val="000000"/>
              </a:solidFill>
              <a:latin typeface="+mn-lt"/>
              <a:ea typeface="Arial"/>
              <a:cs typeface="Arial"/>
              <a:sym typeface="Arial"/>
            </a:endParaRPr>
          </a:p>
        </p:txBody>
      </p:sp>
      <p:grpSp>
        <p:nvGrpSpPr>
          <p:cNvPr id="567" name="Google Shape;567;p33"/>
          <p:cNvGrpSpPr/>
          <p:nvPr/>
        </p:nvGrpSpPr>
        <p:grpSpPr>
          <a:xfrm>
            <a:off x="2926943" y="4273139"/>
            <a:ext cx="2009632" cy="1747506"/>
            <a:chOff x="2174726" y="3981273"/>
            <a:chExt cx="2009632" cy="1747506"/>
          </a:xfrm>
        </p:grpSpPr>
        <p:sp>
          <p:nvSpPr>
            <p:cNvPr id="568" name="Google Shape;568;p33"/>
            <p:cNvSpPr/>
            <p:nvPr/>
          </p:nvSpPr>
          <p:spPr>
            <a:xfrm rot="5400000">
              <a:off x="2305789" y="3850210"/>
              <a:ext cx="1747506" cy="2009632"/>
            </a:xfrm>
            <a:custGeom>
              <a:avLst/>
              <a:gdLst/>
              <a:ahLst/>
              <a:cxnLst/>
              <a:rect l="l" t="t" r="r" b="b"/>
              <a:pathLst>
                <a:path w="2008628" h="1747506" extrusionOk="0">
                  <a:moveTo>
                    <a:pt x="1004314" y="0"/>
                  </a:moveTo>
                  <a:lnTo>
                    <a:pt x="2008627" y="380083"/>
                  </a:lnTo>
                  <a:lnTo>
                    <a:pt x="2008627" y="1367424"/>
                  </a:lnTo>
                  <a:lnTo>
                    <a:pt x="1004314" y="1747506"/>
                  </a:lnTo>
                  <a:lnTo>
                    <a:pt x="1" y="1367424"/>
                  </a:lnTo>
                  <a:lnTo>
                    <a:pt x="1" y="380083"/>
                  </a:lnTo>
                  <a:lnTo>
                    <a:pt x="1004314" y="0"/>
                  </a:lnTo>
                  <a:close/>
                </a:path>
              </a:pathLst>
            </a:custGeom>
            <a:solidFill>
              <a:srgbClr val="002856"/>
            </a:solidFill>
            <a:ln w="12700" cap="flat" cmpd="sng">
              <a:solidFill>
                <a:srgbClr val="FFFFFF"/>
              </a:solidFill>
              <a:prstDash val="solid"/>
              <a:miter lim="800000"/>
              <a:headEnd type="none" w="sm" len="sm"/>
              <a:tailEnd type="none" w="sm" len="sm"/>
            </a:ln>
          </p:spPr>
          <p:txBody>
            <a:bodyPr spcFirstLastPara="1" wrap="square" lIns="0" tIns="313000" rIns="0" bIns="31300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dirty="0">
                <a:solidFill>
                  <a:srgbClr val="FFFFFF"/>
                </a:solidFill>
                <a:latin typeface="+mn-lt"/>
                <a:ea typeface="Arial"/>
                <a:cs typeface="Arial"/>
                <a:sym typeface="Arial"/>
              </a:endParaRPr>
            </a:p>
          </p:txBody>
        </p:sp>
        <p:sp>
          <p:nvSpPr>
            <p:cNvPr id="569" name="Google Shape;569;p33"/>
            <p:cNvSpPr txBox="1"/>
            <p:nvPr/>
          </p:nvSpPr>
          <p:spPr>
            <a:xfrm>
              <a:off x="2375977" y="4562658"/>
              <a:ext cx="16080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FFFFFF"/>
                  </a:solidFill>
                  <a:latin typeface="+mn-lt"/>
                  <a:ea typeface="Arial"/>
                  <a:cs typeface="Arial"/>
                  <a:sym typeface="Arial"/>
                </a:rPr>
                <a:t>Enterprise-level</a:t>
              </a:r>
              <a:endParaRPr lang="en-US" sz="1400" b="0" i="0" u="none" strike="noStrike" cap="none" dirty="0">
                <a:solidFill>
                  <a:srgbClr val="000000"/>
                </a:solidFill>
                <a:latin typeface="+mn-lt"/>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FFFFFF"/>
                  </a:solidFill>
                  <a:latin typeface="+mn-lt"/>
                  <a:ea typeface="Arial"/>
                  <a:cs typeface="Arial"/>
                  <a:sym typeface="Arial"/>
                </a:rPr>
                <a:t>AI</a:t>
              </a:r>
              <a:r>
                <a:rPr lang="en-US" sz="1400" b="0" i="0" u="none" strike="noStrike" cap="none" dirty="0">
                  <a:solidFill>
                    <a:srgbClr val="000000"/>
                  </a:solidFill>
                  <a:latin typeface="+mn-lt"/>
                  <a:ea typeface="Arial"/>
                  <a:cs typeface="Arial"/>
                  <a:sym typeface="Arial"/>
                </a:rPr>
                <a:t> </a:t>
              </a:r>
              <a:r>
                <a:rPr lang="en-US" sz="1600" b="0" i="0" u="none" strike="noStrike" cap="none" dirty="0">
                  <a:solidFill>
                    <a:srgbClr val="FFFFFF"/>
                  </a:solidFill>
                  <a:latin typeface="+mn-lt"/>
                  <a:ea typeface="Arial"/>
                  <a:cs typeface="Arial"/>
                  <a:sym typeface="Arial"/>
                </a:rPr>
                <a:t>strategy</a:t>
              </a:r>
              <a:endParaRPr lang="en-US" sz="1400" b="0" i="0" u="none" strike="noStrike" cap="none" dirty="0">
                <a:solidFill>
                  <a:srgbClr val="000000"/>
                </a:solidFill>
                <a:latin typeface="+mn-lt"/>
                <a:ea typeface="Arial"/>
                <a:cs typeface="Arial"/>
                <a:sym typeface="Arial"/>
              </a:endParaRPr>
            </a:p>
          </p:txBody>
        </p:sp>
      </p:grpSp>
      <p:grpSp>
        <p:nvGrpSpPr>
          <p:cNvPr id="570" name="Google Shape;570;p33"/>
          <p:cNvGrpSpPr/>
          <p:nvPr/>
        </p:nvGrpSpPr>
        <p:grpSpPr>
          <a:xfrm>
            <a:off x="7150922" y="3957146"/>
            <a:ext cx="2408433" cy="2379830"/>
            <a:chOff x="457200" y="1514828"/>
            <a:chExt cx="4140336" cy="4091164"/>
          </a:xfrm>
        </p:grpSpPr>
        <p:grpSp>
          <p:nvGrpSpPr>
            <p:cNvPr id="571" name="Google Shape;571;p33"/>
            <p:cNvGrpSpPr/>
            <p:nvPr/>
          </p:nvGrpSpPr>
          <p:grpSpPr>
            <a:xfrm>
              <a:off x="489267" y="1517805"/>
              <a:ext cx="4096527" cy="4088187"/>
              <a:chOff x="1560285" y="1414704"/>
              <a:chExt cx="1244691" cy="1242157"/>
            </a:xfrm>
          </p:grpSpPr>
          <p:sp>
            <p:nvSpPr>
              <p:cNvPr id="572" name="Google Shape;572;p33"/>
              <p:cNvSpPr/>
              <p:nvPr/>
            </p:nvSpPr>
            <p:spPr>
              <a:xfrm>
                <a:off x="1592953" y="2043130"/>
                <a:ext cx="584671" cy="613731"/>
              </a:xfrm>
              <a:custGeom>
                <a:avLst/>
                <a:gdLst/>
                <a:ahLst/>
                <a:cxnLst/>
                <a:rect l="l" t="t" r="r" b="b"/>
                <a:pathLst>
                  <a:path w="584671" h="613731" extrusionOk="0">
                    <a:moveTo>
                      <a:pt x="0" y="188767"/>
                    </a:moveTo>
                    <a:cubicBezTo>
                      <a:pt x="84611" y="442038"/>
                      <a:pt x="322282" y="611834"/>
                      <a:pt x="584672" y="613731"/>
                    </a:cubicBezTo>
                    <a:lnTo>
                      <a:pt x="584672" y="0"/>
                    </a:lnTo>
                    <a:cubicBezTo>
                      <a:pt x="584672" y="0"/>
                      <a:pt x="0" y="189716"/>
                      <a:pt x="0" y="189716"/>
                    </a:cubicBez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100" b="0" i="0" u="none" strike="noStrike" cap="none" dirty="0">
                  <a:solidFill>
                    <a:srgbClr val="000000"/>
                  </a:solidFill>
                  <a:latin typeface="+mn-lt"/>
                  <a:ea typeface="Arial"/>
                  <a:cs typeface="Arial"/>
                  <a:sym typeface="Arial"/>
                </a:endParaRPr>
              </a:p>
            </p:txBody>
          </p:sp>
          <p:sp>
            <p:nvSpPr>
              <p:cNvPr id="573" name="Google Shape;573;p33"/>
              <p:cNvSpPr/>
              <p:nvPr/>
            </p:nvSpPr>
            <p:spPr>
              <a:xfrm>
                <a:off x="1821117" y="1414704"/>
                <a:ext cx="723471" cy="613248"/>
              </a:xfrm>
              <a:custGeom>
                <a:avLst/>
                <a:gdLst/>
                <a:ahLst/>
                <a:cxnLst/>
                <a:rect l="l" t="t" r="r" b="b"/>
                <a:pathLst>
                  <a:path w="723471" h="613248" extrusionOk="0">
                    <a:moveTo>
                      <a:pt x="723472" y="116192"/>
                    </a:moveTo>
                    <a:cubicBezTo>
                      <a:pt x="586573" y="18489"/>
                      <a:pt x="410696" y="-24198"/>
                      <a:pt x="232918" y="13746"/>
                    </a:cubicBezTo>
                    <a:cubicBezTo>
                      <a:pt x="146406" y="31769"/>
                      <a:pt x="67499" y="67815"/>
                      <a:pt x="0" y="116192"/>
                    </a:cubicBezTo>
                    <a:lnTo>
                      <a:pt x="361261" y="613248"/>
                    </a:lnTo>
                    <a:lnTo>
                      <a:pt x="723472" y="117141"/>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100" b="0" i="0" u="none" strike="noStrike" cap="none" dirty="0">
                  <a:solidFill>
                    <a:srgbClr val="000000"/>
                  </a:solidFill>
                  <a:latin typeface="+mn-lt"/>
                  <a:ea typeface="Arial"/>
                  <a:cs typeface="Arial"/>
                  <a:sym typeface="Arial"/>
                </a:endParaRPr>
              </a:p>
            </p:txBody>
          </p:sp>
          <p:sp>
            <p:nvSpPr>
              <p:cNvPr id="574" name="Google Shape;574;p33"/>
              <p:cNvSpPr/>
              <p:nvPr/>
            </p:nvSpPr>
            <p:spPr>
              <a:xfrm>
                <a:off x="2190934" y="1536588"/>
                <a:ext cx="614042" cy="686772"/>
              </a:xfrm>
              <a:custGeom>
                <a:avLst/>
                <a:gdLst/>
                <a:ahLst/>
                <a:cxnLst/>
                <a:rect l="l" t="t" r="r" b="b"/>
                <a:pathLst>
                  <a:path w="614042" h="686772" extrusionOk="0">
                    <a:moveTo>
                      <a:pt x="584672" y="686772"/>
                    </a:moveTo>
                    <a:cubicBezTo>
                      <a:pt x="616044" y="588120"/>
                      <a:pt x="623650" y="479982"/>
                      <a:pt x="600833" y="370895"/>
                    </a:cubicBezTo>
                    <a:cubicBezTo>
                      <a:pt x="568510" y="216276"/>
                      <a:pt x="480096" y="87269"/>
                      <a:pt x="362211" y="0"/>
                    </a:cubicBezTo>
                    <a:lnTo>
                      <a:pt x="0" y="496107"/>
                    </a:lnTo>
                    <a:lnTo>
                      <a:pt x="584672" y="685824"/>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100" b="0" i="0" u="none" strike="noStrike" cap="none" dirty="0">
                  <a:solidFill>
                    <a:srgbClr val="000000"/>
                  </a:solidFill>
                  <a:latin typeface="+mn-lt"/>
                  <a:ea typeface="Arial"/>
                  <a:cs typeface="Arial"/>
                  <a:sym typeface="Arial"/>
                </a:endParaRPr>
              </a:p>
            </p:txBody>
          </p:sp>
          <p:sp>
            <p:nvSpPr>
              <p:cNvPr id="575" name="Google Shape;575;p33"/>
              <p:cNvSpPr/>
              <p:nvPr/>
            </p:nvSpPr>
            <p:spPr>
              <a:xfrm>
                <a:off x="1560285" y="1536588"/>
                <a:ext cx="614487" cy="686772"/>
              </a:xfrm>
              <a:custGeom>
                <a:avLst/>
                <a:gdLst/>
                <a:ahLst/>
                <a:cxnLst/>
                <a:rect l="l" t="t" r="r" b="b"/>
                <a:pathLst>
                  <a:path w="614487" h="686772" extrusionOk="0">
                    <a:moveTo>
                      <a:pt x="253226" y="0"/>
                    </a:moveTo>
                    <a:cubicBezTo>
                      <a:pt x="63089" y="140390"/>
                      <a:pt x="-38634" y="382278"/>
                      <a:pt x="13654" y="627960"/>
                    </a:cubicBezTo>
                    <a:cubicBezTo>
                      <a:pt x="17456" y="647880"/>
                      <a:pt x="23161" y="667801"/>
                      <a:pt x="28865" y="686772"/>
                    </a:cubicBezTo>
                    <a:lnTo>
                      <a:pt x="614487" y="497056"/>
                    </a:lnTo>
                    <a:lnTo>
                      <a:pt x="253226" y="0"/>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100" b="0" i="0" u="none" strike="noStrike" cap="none" dirty="0">
                  <a:solidFill>
                    <a:srgbClr val="000000"/>
                  </a:solidFill>
                  <a:latin typeface="+mn-lt"/>
                  <a:ea typeface="Arial"/>
                  <a:cs typeface="Arial"/>
                  <a:sym typeface="Arial"/>
                </a:endParaRPr>
              </a:p>
            </p:txBody>
          </p:sp>
          <p:sp>
            <p:nvSpPr>
              <p:cNvPr id="576" name="Google Shape;576;p33"/>
              <p:cNvSpPr/>
              <p:nvPr/>
            </p:nvSpPr>
            <p:spPr>
              <a:xfrm>
                <a:off x="2187131" y="2043130"/>
                <a:ext cx="585622" cy="613731"/>
              </a:xfrm>
              <a:custGeom>
                <a:avLst/>
                <a:gdLst/>
                <a:ahLst/>
                <a:cxnLst/>
                <a:rect l="l" t="t" r="r" b="b"/>
                <a:pathLst>
                  <a:path w="585622" h="613731" extrusionOk="0">
                    <a:moveTo>
                      <a:pt x="0" y="613731"/>
                    </a:moveTo>
                    <a:cubicBezTo>
                      <a:pt x="40880" y="613731"/>
                      <a:pt x="82710" y="608989"/>
                      <a:pt x="124540" y="600451"/>
                    </a:cubicBezTo>
                    <a:cubicBezTo>
                      <a:pt x="347951" y="553022"/>
                      <a:pt x="518124" y="391764"/>
                      <a:pt x="585622" y="189716"/>
                    </a:cubicBezTo>
                    <a:lnTo>
                      <a:pt x="951" y="0"/>
                    </a:lnTo>
                    <a:lnTo>
                      <a:pt x="951" y="613731"/>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100" b="0" i="0" u="none" strike="noStrike" cap="none" dirty="0">
                  <a:solidFill>
                    <a:srgbClr val="000000"/>
                  </a:solidFill>
                  <a:latin typeface="+mn-lt"/>
                  <a:ea typeface="Arial"/>
                  <a:cs typeface="Arial"/>
                  <a:sym typeface="Arial"/>
                </a:endParaRPr>
              </a:p>
            </p:txBody>
          </p:sp>
        </p:grpSp>
        <p:sp>
          <p:nvSpPr>
            <p:cNvPr id="577" name="Google Shape;577;p33"/>
            <p:cNvSpPr/>
            <p:nvPr/>
          </p:nvSpPr>
          <p:spPr>
            <a:xfrm rot="10800000">
              <a:off x="1608000" y="2774959"/>
              <a:ext cx="1858800" cy="1763400"/>
            </a:xfrm>
            <a:prstGeom prst="pentagon">
              <a:avLst>
                <a:gd name="hf" fmla="val 105146"/>
                <a:gd name="vf" fmla="val 110557"/>
              </a:avLst>
            </a:prstGeom>
            <a:solidFill>
              <a:srgbClr val="002856"/>
            </a:solidFill>
            <a:ln w="31750" cap="flat" cmpd="sng">
              <a:solidFill>
                <a:srgbClr val="FFFFFF"/>
              </a:solidFill>
              <a:prstDash val="solid"/>
              <a:round/>
              <a:headEnd type="none" w="sm" len="sm"/>
              <a:tailEnd type="none" w="sm" len="sm"/>
            </a:ln>
          </p:spPr>
          <p:txBody>
            <a:bodyPr spcFirstLastPara="1" wrap="square" lIns="0" tIns="91425" rIns="0" bIns="313000" anchor="ctr" anchorCtr="0">
              <a:noAutofit/>
            </a:bodyPr>
            <a:lstStyle/>
            <a:p>
              <a:pPr marL="0" marR="0" lvl="0" indent="0" algn="ctr" rtl="0">
                <a:lnSpc>
                  <a:spcPct val="90000"/>
                </a:lnSpc>
                <a:spcBef>
                  <a:spcPts val="0"/>
                </a:spcBef>
                <a:spcAft>
                  <a:spcPts val="0"/>
                </a:spcAft>
                <a:buNone/>
              </a:pPr>
              <a:endParaRPr sz="1200" b="1" i="0" u="none" strike="noStrike" cap="none" dirty="0">
                <a:solidFill>
                  <a:srgbClr val="FFFFFF"/>
                </a:solidFill>
                <a:latin typeface="+mn-lt"/>
                <a:ea typeface="Arial"/>
                <a:cs typeface="Arial"/>
                <a:sym typeface="Arial"/>
              </a:endParaRPr>
            </a:p>
          </p:txBody>
        </p:sp>
        <p:sp>
          <p:nvSpPr>
            <p:cNvPr id="578" name="Google Shape;578;p33"/>
            <p:cNvSpPr txBox="1"/>
            <p:nvPr/>
          </p:nvSpPr>
          <p:spPr>
            <a:xfrm>
              <a:off x="1739786" y="3049255"/>
              <a:ext cx="1560299" cy="944372"/>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1100"/>
                <a:buFont typeface="Arial"/>
                <a:buNone/>
              </a:pPr>
              <a:r>
                <a:rPr lang="en-US" sz="1100" b="1" i="0" u="none" strike="noStrike" cap="none" dirty="0">
                  <a:solidFill>
                    <a:srgbClr val="FFFFFF"/>
                  </a:solidFill>
                  <a:latin typeface="+mn-lt"/>
                  <a:ea typeface="Arial"/>
                  <a:cs typeface="Arial"/>
                  <a:sym typeface="Arial"/>
                </a:rPr>
                <a:t>HR-focused </a:t>
              </a:r>
              <a:br>
                <a:rPr lang="en-US" sz="1100" b="1" i="0" u="none" strike="noStrike" cap="none" dirty="0">
                  <a:solidFill>
                    <a:srgbClr val="FFFFFF"/>
                  </a:solidFill>
                  <a:latin typeface="+mn-lt"/>
                  <a:ea typeface="Arial"/>
                  <a:cs typeface="Arial"/>
                  <a:sym typeface="Arial"/>
                </a:rPr>
              </a:br>
              <a:r>
                <a:rPr lang="en-US" sz="1100" b="1" i="0" u="none" strike="noStrike" cap="none" dirty="0">
                  <a:solidFill>
                    <a:srgbClr val="FFFFFF"/>
                  </a:solidFill>
                  <a:latin typeface="+mn-lt"/>
                  <a:ea typeface="Arial"/>
                  <a:cs typeface="Arial"/>
                  <a:sym typeface="Arial"/>
                </a:rPr>
                <a:t>AI strategy</a:t>
              </a:r>
              <a:endParaRPr lang="en-US" dirty="0">
                <a:latin typeface="+mn-lt"/>
              </a:endParaRPr>
            </a:p>
          </p:txBody>
        </p:sp>
        <p:sp>
          <p:nvSpPr>
            <p:cNvPr id="579" name="Google Shape;579;p33"/>
            <p:cNvSpPr/>
            <p:nvPr/>
          </p:nvSpPr>
          <p:spPr>
            <a:xfrm>
              <a:off x="1874536" y="1514828"/>
              <a:ext cx="1326000" cy="1229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050" b="1" i="0" u="none" strike="noStrike" cap="none" dirty="0">
                  <a:solidFill>
                    <a:srgbClr val="000000"/>
                  </a:solidFill>
                  <a:latin typeface="+mn-lt"/>
                  <a:ea typeface="Arial"/>
                  <a:cs typeface="Arial"/>
                  <a:sym typeface="Arial"/>
                </a:rPr>
                <a:t>Vision</a:t>
              </a:r>
              <a:endParaRPr lang="en-US" dirty="0">
                <a:latin typeface="+mn-lt"/>
              </a:endParaRPr>
            </a:p>
          </p:txBody>
        </p:sp>
        <p:sp>
          <p:nvSpPr>
            <p:cNvPr id="580" name="Google Shape;580;p33"/>
            <p:cNvSpPr/>
            <p:nvPr/>
          </p:nvSpPr>
          <p:spPr>
            <a:xfrm>
              <a:off x="3157236" y="2428586"/>
              <a:ext cx="1440300" cy="132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050" b="1" i="0" u="none" strike="noStrike" cap="none" dirty="0">
                  <a:solidFill>
                    <a:srgbClr val="000000"/>
                  </a:solidFill>
                  <a:latin typeface="+mn-lt"/>
                  <a:ea typeface="Arial"/>
                  <a:cs typeface="Arial"/>
                  <a:sym typeface="Arial"/>
                </a:rPr>
                <a:t>Value</a:t>
              </a:r>
              <a:endParaRPr lang="en-US" dirty="0">
                <a:latin typeface="+mn-lt"/>
              </a:endParaRPr>
            </a:p>
          </p:txBody>
        </p:sp>
        <p:sp>
          <p:nvSpPr>
            <p:cNvPr id="581" name="Google Shape;581;p33"/>
            <p:cNvSpPr/>
            <p:nvPr/>
          </p:nvSpPr>
          <p:spPr>
            <a:xfrm>
              <a:off x="457200" y="2426402"/>
              <a:ext cx="1470600" cy="1330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050" b="1" i="0" u="none" strike="noStrike" cap="none" dirty="0">
                  <a:solidFill>
                    <a:srgbClr val="000000"/>
                  </a:solidFill>
                  <a:latin typeface="+mn-lt"/>
                  <a:ea typeface="Arial"/>
                  <a:cs typeface="Arial"/>
                  <a:sym typeface="Arial"/>
                </a:rPr>
                <a:t>Alignment</a:t>
              </a:r>
              <a:endParaRPr lang="en-US" dirty="0">
                <a:latin typeface="+mn-lt"/>
              </a:endParaRPr>
            </a:p>
          </p:txBody>
        </p:sp>
        <p:sp>
          <p:nvSpPr>
            <p:cNvPr id="582" name="Google Shape;582;p33"/>
            <p:cNvSpPr/>
            <p:nvPr/>
          </p:nvSpPr>
          <p:spPr>
            <a:xfrm>
              <a:off x="2537476"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050" b="1" i="0" u="none" strike="noStrike" cap="none" dirty="0">
                  <a:solidFill>
                    <a:srgbClr val="000000"/>
                  </a:solidFill>
                  <a:latin typeface="+mn-lt"/>
                  <a:ea typeface="Arial"/>
                  <a:cs typeface="Arial"/>
                  <a:sym typeface="Arial"/>
                </a:rPr>
                <a:t>Risk</a:t>
              </a:r>
              <a:endParaRPr lang="en-US" dirty="0">
                <a:latin typeface="+mn-lt"/>
              </a:endParaRPr>
            </a:p>
          </p:txBody>
        </p:sp>
        <p:sp>
          <p:nvSpPr>
            <p:cNvPr id="583" name="Google Shape;583;p33"/>
            <p:cNvSpPr/>
            <p:nvPr/>
          </p:nvSpPr>
          <p:spPr>
            <a:xfrm>
              <a:off x="811049"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050" b="1" i="0" u="none" strike="noStrike" cap="none" dirty="0">
                  <a:solidFill>
                    <a:srgbClr val="000000"/>
                  </a:solidFill>
                  <a:latin typeface="+mn-lt"/>
                  <a:ea typeface="Arial"/>
                  <a:cs typeface="Arial"/>
                  <a:sym typeface="Arial"/>
                </a:rPr>
                <a:t>Adoption</a:t>
              </a:r>
              <a:endParaRPr lang="en-US" dirty="0">
                <a:latin typeface="+mn-lt"/>
              </a:endParaRPr>
            </a:p>
          </p:txBody>
        </p:sp>
      </p:grpSp>
      <p:sp>
        <p:nvSpPr>
          <p:cNvPr id="584" name="Google Shape;584;p33"/>
          <p:cNvSpPr txBox="1">
            <a:spLocks noGrp="1"/>
          </p:cNvSpPr>
          <p:nvPr>
            <p:ph type="body" idx="1"/>
          </p:nvPr>
        </p:nvSpPr>
        <p:spPr>
          <a:xfrm>
            <a:off x="457200" y="1096337"/>
            <a:ext cx="11274600" cy="2328300"/>
          </a:xfrm>
          <a:prstGeom prst="rect">
            <a:avLst/>
          </a:prstGeom>
        </p:spPr>
        <p:txBody>
          <a:bodyPr spcFirstLastPara="1" wrap="square" lIns="0" tIns="0" rIns="0" bIns="0" anchor="t" anchorCtr="0">
            <a:noAutofit/>
          </a:bodyPr>
          <a:lstStyle/>
          <a:p>
            <a:pPr marL="342900">
              <a:spcBef>
                <a:spcPts val="0"/>
              </a:spcBef>
              <a:buSzPts val="2000"/>
            </a:pPr>
            <a:r>
              <a:rPr lang="en-US" sz="2000" dirty="0">
                <a:latin typeface="+mn-lt"/>
              </a:rPr>
              <a:t>Partner with the broader, enterprise-level leader (who may be in IT or part of a centralized AI COE) to ensure each component of your HR-focused AI strategy aligns with the organization’s needs and goals. </a:t>
            </a:r>
            <a:endParaRPr lang="en-US" dirty="0">
              <a:latin typeface="+mn-lt"/>
            </a:endParaRPr>
          </a:p>
          <a:p>
            <a:pPr marL="342900">
              <a:buSzPts val="2000"/>
            </a:pPr>
            <a:r>
              <a:rPr lang="en-US" sz="2000" dirty="0">
                <a:latin typeface="+mn-lt"/>
              </a:rPr>
              <a:t>Doing so ensures:</a:t>
            </a:r>
            <a:endParaRPr lang="en-US" dirty="0">
              <a:latin typeface="+mn-lt"/>
            </a:endParaRPr>
          </a:p>
          <a:p>
            <a:pPr marL="771525" lvl="1" algn="l" rtl="0">
              <a:spcBef>
                <a:spcPts val="1200"/>
              </a:spcBef>
              <a:spcAft>
                <a:spcPts val="0"/>
              </a:spcAft>
              <a:buSzPts val="2000"/>
              <a:buFont typeface="Arial" panose="020B0604020202020204" pitchFamily="34" charset="0"/>
              <a:buChar char="—"/>
            </a:pPr>
            <a:r>
              <a:rPr lang="en-US" sz="2000" dirty="0">
                <a:latin typeface="+mn-lt"/>
              </a:rPr>
              <a:t>Consistent implementation and usage policies.</a:t>
            </a:r>
            <a:endParaRPr lang="en-US" dirty="0">
              <a:latin typeface="+mn-lt"/>
            </a:endParaRPr>
          </a:p>
          <a:p>
            <a:pPr marL="771525" lvl="1" algn="l" rtl="0">
              <a:spcBef>
                <a:spcPts val="1200"/>
              </a:spcBef>
              <a:spcAft>
                <a:spcPts val="0"/>
              </a:spcAft>
              <a:buSzPts val="2000"/>
              <a:buFont typeface="Arial" panose="020B0604020202020204" pitchFamily="34" charset="0"/>
              <a:buChar char="—"/>
            </a:pPr>
            <a:r>
              <a:rPr lang="en-US" sz="2000" dirty="0">
                <a:latin typeface="+mn-lt"/>
              </a:rPr>
              <a:t>Use-case prioritization by enterprise demand and risk tolerance.</a:t>
            </a:r>
            <a:endParaRPr lang="en-US" dirty="0">
              <a:latin typeface="+mn-lt"/>
            </a:endParaRPr>
          </a:p>
          <a:p>
            <a:pPr marL="771525" lvl="1" algn="l" rtl="0">
              <a:spcBef>
                <a:spcPts val="1200"/>
              </a:spcBef>
              <a:spcAft>
                <a:spcPts val="0"/>
              </a:spcAft>
              <a:buSzPts val="2000"/>
              <a:buFont typeface="Arial" panose="020B0604020202020204" pitchFamily="34" charset="0"/>
              <a:buChar char="—"/>
            </a:pPr>
            <a:r>
              <a:rPr lang="en-US" sz="2000" dirty="0">
                <a:latin typeface="+mn-lt"/>
              </a:rPr>
              <a:t>Support with technical requirements and GenAI washing (bad actors).</a:t>
            </a:r>
            <a:endParaRPr lang="en-US" dirty="0">
              <a:latin typeface="+mn-lt"/>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34"/>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What’s Next?</a:t>
            </a:r>
          </a:p>
        </p:txBody>
      </p:sp>
      <p:sp>
        <p:nvSpPr>
          <p:cNvPr id="590" name="Google Shape;590;p34"/>
          <p:cNvSpPr txBox="1">
            <a:spLocks noGrp="1"/>
          </p:cNvSpPr>
          <p:nvPr>
            <p:ph type="body" idx="1"/>
          </p:nvPr>
        </p:nvSpPr>
        <p:spPr>
          <a:xfrm>
            <a:off x="5723728" y="1322847"/>
            <a:ext cx="6203229" cy="4462272"/>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None/>
            </a:pPr>
            <a:r>
              <a:rPr lang="en-US" dirty="0"/>
              <a:t>I’ve defined my strategy … what’s next</a:t>
            </a:r>
            <a:r>
              <a:rPr lang="en-US" dirty="0">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58"/>
                  </a:ext>
                </a:extLst>
              </a:rPr>
              <a:t>?</a:t>
            </a:r>
            <a:endParaRPr lang="en-US" dirty="0"/>
          </a:p>
          <a:p>
            <a:pPr marL="246063" lvl="0" indent="-246063" algn="l" rtl="0">
              <a:lnSpc>
                <a:spcPct val="90000"/>
              </a:lnSpc>
              <a:spcBef>
                <a:spcPts val="1200"/>
              </a:spcBef>
              <a:spcAft>
                <a:spcPts val="0"/>
              </a:spcAft>
              <a:buClr>
                <a:schemeClr val="dk1"/>
              </a:buClr>
              <a:buSzPts val="2400"/>
              <a:buChar char="•"/>
            </a:pPr>
            <a:r>
              <a:rPr lang="en-US" dirty="0"/>
              <a:t>Revisit and evolve your HR-focused AI strategy at least annually as part of your business and HR technology strategy planning.</a:t>
            </a:r>
          </a:p>
          <a:p>
            <a:pPr marL="246063" lvl="0" indent="-246063" algn="l" rtl="0">
              <a:lnSpc>
                <a:spcPct val="90000"/>
              </a:lnSpc>
              <a:spcBef>
                <a:spcPts val="1200"/>
              </a:spcBef>
              <a:spcAft>
                <a:spcPts val="0"/>
              </a:spcAft>
              <a:buClr>
                <a:schemeClr val="dk1"/>
              </a:buClr>
              <a:buSzPts val="2400"/>
              <a:buChar char="•"/>
            </a:pPr>
            <a:r>
              <a:rPr lang="en-US" dirty="0"/>
              <a:t>Embed AI initiatives into your HR technology roadmap.</a:t>
            </a:r>
          </a:p>
          <a:p>
            <a:pPr marL="246063" indent="-246063">
              <a:lnSpc>
                <a:spcPct val="90000"/>
              </a:lnSpc>
              <a:buClr>
                <a:schemeClr val="dk1"/>
              </a:buClr>
              <a:buSzPts val="2400"/>
            </a:pPr>
            <a:r>
              <a:rPr lang="en-US" dirty="0"/>
              <a:t>Leverage Gartner’s HR AI roadmap and AI maturity tools for broader HR to further establish your AI strategy and other roadmap capability maturity (see next slide for details).</a:t>
            </a:r>
          </a:p>
          <a:p>
            <a:pPr marL="0" lvl="0" indent="0" algn="l" rtl="0">
              <a:lnSpc>
                <a:spcPct val="90000"/>
              </a:lnSpc>
              <a:spcBef>
                <a:spcPts val="1200"/>
              </a:spcBef>
              <a:spcAft>
                <a:spcPts val="0"/>
              </a:spcAft>
              <a:buClr>
                <a:schemeClr val="dk1"/>
              </a:buClr>
              <a:buSzPts val="2400"/>
              <a:buNone/>
            </a:pPr>
            <a:endParaRPr lang="en-US" dirty="0"/>
          </a:p>
        </p:txBody>
      </p:sp>
      <p:grpSp>
        <p:nvGrpSpPr>
          <p:cNvPr id="591" name="Google Shape;591;p34"/>
          <p:cNvGrpSpPr/>
          <p:nvPr/>
        </p:nvGrpSpPr>
        <p:grpSpPr>
          <a:xfrm>
            <a:off x="457191" y="1022138"/>
            <a:ext cx="4987449" cy="4928216"/>
            <a:chOff x="457200" y="1514828"/>
            <a:chExt cx="4140336" cy="4091164"/>
          </a:xfrm>
        </p:grpSpPr>
        <p:grpSp>
          <p:nvGrpSpPr>
            <p:cNvPr id="592" name="Google Shape;592;p34"/>
            <p:cNvGrpSpPr/>
            <p:nvPr/>
          </p:nvGrpSpPr>
          <p:grpSpPr>
            <a:xfrm>
              <a:off x="489267" y="1517805"/>
              <a:ext cx="4096527" cy="4088187"/>
              <a:chOff x="1560285" y="1414704"/>
              <a:chExt cx="1244691" cy="1242157"/>
            </a:xfrm>
          </p:grpSpPr>
          <p:sp>
            <p:nvSpPr>
              <p:cNvPr id="593" name="Google Shape;593;p34"/>
              <p:cNvSpPr/>
              <p:nvPr/>
            </p:nvSpPr>
            <p:spPr>
              <a:xfrm>
                <a:off x="1592953" y="2043130"/>
                <a:ext cx="584671" cy="613731"/>
              </a:xfrm>
              <a:custGeom>
                <a:avLst/>
                <a:gdLst/>
                <a:ahLst/>
                <a:cxnLst/>
                <a:rect l="l" t="t" r="r" b="b"/>
                <a:pathLst>
                  <a:path w="584671" h="613731" extrusionOk="0">
                    <a:moveTo>
                      <a:pt x="0" y="188767"/>
                    </a:moveTo>
                    <a:cubicBezTo>
                      <a:pt x="84611" y="442038"/>
                      <a:pt x="322282" y="611834"/>
                      <a:pt x="584672" y="613731"/>
                    </a:cubicBezTo>
                    <a:lnTo>
                      <a:pt x="584672" y="0"/>
                    </a:lnTo>
                    <a:cubicBezTo>
                      <a:pt x="584672" y="0"/>
                      <a:pt x="0" y="189716"/>
                      <a:pt x="0" y="189716"/>
                    </a:cubicBez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dirty="0">
                  <a:solidFill>
                    <a:srgbClr val="000000"/>
                  </a:solidFill>
                  <a:latin typeface="+mj-lt"/>
                  <a:ea typeface="Arial"/>
                  <a:cs typeface="Arial"/>
                  <a:sym typeface="Arial"/>
                </a:endParaRPr>
              </a:p>
            </p:txBody>
          </p:sp>
          <p:sp>
            <p:nvSpPr>
              <p:cNvPr id="594" name="Google Shape;594;p34"/>
              <p:cNvSpPr/>
              <p:nvPr/>
            </p:nvSpPr>
            <p:spPr>
              <a:xfrm>
                <a:off x="1821117" y="1414704"/>
                <a:ext cx="723471" cy="613248"/>
              </a:xfrm>
              <a:custGeom>
                <a:avLst/>
                <a:gdLst/>
                <a:ahLst/>
                <a:cxnLst/>
                <a:rect l="l" t="t" r="r" b="b"/>
                <a:pathLst>
                  <a:path w="723471" h="613248" extrusionOk="0">
                    <a:moveTo>
                      <a:pt x="723472" y="116192"/>
                    </a:moveTo>
                    <a:cubicBezTo>
                      <a:pt x="586573" y="18489"/>
                      <a:pt x="410696" y="-24198"/>
                      <a:pt x="232918" y="13746"/>
                    </a:cubicBezTo>
                    <a:cubicBezTo>
                      <a:pt x="146406" y="31769"/>
                      <a:pt x="67499" y="67815"/>
                      <a:pt x="0" y="116192"/>
                    </a:cubicBezTo>
                    <a:lnTo>
                      <a:pt x="361261" y="613248"/>
                    </a:lnTo>
                    <a:lnTo>
                      <a:pt x="723472" y="117141"/>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dirty="0">
                  <a:solidFill>
                    <a:srgbClr val="000000"/>
                  </a:solidFill>
                  <a:latin typeface="+mj-lt"/>
                  <a:ea typeface="Arial"/>
                  <a:cs typeface="Arial"/>
                  <a:sym typeface="Arial"/>
                </a:endParaRPr>
              </a:p>
            </p:txBody>
          </p:sp>
          <p:sp>
            <p:nvSpPr>
              <p:cNvPr id="595" name="Google Shape;595;p34"/>
              <p:cNvSpPr/>
              <p:nvPr/>
            </p:nvSpPr>
            <p:spPr>
              <a:xfrm>
                <a:off x="2190934" y="1536588"/>
                <a:ext cx="614042" cy="686772"/>
              </a:xfrm>
              <a:custGeom>
                <a:avLst/>
                <a:gdLst/>
                <a:ahLst/>
                <a:cxnLst/>
                <a:rect l="l" t="t" r="r" b="b"/>
                <a:pathLst>
                  <a:path w="614042" h="686772" extrusionOk="0">
                    <a:moveTo>
                      <a:pt x="584672" y="686772"/>
                    </a:moveTo>
                    <a:cubicBezTo>
                      <a:pt x="616044" y="588120"/>
                      <a:pt x="623650" y="479982"/>
                      <a:pt x="600833" y="370895"/>
                    </a:cubicBezTo>
                    <a:cubicBezTo>
                      <a:pt x="568510" y="216276"/>
                      <a:pt x="480096" y="87269"/>
                      <a:pt x="362211" y="0"/>
                    </a:cubicBezTo>
                    <a:lnTo>
                      <a:pt x="0" y="496107"/>
                    </a:lnTo>
                    <a:lnTo>
                      <a:pt x="584672" y="685824"/>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dirty="0">
                  <a:solidFill>
                    <a:srgbClr val="000000"/>
                  </a:solidFill>
                  <a:latin typeface="+mj-lt"/>
                  <a:ea typeface="Arial"/>
                  <a:cs typeface="Arial"/>
                  <a:sym typeface="Arial"/>
                </a:endParaRPr>
              </a:p>
            </p:txBody>
          </p:sp>
          <p:sp>
            <p:nvSpPr>
              <p:cNvPr id="596" name="Google Shape;596;p34"/>
              <p:cNvSpPr/>
              <p:nvPr/>
            </p:nvSpPr>
            <p:spPr>
              <a:xfrm>
                <a:off x="1560285" y="1536588"/>
                <a:ext cx="614487" cy="686772"/>
              </a:xfrm>
              <a:custGeom>
                <a:avLst/>
                <a:gdLst/>
                <a:ahLst/>
                <a:cxnLst/>
                <a:rect l="l" t="t" r="r" b="b"/>
                <a:pathLst>
                  <a:path w="614487" h="686772" extrusionOk="0">
                    <a:moveTo>
                      <a:pt x="253226" y="0"/>
                    </a:moveTo>
                    <a:cubicBezTo>
                      <a:pt x="63089" y="140390"/>
                      <a:pt x="-38634" y="382278"/>
                      <a:pt x="13654" y="627960"/>
                    </a:cubicBezTo>
                    <a:cubicBezTo>
                      <a:pt x="17456" y="647880"/>
                      <a:pt x="23161" y="667801"/>
                      <a:pt x="28865" y="686772"/>
                    </a:cubicBezTo>
                    <a:lnTo>
                      <a:pt x="614487" y="497056"/>
                    </a:lnTo>
                    <a:lnTo>
                      <a:pt x="253226" y="0"/>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dirty="0">
                  <a:solidFill>
                    <a:srgbClr val="000000"/>
                  </a:solidFill>
                  <a:latin typeface="+mj-lt"/>
                  <a:ea typeface="Arial"/>
                  <a:cs typeface="Arial"/>
                  <a:sym typeface="Arial"/>
                </a:endParaRPr>
              </a:p>
            </p:txBody>
          </p:sp>
          <p:sp>
            <p:nvSpPr>
              <p:cNvPr id="597" name="Google Shape;597;p34"/>
              <p:cNvSpPr/>
              <p:nvPr/>
            </p:nvSpPr>
            <p:spPr>
              <a:xfrm>
                <a:off x="2187131" y="2043130"/>
                <a:ext cx="585622" cy="613731"/>
              </a:xfrm>
              <a:custGeom>
                <a:avLst/>
                <a:gdLst/>
                <a:ahLst/>
                <a:cxnLst/>
                <a:rect l="l" t="t" r="r" b="b"/>
                <a:pathLst>
                  <a:path w="585622" h="613731" extrusionOk="0">
                    <a:moveTo>
                      <a:pt x="0" y="613731"/>
                    </a:moveTo>
                    <a:cubicBezTo>
                      <a:pt x="40880" y="613731"/>
                      <a:pt x="82710" y="608989"/>
                      <a:pt x="124540" y="600451"/>
                    </a:cubicBezTo>
                    <a:cubicBezTo>
                      <a:pt x="347951" y="553022"/>
                      <a:pt x="518124" y="391764"/>
                      <a:pt x="585622" y="189716"/>
                    </a:cubicBezTo>
                    <a:lnTo>
                      <a:pt x="951" y="0"/>
                    </a:lnTo>
                    <a:lnTo>
                      <a:pt x="951" y="613731"/>
                    </a:lnTo>
                    <a:close/>
                  </a:path>
                </a:pathLst>
              </a:custGeom>
              <a:solidFill>
                <a:srgbClr val="009A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dirty="0">
                  <a:solidFill>
                    <a:srgbClr val="000000"/>
                  </a:solidFill>
                  <a:latin typeface="+mj-lt"/>
                  <a:ea typeface="Arial"/>
                  <a:cs typeface="Arial"/>
                  <a:sym typeface="Arial"/>
                </a:endParaRPr>
              </a:p>
            </p:txBody>
          </p:sp>
        </p:grpSp>
        <p:sp>
          <p:nvSpPr>
            <p:cNvPr id="598" name="Google Shape;598;p34"/>
            <p:cNvSpPr/>
            <p:nvPr/>
          </p:nvSpPr>
          <p:spPr>
            <a:xfrm rot="10800000">
              <a:off x="1608000" y="2774959"/>
              <a:ext cx="1858800" cy="1763400"/>
            </a:xfrm>
            <a:prstGeom prst="pentagon">
              <a:avLst>
                <a:gd name="hf" fmla="val 105146"/>
                <a:gd name="vf" fmla="val 110557"/>
              </a:avLst>
            </a:prstGeom>
            <a:solidFill>
              <a:srgbClr val="002856"/>
            </a:solidFill>
            <a:ln w="44450" cap="flat" cmpd="sng">
              <a:solidFill>
                <a:srgbClr val="FFFFFF"/>
              </a:solidFill>
              <a:prstDash val="solid"/>
              <a:round/>
              <a:headEnd type="none" w="sm" len="sm"/>
              <a:tailEnd type="none" w="sm" len="sm"/>
            </a:ln>
          </p:spPr>
          <p:txBody>
            <a:bodyPr spcFirstLastPara="1" wrap="square" lIns="0" tIns="91425" rIns="0" bIns="313000" anchor="ctr" anchorCtr="0">
              <a:noAutofit/>
            </a:bodyPr>
            <a:lstStyle/>
            <a:p>
              <a:pPr marL="0" marR="0" lvl="0" indent="0" algn="ctr" rtl="0">
                <a:lnSpc>
                  <a:spcPct val="90000"/>
                </a:lnSpc>
                <a:spcBef>
                  <a:spcPts val="0"/>
                </a:spcBef>
                <a:spcAft>
                  <a:spcPts val="0"/>
                </a:spcAft>
                <a:buNone/>
              </a:pPr>
              <a:endParaRPr sz="2800" b="1" i="0" u="none" strike="noStrike" cap="none" dirty="0">
                <a:solidFill>
                  <a:srgbClr val="FFFFFF"/>
                </a:solidFill>
                <a:latin typeface="+mj-lt"/>
                <a:ea typeface="Arial"/>
                <a:cs typeface="Arial"/>
                <a:sym typeface="Arial"/>
              </a:endParaRPr>
            </a:p>
          </p:txBody>
        </p:sp>
        <p:sp>
          <p:nvSpPr>
            <p:cNvPr id="599" name="Google Shape;599;p34"/>
            <p:cNvSpPr txBox="1"/>
            <p:nvPr/>
          </p:nvSpPr>
          <p:spPr>
            <a:xfrm>
              <a:off x="1757704" y="3273223"/>
              <a:ext cx="1560300" cy="628499"/>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2400"/>
                <a:buFont typeface="Arial"/>
                <a:buNone/>
              </a:pPr>
              <a:r>
                <a:rPr lang="en-US" sz="2400" b="1" i="0" u="none" strike="noStrike" cap="none" dirty="0">
                  <a:solidFill>
                    <a:srgbClr val="FFFFFF"/>
                  </a:solidFill>
                  <a:latin typeface="+mj-lt"/>
                  <a:ea typeface="Arial"/>
                  <a:cs typeface="Arial"/>
                  <a:sym typeface="Arial"/>
                </a:rPr>
                <a:t>HR-focused </a:t>
              </a:r>
              <a:br>
                <a:rPr lang="en-US" sz="2400" b="1" i="0" u="none" strike="noStrike" cap="none" dirty="0">
                  <a:solidFill>
                    <a:srgbClr val="FFFFFF"/>
                  </a:solidFill>
                  <a:latin typeface="+mj-lt"/>
                  <a:ea typeface="Arial"/>
                  <a:cs typeface="Arial"/>
                  <a:sym typeface="Arial"/>
                </a:rPr>
              </a:br>
              <a:r>
                <a:rPr lang="en-US" sz="2400" b="1" i="0" u="none" strike="noStrike" cap="none" dirty="0">
                  <a:solidFill>
                    <a:srgbClr val="FFFFFF"/>
                  </a:solidFill>
                  <a:latin typeface="+mj-lt"/>
                  <a:ea typeface="Arial"/>
                  <a:cs typeface="Arial"/>
                  <a:sym typeface="Arial"/>
                </a:rPr>
                <a:t>AI strategy</a:t>
              </a:r>
              <a:endParaRPr lang="en-US" dirty="0">
                <a:latin typeface="+mj-lt"/>
              </a:endParaRPr>
            </a:p>
          </p:txBody>
        </p:sp>
        <p:sp>
          <p:nvSpPr>
            <p:cNvPr id="600" name="Google Shape;600;p34"/>
            <p:cNvSpPr/>
            <p:nvPr/>
          </p:nvSpPr>
          <p:spPr>
            <a:xfrm>
              <a:off x="1874536" y="1514828"/>
              <a:ext cx="1326000" cy="1229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latin typeface="+mj-lt"/>
                  <a:ea typeface="Arial"/>
                  <a:cs typeface="Arial"/>
                  <a:sym typeface="Arial"/>
                </a:rPr>
                <a:t>Vision</a:t>
              </a:r>
              <a:endParaRPr lang="en-US" dirty="0">
                <a:latin typeface="+mj-lt"/>
              </a:endParaRPr>
            </a:p>
          </p:txBody>
        </p:sp>
        <p:sp>
          <p:nvSpPr>
            <p:cNvPr id="601" name="Google Shape;601;p34"/>
            <p:cNvSpPr/>
            <p:nvPr/>
          </p:nvSpPr>
          <p:spPr>
            <a:xfrm>
              <a:off x="3157236" y="2428586"/>
              <a:ext cx="1440300" cy="132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latin typeface="+mj-lt"/>
                  <a:ea typeface="Arial"/>
                  <a:cs typeface="Arial"/>
                  <a:sym typeface="Arial"/>
                </a:rPr>
                <a:t>Value</a:t>
              </a:r>
              <a:endParaRPr lang="en-US" dirty="0">
                <a:latin typeface="+mj-lt"/>
              </a:endParaRPr>
            </a:p>
          </p:txBody>
        </p:sp>
        <p:sp>
          <p:nvSpPr>
            <p:cNvPr id="602" name="Google Shape;602;p34"/>
            <p:cNvSpPr/>
            <p:nvPr/>
          </p:nvSpPr>
          <p:spPr>
            <a:xfrm>
              <a:off x="457200" y="2426402"/>
              <a:ext cx="1470600" cy="1330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latin typeface="+mj-lt"/>
                  <a:ea typeface="Arial"/>
                  <a:cs typeface="Arial"/>
                  <a:sym typeface="Arial"/>
                </a:rPr>
                <a:t>Alignment</a:t>
              </a:r>
              <a:endParaRPr lang="en-US" dirty="0">
                <a:latin typeface="+mj-lt"/>
              </a:endParaRPr>
            </a:p>
          </p:txBody>
        </p:sp>
        <p:sp>
          <p:nvSpPr>
            <p:cNvPr id="603" name="Google Shape;603;p34"/>
            <p:cNvSpPr/>
            <p:nvPr/>
          </p:nvSpPr>
          <p:spPr>
            <a:xfrm>
              <a:off x="2537476"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latin typeface="+mj-lt"/>
                  <a:ea typeface="Arial"/>
                  <a:cs typeface="Arial"/>
                  <a:sym typeface="Arial"/>
                </a:rPr>
                <a:t>Risk</a:t>
              </a:r>
              <a:endParaRPr lang="en-US" dirty="0">
                <a:latin typeface="+mj-lt"/>
              </a:endParaRPr>
            </a:p>
          </p:txBody>
        </p:sp>
        <p:sp>
          <p:nvSpPr>
            <p:cNvPr id="604" name="Google Shape;604;p34"/>
            <p:cNvSpPr/>
            <p:nvPr/>
          </p:nvSpPr>
          <p:spPr>
            <a:xfrm>
              <a:off x="811049" y="4043580"/>
              <a:ext cx="1716900" cy="132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1" i="0" u="none" strike="noStrike" cap="none" dirty="0">
                  <a:solidFill>
                    <a:srgbClr val="000000"/>
                  </a:solidFill>
                  <a:latin typeface="+mj-lt"/>
                  <a:ea typeface="Arial"/>
                  <a:cs typeface="Arial"/>
                  <a:sym typeface="Arial"/>
                </a:rPr>
                <a:t>Adoption</a:t>
              </a:r>
              <a:endParaRPr lang="en-US" dirty="0">
                <a:latin typeface="+mj-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C95F3-A1CD-1258-1BBC-7D380C33E0DC}"/>
              </a:ext>
            </a:extLst>
          </p:cNvPr>
          <p:cNvSpPr>
            <a:spLocks noGrp="1"/>
          </p:cNvSpPr>
          <p:nvPr>
            <p:ph type="title"/>
          </p:nvPr>
        </p:nvSpPr>
        <p:spPr/>
        <p:txBody>
          <a:bodyPr/>
          <a:lstStyle/>
          <a:p>
            <a:r>
              <a:rPr lang="en-US" dirty="0"/>
              <a:t>Gartner’s Two Tools to Support You on Your AI in HR Journey</a:t>
            </a:r>
          </a:p>
        </p:txBody>
      </p:sp>
      <p:pic>
        <p:nvPicPr>
          <p:cNvPr id="3" name="Picture 2">
            <a:extLst>
              <a:ext uri="{FF2B5EF4-FFF2-40B4-BE49-F238E27FC236}">
                <a16:creationId xmlns:a16="http://schemas.microsoft.com/office/drawing/2014/main" id="{0FEFB99E-811D-0954-AA7F-91C54347267D}"/>
              </a:ext>
            </a:extLst>
          </p:cNvPr>
          <p:cNvPicPr>
            <a:picLocks noChangeAspect="1"/>
          </p:cNvPicPr>
          <p:nvPr/>
        </p:nvPicPr>
        <p:blipFill>
          <a:blip r:embed="rId3"/>
          <a:stretch>
            <a:fillRect/>
          </a:stretch>
        </p:blipFill>
        <p:spPr>
          <a:xfrm>
            <a:off x="1331077" y="1703151"/>
            <a:ext cx="4036289" cy="3888496"/>
          </a:xfrm>
          <a:prstGeom prst="rect">
            <a:avLst/>
          </a:prstGeom>
          <a:ln w="19050">
            <a:solidFill>
              <a:srgbClr val="707996"/>
            </a:solidFill>
          </a:ln>
        </p:spPr>
      </p:pic>
      <p:pic>
        <p:nvPicPr>
          <p:cNvPr id="4" name="Picture 3">
            <a:extLst>
              <a:ext uri="{FF2B5EF4-FFF2-40B4-BE49-F238E27FC236}">
                <a16:creationId xmlns:a16="http://schemas.microsoft.com/office/drawing/2014/main" id="{7535F1E5-7D20-10C8-4834-BE1CD6AA0E23}"/>
              </a:ext>
            </a:extLst>
          </p:cNvPr>
          <p:cNvPicPr>
            <a:picLocks noChangeAspect="1"/>
          </p:cNvPicPr>
          <p:nvPr/>
        </p:nvPicPr>
        <p:blipFill>
          <a:blip r:embed="rId4"/>
          <a:stretch>
            <a:fillRect/>
          </a:stretch>
        </p:blipFill>
        <p:spPr>
          <a:xfrm>
            <a:off x="7050986" y="1703151"/>
            <a:ext cx="3741665" cy="3888496"/>
          </a:xfrm>
          <a:prstGeom prst="rect">
            <a:avLst/>
          </a:prstGeom>
          <a:ln w="19050">
            <a:solidFill>
              <a:srgbClr val="707996"/>
            </a:solidFill>
          </a:ln>
        </p:spPr>
      </p:pic>
      <p:sp>
        <p:nvSpPr>
          <p:cNvPr id="5" name="TextBox 4">
            <a:extLst>
              <a:ext uri="{FF2B5EF4-FFF2-40B4-BE49-F238E27FC236}">
                <a16:creationId xmlns:a16="http://schemas.microsoft.com/office/drawing/2014/main" id="{DDB9F196-210A-C54C-A036-BE0183739FF8}"/>
              </a:ext>
            </a:extLst>
          </p:cNvPr>
          <p:cNvSpPr txBox="1"/>
          <p:nvPr/>
        </p:nvSpPr>
        <p:spPr>
          <a:xfrm>
            <a:off x="7050986" y="5659115"/>
            <a:ext cx="3741665" cy="307777"/>
          </a:xfrm>
          <a:prstGeom prst="rect">
            <a:avLst/>
          </a:prstGeom>
          <a:noFill/>
        </p:spPr>
        <p:txBody>
          <a:bodyPr wrap="square" lIns="91440" tIns="45720" rIns="91440" bIns="4572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artner Sans"/>
                <a:ea typeface="+mn-lt"/>
                <a:cs typeface="+mn-lt"/>
                <a:hlinkClick r:id="rId5"/>
              </a:rPr>
              <a:t>Tool: AI Roadmap for HR</a:t>
            </a:r>
            <a:endParaRPr kumimoji="0" lang="en-US" sz="2800" b="0" i="0" u="none" strike="noStrike" kern="1200" cap="none" spc="0" normalizeH="0" baseline="0" noProof="0" dirty="0">
              <a:ln>
                <a:noFill/>
              </a:ln>
              <a:solidFill>
                <a:srgbClr val="000000"/>
              </a:solidFill>
              <a:effectLst/>
              <a:uLnTx/>
              <a:uFillTx/>
              <a:latin typeface="Gartner Sans"/>
              <a:ea typeface="+mn-ea"/>
              <a:cs typeface="+mn-cs"/>
            </a:endParaRPr>
          </a:p>
        </p:txBody>
      </p:sp>
      <p:sp>
        <p:nvSpPr>
          <p:cNvPr id="6" name="TextBox 5">
            <a:extLst>
              <a:ext uri="{FF2B5EF4-FFF2-40B4-BE49-F238E27FC236}">
                <a16:creationId xmlns:a16="http://schemas.microsoft.com/office/drawing/2014/main" id="{A0E354FF-E706-8382-5067-2518B707544D}"/>
              </a:ext>
            </a:extLst>
          </p:cNvPr>
          <p:cNvSpPr txBox="1"/>
          <p:nvPr/>
        </p:nvSpPr>
        <p:spPr>
          <a:xfrm>
            <a:off x="1331077" y="5659115"/>
            <a:ext cx="4036289" cy="307777"/>
          </a:xfrm>
          <a:prstGeom prst="rect">
            <a:avLst/>
          </a:prstGeom>
          <a:noFill/>
        </p:spPr>
        <p:txBody>
          <a:bodyPr wrap="square" lIns="91440" tIns="45720" rIns="91440" bIns="4572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artner Sans"/>
                <a:ea typeface="+mn-lt"/>
                <a:cs typeface="+mn-lt"/>
                <a:hlinkClick r:id="rId6"/>
              </a:rPr>
              <a:t>Tool: AI Maturity Assessment for HR</a:t>
            </a:r>
            <a:endParaRPr kumimoji="0" lang="en-US" sz="2800" b="0" i="0" u="none" strike="noStrike" kern="1200" cap="none" spc="0" normalizeH="0" baseline="0" noProof="0" dirty="0">
              <a:ln>
                <a:noFill/>
              </a:ln>
              <a:solidFill>
                <a:srgbClr val="000000"/>
              </a:solidFill>
              <a:effectLst/>
              <a:uLnTx/>
              <a:uFillTx/>
              <a:latin typeface="Gartner Sans"/>
              <a:ea typeface="+mn-lt"/>
              <a:cs typeface="+mn-lt"/>
            </a:endParaRPr>
          </a:p>
        </p:txBody>
      </p:sp>
      <p:sp>
        <p:nvSpPr>
          <p:cNvPr id="9" name="Oval 8">
            <a:extLst>
              <a:ext uri="{FF2B5EF4-FFF2-40B4-BE49-F238E27FC236}">
                <a16:creationId xmlns:a16="http://schemas.microsoft.com/office/drawing/2014/main" id="{8C80268E-E330-71DE-78E3-8E7ADE6CE7A7}"/>
              </a:ext>
            </a:extLst>
          </p:cNvPr>
          <p:cNvSpPr/>
          <p:nvPr/>
        </p:nvSpPr>
        <p:spPr>
          <a:xfrm>
            <a:off x="3157125" y="1228163"/>
            <a:ext cx="384193" cy="384193"/>
          </a:xfrm>
          <a:prstGeom prst="ellipse">
            <a:avLst/>
          </a:prstGeom>
          <a:solidFill>
            <a:srgbClr val="002869"/>
          </a:solidFill>
          <a:ln w="254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Gartner Sans Semibold"/>
                <a:ea typeface="+mn-ea"/>
                <a:cs typeface="Arial Black" panose="020B0A04020102020204" pitchFamily="34" charset="0"/>
              </a:rPr>
              <a:t>1</a:t>
            </a:r>
          </a:p>
        </p:txBody>
      </p:sp>
      <p:sp>
        <p:nvSpPr>
          <p:cNvPr id="10" name="Oval 9">
            <a:extLst>
              <a:ext uri="{FF2B5EF4-FFF2-40B4-BE49-F238E27FC236}">
                <a16:creationId xmlns:a16="http://schemas.microsoft.com/office/drawing/2014/main" id="{6EB3F132-6DD4-555D-D8F9-B79909A6DC0B}"/>
              </a:ext>
            </a:extLst>
          </p:cNvPr>
          <p:cNvSpPr/>
          <p:nvPr/>
        </p:nvSpPr>
        <p:spPr>
          <a:xfrm>
            <a:off x="8729721" y="1228163"/>
            <a:ext cx="384193" cy="384193"/>
          </a:xfrm>
          <a:prstGeom prst="ellipse">
            <a:avLst/>
          </a:prstGeom>
          <a:solidFill>
            <a:srgbClr val="002869"/>
          </a:solidFill>
          <a:ln w="254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Gartner Sans Semibold"/>
                <a:ea typeface="+mn-ea"/>
                <a:cs typeface="Arial Black" panose="020B0A04020102020204" pitchFamily="34" charset="0"/>
              </a:rPr>
              <a:t>2</a:t>
            </a:r>
          </a:p>
        </p:txBody>
      </p:sp>
    </p:spTree>
    <p:extLst>
      <p:ext uri="{BB962C8B-B14F-4D97-AF65-F5344CB8AC3E}">
        <p14:creationId xmlns:p14="http://schemas.microsoft.com/office/powerpoint/2010/main" val="26814194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White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07996"/>
          </a:solidFill>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spcBef>
            <a:spcPts val="600"/>
          </a:spcBef>
          <a:defRPr sz="2000"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Gartner Corporate_PPT_Template_16x9.potx" id="{131FC78D-1B2A-40D7-A50B-5632820545E7}" vid="{FD9928C2-5E16-41CD-B3BF-5AECA943F01F}"/>
    </a:ext>
  </a:extLst>
</a:theme>
</file>

<file path=ppt/theme/theme2.xml><?xml version="1.0" encoding="utf-8"?>
<a:theme xmlns:a="http://schemas.openxmlformats.org/drawingml/2006/main" name="Blue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9050" cap="flat" cmpd="sng">
          <a:solidFill>
            <a:srgbClr val="1F96FF"/>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Gartner Corporate_PPT_Template_16x9.potx" id="{131FC78D-1B2A-40D7-A50B-5632820545E7}" vid="{E9B924A7-02F5-4C39-8E5A-C6A769EF1BC6}"/>
    </a:ext>
  </a:extLst>
</a:theme>
</file>

<file path=ppt/theme/theme3.xml><?xml version="1.0" encoding="utf-8"?>
<a:theme xmlns:a="http://schemas.openxmlformats.org/drawingml/2006/main" name="Crystal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9050" cap="flat" cmpd="sng">
          <a:solidFill>
            <a:srgbClr val="707996"/>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Gartner Corporate_PPT_Template_16x9.potx" id="{131FC78D-1B2A-40D7-A50B-5632820545E7}" vid="{331EE0B4-16F6-4391-A198-EB2A4B7271CC}"/>
    </a:ext>
  </a:extLst>
</a:theme>
</file>

<file path=ppt/theme/theme4.xml><?xml version="1.0" encoding="utf-8"?>
<a:theme xmlns:a="http://schemas.openxmlformats.org/drawingml/2006/main" name="2026_Gartner_Corp">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07996"/>
          </a:solidFill>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spcBef>
            <a:spcPts val="600"/>
          </a:spcBef>
          <a:defRPr sz="2000"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2026_Gartner_Corp" id="{3161479E-3C27-4006-8884-CA4F887E7C3C}" vid="{5C1CEC61-CD10-4EBD-A4D8-18343D78E4E1}"/>
    </a:ext>
  </a:extLst>
</a:theme>
</file>

<file path=ppt/theme/theme5.xml><?xml version="1.0" encoding="utf-8"?>
<a:theme xmlns:a="http://schemas.openxmlformats.org/drawingml/2006/main" name="Office Theme">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019972B22E0C44EBC35B7C8F9E76D9E" ma:contentTypeVersion="4" ma:contentTypeDescription="Create a new document." ma:contentTypeScope="" ma:versionID="ff089d8139e51c3d045a313082beb305">
  <xsd:schema xmlns:xsd="http://www.w3.org/2001/XMLSchema" xmlns:xs="http://www.w3.org/2001/XMLSchema" xmlns:p="http://schemas.microsoft.com/office/2006/metadata/properties" xmlns:ns2="0703107b-2aa5-41ac-8948-5a2a1db25b04" targetNamespace="http://schemas.microsoft.com/office/2006/metadata/properties" ma:root="true" ma:fieldsID="801d988ec394798fe0b0289dc4f527a5" ns2:_="">
    <xsd:import namespace="0703107b-2aa5-41ac-8948-5a2a1db25b0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03107b-2aa5-41ac-8948-5a2a1db25b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9EAD55-449F-4D7E-ADE7-D5D587B8A89C}">
  <ds:schemaRefs>
    <ds:schemaRef ds:uri="http://purl.org/dc/dcmitype/"/>
    <ds:schemaRef ds:uri="http://schemas.microsoft.com/office/2006/documentManagement/types"/>
    <ds:schemaRef ds:uri="e8db9336-2e0a-439c-92aa-d25193e77693"/>
    <ds:schemaRef ds:uri="728be415-658a-42da-8ffe-674acc25e01a"/>
    <ds:schemaRef ds:uri="http://schemas.microsoft.com/office/2006/metadata/properties"/>
    <ds:schemaRef ds:uri="http://schemas.openxmlformats.org/package/2006/metadata/core-properties"/>
    <ds:schemaRef ds:uri="http://www.w3.org/XML/1998/namespace"/>
    <ds:schemaRef ds:uri="http://schemas.microsoft.com/office/infopath/2007/PartnerControls"/>
    <ds:schemaRef ds:uri="http://purl.org/dc/terms/"/>
    <ds:schemaRef ds:uri="http://purl.org/dc/elements/1.1/"/>
  </ds:schemaRefs>
</ds:datastoreItem>
</file>

<file path=customXml/itemProps2.xml><?xml version="1.0" encoding="utf-8"?>
<ds:datastoreItem xmlns:ds="http://schemas.openxmlformats.org/officeDocument/2006/customXml" ds:itemID="{DD58161F-F219-4A24-851A-E0789092BA88}">
  <ds:schemaRefs>
    <ds:schemaRef ds:uri="http://schemas.microsoft.com/sharepoint/v3/contenttype/forms"/>
  </ds:schemaRefs>
</ds:datastoreItem>
</file>

<file path=customXml/itemProps3.xml><?xml version="1.0" encoding="utf-8"?>
<ds:datastoreItem xmlns:ds="http://schemas.openxmlformats.org/officeDocument/2006/customXml" ds:itemID="{7226CA5E-8646-43C8-B351-BED58A72C9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03107b-2aa5-41ac-8948-5a2a1db25b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Gartner Corporate_PPT_Template_16x9</Template>
  <TotalTime>36101</TotalTime>
  <Words>3429</Words>
  <Application>Microsoft Office PowerPoint</Application>
  <PresentationFormat>Widescreen</PresentationFormat>
  <Paragraphs>395</Paragraphs>
  <Slides>36</Slides>
  <Notes>36</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36</vt:i4>
      </vt:variant>
    </vt:vector>
  </HeadingPairs>
  <TitlesOfParts>
    <vt:vector size="46" baseType="lpstr">
      <vt:lpstr>Arial Black</vt:lpstr>
      <vt:lpstr>Gartner Sans</vt:lpstr>
      <vt:lpstr>Arial</vt:lpstr>
      <vt:lpstr>Noto Sans Symbols</vt:lpstr>
      <vt:lpstr>Aptos</vt:lpstr>
      <vt:lpstr>Gartner Sans Semibold</vt:lpstr>
      <vt:lpstr>White bkgrnd master</vt:lpstr>
      <vt:lpstr>Blue bkgrnd master</vt:lpstr>
      <vt:lpstr>Crystal bkgrnd master</vt:lpstr>
      <vt:lpstr>2026_Gartner_Corp</vt:lpstr>
      <vt:lpstr>Develop an HR-Focused  AI Strategy</vt:lpstr>
      <vt:lpstr>About This Tool</vt:lpstr>
      <vt:lpstr>Before Getting Started</vt:lpstr>
      <vt:lpstr>Who Needs to Be Involved</vt:lpstr>
      <vt:lpstr>Template: Who Needs to Be Involved</vt:lpstr>
      <vt:lpstr>Components of an HR-Focused AI Strategy</vt:lpstr>
      <vt:lpstr>Checklist of Tasks Across All Components</vt:lpstr>
      <vt:lpstr>Vision: Overview of Activities</vt:lpstr>
      <vt:lpstr>Vision: Conduct a Vision-Setting Workshop</vt:lpstr>
      <vt:lpstr>Vision: Create the Vision Statement</vt:lpstr>
      <vt:lpstr>Vision: Sample Vision Statements</vt:lpstr>
      <vt:lpstr>Vision: Define Guiding Principles</vt:lpstr>
      <vt:lpstr>Value: Overview of Activities</vt:lpstr>
      <vt:lpstr>Value: Conduct “Art of the Possible” Sessions</vt:lpstr>
      <vt:lpstr>Value: Set Goals and Example AI Use Cases</vt:lpstr>
      <vt:lpstr>Value: Goals and Example AI Use-Case Template</vt:lpstr>
      <vt:lpstr>Value: Metrics to Monitor AI Value Creation</vt:lpstr>
      <vt:lpstr>Value: Metrics Template</vt:lpstr>
      <vt:lpstr>Value: Define Your AI Ambition Level</vt:lpstr>
      <vt:lpstr>Risk: Overview of Activities</vt:lpstr>
      <vt:lpstr>Risk: Formulate Risk Assessment and Action Plan</vt:lpstr>
      <vt:lpstr>Risk: Identify Main Categories and Risks</vt:lpstr>
      <vt:lpstr>Risk: Example Risk Assessment and Action Plan</vt:lpstr>
      <vt:lpstr>Risk: Risk Assessment and Action Plan Template</vt:lpstr>
      <vt:lpstr>Adoption: Overview of Activities</vt:lpstr>
      <vt:lpstr>Adoption: Form an HR-Focused AI Fusion Team</vt:lpstr>
      <vt:lpstr>Adoption: Recognize Your Adoption Phase</vt:lpstr>
      <vt:lpstr>Adoption: Define AI’s Impact on the HR Function and Roles</vt:lpstr>
      <vt:lpstr>Adoption: Plan for Building HR’s AI Literacy and Digital Skills </vt:lpstr>
      <vt:lpstr>Adoption: Plan for Building HR’s AI Literacy and Digital Skills </vt:lpstr>
      <vt:lpstr>Alignment: Overview of Activities</vt:lpstr>
      <vt:lpstr>Alignment: Hierarchical Relationship of Strategies</vt:lpstr>
      <vt:lpstr> </vt:lpstr>
      <vt:lpstr>Alignment: Enterprise-Level AI Strategy</vt:lpstr>
      <vt:lpstr>What’s Next?</vt:lpstr>
      <vt:lpstr>Gartner’s Two Tools to Support You on Your AI in HR Journey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Stephanie Clement</dc:creator>
  <cp:keywords/>
  <dc:description/>
  <cp:lastModifiedBy>Kayley Ryan</cp:lastModifiedBy>
  <cp:revision>6</cp:revision>
  <dcterms:created xsi:type="dcterms:W3CDTF">2026-03-31T17:19:01Z</dcterms:created>
  <dcterms:modified xsi:type="dcterms:W3CDTF">2026-07-24T14:31:18Z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0x010100E019972B22E0C44EBC35B7C8F9E76D9E</vt:lpwstr>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dlc_DocIdPersistId">
    <vt:bool>false</vt:bool>
  </property>
  <property fmtid="{D5CDD505-2E9C-101B-9397-08002B2CF9AE}" pid="9" name="_ExtendedDescription">
    <vt:lpwstr/>
  </property>
  <property fmtid="{D5CDD505-2E9C-101B-9397-08002B2CF9AE}" pid="10" name="TriggerFlowInfo">
    <vt:lpwstr/>
  </property>
</Properties>
</file>