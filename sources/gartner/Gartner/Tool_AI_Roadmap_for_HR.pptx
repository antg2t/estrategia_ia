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851" r:id="rId5"/>
    <p:sldMasterId id="2147483952" r:id="rId6"/>
    <p:sldMasterId id="2147483969" r:id="rId7"/>
  </p:sldMasterIdLst>
  <p:notesMasterIdLst>
    <p:notesMasterId r:id="rId31"/>
  </p:notesMasterIdLst>
  <p:handoutMasterIdLst>
    <p:handoutMasterId r:id="rId32"/>
  </p:handoutMasterIdLst>
  <p:sldIdLst>
    <p:sldId id="256" r:id="rId8"/>
    <p:sldId id="2147481754" r:id="rId9"/>
    <p:sldId id="2147481746" r:id="rId10"/>
    <p:sldId id="2147481748" r:id="rId11"/>
    <p:sldId id="2147481749" r:id="rId12"/>
    <p:sldId id="2147481750" r:id="rId13"/>
    <p:sldId id="2147481751" r:id="rId14"/>
    <p:sldId id="2147481752" r:id="rId15"/>
    <p:sldId id="2147481753" r:id="rId16"/>
    <p:sldId id="2147481731" r:id="rId17"/>
    <p:sldId id="2147481732" r:id="rId18"/>
    <p:sldId id="2147481733" r:id="rId19"/>
    <p:sldId id="2147481734" r:id="rId20"/>
    <p:sldId id="2147481735" r:id="rId21"/>
    <p:sldId id="2147481736" r:id="rId22"/>
    <p:sldId id="2147481737" r:id="rId23"/>
    <p:sldId id="2147481738" r:id="rId24"/>
    <p:sldId id="2147481739" r:id="rId25"/>
    <p:sldId id="2147481740" r:id="rId26"/>
    <p:sldId id="2147481741" r:id="rId27"/>
    <p:sldId id="2147481742" r:id="rId28"/>
    <p:sldId id="2147481743" r:id="rId29"/>
    <p:sldId id="2147481744" r:id="rId30"/>
  </p:sldIdLst>
  <p:sldSz cx="12192000" cy="6858000"/>
  <p:notesSz cx="6858000" cy="9144000"/>
  <p:embeddedFontLst>
    <p:embeddedFont>
      <p:font typeface="Gartner Sans" panose="020B0504030402040204" pitchFamily="34" charset="0"/>
      <p:regular r:id="rId33"/>
      <p:bold r:id="rId34"/>
      <p:italic r:id="rId35"/>
      <p:boldItalic r:id="rId36"/>
    </p:embeddedFont>
    <p:embeddedFont>
      <p:font typeface="Gartner Sans Semibold" panose="020B0704030402040204" pitchFamily="34" charset="0"/>
      <p:regular r:id="rId37"/>
      <p:bold r:id="rId38"/>
      <p:italic r:id="rId39"/>
      <p:boldItalic r:id="rId4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0BDBDC1-CAD5-4D70-BBFF-AEBCEB9A7A20}">
          <p14:sldIdLst>
            <p14:sldId id="256"/>
            <p14:sldId id="2147481754"/>
            <p14:sldId id="2147481746"/>
            <p14:sldId id="2147481748"/>
            <p14:sldId id="2147481749"/>
            <p14:sldId id="2147481750"/>
            <p14:sldId id="2147481751"/>
            <p14:sldId id="2147481752"/>
            <p14:sldId id="2147481753"/>
            <p14:sldId id="2147481731"/>
            <p14:sldId id="2147481732"/>
            <p14:sldId id="2147481733"/>
            <p14:sldId id="2147481734"/>
            <p14:sldId id="2147481735"/>
            <p14:sldId id="2147481736"/>
            <p14:sldId id="2147481737"/>
            <p14:sldId id="2147481738"/>
            <p14:sldId id="2147481739"/>
            <p14:sldId id="2147481740"/>
            <p14:sldId id="2147481741"/>
            <p14:sldId id="2147481742"/>
            <p14:sldId id="2147481743"/>
            <p14:sldId id="2147481744"/>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5D39F00-33A1-D504-FFF9-0B46976F0053}" name="Angela Melone" initials="AM" userId="S::angela.melone@gartner.com::476d6350-0513-4268-8d9b-3b3806b80a25" providerId="AD"/>
  <p188:author id="{BC4DAC10-4C77-8718-AADA-16282F4AE1C5}" name="Deepanshu Chauhan" initials="DC" userId="S::deepanshu.chauhan@gartner.com::d8f3a64d-a707-4f85-adcf-3135f0967eca" providerId="AD"/>
  <p188:author id="{9774BD1B-EBBB-C449-CA00-3A1D8953A410}" name="Tracie Valentino" initials="" userId="S::Tracie.Valentino@gartner.com::d210d26e-81a2-450b-9bda-2e853d352f6a" providerId="AD"/>
  <p188:author id="{9392EA1E-9453-3937-7D94-5C59C25EDF86}" name="Nora Silver" initials="NS" userId="S::Nora.Silver@gartner.com::f4d5de43-753d-4c7e-99ff-51350c7a6a87" providerId="AD"/>
  <p188:author id="{4385FE5B-2B41-8E1D-5ADF-90E321F10CBF}" name="Preeti Yadav" initials="PY" userId="S::Preeti.Yadav@gartner.com::70825a48-9dcc-4d43-a510-d056460e35f0" providerId="AD"/>
  <p188:author id="{DD005A71-8C87-CBD0-924E-19102660E24D}" name="Neha Patel" initials="NP" userId="S::neha.patel@gartner.com::6586ee6a-8579-4385-963d-3e59d0dbe288" providerId="AD"/>
  <p188:author id="{6E9C679B-B2D8-1694-DFFE-C35330C4CE89}" name="Eser Rizaoglu" initials="ER" userId="S::Eser.Rizaoglu@gartner.com::956628f0-fece-4600-90ba-58d7ee3934c7" providerId="AD"/>
  <p188:author id="{58F979B9-A909-0A34-B4CD-47545BED7123}" name="Neha Patel" initials="" userId="S::Neha.Patel@gartner.com::6586ee6a-8579-4385-963d-3e59d0dbe288" providerId="AD"/>
  <p188:author id="{DEA66DC4-FA32-A0B9-6798-C07B7D483537}" name="Tracie Valentino" initials="TV" userId="S::tracie.valentino@gartner.com::d210d26e-81a2-450b-9bda-2e853d352f6a" providerId="AD"/>
  <p188:author id="{69356CCF-29D1-70B7-FE65-53C4050E74F1}" name="Maureen Johnson" initials="MJ" userId="S::Maureen.Johnson@gartner.com::90dbf711-2323-48c6-8fab-a608b913e366" providerId="AD"/>
  <p188:author id="{8A3D13D4-A957-24DA-9283-1ABBAB67A73E}" name="Rich Enders" initials="RE" userId="S::Rich.Enders@gartner.com::1ad872d4-5fa0-4d3e-b9bc-40fded2a6f6d" providerId="AD"/>
  <p188:author id="{CFBCEDD4-6AD8-630E-C1BB-56A588D26BA9}" name="Kathleen Losche" initials="KL" userId="S::Kathleen.Losche@gartner.com::1f0fe5ab-5d4b-4bda-8660-95616c868c98" providerId="AD"/>
  <p188:author id="{4D70FBD6-0278-BF37-4C1D-453D85D2A793}" name="Kathleen Losche" initials="KL" userId="S::kathleen.losche@gartner.com::1f0fe5ab-5d4b-4bda-8660-95616c868c98"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Enders,Rich" initials="E" lastIdx="4" clrIdx="0">
    <p:extLst>
      <p:ext uri="{19B8F6BF-5375-455C-9EA6-DF929625EA0E}">
        <p15:presenceInfo xmlns:p15="http://schemas.microsoft.com/office/powerpoint/2012/main" userId="S::Rich.Enders@gartner.com::1ad872d4-5fa0-4d3e-b9bc-40fded2a6f6d" providerId="AD"/>
      </p:ext>
    </p:extLst>
  </p:cmAuthor>
  <p:cmAuthor id="2" name="Puleio,Michelle" initials="P" lastIdx="1" clrIdx="1">
    <p:extLst>
      <p:ext uri="{19B8F6BF-5375-455C-9EA6-DF929625EA0E}">
        <p15:presenceInfo xmlns:p15="http://schemas.microsoft.com/office/powerpoint/2012/main" userId="S::Michelle.Puleio@gartner.com::4d61dde0-08c5-41fb-925d-691e51c28e04" providerId="AD"/>
      </p:ext>
    </p:extLst>
  </p:cmAuthor>
  <p:cmAuthor id="3" name="Rafferty,Charles" initials="R" lastIdx="1" clrIdx="2">
    <p:extLst>
      <p:ext uri="{19B8F6BF-5375-455C-9EA6-DF929625EA0E}">
        <p15:presenceInfo xmlns:p15="http://schemas.microsoft.com/office/powerpoint/2012/main" userId="S::Charles.Rafferty@gartner.com::7a4208b7-acfc-4cce-8499-c63b78448d8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8F5466-C445-6143-879B-58675E92BA60}" v="1043" dt="2026-04-13T08:41:37.644"/>
    <p1510:client id="{6A0BA15E-9496-44C4-952D-27418B734334}" v="80" dt="2026-04-13T08:25:15.103"/>
  </p1510:revLst>
</p1510:revInfo>
</file>

<file path=ppt/tableStyles.xml><?xml version="1.0" encoding="utf-8"?>
<a:tblStyleLst xmlns:a="http://schemas.openxmlformats.org/drawingml/2006/main" def="{6E25E649-3F16-4E02-A733-19D2CDBF48F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445" autoAdjust="0"/>
    <p:restoredTop sz="57088" autoAdjust="0"/>
  </p:normalViewPr>
  <p:slideViewPr>
    <p:cSldViewPr snapToGrid="0">
      <p:cViewPr varScale="1">
        <p:scale>
          <a:sx n="81" d="100"/>
          <a:sy n="81" d="100"/>
        </p:scale>
        <p:origin x="51"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font" Target="fonts/font7.fntdata"/><Relationship Id="rId21" Type="http://schemas.openxmlformats.org/officeDocument/2006/relationships/slide" Target="slides/slide14.xml"/><Relationship Id="rId34" Type="http://schemas.openxmlformats.org/officeDocument/2006/relationships/font" Target="fonts/font2.fntdata"/><Relationship Id="rId42" Type="http://schemas.openxmlformats.org/officeDocument/2006/relationships/presProps" Target="presProps.xml"/><Relationship Id="rId47" Type="http://schemas.microsoft.com/office/2018/10/relationships/authors" Target="authors.xml"/><Relationship Id="rId7" Type="http://schemas.openxmlformats.org/officeDocument/2006/relationships/slideMaster" Target="slideMasters/slideMaster3.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handoutMaster" Target="handoutMasters/handout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tableStyles" Target="tableStyles.xml"/><Relationship Id="rId5" Type="http://schemas.openxmlformats.org/officeDocument/2006/relationships/slideMaster" Target="slideMasters/slideMaster1.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font" Target="fonts/font4.fntdata"/><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notesMaster" Target="notesMasters/notesMaster1.xml"/><Relationship Id="rId44"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font" Target="fonts/font3.fntdata"/><Relationship Id="rId43" Type="http://schemas.openxmlformats.org/officeDocument/2006/relationships/viewProps" Target="viewProps.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font" Target="fonts/font1.fntdata"/><Relationship Id="rId38" Type="http://schemas.openxmlformats.org/officeDocument/2006/relationships/font" Target="fonts/font6.fntdata"/><Relationship Id="rId46" Type="http://schemas.microsoft.com/office/2015/10/relationships/revisionInfo" Target="revisionInfo.xml"/><Relationship Id="rId20" Type="http://schemas.openxmlformats.org/officeDocument/2006/relationships/slide" Target="slides/slide13.xml"/><Relationship Id="rId41"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E26B98C-713B-4B72-A4D4-019F5DA80C9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C270BE1-CA36-4E08-BA4E-AC3C07DBA58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62039D-F6B0-4B3D-87CD-5EA4BC8D3B27}" type="datetimeFigureOut">
              <a:rPr lang="en-US" smtClean="0"/>
              <a:t>4/20/2026</a:t>
            </a:fld>
            <a:endParaRPr lang="en-US"/>
          </a:p>
        </p:txBody>
      </p:sp>
      <p:sp>
        <p:nvSpPr>
          <p:cNvPr id="4" name="Footer Placeholder 3">
            <a:extLst>
              <a:ext uri="{FF2B5EF4-FFF2-40B4-BE49-F238E27FC236}">
                <a16:creationId xmlns:a16="http://schemas.microsoft.com/office/drawing/2014/main" id="{87346B8E-2606-4769-BF30-459644BE4BF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BEC229D-172E-43E4-8A96-CF0E11D3DD0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D3B6B68-6C65-4B67-BFEC-C9B9E8911328}" type="slidenum">
              <a:rPr lang="en-US" smtClean="0"/>
              <a:t>‹#›</a:t>
            </a:fld>
            <a:endParaRPr lang="en-US"/>
          </a:p>
        </p:txBody>
      </p:sp>
    </p:spTree>
    <p:extLst>
      <p:ext uri="{BB962C8B-B14F-4D97-AF65-F5344CB8AC3E}">
        <p14:creationId xmlns:p14="http://schemas.microsoft.com/office/powerpoint/2010/main" val="17308988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Notes Placeholder 4"/>
          <p:cNvSpPr>
            <a:spLocks noGrp="1"/>
          </p:cNvSpPr>
          <p:nvPr>
            <p:ph type="body" sz="quarter" idx="3"/>
          </p:nvPr>
        </p:nvSpPr>
        <p:spPr>
          <a:xfrm>
            <a:off x="246888" y="3134806"/>
            <a:ext cx="6373368" cy="5698298"/>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Image Placeholder 7">
            <a:extLst>
              <a:ext uri="{FF2B5EF4-FFF2-40B4-BE49-F238E27FC236}">
                <a16:creationId xmlns:a16="http://schemas.microsoft.com/office/drawing/2014/main" id="{EB9A72EB-8446-4162-8400-EAE51CA4B002}"/>
              </a:ext>
            </a:extLst>
          </p:cNvPr>
          <p:cNvSpPr>
            <a:spLocks noGrp="1" noRot="1" noChangeAspect="1"/>
          </p:cNvSpPr>
          <p:nvPr>
            <p:ph type="sldImg" idx="2"/>
          </p:nvPr>
        </p:nvSpPr>
        <p:spPr>
          <a:xfrm>
            <a:off x="1333500" y="658368"/>
            <a:ext cx="4191000" cy="2357438"/>
          </a:xfrm>
          <a:prstGeom prst="rect">
            <a:avLst/>
          </a:prstGeom>
          <a:noFill/>
          <a:ln w="12700">
            <a:solidFill>
              <a:prstClr val="black"/>
            </a:solidFill>
          </a:ln>
        </p:spPr>
        <p:txBody>
          <a:bodyPr vert="horz" lIns="91440" tIns="45720" rIns="91440" bIns="45720" rtlCol="0" anchor="ctr"/>
          <a:lstStyle/>
          <a:p>
            <a:endParaRPr lang="en-US"/>
          </a:p>
        </p:txBody>
      </p:sp>
      <p:sp>
        <p:nvSpPr>
          <p:cNvPr id="10" name="TextBox 9">
            <a:extLst>
              <a:ext uri="{FF2B5EF4-FFF2-40B4-BE49-F238E27FC236}">
                <a16:creationId xmlns:a16="http://schemas.microsoft.com/office/drawing/2014/main" id="{F59BBFC6-D472-4F66-A33B-98EEDC87B9D3}"/>
              </a:ext>
            </a:extLst>
          </p:cNvPr>
          <p:cNvSpPr txBox="1"/>
          <p:nvPr/>
        </p:nvSpPr>
        <p:spPr>
          <a:xfrm rot="16200000">
            <a:off x="-760712" y="1686780"/>
            <a:ext cx="2143215" cy="138499"/>
          </a:xfrm>
          <a:prstGeom prst="rect">
            <a:avLst/>
          </a:prstGeom>
          <a:noFill/>
        </p:spPr>
        <p:txBody>
          <a:bodyPr wrap="none" lIns="0" tIns="0" rIns="0" bIns="0" rtlCol="0" anchor="ctr" anchorCtr="0">
            <a:spAutoFit/>
          </a:bodyPr>
          <a:lstStyle/>
          <a:p>
            <a:pPr algn="ctr"/>
            <a:r>
              <a:rPr lang="en-US" sz="900">
                <a:solidFill>
                  <a:schemeClr val="bg1">
                    <a:lumMod val="75000"/>
                  </a:schemeClr>
                </a:solidFill>
              </a:rPr>
              <a:t>— NOT FOR EXTERNAL DISTRIBUTION —</a:t>
            </a:r>
          </a:p>
        </p:txBody>
      </p:sp>
      <p:sp>
        <p:nvSpPr>
          <p:cNvPr id="11" name="TextBox 10">
            <a:extLst>
              <a:ext uri="{FF2B5EF4-FFF2-40B4-BE49-F238E27FC236}">
                <a16:creationId xmlns:a16="http://schemas.microsoft.com/office/drawing/2014/main" id="{DA573FBF-EDF7-4974-B2B2-CF1E73B474F9}"/>
              </a:ext>
            </a:extLst>
          </p:cNvPr>
          <p:cNvSpPr txBox="1"/>
          <p:nvPr/>
        </p:nvSpPr>
        <p:spPr>
          <a:xfrm rot="5400000">
            <a:off x="5475496" y="1686780"/>
            <a:ext cx="2143215" cy="138499"/>
          </a:xfrm>
          <a:prstGeom prst="rect">
            <a:avLst/>
          </a:prstGeom>
          <a:noFill/>
        </p:spPr>
        <p:txBody>
          <a:bodyPr wrap="none" lIns="0" tIns="0" rIns="0" bIns="0" rtlCol="0" anchor="ctr" anchorCtr="0">
            <a:spAutoFit/>
          </a:bodyPr>
          <a:lstStyle/>
          <a:p>
            <a:pPr algn="ctr"/>
            <a:r>
              <a:rPr lang="en-US" sz="900">
                <a:solidFill>
                  <a:schemeClr val="bg1">
                    <a:lumMod val="75000"/>
                  </a:schemeClr>
                </a:solidFill>
              </a:rPr>
              <a:t>— NOT FOR EXTERNAL DISTRIBUTION —</a:t>
            </a:r>
          </a:p>
        </p:txBody>
      </p:sp>
      <p:sp>
        <p:nvSpPr>
          <p:cNvPr id="23" name="TextBox 22">
            <a:extLst>
              <a:ext uri="{FF2B5EF4-FFF2-40B4-BE49-F238E27FC236}">
                <a16:creationId xmlns:a16="http://schemas.microsoft.com/office/drawing/2014/main" id="{92C8F8D4-DFC9-4259-86F5-A4F987BA15DE}"/>
              </a:ext>
            </a:extLst>
          </p:cNvPr>
          <p:cNvSpPr txBox="1"/>
          <p:nvPr/>
        </p:nvSpPr>
        <p:spPr>
          <a:xfrm>
            <a:off x="246888" y="8887968"/>
            <a:ext cx="4454746" cy="184666"/>
          </a:xfrm>
          <a:prstGeom prst="rect">
            <a:avLst/>
          </a:prstGeom>
          <a:noFill/>
        </p:spPr>
        <p:txBody>
          <a:bodyPr wrap="none" lIns="0" tIns="0" rIns="0" bIns="0" rtlCol="0" anchor="b" anchorCtr="0">
            <a:spAutoFit/>
          </a:bodyPr>
          <a:lstStyle/>
          <a:p>
            <a:pPr marL="228600" indent="-228600"/>
            <a:fld id="{E1F39F5E-4058-4856-B2BD-0FDE5C1B6221}" type="slidenum">
              <a:rPr lang="en-US" sz="600" smtClean="0">
                <a:solidFill>
                  <a:schemeClr val="tx1"/>
                </a:solidFill>
              </a:rPr>
              <a:t>‹#›</a:t>
            </a:fld>
            <a:r>
              <a:rPr lang="en-US" sz="600">
                <a:solidFill>
                  <a:schemeClr val="tx1"/>
                </a:solidFill>
              </a:rPr>
              <a:t>	© 2026 Gartner, Inc. and/or its affiliates. All rights reserved. Gartner is a registered trademark of Gartner, Inc. or its affiliates.</a:t>
            </a:r>
            <a:br>
              <a:rPr lang="en-US" sz="600">
                <a:solidFill>
                  <a:schemeClr val="tx1"/>
                </a:solidFill>
              </a:rPr>
            </a:br>
            <a:r>
              <a:rPr lang="en-US" sz="600" b="1">
                <a:solidFill>
                  <a:schemeClr val="tx1"/>
                </a:solidFill>
              </a:rPr>
              <a:t>RESTRICTED</a:t>
            </a:r>
            <a:r>
              <a:rPr lang="en-US" sz="600">
                <a:solidFill>
                  <a:schemeClr val="tx1"/>
                </a:solidFill>
              </a:rPr>
              <a:t> | Version X.X | Last updated [insert date format: DD Month YYYY]</a:t>
            </a:r>
          </a:p>
        </p:txBody>
      </p:sp>
      <p:sp>
        <p:nvSpPr>
          <p:cNvPr id="26" name="TextBox 25">
            <a:extLst>
              <a:ext uri="{FF2B5EF4-FFF2-40B4-BE49-F238E27FC236}">
                <a16:creationId xmlns:a16="http://schemas.microsoft.com/office/drawing/2014/main" id="{EF32A807-544A-4EBE-989F-ECAA016BF8D1}"/>
              </a:ext>
            </a:extLst>
          </p:cNvPr>
          <p:cNvSpPr txBox="1"/>
          <p:nvPr/>
        </p:nvSpPr>
        <p:spPr>
          <a:xfrm>
            <a:off x="246887" y="128016"/>
            <a:ext cx="6327648" cy="244682"/>
          </a:xfrm>
          <a:prstGeom prst="rect">
            <a:avLst/>
          </a:prstGeom>
          <a:noFill/>
        </p:spPr>
        <p:txBody>
          <a:bodyPr wrap="square" lIns="0" rtlCol="0">
            <a:spAutoFit/>
          </a:bodyPr>
          <a:lstStyle/>
          <a:p>
            <a:pPr>
              <a:lnSpc>
                <a:spcPct val="90000"/>
              </a:lnSpc>
            </a:pPr>
            <a:r>
              <a:rPr lang="en-US" sz="1100" b="0">
                <a:solidFill>
                  <a:schemeClr val="tx1"/>
                </a:solidFill>
                <a:latin typeface="+mj-lt"/>
              </a:rPr>
              <a:t>Presentation Title</a:t>
            </a:r>
          </a:p>
        </p:txBody>
      </p:sp>
    </p:spTree>
    <p:extLst>
      <p:ext uri="{BB962C8B-B14F-4D97-AF65-F5344CB8AC3E}">
        <p14:creationId xmlns:p14="http://schemas.microsoft.com/office/powerpoint/2010/main" val="922378356"/>
      </p:ext>
    </p:extLst>
  </p:cSld>
  <p:clrMap bg1="lt1" tx1="dk1" bg2="lt2" tx2="dk2" accent1="accent1" accent2="accent2" accent3="accent3" accent4="accent4" accent5="accent5" accent6="accent6" hlink="hlink" folHlink="folHlink"/>
  <p:notesStyle>
    <a:lvl1pPr marL="0" algn="l" defTabSz="914400" rtl="0" eaLnBrk="1" latinLnBrk="0" hangingPunct="1">
      <a:lnSpc>
        <a:spcPct val="90000"/>
      </a:lnSpc>
      <a:spcAft>
        <a:spcPts val="600"/>
      </a:spcAft>
      <a:defRPr sz="1200" kern="1200">
        <a:solidFill>
          <a:schemeClr val="tx1"/>
        </a:solidFill>
        <a:latin typeface="+mn-lt"/>
        <a:ea typeface="+mn-ea"/>
        <a:cs typeface="+mn-cs"/>
      </a:defRPr>
    </a:lvl1pPr>
    <a:lvl2pPr marL="182880" indent="-137160" algn="l" defTabSz="914400" rtl="0" eaLnBrk="1" latinLnBrk="0" hangingPunct="1">
      <a:lnSpc>
        <a:spcPct val="90000"/>
      </a:lnSpc>
      <a:spcAft>
        <a:spcPts val="600"/>
      </a:spcAft>
      <a:buFont typeface="Arial" panose="020B0604020202020204" pitchFamily="34" charset="0"/>
      <a:buChar char="•"/>
      <a:defRPr sz="1200" kern="1200">
        <a:solidFill>
          <a:schemeClr val="tx1"/>
        </a:solidFill>
        <a:latin typeface="+mn-lt"/>
        <a:ea typeface="+mn-ea"/>
        <a:cs typeface="+mn-cs"/>
      </a:defRPr>
    </a:lvl2pPr>
    <a:lvl3pPr marL="365760" indent="-137160" algn="l" defTabSz="914400" rtl="0" eaLnBrk="1" latinLnBrk="0" hangingPunct="1">
      <a:lnSpc>
        <a:spcPct val="90000"/>
      </a:lnSpc>
      <a:spcAft>
        <a:spcPts val="600"/>
      </a:spcAft>
      <a:buFont typeface="Arial" panose="020B0604020202020204" pitchFamily="34" charset="0"/>
      <a:buChar char="–"/>
      <a:defRPr sz="1200" kern="1200">
        <a:solidFill>
          <a:schemeClr val="tx1"/>
        </a:solidFill>
        <a:latin typeface="+mn-lt"/>
        <a:ea typeface="+mn-ea"/>
        <a:cs typeface="+mn-cs"/>
      </a:defRPr>
    </a:lvl3pPr>
    <a:lvl4pPr marL="548640" indent="-137160" algn="l" defTabSz="914400" rtl="0" eaLnBrk="1" latinLnBrk="0" hangingPunct="1">
      <a:lnSpc>
        <a:spcPct val="90000"/>
      </a:lnSpc>
      <a:spcAft>
        <a:spcPts val="600"/>
      </a:spcAft>
      <a:buFont typeface="Arial" panose="020B0604020202020204" pitchFamily="34" charset="0"/>
      <a:buChar char="•"/>
      <a:defRPr sz="1200" kern="1200">
        <a:solidFill>
          <a:schemeClr val="tx1"/>
        </a:solidFill>
        <a:latin typeface="+mn-lt"/>
        <a:ea typeface="+mn-ea"/>
        <a:cs typeface="+mn-cs"/>
      </a:defRPr>
    </a:lvl4pPr>
    <a:lvl5pPr marL="731520" indent="-137160" algn="l" defTabSz="914400" rtl="0" eaLnBrk="1" latinLnBrk="0" hangingPunct="1">
      <a:lnSpc>
        <a:spcPct val="90000"/>
      </a:lnSpc>
      <a:spcAft>
        <a:spcPts val="600"/>
      </a:spcAft>
      <a:buFont typeface="Arial" panose="020B0604020202020204" pitchFamily="34" charset="0"/>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noChangeAspect="1"/>
          </p:cNvSpPr>
          <p:nvPr>
            <p:ph type="body" idx="1"/>
          </p:nvPr>
        </p:nvSpPr>
        <p:spPr/>
        <p:txBody>
          <a:bodyPr/>
          <a:lstStyle/>
          <a:p>
            <a:r>
              <a:rPr lang="en-US"/>
              <a:t>Ver 2026-0114</a:t>
            </a:r>
          </a:p>
          <a:p>
            <a:endParaRPr lang="en-US"/>
          </a:p>
        </p:txBody>
      </p:sp>
      <p:sp>
        <p:nvSpPr>
          <p:cNvPr id="4" name="Rectangle 103">
            <a:extLst>
              <a:ext uri="{FF2B5EF4-FFF2-40B4-BE49-F238E27FC236}">
                <a16:creationId xmlns:a16="http://schemas.microsoft.com/office/drawing/2014/main" id="{B3772AE2-76C5-43EB-BBF0-1E8DDB46AEB7}"/>
              </a:ext>
            </a:extLst>
          </p:cNvPr>
          <p:cNvSpPr>
            <a:spLocks noChangeArrowheads="1"/>
          </p:cNvSpPr>
          <p:nvPr/>
        </p:nvSpPr>
        <p:spPr bwMode="gray">
          <a:xfrm>
            <a:off x="3862389" y="100605"/>
            <a:ext cx="2618422" cy="420582"/>
          </a:xfrm>
          <a:prstGeom prst="rect">
            <a:avLst/>
          </a:prstGeom>
          <a:noFill/>
          <a:ln w="9525">
            <a:noFill/>
            <a:miter lim="800000"/>
            <a:headEnd/>
            <a:tailEnd/>
          </a:ln>
        </p:spPr>
        <p:txBody>
          <a:bodyPr wrap="square" lIns="65028" tIns="25377" rIns="65028" bIns="25377">
            <a:spAutoFit/>
          </a:bodyPr>
          <a:lstStyle/>
          <a:p>
            <a:pPr algn="l" defTabSz="947738">
              <a:lnSpc>
                <a:spcPct val="100000"/>
              </a:lnSpc>
              <a:spcBef>
                <a:spcPct val="0"/>
              </a:spcBef>
              <a:spcAft>
                <a:spcPct val="0"/>
              </a:spcAft>
            </a:pPr>
            <a:r>
              <a:rPr lang="en-US" sz="1200"/>
              <a:t>Presenter's Name</a:t>
            </a:r>
          </a:p>
          <a:p>
            <a:pPr algn="l" defTabSz="947738">
              <a:lnSpc>
                <a:spcPct val="100000"/>
              </a:lnSpc>
              <a:spcBef>
                <a:spcPct val="0"/>
              </a:spcBef>
              <a:spcAft>
                <a:spcPct val="0"/>
              </a:spcAft>
            </a:pPr>
            <a:r>
              <a:rPr lang="en-US" sz="1200"/>
              <a:t>Presenter's Name</a:t>
            </a:r>
          </a:p>
        </p:txBody>
      </p:sp>
      <p:sp>
        <p:nvSpPr>
          <p:cNvPr id="6" name="Slide Image Placeholder 5">
            <a:extLst>
              <a:ext uri="{FF2B5EF4-FFF2-40B4-BE49-F238E27FC236}">
                <a16:creationId xmlns:a16="http://schemas.microsoft.com/office/drawing/2014/main" id="{CE842C09-60FC-3CF9-E372-D32E5E324260}"/>
              </a:ext>
            </a:extLst>
          </p:cNvPr>
          <p:cNvSpPr>
            <a:spLocks noGrp="1" noRot="1" noChangeAspect="1"/>
          </p:cNvSpPr>
          <p:nvPr>
            <p:ph type="sldImg"/>
          </p:nvPr>
        </p:nvSpPr>
        <p:spPr>
          <a:xfrm>
            <a:off x="1333500" y="658813"/>
            <a:ext cx="4191000" cy="2357437"/>
          </a:xfrm>
        </p:spPr>
        <p:txBody>
          <a:bodyPr/>
          <a:lstStyle/>
          <a:p>
            <a:endParaRPr lang="en-GB"/>
          </a:p>
        </p:txBody>
      </p:sp>
    </p:spTree>
    <p:extLst>
      <p:ext uri="{BB962C8B-B14F-4D97-AF65-F5344CB8AC3E}">
        <p14:creationId xmlns:p14="http://schemas.microsoft.com/office/powerpoint/2010/main" val="41046698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5C712B3E-81CA-41CD-93F9-40EF3BDA6079}"/>
              </a:ext>
            </a:extLst>
          </p:cNvPr>
          <p:cNvSpPr>
            <a:spLocks noGrp="1" noRot="1" noChangeAspect="1"/>
          </p:cNvSpPr>
          <p:nvPr>
            <p:ph type="sldImg"/>
          </p:nvPr>
        </p:nvSpPr>
        <p:spPr>
          <a:xfrm>
            <a:off x="1333500" y="658813"/>
            <a:ext cx="4191000" cy="2357437"/>
          </a:xfrm>
          <a:noFill/>
          <a:ln w="12700">
            <a:solidFill>
              <a:prstClr val="black"/>
            </a:solidFill>
          </a:ln>
        </p:spPr>
        <p:txBody>
          <a:bodyPr/>
          <a:lstStyle/>
          <a:p>
            <a:endParaRPr lang="en-GB"/>
          </a:p>
        </p:txBody>
      </p:sp>
      <p:sp>
        <p:nvSpPr>
          <p:cNvPr id="5" name="Notes Placeholder 4">
            <a:extLst>
              <a:ext uri="{FF2B5EF4-FFF2-40B4-BE49-F238E27FC236}">
                <a16:creationId xmlns:a16="http://schemas.microsoft.com/office/drawing/2014/main" id="{28CC9349-6A79-4A73-8C16-2C05042BD5F7}"/>
              </a:ext>
            </a:extLst>
          </p:cNvPr>
          <p:cNvSpPr>
            <a:spLocks noGrp="1" noChangeAspect="1"/>
          </p:cNvSpPr>
          <p:nvPr>
            <p:ph type="body" idx="1"/>
          </p:nvPr>
        </p:nvSpPr>
        <p:spPr>
          <a:xfrm>
            <a:off x="246888" y="3134806"/>
            <a:ext cx="6373368" cy="5698298"/>
          </a:xfrm>
        </p:spPr>
        <p:txBody>
          <a:bodyPr vert="horz" lIns="0" tIns="0" rIns="0" bIns="0" rtlCol="0"/>
          <a:lstStyle/>
          <a:p>
            <a:endParaRPr lang="en-US"/>
          </a:p>
        </p:txBody>
      </p:sp>
    </p:spTree>
    <p:extLst>
      <p:ext uri="{BB962C8B-B14F-4D97-AF65-F5344CB8AC3E}">
        <p14:creationId xmlns:p14="http://schemas.microsoft.com/office/powerpoint/2010/main" val="139384957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2">
    <p:bg>
      <p:bgPr>
        <a:solidFill>
          <a:srgbClr val="E0F1FF"/>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1371600" y="2149713"/>
            <a:ext cx="8426919" cy="2185214"/>
          </a:xfrm>
          <a:prstGeom prst="bracketPair">
            <a:avLst>
              <a:gd name="adj" fmla="val 0"/>
            </a:avLst>
          </a:prstGeom>
          <a:ln w="114300">
            <a:solidFill>
              <a:schemeClr val="accent3"/>
            </a:solidFill>
          </a:ln>
        </p:spPr>
        <p:txBody>
          <a:bodyPr wrap="square" lIns="228600" tIns="731520" rIns="182880" bIns="91440" anchor="t" anchorCtr="0">
            <a:spAutoFit/>
          </a:bodyPr>
          <a:lstStyle>
            <a:lvl1pPr algn="l">
              <a:defRPr sz="4400"/>
            </a:lvl1pPr>
          </a:lstStyle>
          <a:p>
            <a:r>
              <a:rPr lang="en-US"/>
              <a:t>Click to Add Title; 2 Lines of Copy; 60 Characters Maximum</a:t>
            </a:r>
          </a:p>
        </p:txBody>
      </p:sp>
      <p:sp>
        <p:nvSpPr>
          <p:cNvPr id="14" name="TextBox 13">
            <a:extLst>
              <a:ext uri="{FF2B5EF4-FFF2-40B4-BE49-F238E27FC236}">
                <a16:creationId xmlns:a16="http://schemas.microsoft.com/office/drawing/2014/main" id="{BB93A754-CF98-4BEB-BE89-ADF1CF77AA4F}"/>
              </a:ext>
            </a:extLst>
          </p:cNvPr>
          <p:cNvSpPr txBox="1"/>
          <p:nvPr/>
        </p:nvSpPr>
        <p:spPr>
          <a:xfrm>
            <a:off x="685800" y="6199632"/>
            <a:ext cx="7095744" cy="323165"/>
          </a:xfrm>
          <a:prstGeom prst="rect">
            <a:avLst/>
          </a:prstGeom>
          <a:noFill/>
        </p:spPr>
        <p:txBody>
          <a:bodyPr wrap="square" lIns="0" tIns="0" rIns="0" bIns="0" rtlCol="0" anchor="b" anchorCtr="0">
            <a:spAutoFit/>
          </a:bodyPr>
          <a:lstStyle/>
          <a:p>
            <a:r>
              <a:rPr lang="en-US" sz="700"/>
              <a:t>© 2026 Gartner, Inc. and/or its affiliates. All rights reserved. Gartner is a registered trademark of Gartner, Inc. or its affiliates. This presentation, including all supporting materials, </a:t>
            </a:r>
            <a:br>
              <a:rPr lang="en-US" sz="700"/>
            </a:br>
            <a:r>
              <a:rPr lang="en-US" sz="70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8" name="Picture 7">
            <a:extLst>
              <a:ext uri="{FF2B5EF4-FFF2-40B4-BE49-F238E27FC236}">
                <a16:creationId xmlns:a16="http://schemas.microsoft.com/office/drawing/2014/main" id="{4B98EA9B-8D5B-4923-90F5-A4CDF4762E56}"/>
              </a:ext>
            </a:extLst>
          </p:cNvPr>
          <p:cNvPicPr>
            <a:picLocks noChangeAspect="1"/>
          </p:cNvPicPr>
          <p:nvPr userDrawn="1"/>
        </p:nvPicPr>
        <p:blipFill>
          <a:blip r:embed="rId2">
            <a:extLst>
              <a:ext uri="{28A0092B-C50C-407E-A947-70E740481C1C}">
                <a14:useLocalDpi xmlns:a14="http://schemas.microsoft.com/office/drawing/2010/main" val="0"/>
              </a:ext>
            </a:extLst>
          </a:blip>
          <a:srcRect t="226" b="226"/>
          <a:stretch/>
        </p:blipFill>
        <p:spPr>
          <a:xfrm>
            <a:off x="685800" y="685800"/>
            <a:ext cx="1736570" cy="395448"/>
          </a:xfrm>
          <a:prstGeom prst="rect">
            <a:avLst/>
          </a:prstGeom>
        </p:spPr>
      </p:pic>
      <p:sp>
        <p:nvSpPr>
          <p:cNvPr id="3" name="Subtitle 2"/>
          <p:cNvSpPr>
            <a:spLocks noGrp="1"/>
          </p:cNvSpPr>
          <p:nvPr>
            <p:ph type="subTitle" idx="1" hasCustomPrompt="1"/>
          </p:nvPr>
        </p:nvSpPr>
        <p:spPr>
          <a:xfrm>
            <a:off x="1371600" y="2149713"/>
            <a:ext cx="8426919" cy="276999"/>
          </a:xfrm>
        </p:spPr>
        <p:txBody>
          <a:bodyPr lIns="246888" rIns="182880">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Gartner for XXX Leaders</a:t>
            </a:r>
          </a:p>
        </p:txBody>
      </p:sp>
    </p:spTree>
    <p:extLst>
      <p:ext uri="{BB962C8B-B14F-4D97-AF65-F5344CB8AC3E}">
        <p14:creationId xmlns:p14="http://schemas.microsoft.com/office/powerpoint/2010/main" val="19090687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86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827896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5DE8436-F632-4929-A0C4-8AB62F36165A}"/>
              </a:ext>
            </a:extLst>
          </p:cNvPr>
          <p:cNvSpPr>
            <a:spLocks noGrp="1"/>
          </p:cNvSpPr>
          <p:nvPr>
            <p:ph type="title" hasCustomPrompt="1"/>
          </p:nvPr>
        </p:nvSpPr>
        <p:spPr/>
        <p:txBody>
          <a:bodyPr/>
          <a:lstStyle/>
          <a:p>
            <a:r>
              <a:rPr lang="en-US"/>
              <a:t>Click to edit title</a:t>
            </a:r>
          </a:p>
        </p:txBody>
      </p:sp>
    </p:spTree>
    <p:extLst>
      <p:ext uri="{BB962C8B-B14F-4D97-AF65-F5344CB8AC3E}">
        <p14:creationId xmlns:p14="http://schemas.microsoft.com/office/powerpoint/2010/main" val="23526774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4EDECE2-F9F2-4351-A826-ACD78703CADF}"/>
              </a:ext>
            </a:extLst>
          </p:cNvPr>
          <p:cNvSpPr>
            <a:spLocks noGrp="1"/>
          </p:cNvSpPr>
          <p:nvPr>
            <p:ph type="title" hasCustomPrompt="1"/>
          </p:nvPr>
        </p:nvSpPr>
        <p:spPr/>
        <p:txBody>
          <a:bodyPr/>
          <a:lstStyle/>
          <a:p>
            <a:r>
              <a:rPr lang="en-US"/>
              <a:t>Click to edit title</a:t>
            </a:r>
          </a:p>
        </p:txBody>
      </p:sp>
      <p:sp>
        <p:nvSpPr>
          <p:cNvPr id="3" name="Content Placeholder 2"/>
          <p:cNvSpPr>
            <a:spLocks noGrp="1"/>
          </p:cNvSpPr>
          <p:nvPr>
            <p:ph idx="1" hasCustomPrompt="1"/>
          </p:nvPr>
        </p:nvSpPr>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228850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lumn graphics righ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940419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6236208"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9783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hree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4425696"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8394192"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31412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hree column shade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bwMode="ltGray">
          <a:xfrm>
            <a:off x="457200" y="1527048"/>
            <a:ext cx="3337560" cy="4462272"/>
          </a:xfrm>
          <a:solidFill>
            <a:srgbClr val="E0F1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bwMode="ltGray">
          <a:xfrm>
            <a:off x="4425696" y="1527048"/>
            <a:ext cx="3337560" cy="4462272"/>
          </a:xfrm>
          <a:solidFill>
            <a:srgbClr val="E0F1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bwMode="ltGray">
          <a:xfrm>
            <a:off x="8394192" y="1527048"/>
            <a:ext cx="3337560" cy="4462272"/>
          </a:xfrm>
          <a:solidFill>
            <a:srgbClr val="E0F1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194625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Four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61950"/>
            <a:ext cx="11274552" cy="451231"/>
          </a:xfrm>
        </p:spPr>
        <p:txBody>
          <a:bodyPr/>
          <a:lstStyle/>
          <a:p>
            <a:r>
              <a:rPr lang="en-US"/>
              <a:t>Click to edit title</a:t>
            </a:r>
          </a:p>
        </p:txBody>
      </p:sp>
      <p:sp>
        <p:nvSpPr>
          <p:cNvPr id="3" name="Content Placeholder 2"/>
          <p:cNvSpPr>
            <a:spLocks noGrp="1"/>
          </p:cNvSpPr>
          <p:nvPr>
            <p:ph sz="half" idx="1" hasCustomPrompt="1"/>
          </p:nvPr>
        </p:nvSpPr>
        <p:spPr>
          <a:xfrm>
            <a:off x="457200"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3348482"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6239764"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B226B5DF-DF35-419C-8251-4F81A740D77A}"/>
              </a:ext>
            </a:extLst>
          </p:cNvPr>
          <p:cNvSpPr>
            <a:spLocks noGrp="1"/>
          </p:cNvSpPr>
          <p:nvPr>
            <p:ph sz="half" idx="11" hasCustomPrompt="1"/>
          </p:nvPr>
        </p:nvSpPr>
        <p:spPr>
          <a:xfrm>
            <a:off x="9131046"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65994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Four column shade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61950"/>
            <a:ext cx="11274552" cy="451231"/>
          </a:xfrm>
        </p:spPr>
        <p:txBody>
          <a:bodyPr/>
          <a:lstStyle/>
          <a:p>
            <a:r>
              <a:rPr lang="en-US"/>
              <a:t>Click to edit title</a:t>
            </a:r>
          </a:p>
        </p:txBody>
      </p:sp>
      <p:sp>
        <p:nvSpPr>
          <p:cNvPr id="3" name="Content Placeholder 2"/>
          <p:cNvSpPr>
            <a:spLocks noGrp="1"/>
          </p:cNvSpPr>
          <p:nvPr>
            <p:ph sz="half" idx="1" hasCustomPrompt="1"/>
          </p:nvPr>
        </p:nvSpPr>
        <p:spPr bwMode="ltGray">
          <a:xfrm>
            <a:off x="457200" y="1527048"/>
            <a:ext cx="2600706" cy="4462272"/>
          </a:xfrm>
          <a:solidFill>
            <a:srgbClr val="E0F1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bwMode="ltGray">
          <a:xfrm>
            <a:off x="3348482" y="1527048"/>
            <a:ext cx="2600706" cy="4462272"/>
          </a:xfrm>
          <a:solidFill>
            <a:srgbClr val="E0F1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bwMode="ltGray">
          <a:xfrm>
            <a:off x="6239764" y="1527048"/>
            <a:ext cx="2600706" cy="4462272"/>
          </a:xfrm>
          <a:solidFill>
            <a:srgbClr val="E0F1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F44528D9-D4DF-4ABD-97AD-FCFEE24F7C53}"/>
              </a:ext>
            </a:extLst>
          </p:cNvPr>
          <p:cNvSpPr>
            <a:spLocks noGrp="1"/>
          </p:cNvSpPr>
          <p:nvPr>
            <p:ph sz="half" idx="11" hasCustomPrompt="1"/>
          </p:nvPr>
        </p:nvSpPr>
        <p:spPr bwMode="ltGray">
          <a:xfrm>
            <a:off x="9131046" y="1527048"/>
            <a:ext cx="2600706" cy="4462272"/>
          </a:xfrm>
          <a:solidFill>
            <a:srgbClr val="E0F1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662841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Slide">
    <p:bg>
      <p:bgPr>
        <a:solidFill>
          <a:srgbClr val="E0F1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BAA7-7402-7653-A21A-2C33B981B892}"/>
              </a:ext>
            </a:extLst>
          </p:cNvPr>
          <p:cNvSpPr>
            <a:spLocks noGrp="1"/>
          </p:cNvSpPr>
          <p:nvPr>
            <p:ph type="title" hasCustomPrompt="1"/>
          </p:nvPr>
        </p:nvSpPr>
        <p:spPr bwMode="gray">
          <a:xfrm>
            <a:off x="1365814" y="1590378"/>
            <a:ext cx="5408210" cy="2031326"/>
          </a:xfrm>
          <a:prstGeom prst="bracketPair">
            <a:avLst>
              <a:gd name="adj" fmla="val 0"/>
            </a:avLst>
          </a:prstGeom>
          <a:ln w="101600">
            <a:solidFill>
              <a:schemeClr val="accent3"/>
            </a:solidFill>
          </a:ln>
        </p:spPr>
        <p:txBody>
          <a:bodyPr wrap="square" lIns="228600" rIns="182880" anchor="ctr" anchorCtr="0">
            <a:spAutoFit/>
          </a:bodyPr>
          <a:lstStyle>
            <a:lvl1pPr>
              <a:defRPr sz="4400"/>
            </a:lvl1pPr>
          </a:lstStyle>
          <a:p>
            <a:r>
              <a:rPr lang="en-US"/>
              <a:t>Divider Slide</a:t>
            </a:r>
            <a:br>
              <a:rPr lang="en-US"/>
            </a:br>
            <a:r>
              <a:rPr lang="en-US"/>
              <a:t>30 Characters Max.</a:t>
            </a:r>
            <a:br>
              <a:rPr lang="en-US"/>
            </a:br>
            <a:r>
              <a:rPr lang="en-US"/>
              <a:t>Lorem Ipsum</a:t>
            </a:r>
          </a:p>
        </p:txBody>
      </p:sp>
    </p:spTree>
    <p:extLst>
      <p:ext uri="{BB962C8B-B14F-4D97-AF65-F5344CB8AC3E}">
        <p14:creationId xmlns:p14="http://schemas.microsoft.com/office/powerpoint/2010/main" val="2820602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eft Rai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1F3F689-0EFE-267D-1F38-8A7BB7CF62AF}"/>
              </a:ext>
            </a:extLst>
          </p:cNvPr>
          <p:cNvSpPr/>
          <p:nvPr userDrawn="1"/>
        </p:nvSpPr>
        <p:spPr bwMode="invGray">
          <a:xfrm>
            <a:off x="-1" y="0"/>
            <a:ext cx="4050792" cy="6858000"/>
          </a:xfrm>
          <a:prstGeom prst="rect">
            <a:avLst/>
          </a:prstGeom>
          <a:gradFill>
            <a:gsLst>
              <a:gs pos="20000">
                <a:srgbClr val="002869"/>
              </a:gs>
              <a:gs pos="100000">
                <a:srgbClr val="0057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D9D03778-9F51-35F8-9B55-7FB58E49C224}"/>
              </a:ext>
            </a:extLst>
          </p:cNvPr>
          <p:cNvSpPr>
            <a:spLocks noGrp="1"/>
          </p:cNvSpPr>
          <p:nvPr>
            <p:ph type="title"/>
          </p:nvPr>
        </p:nvSpPr>
        <p:spPr>
          <a:xfrm>
            <a:off x="457200" y="361950"/>
            <a:ext cx="3114675" cy="2051312"/>
          </a:xfrm>
        </p:spPr>
        <p:txBody>
          <a:bodyPr/>
          <a:lstStyle>
            <a:lvl1pPr>
              <a:defRPr>
                <a:solidFill>
                  <a:srgbClr val="FFFFFF"/>
                </a:solidFill>
              </a:defRPr>
            </a:lvl1pPr>
          </a:lstStyle>
          <a:p>
            <a:r>
              <a:rPr lang="en-GB"/>
              <a:t>Click to edit Master title style</a:t>
            </a:r>
            <a:endParaRPr lang="en-US"/>
          </a:p>
        </p:txBody>
      </p:sp>
      <p:sp>
        <p:nvSpPr>
          <p:cNvPr id="4" name="TextBox 3">
            <a:extLst>
              <a:ext uri="{FF2B5EF4-FFF2-40B4-BE49-F238E27FC236}">
                <a16:creationId xmlns:a16="http://schemas.microsoft.com/office/drawing/2014/main" id="{64B9B515-6C0A-2DCC-BDD9-2AEDE0D6D5DB}"/>
              </a:ext>
            </a:extLst>
          </p:cNvPr>
          <p:cNvSpPr txBox="1"/>
          <p:nvPr userDrawn="1"/>
        </p:nvSpPr>
        <p:spPr>
          <a:xfrm>
            <a:off x="457200" y="6393216"/>
            <a:ext cx="3566160" cy="153888"/>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rgbClr val="FFFFFF"/>
                </a:solidFill>
              </a:rPr>
              <a:t>‹#›</a:t>
            </a:fld>
            <a:r>
              <a:rPr lang="en-US" sz="700" b="0">
                <a:solidFill>
                  <a:srgbClr val="FFFFFF"/>
                </a:solidFill>
              </a:rPr>
              <a:t>	RESTRICTED © 2026 Gartner, Inc. and/or its affiliates. All rights reserved.</a:t>
            </a:r>
          </a:p>
        </p:txBody>
      </p:sp>
      <p:sp>
        <p:nvSpPr>
          <p:cNvPr id="6" name="Content Placeholder 5">
            <a:extLst>
              <a:ext uri="{FF2B5EF4-FFF2-40B4-BE49-F238E27FC236}">
                <a16:creationId xmlns:a16="http://schemas.microsoft.com/office/drawing/2014/main" id="{D3AB07D3-66B0-EF24-E15D-D61DB03311CA}"/>
              </a:ext>
            </a:extLst>
          </p:cNvPr>
          <p:cNvSpPr>
            <a:spLocks noGrp="1"/>
          </p:cNvSpPr>
          <p:nvPr>
            <p:ph sz="quarter" idx="10"/>
          </p:nvPr>
        </p:nvSpPr>
        <p:spPr>
          <a:xfrm>
            <a:off x="4478482" y="1346200"/>
            <a:ext cx="7256318" cy="450409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8127069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1C83FFE-85A9-5C0D-5033-94BE254D3694}"/>
              </a:ext>
            </a:extLst>
          </p:cNvPr>
          <p:cNvSpPr txBox="1"/>
          <p:nvPr userDrawn="1"/>
        </p:nvSpPr>
        <p:spPr bwMode="ltGray">
          <a:xfrm>
            <a:off x="457200" y="1401620"/>
            <a:ext cx="1425191" cy="1121270"/>
          </a:xfrm>
          <a:custGeom>
            <a:avLst/>
            <a:gdLst/>
            <a:ahLst/>
            <a:cxnLst/>
            <a:rect l="l" t="t" r="r" b="b"/>
            <a:pathLst>
              <a:path w="611876" h="481394">
                <a:moveTo>
                  <a:pt x="561203" y="0"/>
                </a:moveTo>
                <a:lnTo>
                  <a:pt x="611876" y="100080"/>
                </a:lnTo>
                <a:cubicBezTo>
                  <a:pt x="564581" y="124572"/>
                  <a:pt x="531433" y="149697"/>
                  <a:pt x="512430" y="175456"/>
                </a:cubicBezTo>
                <a:cubicBezTo>
                  <a:pt x="502929" y="188335"/>
                  <a:pt x="495803" y="202429"/>
                  <a:pt x="491053" y="217736"/>
                </a:cubicBezTo>
                <a:lnTo>
                  <a:pt x="489521" y="224578"/>
                </a:lnTo>
                <a:lnTo>
                  <a:pt x="492794" y="224228"/>
                </a:lnTo>
                <a:cubicBezTo>
                  <a:pt x="525732" y="224228"/>
                  <a:pt x="553813" y="236474"/>
                  <a:pt x="577038" y="260966"/>
                </a:cubicBezTo>
                <a:cubicBezTo>
                  <a:pt x="600263" y="285458"/>
                  <a:pt x="611876" y="315440"/>
                  <a:pt x="611876" y="350911"/>
                </a:cubicBezTo>
                <a:cubicBezTo>
                  <a:pt x="611876" y="387227"/>
                  <a:pt x="599841" y="418053"/>
                  <a:pt x="575772" y="443389"/>
                </a:cubicBezTo>
                <a:cubicBezTo>
                  <a:pt x="551702" y="468726"/>
                  <a:pt x="521509" y="481394"/>
                  <a:pt x="485194" y="481394"/>
                </a:cubicBezTo>
                <a:cubicBezTo>
                  <a:pt x="441277" y="481394"/>
                  <a:pt x="404328" y="464925"/>
                  <a:pt x="374346" y="431988"/>
                </a:cubicBezTo>
                <a:cubicBezTo>
                  <a:pt x="344365" y="399050"/>
                  <a:pt x="329374" y="355556"/>
                  <a:pt x="329374" y="301505"/>
                </a:cubicBezTo>
                <a:cubicBezTo>
                  <a:pt x="329374" y="230563"/>
                  <a:pt x="350699" y="169122"/>
                  <a:pt x="393349" y="117182"/>
                </a:cubicBezTo>
                <a:cubicBezTo>
                  <a:pt x="435998" y="65242"/>
                  <a:pt x="491950" y="26181"/>
                  <a:pt x="561203" y="0"/>
                </a:cubicBezTo>
                <a:close/>
                <a:moveTo>
                  <a:pt x="231829" y="0"/>
                </a:moveTo>
                <a:lnTo>
                  <a:pt x="282502" y="100080"/>
                </a:lnTo>
                <a:cubicBezTo>
                  <a:pt x="235207" y="124572"/>
                  <a:pt x="202058" y="149697"/>
                  <a:pt x="183056" y="175456"/>
                </a:cubicBezTo>
                <a:cubicBezTo>
                  <a:pt x="173555" y="188335"/>
                  <a:pt x="166429" y="202429"/>
                  <a:pt x="161678" y="217736"/>
                </a:cubicBezTo>
                <a:lnTo>
                  <a:pt x="160146" y="224578"/>
                </a:lnTo>
                <a:lnTo>
                  <a:pt x="163420" y="224228"/>
                </a:lnTo>
                <a:cubicBezTo>
                  <a:pt x="196357" y="224228"/>
                  <a:pt x="224439" y="236474"/>
                  <a:pt x="247664" y="260966"/>
                </a:cubicBezTo>
                <a:cubicBezTo>
                  <a:pt x="270889" y="285458"/>
                  <a:pt x="282501" y="315440"/>
                  <a:pt x="282502" y="350911"/>
                </a:cubicBezTo>
                <a:cubicBezTo>
                  <a:pt x="282501" y="387227"/>
                  <a:pt x="270467" y="418053"/>
                  <a:pt x="246397" y="443389"/>
                </a:cubicBezTo>
                <a:cubicBezTo>
                  <a:pt x="222327" y="468726"/>
                  <a:pt x="192135" y="481394"/>
                  <a:pt x="155819" y="481394"/>
                </a:cubicBezTo>
                <a:cubicBezTo>
                  <a:pt x="111902" y="481394"/>
                  <a:pt x="74953" y="464925"/>
                  <a:pt x="44972" y="431988"/>
                </a:cubicBezTo>
                <a:cubicBezTo>
                  <a:pt x="14990" y="399050"/>
                  <a:pt x="0" y="355556"/>
                  <a:pt x="0" y="301505"/>
                </a:cubicBezTo>
                <a:cubicBezTo>
                  <a:pt x="0" y="230563"/>
                  <a:pt x="21324" y="169122"/>
                  <a:pt x="63974" y="117182"/>
                </a:cubicBezTo>
                <a:cubicBezTo>
                  <a:pt x="106624" y="65242"/>
                  <a:pt x="162575" y="26181"/>
                  <a:pt x="231829" y="0"/>
                </a:cubicBezTo>
                <a:close/>
              </a:path>
            </a:pathLst>
          </a:custGeom>
          <a:noFill/>
          <a:ln w="25400">
            <a:solidFill>
              <a:srgbClr val="B8DEFF"/>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spcBef>
                <a:spcPts val="600"/>
              </a:spcBef>
            </a:pPr>
            <a:endParaRPr lang="en-US" sz="10000" b="1" i="0">
              <a:latin typeface="+mn-lt"/>
            </a:endParaRPr>
          </a:p>
        </p:txBody>
      </p:sp>
      <p:sp>
        <p:nvSpPr>
          <p:cNvPr id="2" name="Title 1">
            <a:extLst>
              <a:ext uri="{FF2B5EF4-FFF2-40B4-BE49-F238E27FC236}">
                <a16:creationId xmlns:a16="http://schemas.microsoft.com/office/drawing/2014/main" id="{8B478971-A225-4A64-8E00-AA9C8577611D}"/>
              </a:ext>
            </a:extLst>
          </p:cNvPr>
          <p:cNvSpPr>
            <a:spLocks noGrp="1"/>
          </p:cNvSpPr>
          <p:nvPr>
            <p:ph type="title" hasCustomPrompt="1"/>
          </p:nvPr>
        </p:nvSpPr>
        <p:spPr>
          <a:xfrm>
            <a:off x="773056" y="1009268"/>
            <a:ext cx="5718415" cy="4476115"/>
          </a:xfrm>
        </p:spPr>
        <p:txBody>
          <a:bodyPr anchor="ctr" anchorCtr="0"/>
          <a:lstStyle>
            <a:lvl1pPr marL="0" indent="0">
              <a:lnSpc>
                <a:spcPct val="100000"/>
              </a:lnSpc>
              <a:defRPr sz="2800">
                <a:latin typeface="+mj-lt"/>
              </a:defRPr>
            </a:lvl1pPr>
          </a:lstStyle>
          <a:p>
            <a:r>
              <a:rPr lang="en-US"/>
              <a:t>Quote placeholder Lorem ipsum dolor sit </a:t>
            </a:r>
            <a:r>
              <a:rPr lang="en-US" err="1"/>
              <a:t>amet</a:t>
            </a:r>
            <a:r>
              <a:rPr lang="en-US"/>
              <a:t>, </a:t>
            </a:r>
            <a:r>
              <a:rPr lang="en-US" err="1"/>
              <a:t>conse</a:t>
            </a:r>
            <a:r>
              <a:rPr lang="en-US"/>
              <a:t> </a:t>
            </a:r>
            <a:r>
              <a:rPr lang="en-US" err="1"/>
              <a:t>ctet</a:t>
            </a:r>
            <a:r>
              <a:rPr lang="en-US"/>
              <a:t> </a:t>
            </a:r>
            <a:r>
              <a:rPr lang="en-US" err="1"/>
              <a:t>ur</a:t>
            </a:r>
            <a:r>
              <a:rPr lang="en-US"/>
              <a:t> </a:t>
            </a:r>
            <a:r>
              <a:rPr lang="en-US" err="1"/>
              <a:t>adipiscing</a:t>
            </a:r>
            <a:r>
              <a:rPr lang="en-US"/>
              <a:t> </a:t>
            </a:r>
            <a:r>
              <a:rPr lang="en-US" err="1"/>
              <a:t>elit</a:t>
            </a:r>
            <a:r>
              <a:rPr lang="en-US"/>
              <a:t>. Mauris </a:t>
            </a:r>
            <a:r>
              <a:rPr lang="en-US" err="1"/>
              <a:t>accum</a:t>
            </a:r>
            <a:r>
              <a:rPr lang="en-US"/>
              <a:t> </a:t>
            </a:r>
            <a:r>
              <a:rPr lang="en-US" err="1"/>
              <a:t>san</a:t>
            </a:r>
            <a:r>
              <a:rPr lang="en-US"/>
              <a:t> </a:t>
            </a:r>
            <a:r>
              <a:rPr lang="en-US" err="1"/>
              <a:t>urna</a:t>
            </a:r>
            <a:r>
              <a:rPr lang="en-US"/>
              <a:t>. Sus </a:t>
            </a:r>
            <a:r>
              <a:rPr lang="en-US" err="1"/>
              <a:t>pendisse</a:t>
            </a:r>
            <a:r>
              <a:rPr lang="en-US"/>
              <a:t> </a:t>
            </a:r>
            <a:r>
              <a:rPr lang="en-US" err="1"/>
              <a:t>sem</a:t>
            </a:r>
            <a:r>
              <a:rPr lang="en-US"/>
              <a:t> per semper </a:t>
            </a:r>
            <a:r>
              <a:rPr lang="en-US" err="1"/>
              <a:t>commodo</a:t>
            </a:r>
            <a:r>
              <a:rPr lang="en-US"/>
              <a:t>.”</a:t>
            </a:r>
          </a:p>
        </p:txBody>
      </p:sp>
      <p:sp>
        <p:nvSpPr>
          <p:cNvPr id="3" name="Text Placeholder 2">
            <a:extLst>
              <a:ext uri="{FF2B5EF4-FFF2-40B4-BE49-F238E27FC236}">
                <a16:creationId xmlns:a16="http://schemas.microsoft.com/office/drawing/2014/main" id="{44D4D588-53FA-4557-81C5-0FF86A2FBBA3}"/>
              </a:ext>
            </a:extLst>
          </p:cNvPr>
          <p:cNvSpPr>
            <a:spLocks noGrp="1"/>
          </p:cNvSpPr>
          <p:nvPr>
            <p:ph type="body" idx="1" hasCustomPrompt="1"/>
          </p:nvPr>
        </p:nvSpPr>
        <p:spPr>
          <a:xfrm>
            <a:off x="773056" y="5641514"/>
            <a:ext cx="5718415" cy="347472"/>
          </a:xfrm>
        </p:spPr>
        <p:txBody>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attribution</a:t>
            </a:r>
          </a:p>
        </p:txBody>
      </p:sp>
      <p:sp>
        <p:nvSpPr>
          <p:cNvPr id="10" name="Picture Placeholder 9">
            <a:extLst>
              <a:ext uri="{FF2B5EF4-FFF2-40B4-BE49-F238E27FC236}">
                <a16:creationId xmlns:a16="http://schemas.microsoft.com/office/drawing/2014/main" id="{D2E7EA53-F4D0-483C-9798-E23D7CCB2A12}"/>
              </a:ext>
            </a:extLst>
          </p:cNvPr>
          <p:cNvSpPr>
            <a:spLocks noGrp="1"/>
          </p:cNvSpPr>
          <p:nvPr>
            <p:ph type="pic" sz="quarter" idx="10"/>
          </p:nvPr>
        </p:nvSpPr>
        <p:spPr>
          <a:xfrm>
            <a:off x="7043928" y="1346199"/>
            <a:ext cx="4690872" cy="4297680"/>
          </a:xfrm>
        </p:spPr>
        <p:txBody>
          <a:bodyPr/>
          <a:lstStyle>
            <a:lvl1pPr marL="0" indent="0">
              <a:buNone/>
              <a:defRPr/>
            </a:lvl1pPr>
          </a:lstStyle>
          <a:p>
            <a:r>
              <a:rPr lang="en-GB"/>
              <a:t>Click icon to add picture</a:t>
            </a:r>
            <a:endParaRPr lang="en-US"/>
          </a:p>
        </p:txBody>
      </p:sp>
    </p:spTree>
    <p:extLst>
      <p:ext uri="{BB962C8B-B14F-4D97-AF65-F5344CB8AC3E}">
        <p14:creationId xmlns:p14="http://schemas.microsoft.com/office/powerpoint/2010/main" val="38272909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C41137-E6C9-A053-8403-388C27EB8CE1}"/>
              </a:ext>
            </a:extLst>
          </p:cNvPr>
          <p:cNvSpPr txBox="1"/>
          <p:nvPr userDrawn="1"/>
        </p:nvSpPr>
        <p:spPr bwMode="ltGray">
          <a:xfrm>
            <a:off x="457200" y="1401620"/>
            <a:ext cx="1425191" cy="1121270"/>
          </a:xfrm>
          <a:custGeom>
            <a:avLst/>
            <a:gdLst/>
            <a:ahLst/>
            <a:cxnLst/>
            <a:rect l="l" t="t" r="r" b="b"/>
            <a:pathLst>
              <a:path w="611876" h="481394">
                <a:moveTo>
                  <a:pt x="561203" y="0"/>
                </a:moveTo>
                <a:lnTo>
                  <a:pt x="611876" y="100080"/>
                </a:lnTo>
                <a:cubicBezTo>
                  <a:pt x="564581" y="124572"/>
                  <a:pt x="531433" y="149697"/>
                  <a:pt x="512430" y="175456"/>
                </a:cubicBezTo>
                <a:cubicBezTo>
                  <a:pt x="502929" y="188335"/>
                  <a:pt x="495803" y="202429"/>
                  <a:pt x="491053" y="217736"/>
                </a:cubicBezTo>
                <a:lnTo>
                  <a:pt x="489521" y="224578"/>
                </a:lnTo>
                <a:lnTo>
                  <a:pt x="492794" y="224228"/>
                </a:lnTo>
                <a:cubicBezTo>
                  <a:pt x="525732" y="224228"/>
                  <a:pt x="553813" y="236474"/>
                  <a:pt x="577038" y="260966"/>
                </a:cubicBezTo>
                <a:cubicBezTo>
                  <a:pt x="600263" y="285458"/>
                  <a:pt x="611876" y="315440"/>
                  <a:pt x="611876" y="350911"/>
                </a:cubicBezTo>
                <a:cubicBezTo>
                  <a:pt x="611876" y="387227"/>
                  <a:pt x="599841" y="418053"/>
                  <a:pt x="575772" y="443389"/>
                </a:cubicBezTo>
                <a:cubicBezTo>
                  <a:pt x="551702" y="468726"/>
                  <a:pt x="521509" y="481394"/>
                  <a:pt x="485194" y="481394"/>
                </a:cubicBezTo>
                <a:cubicBezTo>
                  <a:pt x="441277" y="481394"/>
                  <a:pt x="404328" y="464925"/>
                  <a:pt x="374346" y="431988"/>
                </a:cubicBezTo>
                <a:cubicBezTo>
                  <a:pt x="344365" y="399050"/>
                  <a:pt x="329374" y="355556"/>
                  <a:pt x="329374" y="301505"/>
                </a:cubicBezTo>
                <a:cubicBezTo>
                  <a:pt x="329374" y="230563"/>
                  <a:pt x="350699" y="169122"/>
                  <a:pt x="393349" y="117182"/>
                </a:cubicBezTo>
                <a:cubicBezTo>
                  <a:pt x="435998" y="65242"/>
                  <a:pt x="491950" y="26181"/>
                  <a:pt x="561203" y="0"/>
                </a:cubicBezTo>
                <a:close/>
                <a:moveTo>
                  <a:pt x="231829" y="0"/>
                </a:moveTo>
                <a:lnTo>
                  <a:pt x="282502" y="100080"/>
                </a:lnTo>
                <a:cubicBezTo>
                  <a:pt x="235207" y="124572"/>
                  <a:pt x="202058" y="149697"/>
                  <a:pt x="183056" y="175456"/>
                </a:cubicBezTo>
                <a:cubicBezTo>
                  <a:pt x="173555" y="188335"/>
                  <a:pt x="166429" y="202429"/>
                  <a:pt x="161678" y="217736"/>
                </a:cubicBezTo>
                <a:lnTo>
                  <a:pt x="160146" y="224578"/>
                </a:lnTo>
                <a:lnTo>
                  <a:pt x="163420" y="224228"/>
                </a:lnTo>
                <a:cubicBezTo>
                  <a:pt x="196357" y="224228"/>
                  <a:pt x="224439" y="236474"/>
                  <a:pt x="247664" y="260966"/>
                </a:cubicBezTo>
                <a:cubicBezTo>
                  <a:pt x="270889" y="285458"/>
                  <a:pt x="282501" y="315440"/>
                  <a:pt x="282502" y="350911"/>
                </a:cubicBezTo>
                <a:cubicBezTo>
                  <a:pt x="282501" y="387227"/>
                  <a:pt x="270467" y="418053"/>
                  <a:pt x="246397" y="443389"/>
                </a:cubicBezTo>
                <a:cubicBezTo>
                  <a:pt x="222327" y="468726"/>
                  <a:pt x="192135" y="481394"/>
                  <a:pt x="155819" y="481394"/>
                </a:cubicBezTo>
                <a:cubicBezTo>
                  <a:pt x="111902" y="481394"/>
                  <a:pt x="74953" y="464925"/>
                  <a:pt x="44972" y="431988"/>
                </a:cubicBezTo>
                <a:cubicBezTo>
                  <a:pt x="14990" y="399050"/>
                  <a:pt x="0" y="355556"/>
                  <a:pt x="0" y="301505"/>
                </a:cubicBezTo>
                <a:cubicBezTo>
                  <a:pt x="0" y="230563"/>
                  <a:pt x="21324" y="169122"/>
                  <a:pt x="63974" y="117182"/>
                </a:cubicBezTo>
                <a:cubicBezTo>
                  <a:pt x="106624" y="65242"/>
                  <a:pt x="162575" y="26181"/>
                  <a:pt x="231829" y="0"/>
                </a:cubicBezTo>
                <a:close/>
              </a:path>
            </a:pathLst>
          </a:custGeom>
          <a:noFill/>
          <a:ln w="25400">
            <a:solidFill>
              <a:srgbClr val="B8DEFF"/>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spcBef>
                <a:spcPts val="600"/>
              </a:spcBef>
            </a:pPr>
            <a:endParaRPr lang="en-US" sz="10000" b="1" i="0">
              <a:latin typeface="+mn-lt"/>
            </a:endParaRPr>
          </a:p>
        </p:txBody>
      </p:sp>
      <p:sp>
        <p:nvSpPr>
          <p:cNvPr id="6" name="Title 1">
            <a:extLst>
              <a:ext uri="{FF2B5EF4-FFF2-40B4-BE49-F238E27FC236}">
                <a16:creationId xmlns:a16="http://schemas.microsoft.com/office/drawing/2014/main" id="{A5204F30-1AF4-524D-A3DC-8D6F9529A61E}"/>
              </a:ext>
            </a:extLst>
          </p:cNvPr>
          <p:cNvSpPr>
            <a:spLocks noGrp="1"/>
          </p:cNvSpPr>
          <p:nvPr>
            <p:ph type="title" hasCustomPrompt="1"/>
          </p:nvPr>
        </p:nvSpPr>
        <p:spPr>
          <a:xfrm>
            <a:off x="773054" y="995363"/>
            <a:ext cx="8086466" cy="4460875"/>
          </a:xfrm>
        </p:spPr>
        <p:txBody>
          <a:bodyPr anchor="ctr" anchorCtr="0"/>
          <a:lstStyle>
            <a:lvl1pPr marL="0" indent="0">
              <a:lnSpc>
                <a:spcPct val="100000"/>
              </a:lnSpc>
              <a:defRPr sz="2800"/>
            </a:lvl1pPr>
          </a:lstStyle>
          <a:p>
            <a:r>
              <a:rPr lang="en-US"/>
              <a:t>Quote placeholder Lorem ipsum dolor sit </a:t>
            </a:r>
            <a:r>
              <a:rPr lang="en-US" err="1"/>
              <a:t>amet</a:t>
            </a:r>
            <a:r>
              <a:rPr lang="en-US"/>
              <a:t>, </a:t>
            </a:r>
            <a:r>
              <a:rPr lang="en-US" err="1"/>
              <a:t>conse</a:t>
            </a:r>
            <a:r>
              <a:rPr lang="en-US"/>
              <a:t> </a:t>
            </a:r>
            <a:r>
              <a:rPr lang="en-US" err="1"/>
              <a:t>ctet</a:t>
            </a:r>
            <a:r>
              <a:rPr lang="en-US"/>
              <a:t> </a:t>
            </a:r>
            <a:r>
              <a:rPr lang="en-US" err="1"/>
              <a:t>ur</a:t>
            </a:r>
            <a:r>
              <a:rPr lang="en-US"/>
              <a:t> </a:t>
            </a:r>
            <a:r>
              <a:rPr lang="en-US" err="1"/>
              <a:t>adip</a:t>
            </a:r>
            <a:r>
              <a:rPr lang="en-US"/>
              <a:t> </a:t>
            </a:r>
            <a:r>
              <a:rPr lang="en-US" err="1"/>
              <a:t>iscing</a:t>
            </a:r>
            <a:r>
              <a:rPr lang="en-US"/>
              <a:t> </a:t>
            </a:r>
            <a:r>
              <a:rPr lang="en-US" err="1"/>
              <a:t>elit</a:t>
            </a:r>
            <a:r>
              <a:rPr lang="en-US"/>
              <a:t>. Mauris </a:t>
            </a:r>
            <a:r>
              <a:rPr lang="en-US" err="1"/>
              <a:t>accum</a:t>
            </a:r>
            <a:r>
              <a:rPr lang="en-US"/>
              <a:t> </a:t>
            </a:r>
            <a:r>
              <a:rPr lang="en-US" err="1"/>
              <a:t>san</a:t>
            </a:r>
            <a:r>
              <a:rPr lang="en-US"/>
              <a:t> </a:t>
            </a:r>
            <a:r>
              <a:rPr lang="en-US" err="1"/>
              <a:t>urna</a:t>
            </a:r>
            <a:r>
              <a:rPr lang="en-US"/>
              <a:t>. Sus </a:t>
            </a:r>
            <a:r>
              <a:rPr lang="en-US" err="1"/>
              <a:t>pendisse</a:t>
            </a:r>
            <a:r>
              <a:rPr lang="en-US"/>
              <a:t> </a:t>
            </a:r>
            <a:r>
              <a:rPr lang="en-US" err="1"/>
              <a:t>sem</a:t>
            </a:r>
            <a:r>
              <a:rPr lang="en-US"/>
              <a:t> per semper </a:t>
            </a:r>
            <a:r>
              <a:rPr lang="en-US" err="1"/>
              <a:t>commodo</a:t>
            </a:r>
            <a:r>
              <a:rPr lang="en-US"/>
              <a:t> lorem.”</a:t>
            </a:r>
          </a:p>
        </p:txBody>
      </p:sp>
      <p:sp>
        <p:nvSpPr>
          <p:cNvPr id="7" name="Text Placeholder 2">
            <a:extLst>
              <a:ext uri="{FF2B5EF4-FFF2-40B4-BE49-F238E27FC236}">
                <a16:creationId xmlns:a16="http://schemas.microsoft.com/office/drawing/2014/main" id="{D53A335E-67E2-3E4F-88F7-0D3EB5BAE73D}"/>
              </a:ext>
            </a:extLst>
          </p:cNvPr>
          <p:cNvSpPr>
            <a:spLocks noGrp="1"/>
          </p:cNvSpPr>
          <p:nvPr>
            <p:ph type="body" idx="1" hasCustomPrompt="1"/>
          </p:nvPr>
        </p:nvSpPr>
        <p:spPr>
          <a:xfrm>
            <a:off x="773056" y="5641514"/>
            <a:ext cx="8086463" cy="347472"/>
          </a:xfrm>
        </p:spPr>
        <p:txBody>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attribution</a:t>
            </a:r>
          </a:p>
        </p:txBody>
      </p:sp>
    </p:spTree>
    <p:extLst>
      <p:ext uri="{BB962C8B-B14F-4D97-AF65-F5344CB8AC3E}">
        <p14:creationId xmlns:p14="http://schemas.microsoft.com/office/powerpoint/2010/main" val="11573963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END">
    <p:bg>
      <p:bgPr>
        <a:solidFill>
          <a:srgbClr val="FFFF00"/>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65764A-9DB5-E0B9-2854-737204071442}"/>
              </a:ext>
            </a:extLst>
          </p:cNvPr>
          <p:cNvSpPr txBox="1"/>
          <p:nvPr userDrawn="1"/>
        </p:nvSpPr>
        <p:spPr>
          <a:xfrm>
            <a:off x="208972" y="189623"/>
            <a:ext cx="11774056" cy="6555641"/>
          </a:xfrm>
          <a:prstGeom prst="rect">
            <a:avLst/>
          </a:prstGeom>
          <a:noFill/>
        </p:spPr>
        <p:txBody>
          <a:bodyPr wrap="none" lIns="0" rIns="0" rtlCol="0">
            <a:spAutoFit/>
          </a:bodyPr>
          <a:lstStyle/>
          <a:p>
            <a:pPr algn="ctr">
              <a:spcBef>
                <a:spcPts val="600"/>
              </a:spcBef>
            </a:pPr>
            <a:r>
              <a:rPr lang="en-US" sz="9600">
                <a:solidFill>
                  <a:srgbClr val="00002D"/>
                </a:solidFill>
                <a:latin typeface="+mj-lt"/>
              </a:rPr>
              <a:t>Don’t use this or any </a:t>
            </a:r>
            <a:br>
              <a:rPr lang="en-US" sz="9600">
                <a:solidFill>
                  <a:srgbClr val="00002D"/>
                </a:solidFill>
                <a:latin typeface="+mj-lt"/>
              </a:rPr>
            </a:br>
            <a:r>
              <a:rPr lang="en-US" sz="9600">
                <a:solidFill>
                  <a:srgbClr val="00002D"/>
                </a:solidFill>
                <a:latin typeface="+mj-lt"/>
              </a:rPr>
              <a:t>layouts after this.</a:t>
            </a:r>
            <a:endParaRPr lang="en-US" sz="4400">
              <a:solidFill>
                <a:srgbClr val="00002D"/>
              </a:solidFill>
              <a:latin typeface="+mj-lt"/>
            </a:endParaRPr>
          </a:p>
          <a:p>
            <a:pPr algn="ctr">
              <a:spcBef>
                <a:spcPts val="3600"/>
              </a:spcBef>
            </a:pPr>
            <a:r>
              <a:rPr lang="en-US" sz="6600">
                <a:solidFill>
                  <a:srgbClr val="00002D"/>
                </a:solidFill>
              </a:rPr>
              <a:t>Choose an appropriate </a:t>
            </a:r>
            <a:br>
              <a:rPr lang="en-US" sz="6600">
                <a:solidFill>
                  <a:srgbClr val="00002D"/>
                </a:solidFill>
              </a:rPr>
            </a:br>
            <a:r>
              <a:rPr lang="en-US" sz="6600">
                <a:solidFill>
                  <a:srgbClr val="00002D"/>
                </a:solidFill>
              </a:rPr>
              <a:t>layout from </a:t>
            </a:r>
            <a:br>
              <a:rPr lang="en-US" sz="6600">
                <a:solidFill>
                  <a:srgbClr val="00002D"/>
                </a:solidFill>
              </a:rPr>
            </a:br>
            <a:r>
              <a:rPr lang="en-US" sz="6600" b="1">
                <a:solidFill>
                  <a:srgbClr val="00002D"/>
                </a:solidFill>
              </a:rPr>
              <a:t>Home</a:t>
            </a:r>
            <a:r>
              <a:rPr lang="en-US" sz="6600">
                <a:solidFill>
                  <a:srgbClr val="00002D"/>
                </a:solidFill>
              </a:rPr>
              <a:t> &gt; </a:t>
            </a:r>
            <a:r>
              <a:rPr lang="en-US" sz="6600" b="1">
                <a:solidFill>
                  <a:srgbClr val="00002D"/>
                </a:solidFill>
              </a:rPr>
              <a:t>Layout gallery</a:t>
            </a:r>
            <a:r>
              <a:rPr lang="en-US" sz="6600">
                <a:solidFill>
                  <a:srgbClr val="00002D"/>
                </a:solidFill>
              </a:rPr>
              <a:t>.</a:t>
            </a:r>
          </a:p>
        </p:txBody>
      </p:sp>
      <p:sp>
        <p:nvSpPr>
          <p:cNvPr id="4" name="TextBox 3">
            <a:extLst>
              <a:ext uri="{FF2B5EF4-FFF2-40B4-BE49-F238E27FC236}">
                <a16:creationId xmlns:a16="http://schemas.microsoft.com/office/drawing/2014/main" id="{AA84E2C2-7CA7-DF36-F217-BE27B9E2B7F8}"/>
              </a:ext>
            </a:extLst>
          </p:cNvPr>
          <p:cNvSpPr txBox="1"/>
          <p:nvPr userDrawn="1"/>
        </p:nvSpPr>
        <p:spPr>
          <a:xfrm>
            <a:off x="12346930" y="835909"/>
            <a:ext cx="2668480" cy="2539157"/>
          </a:xfrm>
          <a:prstGeom prst="rect">
            <a:avLst/>
          </a:prstGeom>
          <a:noFill/>
          <a:ln>
            <a:solidFill>
              <a:srgbClr val="707996"/>
            </a:solidFill>
          </a:ln>
        </p:spPr>
        <p:txBody>
          <a:bodyPr wrap="square" lIns="91440" rIns="91440" rtlCol="0">
            <a:spAutoFit/>
          </a:bodyPr>
          <a:lstStyle/>
          <a:p>
            <a:pPr algn="l">
              <a:spcBef>
                <a:spcPts val="600"/>
              </a:spcBef>
            </a:pPr>
            <a:r>
              <a:rPr lang="en-US" sz="1400">
                <a:solidFill>
                  <a:srgbClr val="00002D"/>
                </a:solidFill>
              </a:rPr>
              <a:t>When pasting legacy slides that doesn’t match any of the new layouts, PowerPoint adds it to the end of the layouts and prepends the layout name with a number (</a:t>
            </a:r>
            <a:r>
              <a:rPr lang="en-US" sz="1400" err="1">
                <a:solidFill>
                  <a:srgbClr val="00002D"/>
                </a:solidFill>
              </a:rPr>
              <a:t>1_Title</a:t>
            </a:r>
            <a:r>
              <a:rPr lang="en-US" sz="1400">
                <a:solidFill>
                  <a:srgbClr val="00002D"/>
                </a:solidFill>
              </a:rPr>
              <a:t> Slide, for example). </a:t>
            </a:r>
          </a:p>
          <a:p>
            <a:pPr algn="l">
              <a:spcBef>
                <a:spcPts val="600"/>
              </a:spcBef>
            </a:pPr>
            <a:r>
              <a:rPr lang="en-US" sz="1400">
                <a:solidFill>
                  <a:srgbClr val="00002D"/>
                </a:solidFill>
              </a:rPr>
              <a:t>These “orphaned” layouts should not be used, instead choose from the layouts preceding this one. </a:t>
            </a:r>
          </a:p>
        </p:txBody>
      </p:sp>
    </p:spTree>
    <p:extLst>
      <p:ext uri="{BB962C8B-B14F-4D97-AF65-F5344CB8AC3E}">
        <p14:creationId xmlns:p14="http://schemas.microsoft.com/office/powerpoint/2010/main" val="14917412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a:gsLst>
            <a:gs pos="20000">
              <a:schemeClr val="bg2"/>
            </a:gs>
            <a:gs pos="100000">
              <a:schemeClr val="accent2"/>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invGray">
          <a:xfrm>
            <a:off x="1371600" y="2149713"/>
            <a:ext cx="8426919" cy="2185214"/>
          </a:xfrm>
          <a:prstGeom prst="bracketPair">
            <a:avLst>
              <a:gd name="adj" fmla="val 0"/>
            </a:avLst>
          </a:prstGeom>
          <a:ln w="101600">
            <a:solidFill>
              <a:schemeClr val="accent3"/>
            </a:solidFill>
          </a:ln>
        </p:spPr>
        <p:txBody>
          <a:bodyPr lIns="228600" tIns="91440" rIns="182880" bIns="731520" anchor="t" anchorCtr="0">
            <a:spAutoFit/>
          </a:bodyPr>
          <a:lstStyle>
            <a:lvl1pPr algn="l">
              <a:defRPr sz="4400"/>
            </a:lvl1pPr>
          </a:lstStyle>
          <a:p>
            <a:r>
              <a:rPr lang="en-US"/>
              <a:t>Click to Add Title; 2 Lines of Copy; 60 Characters Maximum</a:t>
            </a:r>
          </a:p>
        </p:txBody>
      </p:sp>
      <p:sp>
        <p:nvSpPr>
          <p:cNvPr id="3" name="Subtitle 2"/>
          <p:cNvSpPr>
            <a:spLocks noGrp="1"/>
          </p:cNvSpPr>
          <p:nvPr>
            <p:ph type="subTitle" idx="1" hasCustomPrompt="1"/>
          </p:nvPr>
        </p:nvSpPr>
        <p:spPr>
          <a:xfrm>
            <a:off x="1371600" y="3851940"/>
            <a:ext cx="8426919" cy="276999"/>
          </a:xfrm>
        </p:spPr>
        <p:txBody>
          <a:bodyPr lIns="246888" rIns="182880">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a:t>
            </a:r>
          </a:p>
        </p:txBody>
      </p:sp>
      <p:sp>
        <p:nvSpPr>
          <p:cNvPr id="14" name="TextBox 13">
            <a:extLst>
              <a:ext uri="{FF2B5EF4-FFF2-40B4-BE49-F238E27FC236}">
                <a16:creationId xmlns:a16="http://schemas.microsoft.com/office/drawing/2014/main" id="{BB93A754-CF98-4BEB-BE89-ADF1CF77AA4F}"/>
              </a:ext>
            </a:extLst>
          </p:cNvPr>
          <p:cNvSpPr txBox="1"/>
          <p:nvPr/>
        </p:nvSpPr>
        <p:spPr>
          <a:xfrm>
            <a:off x="685800" y="6199632"/>
            <a:ext cx="7095744" cy="323165"/>
          </a:xfrm>
          <a:prstGeom prst="rect">
            <a:avLst/>
          </a:prstGeom>
          <a:noFill/>
        </p:spPr>
        <p:txBody>
          <a:bodyPr wrap="square" lIns="0" tIns="0" rIns="0" bIns="0" rtlCol="0" anchor="b" anchorCtr="0">
            <a:spAutoFit/>
          </a:bodyPr>
          <a:lstStyle/>
          <a:p>
            <a:r>
              <a:rPr lang="en-US" sz="700"/>
              <a:t>© 2026 Gartner, Inc. and/or its affiliates. All rights reserved. Gartner is a registered trademark of Gartner, Inc. or its affiliates. This presentation, including all supporting materials, </a:t>
            </a:r>
            <a:br>
              <a:rPr lang="en-US" sz="700"/>
            </a:br>
            <a:r>
              <a:rPr lang="en-US" sz="70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27" name="Picture 26">
            <a:extLst>
              <a:ext uri="{FF2B5EF4-FFF2-40B4-BE49-F238E27FC236}">
                <a16:creationId xmlns:a16="http://schemas.microsoft.com/office/drawing/2014/main" id="{E77AE7DB-FD48-4294-BD87-EA8DA4C9EC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685800"/>
            <a:ext cx="1737435" cy="395448"/>
          </a:xfrm>
          <a:prstGeom prst="rect">
            <a:avLst/>
          </a:prstGeom>
        </p:spPr>
      </p:pic>
    </p:spTree>
    <p:extLst>
      <p:ext uri="{BB962C8B-B14F-4D97-AF65-F5344CB8AC3E}">
        <p14:creationId xmlns:p14="http://schemas.microsoft.com/office/powerpoint/2010/main" val="16377134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864"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 preserve="1">
  <p:cSld name="Title Slide 2">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1371600" y="2149713"/>
            <a:ext cx="8426919" cy="2185214"/>
          </a:xfrm>
          <a:prstGeom prst="bracketPair">
            <a:avLst>
              <a:gd name="adj" fmla="val 0"/>
            </a:avLst>
          </a:prstGeom>
          <a:ln w="114300">
            <a:solidFill>
              <a:schemeClr val="accent3"/>
            </a:solidFill>
          </a:ln>
        </p:spPr>
        <p:txBody>
          <a:bodyPr lIns="228600" tIns="91440" rIns="182880" bIns="731520" anchor="t" anchorCtr="0">
            <a:spAutoFit/>
          </a:bodyPr>
          <a:lstStyle>
            <a:lvl1pPr algn="l">
              <a:defRPr sz="4400"/>
            </a:lvl1pPr>
          </a:lstStyle>
          <a:p>
            <a:r>
              <a:rPr lang="en-US"/>
              <a:t>Click to Add Title; 2 Lines of Copy; 60 Characters Maximum</a:t>
            </a:r>
          </a:p>
        </p:txBody>
      </p:sp>
      <p:sp>
        <p:nvSpPr>
          <p:cNvPr id="14" name="TextBox 13">
            <a:extLst>
              <a:ext uri="{FF2B5EF4-FFF2-40B4-BE49-F238E27FC236}">
                <a16:creationId xmlns:a16="http://schemas.microsoft.com/office/drawing/2014/main" id="{BB93A754-CF98-4BEB-BE89-ADF1CF77AA4F}"/>
              </a:ext>
            </a:extLst>
          </p:cNvPr>
          <p:cNvSpPr txBox="1"/>
          <p:nvPr/>
        </p:nvSpPr>
        <p:spPr>
          <a:xfrm>
            <a:off x="685800" y="6199632"/>
            <a:ext cx="7095744" cy="323165"/>
          </a:xfrm>
          <a:prstGeom prst="rect">
            <a:avLst/>
          </a:prstGeom>
          <a:noFill/>
        </p:spPr>
        <p:txBody>
          <a:bodyPr wrap="square" lIns="0" tIns="0" rIns="0" bIns="0" rtlCol="0" anchor="b" anchorCtr="0">
            <a:spAutoFit/>
          </a:bodyPr>
          <a:lstStyle/>
          <a:p>
            <a:r>
              <a:rPr lang="en-US" sz="700"/>
              <a:t>© 2026 Gartner, Inc. and/or its affiliates. All rights reserved. Gartner is a registered trademark of Gartner, Inc. or its affiliates. This presentation, including all supporting materials, </a:t>
            </a:r>
            <a:br>
              <a:rPr lang="en-US" sz="700"/>
            </a:br>
            <a:r>
              <a:rPr lang="en-US" sz="70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8" name="Picture 7">
            <a:extLst>
              <a:ext uri="{FF2B5EF4-FFF2-40B4-BE49-F238E27FC236}">
                <a16:creationId xmlns:a16="http://schemas.microsoft.com/office/drawing/2014/main" id="{4B98EA9B-8D5B-4923-90F5-A4CDF4762E56}"/>
              </a:ext>
            </a:extLst>
          </p:cNvPr>
          <p:cNvPicPr>
            <a:picLocks noChangeAspect="1"/>
          </p:cNvPicPr>
          <p:nvPr userDrawn="1"/>
        </p:nvPicPr>
        <p:blipFill>
          <a:blip r:embed="rId2">
            <a:extLst>
              <a:ext uri="{28A0092B-C50C-407E-A947-70E740481C1C}">
                <a14:useLocalDpi xmlns:a14="http://schemas.microsoft.com/office/drawing/2010/main" val="0"/>
              </a:ext>
            </a:extLst>
          </a:blip>
          <a:srcRect t="217" b="217"/>
          <a:stretch/>
        </p:blipFill>
        <p:spPr>
          <a:xfrm>
            <a:off x="685800" y="685800"/>
            <a:ext cx="1736281" cy="395448"/>
          </a:xfrm>
          <a:prstGeom prst="rect">
            <a:avLst/>
          </a:prstGeom>
        </p:spPr>
      </p:pic>
      <p:sp>
        <p:nvSpPr>
          <p:cNvPr id="3" name="Subtitle 2"/>
          <p:cNvSpPr>
            <a:spLocks noGrp="1"/>
          </p:cNvSpPr>
          <p:nvPr>
            <p:ph type="subTitle" idx="1" hasCustomPrompt="1"/>
          </p:nvPr>
        </p:nvSpPr>
        <p:spPr>
          <a:xfrm>
            <a:off x="1371600" y="3851940"/>
            <a:ext cx="8426919" cy="276999"/>
          </a:xfrm>
        </p:spPr>
        <p:txBody>
          <a:bodyPr lIns="246888" rIns="182880">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a:t>
            </a:r>
          </a:p>
        </p:txBody>
      </p:sp>
    </p:spTree>
    <p:extLst>
      <p:ext uri="{BB962C8B-B14F-4D97-AF65-F5344CB8AC3E}">
        <p14:creationId xmlns:p14="http://schemas.microsoft.com/office/powerpoint/2010/main" val="8138468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864"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29728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5DE8436-F632-4929-A0C4-8AB62F36165A}"/>
              </a:ext>
            </a:extLst>
          </p:cNvPr>
          <p:cNvSpPr>
            <a:spLocks noGrp="1"/>
          </p:cNvSpPr>
          <p:nvPr>
            <p:ph type="title" hasCustomPrompt="1"/>
          </p:nvPr>
        </p:nvSpPr>
        <p:spPr/>
        <p:txBody>
          <a:bodyPr/>
          <a:lstStyle/>
          <a:p>
            <a:r>
              <a:rPr lang="en-US"/>
              <a:t>Click to edit title</a:t>
            </a:r>
          </a:p>
        </p:txBody>
      </p:sp>
    </p:spTree>
    <p:extLst>
      <p:ext uri="{BB962C8B-B14F-4D97-AF65-F5344CB8AC3E}">
        <p14:creationId xmlns:p14="http://schemas.microsoft.com/office/powerpoint/2010/main" val="8004700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4EDECE2-F9F2-4351-A826-ACD78703CADF}"/>
              </a:ext>
            </a:extLst>
          </p:cNvPr>
          <p:cNvSpPr>
            <a:spLocks noGrp="1"/>
          </p:cNvSpPr>
          <p:nvPr>
            <p:ph type="title" hasCustomPrompt="1"/>
          </p:nvPr>
        </p:nvSpPr>
        <p:spPr/>
        <p:txBody>
          <a:bodyPr/>
          <a:lstStyle/>
          <a:p>
            <a:r>
              <a:rPr lang="en-US"/>
              <a:t>Click to edit title</a:t>
            </a:r>
          </a:p>
        </p:txBody>
      </p:sp>
      <p:sp>
        <p:nvSpPr>
          <p:cNvPr id="3" name="Content Placeholder 2"/>
          <p:cNvSpPr>
            <a:spLocks noGrp="1"/>
          </p:cNvSpPr>
          <p:nvPr>
            <p:ph idx="1" hasCustomPrompt="1"/>
          </p:nvPr>
        </p:nvSpPr>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538866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wo column graphics righ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491893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6236208"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247733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Three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4425696"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8394192"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822648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hree column shade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bwMode="ltGray">
          <a:xfrm>
            <a:off x="457200" y="1527048"/>
            <a:ext cx="3337560" cy="4462272"/>
          </a:xfrm>
          <a:solidFill>
            <a:srgbClr val="1A3E78"/>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bwMode="ltGray">
          <a:xfrm>
            <a:off x="4425696" y="1527048"/>
            <a:ext cx="3337560" cy="4462272"/>
          </a:xfrm>
          <a:solidFill>
            <a:srgbClr val="1A3E78"/>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bwMode="ltGray">
          <a:xfrm>
            <a:off x="8394192" y="1527048"/>
            <a:ext cx="3337560" cy="4462272"/>
          </a:xfrm>
          <a:solidFill>
            <a:srgbClr val="1A3E78"/>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066444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Four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61950"/>
            <a:ext cx="11274552" cy="451231"/>
          </a:xfrm>
        </p:spPr>
        <p:txBody>
          <a:bodyPr/>
          <a:lstStyle/>
          <a:p>
            <a:r>
              <a:rPr lang="en-US"/>
              <a:t>Click to edit title</a:t>
            </a:r>
          </a:p>
        </p:txBody>
      </p:sp>
      <p:sp>
        <p:nvSpPr>
          <p:cNvPr id="3" name="Content Placeholder 2"/>
          <p:cNvSpPr>
            <a:spLocks noGrp="1"/>
          </p:cNvSpPr>
          <p:nvPr>
            <p:ph sz="half" idx="1" hasCustomPrompt="1"/>
          </p:nvPr>
        </p:nvSpPr>
        <p:spPr>
          <a:xfrm>
            <a:off x="457200"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3348482"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6239764"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B226B5DF-DF35-419C-8251-4F81A740D77A}"/>
              </a:ext>
            </a:extLst>
          </p:cNvPr>
          <p:cNvSpPr>
            <a:spLocks noGrp="1"/>
          </p:cNvSpPr>
          <p:nvPr>
            <p:ph sz="half" idx="11" hasCustomPrompt="1"/>
          </p:nvPr>
        </p:nvSpPr>
        <p:spPr>
          <a:xfrm>
            <a:off x="9131046"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156179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Four column shade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61950"/>
            <a:ext cx="11274552" cy="451231"/>
          </a:xfrm>
        </p:spPr>
        <p:txBody>
          <a:bodyPr/>
          <a:lstStyle/>
          <a:p>
            <a:r>
              <a:rPr lang="en-US"/>
              <a:t>Click to edit title</a:t>
            </a:r>
          </a:p>
        </p:txBody>
      </p:sp>
      <p:sp>
        <p:nvSpPr>
          <p:cNvPr id="3" name="Content Placeholder 2"/>
          <p:cNvSpPr>
            <a:spLocks noGrp="1"/>
          </p:cNvSpPr>
          <p:nvPr>
            <p:ph sz="half" idx="1" hasCustomPrompt="1"/>
          </p:nvPr>
        </p:nvSpPr>
        <p:spPr bwMode="ltGray">
          <a:xfrm>
            <a:off x="457200" y="1527048"/>
            <a:ext cx="2600706" cy="4462272"/>
          </a:xfrm>
          <a:solidFill>
            <a:srgbClr val="1A3E78"/>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bwMode="ltGray">
          <a:xfrm>
            <a:off x="3348482" y="1527048"/>
            <a:ext cx="2600706" cy="4462272"/>
          </a:xfrm>
          <a:solidFill>
            <a:srgbClr val="1A3E78"/>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bwMode="ltGray">
          <a:xfrm>
            <a:off x="6239764" y="1527048"/>
            <a:ext cx="2600706" cy="4462272"/>
          </a:xfrm>
          <a:solidFill>
            <a:srgbClr val="1A3E78"/>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F44528D9-D4DF-4ABD-97AD-FCFEE24F7C53}"/>
              </a:ext>
            </a:extLst>
          </p:cNvPr>
          <p:cNvSpPr>
            <a:spLocks noGrp="1"/>
          </p:cNvSpPr>
          <p:nvPr>
            <p:ph sz="half" idx="11" hasCustomPrompt="1"/>
          </p:nvPr>
        </p:nvSpPr>
        <p:spPr bwMode="ltGray">
          <a:xfrm>
            <a:off x="9131046" y="1527048"/>
            <a:ext cx="2600706" cy="4462272"/>
          </a:xfrm>
          <a:solidFill>
            <a:srgbClr val="1A3E78"/>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286495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BAA7-7402-7653-A21A-2C33B981B892}"/>
              </a:ext>
            </a:extLst>
          </p:cNvPr>
          <p:cNvSpPr>
            <a:spLocks noGrp="1"/>
          </p:cNvSpPr>
          <p:nvPr>
            <p:ph type="title" hasCustomPrompt="1"/>
          </p:nvPr>
        </p:nvSpPr>
        <p:spPr bwMode="gray">
          <a:xfrm>
            <a:off x="1365814" y="1590378"/>
            <a:ext cx="5408210" cy="2031326"/>
          </a:xfrm>
          <a:prstGeom prst="bracketPair">
            <a:avLst>
              <a:gd name="adj" fmla="val 0"/>
            </a:avLst>
          </a:prstGeom>
          <a:ln w="101600">
            <a:solidFill>
              <a:schemeClr val="accent3"/>
            </a:solidFill>
          </a:ln>
        </p:spPr>
        <p:txBody>
          <a:bodyPr wrap="square" lIns="228600" rIns="182880" anchor="ctr" anchorCtr="0">
            <a:spAutoFit/>
          </a:bodyPr>
          <a:lstStyle>
            <a:lvl1pPr>
              <a:defRPr sz="4400"/>
            </a:lvl1pPr>
          </a:lstStyle>
          <a:p>
            <a:r>
              <a:rPr lang="en-US"/>
              <a:t>Divider Slide</a:t>
            </a:r>
            <a:br>
              <a:rPr lang="en-US"/>
            </a:br>
            <a:r>
              <a:rPr lang="en-US"/>
              <a:t>30 Characters Max.</a:t>
            </a:r>
            <a:br>
              <a:rPr lang="en-US"/>
            </a:br>
            <a:r>
              <a:rPr lang="en-US"/>
              <a:t>Lorem Ipsum</a:t>
            </a:r>
          </a:p>
        </p:txBody>
      </p:sp>
    </p:spTree>
    <p:extLst>
      <p:ext uri="{BB962C8B-B14F-4D97-AF65-F5344CB8AC3E}">
        <p14:creationId xmlns:p14="http://schemas.microsoft.com/office/powerpoint/2010/main" val="18322287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Left Rai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1F3F689-0EFE-267D-1F38-8A7BB7CF62AF}"/>
              </a:ext>
            </a:extLst>
          </p:cNvPr>
          <p:cNvSpPr/>
          <p:nvPr userDrawn="1"/>
        </p:nvSpPr>
        <p:spPr bwMode="invGray">
          <a:xfrm>
            <a:off x="-1" y="0"/>
            <a:ext cx="4050792" cy="6858000"/>
          </a:xfrm>
          <a:prstGeom prst="rect">
            <a:avLst/>
          </a:prstGeom>
          <a:gradFill>
            <a:gsLst>
              <a:gs pos="0">
                <a:schemeClr val="accent2"/>
              </a:gs>
              <a:gs pos="80000">
                <a:schemeClr val="accent1"/>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D9D03778-9F51-35F8-9B55-7FB58E49C224}"/>
              </a:ext>
            </a:extLst>
          </p:cNvPr>
          <p:cNvSpPr>
            <a:spLocks noGrp="1"/>
          </p:cNvSpPr>
          <p:nvPr>
            <p:ph type="title"/>
          </p:nvPr>
        </p:nvSpPr>
        <p:spPr>
          <a:xfrm>
            <a:off x="457200" y="361950"/>
            <a:ext cx="3114675" cy="2051312"/>
          </a:xfrm>
        </p:spPr>
        <p:txBody>
          <a:bodyPr/>
          <a:lstStyle>
            <a:lvl1pPr>
              <a:defRPr>
                <a:solidFill>
                  <a:srgbClr val="FFFFFF"/>
                </a:solidFill>
              </a:defRPr>
            </a:lvl1pPr>
          </a:lstStyle>
          <a:p>
            <a:r>
              <a:rPr lang="en-US"/>
              <a:t>Click to edit Master title style</a:t>
            </a:r>
          </a:p>
        </p:txBody>
      </p:sp>
      <p:sp>
        <p:nvSpPr>
          <p:cNvPr id="4" name="TextBox 3">
            <a:extLst>
              <a:ext uri="{FF2B5EF4-FFF2-40B4-BE49-F238E27FC236}">
                <a16:creationId xmlns:a16="http://schemas.microsoft.com/office/drawing/2014/main" id="{64B9B515-6C0A-2DCC-BDD9-2AEDE0D6D5DB}"/>
              </a:ext>
            </a:extLst>
          </p:cNvPr>
          <p:cNvSpPr txBox="1"/>
          <p:nvPr userDrawn="1"/>
        </p:nvSpPr>
        <p:spPr>
          <a:xfrm>
            <a:off x="457200" y="6393216"/>
            <a:ext cx="3566160" cy="153888"/>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rgbClr val="FFFFFF"/>
                </a:solidFill>
              </a:rPr>
              <a:t>‹#›</a:t>
            </a:fld>
            <a:r>
              <a:rPr lang="en-US" sz="700" b="0">
                <a:solidFill>
                  <a:srgbClr val="FFFFFF"/>
                </a:solidFill>
              </a:rPr>
              <a:t>	RESTRICTED © 2026 Gartner, Inc. and/or its affiliates. All rights reserved.</a:t>
            </a:r>
          </a:p>
        </p:txBody>
      </p:sp>
      <p:sp>
        <p:nvSpPr>
          <p:cNvPr id="6" name="Content Placeholder 5">
            <a:extLst>
              <a:ext uri="{FF2B5EF4-FFF2-40B4-BE49-F238E27FC236}">
                <a16:creationId xmlns:a16="http://schemas.microsoft.com/office/drawing/2014/main" id="{D3AB07D3-66B0-EF24-E15D-D61DB03311CA}"/>
              </a:ext>
            </a:extLst>
          </p:cNvPr>
          <p:cNvSpPr>
            <a:spLocks noGrp="1"/>
          </p:cNvSpPr>
          <p:nvPr>
            <p:ph sz="quarter" idx="10"/>
          </p:nvPr>
        </p:nvSpPr>
        <p:spPr>
          <a:xfrm>
            <a:off x="4478482" y="1346200"/>
            <a:ext cx="7256318" cy="4504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806354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1C83FFE-85A9-5C0D-5033-94BE254D3694}"/>
              </a:ext>
            </a:extLst>
          </p:cNvPr>
          <p:cNvSpPr txBox="1"/>
          <p:nvPr userDrawn="1"/>
        </p:nvSpPr>
        <p:spPr bwMode="ltGray">
          <a:xfrm>
            <a:off x="457200" y="1401620"/>
            <a:ext cx="1425191" cy="1121270"/>
          </a:xfrm>
          <a:custGeom>
            <a:avLst/>
            <a:gdLst/>
            <a:ahLst/>
            <a:cxnLst/>
            <a:rect l="l" t="t" r="r" b="b"/>
            <a:pathLst>
              <a:path w="611876" h="481394">
                <a:moveTo>
                  <a:pt x="561203" y="0"/>
                </a:moveTo>
                <a:lnTo>
                  <a:pt x="611876" y="100080"/>
                </a:lnTo>
                <a:cubicBezTo>
                  <a:pt x="564581" y="124572"/>
                  <a:pt x="531433" y="149697"/>
                  <a:pt x="512430" y="175456"/>
                </a:cubicBezTo>
                <a:cubicBezTo>
                  <a:pt x="502929" y="188335"/>
                  <a:pt x="495803" y="202429"/>
                  <a:pt x="491053" y="217736"/>
                </a:cubicBezTo>
                <a:lnTo>
                  <a:pt x="489521" y="224578"/>
                </a:lnTo>
                <a:lnTo>
                  <a:pt x="492794" y="224228"/>
                </a:lnTo>
                <a:cubicBezTo>
                  <a:pt x="525732" y="224228"/>
                  <a:pt x="553813" y="236474"/>
                  <a:pt x="577038" y="260966"/>
                </a:cubicBezTo>
                <a:cubicBezTo>
                  <a:pt x="600263" y="285458"/>
                  <a:pt x="611876" y="315440"/>
                  <a:pt x="611876" y="350911"/>
                </a:cubicBezTo>
                <a:cubicBezTo>
                  <a:pt x="611876" y="387227"/>
                  <a:pt x="599841" y="418053"/>
                  <a:pt x="575772" y="443389"/>
                </a:cubicBezTo>
                <a:cubicBezTo>
                  <a:pt x="551702" y="468726"/>
                  <a:pt x="521509" y="481394"/>
                  <a:pt x="485194" y="481394"/>
                </a:cubicBezTo>
                <a:cubicBezTo>
                  <a:pt x="441277" y="481394"/>
                  <a:pt x="404328" y="464925"/>
                  <a:pt x="374346" y="431988"/>
                </a:cubicBezTo>
                <a:cubicBezTo>
                  <a:pt x="344365" y="399050"/>
                  <a:pt x="329374" y="355556"/>
                  <a:pt x="329374" y="301505"/>
                </a:cubicBezTo>
                <a:cubicBezTo>
                  <a:pt x="329374" y="230563"/>
                  <a:pt x="350699" y="169122"/>
                  <a:pt x="393349" y="117182"/>
                </a:cubicBezTo>
                <a:cubicBezTo>
                  <a:pt x="435998" y="65242"/>
                  <a:pt x="491950" y="26181"/>
                  <a:pt x="561203" y="0"/>
                </a:cubicBezTo>
                <a:close/>
                <a:moveTo>
                  <a:pt x="231829" y="0"/>
                </a:moveTo>
                <a:lnTo>
                  <a:pt x="282502" y="100080"/>
                </a:lnTo>
                <a:cubicBezTo>
                  <a:pt x="235207" y="124572"/>
                  <a:pt x="202058" y="149697"/>
                  <a:pt x="183056" y="175456"/>
                </a:cubicBezTo>
                <a:cubicBezTo>
                  <a:pt x="173555" y="188335"/>
                  <a:pt x="166429" y="202429"/>
                  <a:pt x="161678" y="217736"/>
                </a:cubicBezTo>
                <a:lnTo>
                  <a:pt x="160146" y="224578"/>
                </a:lnTo>
                <a:lnTo>
                  <a:pt x="163420" y="224228"/>
                </a:lnTo>
                <a:cubicBezTo>
                  <a:pt x="196357" y="224228"/>
                  <a:pt x="224439" y="236474"/>
                  <a:pt x="247664" y="260966"/>
                </a:cubicBezTo>
                <a:cubicBezTo>
                  <a:pt x="270889" y="285458"/>
                  <a:pt x="282501" y="315440"/>
                  <a:pt x="282502" y="350911"/>
                </a:cubicBezTo>
                <a:cubicBezTo>
                  <a:pt x="282501" y="387227"/>
                  <a:pt x="270467" y="418053"/>
                  <a:pt x="246397" y="443389"/>
                </a:cubicBezTo>
                <a:cubicBezTo>
                  <a:pt x="222327" y="468726"/>
                  <a:pt x="192135" y="481394"/>
                  <a:pt x="155819" y="481394"/>
                </a:cubicBezTo>
                <a:cubicBezTo>
                  <a:pt x="111902" y="481394"/>
                  <a:pt x="74953" y="464925"/>
                  <a:pt x="44972" y="431988"/>
                </a:cubicBezTo>
                <a:cubicBezTo>
                  <a:pt x="14990" y="399050"/>
                  <a:pt x="0" y="355556"/>
                  <a:pt x="0" y="301505"/>
                </a:cubicBezTo>
                <a:cubicBezTo>
                  <a:pt x="0" y="230563"/>
                  <a:pt x="21324" y="169122"/>
                  <a:pt x="63974" y="117182"/>
                </a:cubicBezTo>
                <a:cubicBezTo>
                  <a:pt x="106624" y="65242"/>
                  <a:pt x="162575" y="26181"/>
                  <a:pt x="231829" y="0"/>
                </a:cubicBezTo>
                <a:close/>
              </a:path>
            </a:pathLst>
          </a:custGeom>
          <a:noFill/>
          <a:ln w="25400">
            <a:solidFill>
              <a:schemeClr val="accent2"/>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spcBef>
                <a:spcPts val="600"/>
              </a:spcBef>
            </a:pPr>
            <a:endParaRPr lang="en-US" sz="10000" b="1" i="0">
              <a:latin typeface="+mn-lt"/>
            </a:endParaRPr>
          </a:p>
        </p:txBody>
      </p:sp>
      <p:sp>
        <p:nvSpPr>
          <p:cNvPr id="2" name="Title 1">
            <a:extLst>
              <a:ext uri="{FF2B5EF4-FFF2-40B4-BE49-F238E27FC236}">
                <a16:creationId xmlns:a16="http://schemas.microsoft.com/office/drawing/2014/main" id="{8B478971-A225-4A64-8E00-AA9C8577611D}"/>
              </a:ext>
            </a:extLst>
          </p:cNvPr>
          <p:cNvSpPr>
            <a:spLocks noGrp="1"/>
          </p:cNvSpPr>
          <p:nvPr>
            <p:ph type="title" hasCustomPrompt="1"/>
          </p:nvPr>
        </p:nvSpPr>
        <p:spPr>
          <a:xfrm>
            <a:off x="773056" y="1009268"/>
            <a:ext cx="5718415" cy="4476115"/>
          </a:xfrm>
        </p:spPr>
        <p:txBody>
          <a:bodyPr anchor="ctr" anchorCtr="0"/>
          <a:lstStyle>
            <a:lvl1pPr marL="0" indent="0">
              <a:lnSpc>
                <a:spcPct val="100000"/>
              </a:lnSpc>
              <a:defRPr sz="2800">
                <a:latin typeface="+mj-lt"/>
              </a:defRPr>
            </a:lvl1pPr>
          </a:lstStyle>
          <a:p>
            <a:r>
              <a:rPr lang="en-US"/>
              <a:t>Quote placeholder Lorem ipsum dolor sit </a:t>
            </a:r>
            <a:r>
              <a:rPr lang="en-US" err="1"/>
              <a:t>amet</a:t>
            </a:r>
            <a:r>
              <a:rPr lang="en-US"/>
              <a:t>, </a:t>
            </a:r>
            <a:r>
              <a:rPr lang="en-US" err="1"/>
              <a:t>conse</a:t>
            </a:r>
            <a:r>
              <a:rPr lang="en-US"/>
              <a:t> </a:t>
            </a:r>
            <a:r>
              <a:rPr lang="en-US" err="1"/>
              <a:t>ctet</a:t>
            </a:r>
            <a:r>
              <a:rPr lang="en-US"/>
              <a:t> </a:t>
            </a:r>
            <a:r>
              <a:rPr lang="en-US" err="1"/>
              <a:t>ur</a:t>
            </a:r>
            <a:r>
              <a:rPr lang="en-US"/>
              <a:t> </a:t>
            </a:r>
            <a:r>
              <a:rPr lang="en-US" err="1"/>
              <a:t>adipiscing</a:t>
            </a:r>
            <a:r>
              <a:rPr lang="en-US"/>
              <a:t> </a:t>
            </a:r>
            <a:r>
              <a:rPr lang="en-US" err="1"/>
              <a:t>elit</a:t>
            </a:r>
            <a:r>
              <a:rPr lang="en-US"/>
              <a:t>. Mauris </a:t>
            </a:r>
            <a:r>
              <a:rPr lang="en-US" err="1"/>
              <a:t>accum</a:t>
            </a:r>
            <a:r>
              <a:rPr lang="en-US"/>
              <a:t> </a:t>
            </a:r>
            <a:r>
              <a:rPr lang="en-US" err="1"/>
              <a:t>san</a:t>
            </a:r>
            <a:r>
              <a:rPr lang="en-US"/>
              <a:t> </a:t>
            </a:r>
            <a:r>
              <a:rPr lang="en-US" err="1"/>
              <a:t>urna</a:t>
            </a:r>
            <a:r>
              <a:rPr lang="en-US"/>
              <a:t>. Sus </a:t>
            </a:r>
            <a:r>
              <a:rPr lang="en-US" err="1"/>
              <a:t>pendisse</a:t>
            </a:r>
            <a:r>
              <a:rPr lang="en-US"/>
              <a:t> </a:t>
            </a:r>
            <a:r>
              <a:rPr lang="en-US" err="1"/>
              <a:t>sem</a:t>
            </a:r>
            <a:r>
              <a:rPr lang="en-US"/>
              <a:t> per semper </a:t>
            </a:r>
            <a:r>
              <a:rPr lang="en-US" err="1"/>
              <a:t>commodo</a:t>
            </a:r>
            <a:r>
              <a:rPr lang="en-US"/>
              <a:t>.”</a:t>
            </a:r>
          </a:p>
        </p:txBody>
      </p:sp>
      <p:sp>
        <p:nvSpPr>
          <p:cNvPr id="3" name="Text Placeholder 2">
            <a:extLst>
              <a:ext uri="{FF2B5EF4-FFF2-40B4-BE49-F238E27FC236}">
                <a16:creationId xmlns:a16="http://schemas.microsoft.com/office/drawing/2014/main" id="{44D4D588-53FA-4557-81C5-0FF86A2FBBA3}"/>
              </a:ext>
            </a:extLst>
          </p:cNvPr>
          <p:cNvSpPr>
            <a:spLocks noGrp="1"/>
          </p:cNvSpPr>
          <p:nvPr>
            <p:ph type="body" idx="1" hasCustomPrompt="1"/>
          </p:nvPr>
        </p:nvSpPr>
        <p:spPr>
          <a:xfrm>
            <a:off x="773056" y="5641514"/>
            <a:ext cx="5718415" cy="347472"/>
          </a:xfrm>
        </p:spPr>
        <p:txBody>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attribution</a:t>
            </a:r>
          </a:p>
        </p:txBody>
      </p:sp>
      <p:sp>
        <p:nvSpPr>
          <p:cNvPr id="10" name="Picture Placeholder 9">
            <a:extLst>
              <a:ext uri="{FF2B5EF4-FFF2-40B4-BE49-F238E27FC236}">
                <a16:creationId xmlns:a16="http://schemas.microsoft.com/office/drawing/2014/main" id="{D2E7EA53-F4D0-483C-9798-E23D7CCB2A12}"/>
              </a:ext>
            </a:extLst>
          </p:cNvPr>
          <p:cNvSpPr>
            <a:spLocks noGrp="1"/>
          </p:cNvSpPr>
          <p:nvPr>
            <p:ph type="pic" sz="quarter" idx="10"/>
          </p:nvPr>
        </p:nvSpPr>
        <p:spPr>
          <a:xfrm>
            <a:off x="7043928" y="1346199"/>
            <a:ext cx="4690872" cy="4297680"/>
          </a:xfrm>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9903422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C41137-E6C9-A053-8403-388C27EB8CE1}"/>
              </a:ext>
            </a:extLst>
          </p:cNvPr>
          <p:cNvSpPr txBox="1"/>
          <p:nvPr userDrawn="1"/>
        </p:nvSpPr>
        <p:spPr bwMode="ltGray">
          <a:xfrm>
            <a:off x="457200" y="1401620"/>
            <a:ext cx="1425191" cy="1121270"/>
          </a:xfrm>
          <a:custGeom>
            <a:avLst/>
            <a:gdLst/>
            <a:ahLst/>
            <a:cxnLst/>
            <a:rect l="l" t="t" r="r" b="b"/>
            <a:pathLst>
              <a:path w="611876" h="481394">
                <a:moveTo>
                  <a:pt x="561203" y="0"/>
                </a:moveTo>
                <a:lnTo>
                  <a:pt x="611876" y="100080"/>
                </a:lnTo>
                <a:cubicBezTo>
                  <a:pt x="564581" y="124572"/>
                  <a:pt x="531433" y="149697"/>
                  <a:pt x="512430" y="175456"/>
                </a:cubicBezTo>
                <a:cubicBezTo>
                  <a:pt x="502929" y="188335"/>
                  <a:pt x="495803" y="202429"/>
                  <a:pt x="491053" y="217736"/>
                </a:cubicBezTo>
                <a:lnTo>
                  <a:pt x="489521" y="224578"/>
                </a:lnTo>
                <a:lnTo>
                  <a:pt x="492794" y="224228"/>
                </a:lnTo>
                <a:cubicBezTo>
                  <a:pt x="525732" y="224228"/>
                  <a:pt x="553813" y="236474"/>
                  <a:pt x="577038" y="260966"/>
                </a:cubicBezTo>
                <a:cubicBezTo>
                  <a:pt x="600263" y="285458"/>
                  <a:pt x="611876" y="315440"/>
                  <a:pt x="611876" y="350911"/>
                </a:cubicBezTo>
                <a:cubicBezTo>
                  <a:pt x="611876" y="387227"/>
                  <a:pt x="599841" y="418053"/>
                  <a:pt x="575772" y="443389"/>
                </a:cubicBezTo>
                <a:cubicBezTo>
                  <a:pt x="551702" y="468726"/>
                  <a:pt x="521509" y="481394"/>
                  <a:pt x="485194" y="481394"/>
                </a:cubicBezTo>
                <a:cubicBezTo>
                  <a:pt x="441277" y="481394"/>
                  <a:pt x="404328" y="464925"/>
                  <a:pt x="374346" y="431988"/>
                </a:cubicBezTo>
                <a:cubicBezTo>
                  <a:pt x="344365" y="399050"/>
                  <a:pt x="329374" y="355556"/>
                  <a:pt x="329374" y="301505"/>
                </a:cubicBezTo>
                <a:cubicBezTo>
                  <a:pt x="329374" y="230563"/>
                  <a:pt x="350699" y="169122"/>
                  <a:pt x="393349" y="117182"/>
                </a:cubicBezTo>
                <a:cubicBezTo>
                  <a:pt x="435998" y="65242"/>
                  <a:pt x="491950" y="26181"/>
                  <a:pt x="561203" y="0"/>
                </a:cubicBezTo>
                <a:close/>
                <a:moveTo>
                  <a:pt x="231829" y="0"/>
                </a:moveTo>
                <a:lnTo>
                  <a:pt x="282502" y="100080"/>
                </a:lnTo>
                <a:cubicBezTo>
                  <a:pt x="235207" y="124572"/>
                  <a:pt x="202058" y="149697"/>
                  <a:pt x="183056" y="175456"/>
                </a:cubicBezTo>
                <a:cubicBezTo>
                  <a:pt x="173555" y="188335"/>
                  <a:pt x="166429" y="202429"/>
                  <a:pt x="161678" y="217736"/>
                </a:cubicBezTo>
                <a:lnTo>
                  <a:pt x="160146" y="224578"/>
                </a:lnTo>
                <a:lnTo>
                  <a:pt x="163420" y="224228"/>
                </a:lnTo>
                <a:cubicBezTo>
                  <a:pt x="196357" y="224228"/>
                  <a:pt x="224439" y="236474"/>
                  <a:pt x="247664" y="260966"/>
                </a:cubicBezTo>
                <a:cubicBezTo>
                  <a:pt x="270889" y="285458"/>
                  <a:pt x="282501" y="315440"/>
                  <a:pt x="282502" y="350911"/>
                </a:cubicBezTo>
                <a:cubicBezTo>
                  <a:pt x="282501" y="387227"/>
                  <a:pt x="270467" y="418053"/>
                  <a:pt x="246397" y="443389"/>
                </a:cubicBezTo>
                <a:cubicBezTo>
                  <a:pt x="222327" y="468726"/>
                  <a:pt x="192135" y="481394"/>
                  <a:pt x="155819" y="481394"/>
                </a:cubicBezTo>
                <a:cubicBezTo>
                  <a:pt x="111902" y="481394"/>
                  <a:pt x="74953" y="464925"/>
                  <a:pt x="44972" y="431988"/>
                </a:cubicBezTo>
                <a:cubicBezTo>
                  <a:pt x="14990" y="399050"/>
                  <a:pt x="0" y="355556"/>
                  <a:pt x="0" y="301505"/>
                </a:cubicBezTo>
                <a:cubicBezTo>
                  <a:pt x="0" y="230563"/>
                  <a:pt x="21324" y="169122"/>
                  <a:pt x="63974" y="117182"/>
                </a:cubicBezTo>
                <a:cubicBezTo>
                  <a:pt x="106624" y="65242"/>
                  <a:pt x="162575" y="26181"/>
                  <a:pt x="231829" y="0"/>
                </a:cubicBezTo>
                <a:close/>
              </a:path>
            </a:pathLst>
          </a:custGeom>
          <a:noFill/>
          <a:ln w="25400">
            <a:solidFill>
              <a:schemeClr val="accent2"/>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spcBef>
                <a:spcPts val="600"/>
              </a:spcBef>
            </a:pPr>
            <a:endParaRPr lang="en-US" sz="10000" b="1" i="0">
              <a:latin typeface="+mn-lt"/>
            </a:endParaRPr>
          </a:p>
        </p:txBody>
      </p:sp>
      <p:sp>
        <p:nvSpPr>
          <p:cNvPr id="6" name="Title 1">
            <a:extLst>
              <a:ext uri="{FF2B5EF4-FFF2-40B4-BE49-F238E27FC236}">
                <a16:creationId xmlns:a16="http://schemas.microsoft.com/office/drawing/2014/main" id="{A5204F30-1AF4-524D-A3DC-8D6F9529A61E}"/>
              </a:ext>
            </a:extLst>
          </p:cNvPr>
          <p:cNvSpPr>
            <a:spLocks noGrp="1"/>
          </p:cNvSpPr>
          <p:nvPr>
            <p:ph type="title" hasCustomPrompt="1"/>
          </p:nvPr>
        </p:nvSpPr>
        <p:spPr>
          <a:xfrm>
            <a:off x="773054" y="995363"/>
            <a:ext cx="8086466" cy="4460875"/>
          </a:xfrm>
        </p:spPr>
        <p:txBody>
          <a:bodyPr anchor="ctr" anchorCtr="0"/>
          <a:lstStyle>
            <a:lvl1pPr marL="0" indent="0">
              <a:lnSpc>
                <a:spcPct val="100000"/>
              </a:lnSpc>
              <a:defRPr sz="2800"/>
            </a:lvl1pPr>
          </a:lstStyle>
          <a:p>
            <a:r>
              <a:rPr lang="en-US"/>
              <a:t>Quote placeholder Lorem ipsum dolor sit </a:t>
            </a:r>
            <a:r>
              <a:rPr lang="en-US" err="1"/>
              <a:t>amet</a:t>
            </a:r>
            <a:r>
              <a:rPr lang="en-US"/>
              <a:t>, </a:t>
            </a:r>
            <a:r>
              <a:rPr lang="en-US" err="1"/>
              <a:t>conse</a:t>
            </a:r>
            <a:r>
              <a:rPr lang="en-US"/>
              <a:t> </a:t>
            </a:r>
            <a:r>
              <a:rPr lang="en-US" err="1"/>
              <a:t>ctet</a:t>
            </a:r>
            <a:r>
              <a:rPr lang="en-US"/>
              <a:t> </a:t>
            </a:r>
            <a:r>
              <a:rPr lang="en-US" err="1"/>
              <a:t>ur</a:t>
            </a:r>
            <a:r>
              <a:rPr lang="en-US"/>
              <a:t> </a:t>
            </a:r>
            <a:r>
              <a:rPr lang="en-US" err="1"/>
              <a:t>adip</a:t>
            </a:r>
            <a:r>
              <a:rPr lang="en-US"/>
              <a:t> </a:t>
            </a:r>
            <a:r>
              <a:rPr lang="en-US" err="1"/>
              <a:t>iscing</a:t>
            </a:r>
            <a:r>
              <a:rPr lang="en-US"/>
              <a:t> </a:t>
            </a:r>
            <a:r>
              <a:rPr lang="en-US" err="1"/>
              <a:t>elit</a:t>
            </a:r>
            <a:r>
              <a:rPr lang="en-US"/>
              <a:t>. Mauris </a:t>
            </a:r>
            <a:r>
              <a:rPr lang="en-US" err="1"/>
              <a:t>accum</a:t>
            </a:r>
            <a:r>
              <a:rPr lang="en-US"/>
              <a:t> </a:t>
            </a:r>
            <a:r>
              <a:rPr lang="en-US" err="1"/>
              <a:t>san</a:t>
            </a:r>
            <a:r>
              <a:rPr lang="en-US"/>
              <a:t> </a:t>
            </a:r>
            <a:r>
              <a:rPr lang="en-US" err="1"/>
              <a:t>urna</a:t>
            </a:r>
            <a:r>
              <a:rPr lang="en-US"/>
              <a:t>. Sus </a:t>
            </a:r>
            <a:r>
              <a:rPr lang="en-US" err="1"/>
              <a:t>pendisse</a:t>
            </a:r>
            <a:r>
              <a:rPr lang="en-US"/>
              <a:t> </a:t>
            </a:r>
            <a:r>
              <a:rPr lang="en-US" err="1"/>
              <a:t>sem</a:t>
            </a:r>
            <a:r>
              <a:rPr lang="en-US"/>
              <a:t> per semper </a:t>
            </a:r>
            <a:r>
              <a:rPr lang="en-US" err="1"/>
              <a:t>commodo</a:t>
            </a:r>
            <a:r>
              <a:rPr lang="en-US"/>
              <a:t> lorem.”</a:t>
            </a:r>
          </a:p>
        </p:txBody>
      </p:sp>
      <p:sp>
        <p:nvSpPr>
          <p:cNvPr id="7" name="Text Placeholder 2">
            <a:extLst>
              <a:ext uri="{FF2B5EF4-FFF2-40B4-BE49-F238E27FC236}">
                <a16:creationId xmlns:a16="http://schemas.microsoft.com/office/drawing/2014/main" id="{D53A335E-67E2-3E4F-88F7-0D3EB5BAE73D}"/>
              </a:ext>
            </a:extLst>
          </p:cNvPr>
          <p:cNvSpPr>
            <a:spLocks noGrp="1"/>
          </p:cNvSpPr>
          <p:nvPr>
            <p:ph type="body" idx="1" hasCustomPrompt="1"/>
          </p:nvPr>
        </p:nvSpPr>
        <p:spPr>
          <a:xfrm>
            <a:off x="773056" y="5641514"/>
            <a:ext cx="8086463" cy="347472"/>
          </a:xfrm>
        </p:spPr>
        <p:txBody>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attribution</a:t>
            </a:r>
          </a:p>
        </p:txBody>
      </p:sp>
    </p:spTree>
    <p:extLst>
      <p:ext uri="{BB962C8B-B14F-4D97-AF65-F5344CB8AC3E}">
        <p14:creationId xmlns:p14="http://schemas.microsoft.com/office/powerpoint/2010/main" val="7910981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END">
    <p:bg>
      <p:bgPr>
        <a:solidFill>
          <a:srgbClr val="FFFF00"/>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65764A-9DB5-E0B9-2854-737204071442}"/>
              </a:ext>
            </a:extLst>
          </p:cNvPr>
          <p:cNvSpPr txBox="1"/>
          <p:nvPr userDrawn="1"/>
        </p:nvSpPr>
        <p:spPr>
          <a:xfrm>
            <a:off x="208972" y="189623"/>
            <a:ext cx="11774056" cy="6555641"/>
          </a:xfrm>
          <a:prstGeom prst="rect">
            <a:avLst/>
          </a:prstGeom>
          <a:noFill/>
        </p:spPr>
        <p:txBody>
          <a:bodyPr wrap="none" lIns="0" rIns="0" rtlCol="0">
            <a:spAutoFit/>
          </a:bodyPr>
          <a:lstStyle/>
          <a:p>
            <a:pPr algn="ctr">
              <a:spcBef>
                <a:spcPts val="600"/>
              </a:spcBef>
            </a:pPr>
            <a:r>
              <a:rPr lang="en-US" sz="9600">
                <a:solidFill>
                  <a:srgbClr val="00002D"/>
                </a:solidFill>
                <a:latin typeface="+mj-lt"/>
              </a:rPr>
              <a:t>Don’t use this or any </a:t>
            </a:r>
            <a:br>
              <a:rPr lang="en-US" sz="9600">
                <a:solidFill>
                  <a:srgbClr val="00002D"/>
                </a:solidFill>
                <a:latin typeface="+mj-lt"/>
              </a:rPr>
            </a:br>
            <a:r>
              <a:rPr lang="en-US" sz="9600">
                <a:solidFill>
                  <a:srgbClr val="00002D"/>
                </a:solidFill>
                <a:latin typeface="+mj-lt"/>
              </a:rPr>
              <a:t>layouts after this.</a:t>
            </a:r>
            <a:endParaRPr lang="en-US" sz="4400">
              <a:solidFill>
                <a:srgbClr val="00002D"/>
              </a:solidFill>
              <a:latin typeface="+mj-lt"/>
            </a:endParaRPr>
          </a:p>
          <a:p>
            <a:pPr algn="ctr">
              <a:spcBef>
                <a:spcPts val="3600"/>
              </a:spcBef>
            </a:pPr>
            <a:r>
              <a:rPr lang="en-US" sz="6600">
                <a:solidFill>
                  <a:srgbClr val="00002D"/>
                </a:solidFill>
              </a:rPr>
              <a:t>Choose an appropriate </a:t>
            </a:r>
            <a:br>
              <a:rPr lang="en-US" sz="6600">
                <a:solidFill>
                  <a:srgbClr val="00002D"/>
                </a:solidFill>
              </a:rPr>
            </a:br>
            <a:r>
              <a:rPr lang="en-US" sz="6600">
                <a:solidFill>
                  <a:srgbClr val="00002D"/>
                </a:solidFill>
              </a:rPr>
              <a:t>layout from </a:t>
            </a:r>
            <a:br>
              <a:rPr lang="en-US" sz="6600">
                <a:solidFill>
                  <a:srgbClr val="00002D"/>
                </a:solidFill>
              </a:rPr>
            </a:br>
            <a:r>
              <a:rPr lang="en-US" sz="6600" b="1">
                <a:solidFill>
                  <a:srgbClr val="00002D"/>
                </a:solidFill>
              </a:rPr>
              <a:t>Home</a:t>
            </a:r>
            <a:r>
              <a:rPr lang="en-US" sz="6600">
                <a:solidFill>
                  <a:srgbClr val="00002D"/>
                </a:solidFill>
              </a:rPr>
              <a:t> &gt; </a:t>
            </a:r>
            <a:r>
              <a:rPr lang="en-US" sz="6600" b="1">
                <a:solidFill>
                  <a:srgbClr val="00002D"/>
                </a:solidFill>
              </a:rPr>
              <a:t>Layout gallery</a:t>
            </a:r>
            <a:r>
              <a:rPr lang="en-US" sz="6600">
                <a:solidFill>
                  <a:srgbClr val="00002D"/>
                </a:solidFill>
              </a:rPr>
              <a:t>.</a:t>
            </a:r>
          </a:p>
        </p:txBody>
      </p:sp>
      <p:sp>
        <p:nvSpPr>
          <p:cNvPr id="2" name="TextBox 1">
            <a:extLst>
              <a:ext uri="{FF2B5EF4-FFF2-40B4-BE49-F238E27FC236}">
                <a16:creationId xmlns:a16="http://schemas.microsoft.com/office/drawing/2014/main" id="{EB11D6F1-48A0-B0B0-BC3C-5FC66330BED9}"/>
              </a:ext>
            </a:extLst>
          </p:cNvPr>
          <p:cNvSpPr txBox="1"/>
          <p:nvPr userDrawn="1"/>
        </p:nvSpPr>
        <p:spPr>
          <a:xfrm>
            <a:off x="12346930" y="835909"/>
            <a:ext cx="2668480" cy="2539157"/>
          </a:xfrm>
          <a:prstGeom prst="rect">
            <a:avLst/>
          </a:prstGeom>
          <a:noFill/>
          <a:ln>
            <a:solidFill>
              <a:srgbClr val="707996"/>
            </a:solidFill>
          </a:ln>
        </p:spPr>
        <p:txBody>
          <a:bodyPr wrap="square" lIns="91440" rIns="91440" rtlCol="0">
            <a:spAutoFit/>
          </a:bodyPr>
          <a:lstStyle/>
          <a:p>
            <a:pPr algn="l">
              <a:spcBef>
                <a:spcPts val="600"/>
              </a:spcBef>
            </a:pPr>
            <a:r>
              <a:rPr lang="en-US" sz="1400">
                <a:solidFill>
                  <a:srgbClr val="00002D"/>
                </a:solidFill>
              </a:rPr>
              <a:t>When pasting legacy slides that doesn’t match any of the new layouts, PowerPoint adds it to the end of the layouts and prepends the layout name with a number (</a:t>
            </a:r>
            <a:r>
              <a:rPr lang="en-US" sz="1400" err="1">
                <a:solidFill>
                  <a:srgbClr val="00002D"/>
                </a:solidFill>
              </a:rPr>
              <a:t>1_Title</a:t>
            </a:r>
            <a:r>
              <a:rPr lang="en-US" sz="1400">
                <a:solidFill>
                  <a:srgbClr val="00002D"/>
                </a:solidFill>
              </a:rPr>
              <a:t> Slide, for example). </a:t>
            </a:r>
          </a:p>
          <a:p>
            <a:pPr algn="l">
              <a:spcBef>
                <a:spcPts val="600"/>
              </a:spcBef>
            </a:pPr>
            <a:r>
              <a:rPr lang="en-US" sz="1400">
                <a:solidFill>
                  <a:srgbClr val="00002D"/>
                </a:solidFill>
              </a:rPr>
              <a:t>These “orphaned” layouts should not be used, instead choose from the layouts preceding this one. </a:t>
            </a:r>
          </a:p>
        </p:txBody>
      </p:sp>
    </p:spTree>
    <p:extLst>
      <p:ext uri="{BB962C8B-B14F-4D97-AF65-F5344CB8AC3E}">
        <p14:creationId xmlns:p14="http://schemas.microsoft.com/office/powerpoint/2010/main" val="11348932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a:gsLst>
            <a:gs pos="20000">
              <a:schemeClr val="bg2"/>
            </a:gs>
            <a:gs pos="100000">
              <a:schemeClr val="accent2"/>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invGray">
          <a:xfrm>
            <a:off x="1371600" y="2149713"/>
            <a:ext cx="8426919" cy="2185214"/>
          </a:xfrm>
          <a:prstGeom prst="bracketPair">
            <a:avLst>
              <a:gd name="adj" fmla="val 0"/>
            </a:avLst>
          </a:prstGeom>
          <a:ln w="101600">
            <a:solidFill>
              <a:schemeClr val="accent3"/>
            </a:solidFill>
          </a:ln>
        </p:spPr>
        <p:txBody>
          <a:bodyPr lIns="228600" tIns="91440" rIns="182880" bIns="731520" anchor="t" anchorCtr="0">
            <a:spAutoFit/>
          </a:bodyPr>
          <a:lstStyle>
            <a:lvl1pPr algn="l">
              <a:defRPr sz="4400"/>
            </a:lvl1pPr>
          </a:lstStyle>
          <a:p>
            <a:r>
              <a:rPr lang="en-US"/>
              <a:t>Click to Add Title; 2 Lines of Copy; 60 Characters Maximum</a:t>
            </a:r>
          </a:p>
        </p:txBody>
      </p:sp>
      <p:sp>
        <p:nvSpPr>
          <p:cNvPr id="3" name="Subtitle 2"/>
          <p:cNvSpPr>
            <a:spLocks noGrp="1"/>
          </p:cNvSpPr>
          <p:nvPr>
            <p:ph type="subTitle" idx="1" hasCustomPrompt="1"/>
          </p:nvPr>
        </p:nvSpPr>
        <p:spPr>
          <a:xfrm>
            <a:off x="1371600" y="3851940"/>
            <a:ext cx="8426919" cy="276999"/>
          </a:xfrm>
        </p:spPr>
        <p:txBody>
          <a:bodyPr lIns="246888" rIns="182880">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a:t>
            </a:r>
          </a:p>
        </p:txBody>
      </p:sp>
      <p:sp>
        <p:nvSpPr>
          <p:cNvPr id="14" name="TextBox 13">
            <a:extLst>
              <a:ext uri="{FF2B5EF4-FFF2-40B4-BE49-F238E27FC236}">
                <a16:creationId xmlns:a16="http://schemas.microsoft.com/office/drawing/2014/main" id="{BB93A754-CF98-4BEB-BE89-ADF1CF77AA4F}"/>
              </a:ext>
            </a:extLst>
          </p:cNvPr>
          <p:cNvSpPr txBox="1"/>
          <p:nvPr/>
        </p:nvSpPr>
        <p:spPr>
          <a:xfrm>
            <a:off x="685800" y="6199632"/>
            <a:ext cx="7095744" cy="323165"/>
          </a:xfrm>
          <a:prstGeom prst="rect">
            <a:avLst/>
          </a:prstGeom>
          <a:noFill/>
        </p:spPr>
        <p:txBody>
          <a:bodyPr wrap="square" lIns="0" tIns="0" rIns="0" bIns="0" rtlCol="0" anchor="b" anchorCtr="0">
            <a:spAutoFit/>
          </a:bodyPr>
          <a:lstStyle/>
          <a:p>
            <a:r>
              <a:rPr lang="en-US" sz="700"/>
              <a:t>© 2026 Gartner, Inc. and/or its affiliates. All rights reserved. Gartner is a registered trademark of Gartner, Inc. or its affiliates. This presentation, including all supporting materials, </a:t>
            </a:r>
            <a:br>
              <a:rPr lang="en-US" sz="700"/>
            </a:br>
            <a:r>
              <a:rPr lang="en-US" sz="70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27" name="Picture 26">
            <a:extLst>
              <a:ext uri="{FF2B5EF4-FFF2-40B4-BE49-F238E27FC236}">
                <a16:creationId xmlns:a16="http://schemas.microsoft.com/office/drawing/2014/main" id="{E77AE7DB-FD48-4294-BD87-EA8DA4C9EC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685800"/>
            <a:ext cx="1737435" cy="395448"/>
          </a:xfrm>
          <a:prstGeom prst="rect">
            <a:avLst/>
          </a:prstGeom>
        </p:spPr>
      </p:pic>
    </p:spTree>
    <p:extLst>
      <p:ext uri="{BB962C8B-B14F-4D97-AF65-F5344CB8AC3E}">
        <p14:creationId xmlns:p14="http://schemas.microsoft.com/office/powerpoint/2010/main" val="13874042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864"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title" preserve="1">
  <p:cSld name="Title Slide 2">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1371600" y="2149713"/>
            <a:ext cx="8426919" cy="2185214"/>
          </a:xfrm>
          <a:prstGeom prst="bracketPair">
            <a:avLst>
              <a:gd name="adj" fmla="val 0"/>
            </a:avLst>
          </a:prstGeom>
          <a:ln w="114300">
            <a:solidFill>
              <a:schemeClr val="accent3"/>
            </a:solidFill>
          </a:ln>
        </p:spPr>
        <p:txBody>
          <a:bodyPr lIns="228600" tIns="91440" rIns="182880" bIns="731520" anchor="t" anchorCtr="0">
            <a:spAutoFit/>
          </a:bodyPr>
          <a:lstStyle>
            <a:lvl1pPr algn="l">
              <a:defRPr sz="4400"/>
            </a:lvl1pPr>
          </a:lstStyle>
          <a:p>
            <a:r>
              <a:rPr lang="en-US"/>
              <a:t>Click to Add Title; 2 Lines of Copy; 60 Characters Maximum</a:t>
            </a:r>
          </a:p>
        </p:txBody>
      </p:sp>
      <p:sp>
        <p:nvSpPr>
          <p:cNvPr id="14" name="TextBox 13">
            <a:extLst>
              <a:ext uri="{FF2B5EF4-FFF2-40B4-BE49-F238E27FC236}">
                <a16:creationId xmlns:a16="http://schemas.microsoft.com/office/drawing/2014/main" id="{BB93A754-CF98-4BEB-BE89-ADF1CF77AA4F}"/>
              </a:ext>
            </a:extLst>
          </p:cNvPr>
          <p:cNvSpPr txBox="1"/>
          <p:nvPr/>
        </p:nvSpPr>
        <p:spPr>
          <a:xfrm>
            <a:off x="685800" y="6199632"/>
            <a:ext cx="7095744" cy="323165"/>
          </a:xfrm>
          <a:prstGeom prst="rect">
            <a:avLst/>
          </a:prstGeom>
          <a:noFill/>
        </p:spPr>
        <p:txBody>
          <a:bodyPr wrap="square" lIns="0" tIns="0" rIns="0" bIns="0" rtlCol="0" anchor="b" anchorCtr="0">
            <a:spAutoFit/>
          </a:bodyPr>
          <a:lstStyle/>
          <a:p>
            <a:r>
              <a:rPr lang="en-US" sz="700"/>
              <a:t>© 2026 Gartner, Inc. and/or its affiliates. All rights reserved. Gartner is a registered trademark of Gartner, Inc. or its affiliates. This presentation, including all supporting materials, </a:t>
            </a:r>
            <a:br>
              <a:rPr lang="en-US" sz="700"/>
            </a:br>
            <a:r>
              <a:rPr lang="en-US" sz="70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8" name="Picture 7">
            <a:extLst>
              <a:ext uri="{FF2B5EF4-FFF2-40B4-BE49-F238E27FC236}">
                <a16:creationId xmlns:a16="http://schemas.microsoft.com/office/drawing/2014/main" id="{4B98EA9B-8D5B-4923-90F5-A4CDF4762E56}"/>
              </a:ext>
            </a:extLst>
          </p:cNvPr>
          <p:cNvPicPr>
            <a:picLocks noChangeAspect="1"/>
          </p:cNvPicPr>
          <p:nvPr userDrawn="1"/>
        </p:nvPicPr>
        <p:blipFill>
          <a:blip r:embed="rId2">
            <a:extLst>
              <a:ext uri="{28A0092B-C50C-407E-A947-70E740481C1C}">
                <a14:useLocalDpi xmlns:a14="http://schemas.microsoft.com/office/drawing/2010/main" val="0"/>
              </a:ext>
            </a:extLst>
          </a:blip>
          <a:srcRect t="226" b="226"/>
          <a:stretch/>
        </p:blipFill>
        <p:spPr>
          <a:xfrm>
            <a:off x="685800" y="685800"/>
            <a:ext cx="1736570" cy="395448"/>
          </a:xfrm>
          <a:prstGeom prst="rect">
            <a:avLst/>
          </a:prstGeom>
        </p:spPr>
      </p:pic>
      <p:sp>
        <p:nvSpPr>
          <p:cNvPr id="3" name="Subtitle 2"/>
          <p:cNvSpPr>
            <a:spLocks noGrp="1"/>
          </p:cNvSpPr>
          <p:nvPr>
            <p:ph type="subTitle" idx="1" hasCustomPrompt="1"/>
          </p:nvPr>
        </p:nvSpPr>
        <p:spPr>
          <a:xfrm>
            <a:off x="1371600" y="3851940"/>
            <a:ext cx="8426919" cy="276999"/>
          </a:xfrm>
        </p:spPr>
        <p:txBody>
          <a:bodyPr lIns="246888" rIns="182880">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a:t>
            </a:r>
          </a:p>
        </p:txBody>
      </p:sp>
    </p:spTree>
    <p:extLst>
      <p:ext uri="{BB962C8B-B14F-4D97-AF65-F5344CB8AC3E}">
        <p14:creationId xmlns:p14="http://schemas.microsoft.com/office/powerpoint/2010/main" val="27947198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864"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09203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5DE8436-F632-4929-A0C4-8AB62F36165A}"/>
              </a:ext>
            </a:extLst>
          </p:cNvPr>
          <p:cNvSpPr>
            <a:spLocks noGrp="1"/>
          </p:cNvSpPr>
          <p:nvPr>
            <p:ph type="title" hasCustomPrompt="1"/>
          </p:nvPr>
        </p:nvSpPr>
        <p:spPr/>
        <p:txBody>
          <a:bodyPr/>
          <a:lstStyle/>
          <a:p>
            <a:r>
              <a:rPr lang="en-US"/>
              <a:t>Click to edit title</a:t>
            </a:r>
          </a:p>
        </p:txBody>
      </p:sp>
    </p:spTree>
    <p:extLst>
      <p:ext uri="{BB962C8B-B14F-4D97-AF65-F5344CB8AC3E}">
        <p14:creationId xmlns:p14="http://schemas.microsoft.com/office/powerpoint/2010/main" val="41605677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4EDECE2-F9F2-4351-A826-ACD78703CADF}"/>
              </a:ext>
            </a:extLst>
          </p:cNvPr>
          <p:cNvSpPr>
            <a:spLocks noGrp="1"/>
          </p:cNvSpPr>
          <p:nvPr>
            <p:ph type="title" hasCustomPrompt="1"/>
          </p:nvPr>
        </p:nvSpPr>
        <p:spPr/>
        <p:txBody>
          <a:bodyPr/>
          <a:lstStyle/>
          <a:p>
            <a:r>
              <a:rPr lang="en-US"/>
              <a:t>Click to edit title</a:t>
            </a:r>
          </a:p>
        </p:txBody>
      </p:sp>
      <p:sp>
        <p:nvSpPr>
          <p:cNvPr id="3" name="Content Placeholder 2"/>
          <p:cNvSpPr>
            <a:spLocks noGrp="1"/>
          </p:cNvSpPr>
          <p:nvPr>
            <p:ph idx="1" hasCustomPrompt="1"/>
          </p:nvPr>
        </p:nvSpPr>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205298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wo column graphics righ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26531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6236208"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274878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hree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4425696"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8394192"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100093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hree column shade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bwMode="ltGray">
          <a:xfrm>
            <a:off x="457200" y="1527048"/>
            <a:ext cx="3337560" cy="4462272"/>
          </a:xfrm>
          <a:solidFill>
            <a:srgbClr val="B8DE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bwMode="ltGray">
          <a:xfrm>
            <a:off x="4425696" y="1527048"/>
            <a:ext cx="3337560" cy="4462272"/>
          </a:xfrm>
          <a:solidFill>
            <a:srgbClr val="B8DE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bwMode="ltGray">
          <a:xfrm>
            <a:off x="8394192" y="1527048"/>
            <a:ext cx="3337560" cy="4462272"/>
          </a:xfrm>
          <a:solidFill>
            <a:srgbClr val="B8DE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577332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Four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61950"/>
            <a:ext cx="11274552" cy="451231"/>
          </a:xfrm>
        </p:spPr>
        <p:txBody>
          <a:bodyPr/>
          <a:lstStyle/>
          <a:p>
            <a:r>
              <a:rPr lang="en-US"/>
              <a:t>Click to edit title</a:t>
            </a:r>
          </a:p>
        </p:txBody>
      </p:sp>
      <p:sp>
        <p:nvSpPr>
          <p:cNvPr id="3" name="Content Placeholder 2"/>
          <p:cNvSpPr>
            <a:spLocks noGrp="1"/>
          </p:cNvSpPr>
          <p:nvPr>
            <p:ph sz="half" idx="1" hasCustomPrompt="1"/>
          </p:nvPr>
        </p:nvSpPr>
        <p:spPr>
          <a:xfrm>
            <a:off x="457200"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3348482"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6239764"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B226B5DF-DF35-419C-8251-4F81A740D77A}"/>
              </a:ext>
            </a:extLst>
          </p:cNvPr>
          <p:cNvSpPr>
            <a:spLocks noGrp="1"/>
          </p:cNvSpPr>
          <p:nvPr>
            <p:ph sz="half" idx="11" hasCustomPrompt="1"/>
          </p:nvPr>
        </p:nvSpPr>
        <p:spPr>
          <a:xfrm>
            <a:off x="9131046"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578544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Four column shade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61950"/>
            <a:ext cx="11274552" cy="451231"/>
          </a:xfrm>
        </p:spPr>
        <p:txBody>
          <a:bodyPr/>
          <a:lstStyle/>
          <a:p>
            <a:r>
              <a:rPr lang="en-US"/>
              <a:t>Click to edit title</a:t>
            </a:r>
          </a:p>
        </p:txBody>
      </p:sp>
      <p:sp>
        <p:nvSpPr>
          <p:cNvPr id="3" name="Content Placeholder 2"/>
          <p:cNvSpPr>
            <a:spLocks noGrp="1"/>
          </p:cNvSpPr>
          <p:nvPr>
            <p:ph sz="half" idx="1" hasCustomPrompt="1"/>
          </p:nvPr>
        </p:nvSpPr>
        <p:spPr bwMode="ltGray">
          <a:xfrm>
            <a:off x="457200" y="1527048"/>
            <a:ext cx="2600706" cy="4462272"/>
          </a:xfrm>
          <a:solidFill>
            <a:srgbClr val="B8DE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bwMode="ltGray">
          <a:xfrm>
            <a:off x="3348482" y="1527048"/>
            <a:ext cx="2600706" cy="4462272"/>
          </a:xfrm>
          <a:solidFill>
            <a:srgbClr val="B8DE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bwMode="ltGray">
          <a:xfrm>
            <a:off x="6239764" y="1527048"/>
            <a:ext cx="2600706" cy="4462272"/>
          </a:xfrm>
          <a:solidFill>
            <a:srgbClr val="B8DE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F44528D9-D4DF-4ABD-97AD-FCFEE24F7C53}"/>
              </a:ext>
            </a:extLst>
          </p:cNvPr>
          <p:cNvSpPr>
            <a:spLocks noGrp="1"/>
          </p:cNvSpPr>
          <p:nvPr>
            <p:ph sz="half" idx="11" hasCustomPrompt="1"/>
          </p:nvPr>
        </p:nvSpPr>
        <p:spPr bwMode="ltGray">
          <a:xfrm>
            <a:off x="9131046" y="1527048"/>
            <a:ext cx="2600706" cy="4462272"/>
          </a:xfrm>
          <a:solidFill>
            <a:srgbClr val="B8DE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702339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BAA7-7402-7653-A21A-2C33B981B892}"/>
              </a:ext>
            </a:extLst>
          </p:cNvPr>
          <p:cNvSpPr>
            <a:spLocks noGrp="1"/>
          </p:cNvSpPr>
          <p:nvPr>
            <p:ph type="title" hasCustomPrompt="1"/>
          </p:nvPr>
        </p:nvSpPr>
        <p:spPr bwMode="gray">
          <a:xfrm>
            <a:off x="1365814" y="1590378"/>
            <a:ext cx="5408210" cy="2031326"/>
          </a:xfrm>
          <a:prstGeom prst="bracketPair">
            <a:avLst>
              <a:gd name="adj" fmla="val 0"/>
            </a:avLst>
          </a:prstGeom>
          <a:ln w="101600">
            <a:solidFill>
              <a:schemeClr val="accent3"/>
            </a:solidFill>
          </a:ln>
        </p:spPr>
        <p:txBody>
          <a:bodyPr wrap="square" lIns="228600" rIns="182880" anchor="ctr" anchorCtr="0">
            <a:spAutoFit/>
          </a:bodyPr>
          <a:lstStyle>
            <a:lvl1pPr>
              <a:defRPr sz="4400"/>
            </a:lvl1pPr>
          </a:lstStyle>
          <a:p>
            <a:r>
              <a:rPr lang="en-US"/>
              <a:t>Divider Slide</a:t>
            </a:r>
            <a:br>
              <a:rPr lang="en-US"/>
            </a:br>
            <a:r>
              <a:rPr lang="en-US"/>
              <a:t>30 Characters Max.</a:t>
            </a:r>
            <a:br>
              <a:rPr lang="en-US"/>
            </a:br>
            <a:r>
              <a:rPr lang="en-US"/>
              <a:t>Lorem Ipsum</a:t>
            </a:r>
          </a:p>
        </p:txBody>
      </p:sp>
    </p:spTree>
    <p:extLst>
      <p:ext uri="{BB962C8B-B14F-4D97-AF65-F5344CB8AC3E}">
        <p14:creationId xmlns:p14="http://schemas.microsoft.com/office/powerpoint/2010/main" val="16943896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Left Rai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1F3F689-0EFE-267D-1F38-8A7BB7CF62AF}"/>
              </a:ext>
            </a:extLst>
          </p:cNvPr>
          <p:cNvSpPr/>
          <p:nvPr userDrawn="1"/>
        </p:nvSpPr>
        <p:spPr bwMode="invGray">
          <a:xfrm>
            <a:off x="-1" y="0"/>
            <a:ext cx="4050792" cy="6858000"/>
          </a:xfrm>
          <a:prstGeom prst="rect">
            <a:avLst/>
          </a:prstGeom>
          <a:gradFill>
            <a:gsLst>
              <a:gs pos="0">
                <a:schemeClr val="accent2"/>
              </a:gs>
              <a:gs pos="80000">
                <a:schemeClr val="tx2"/>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D9D03778-9F51-35F8-9B55-7FB58E49C224}"/>
              </a:ext>
            </a:extLst>
          </p:cNvPr>
          <p:cNvSpPr>
            <a:spLocks noGrp="1"/>
          </p:cNvSpPr>
          <p:nvPr>
            <p:ph type="title"/>
          </p:nvPr>
        </p:nvSpPr>
        <p:spPr>
          <a:xfrm>
            <a:off x="457200" y="361950"/>
            <a:ext cx="3114675" cy="2051312"/>
          </a:xfrm>
        </p:spPr>
        <p:txBody>
          <a:bodyPr/>
          <a:lstStyle>
            <a:lvl1pPr>
              <a:defRPr>
                <a:solidFill>
                  <a:srgbClr val="FFFFFF"/>
                </a:solidFill>
              </a:defRPr>
            </a:lvl1pPr>
          </a:lstStyle>
          <a:p>
            <a:r>
              <a:rPr lang="en-US"/>
              <a:t>Click to edit Master title style</a:t>
            </a:r>
          </a:p>
        </p:txBody>
      </p:sp>
      <p:sp>
        <p:nvSpPr>
          <p:cNvPr id="4" name="TextBox 3">
            <a:extLst>
              <a:ext uri="{FF2B5EF4-FFF2-40B4-BE49-F238E27FC236}">
                <a16:creationId xmlns:a16="http://schemas.microsoft.com/office/drawing/2014/main" id="{64B9B515-6C0A-2DCC-BDD9-2AEDE0D6D5DB}"/>
              </a:ext>
            </a:extLst>
          </p:cNvPr>
          <p:cNvSpPr txBox="1"/>
          <p:nvPr userDrawn="1"/>
        </p:nvSpPr>
        <p:spPr>
          <a:xfrm>
            <a:off x="457200" y="6393216"/>
            <a:ext cx="3566160" cy="153888"/>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rgbClr val="FFFFFF"/>
                </a:solidFill>
              </a:rPr>
              <a:t>‹#›</a:t>
            </a:fld>
            <a:r>
              <a:rPr lang="en-US" sz="700" b="0">
                <a:solidFill>
                  <a:srgbClr val="FFFFFF"/>
                </a:solidFill>
              </a:rPr>
              <a:t>	RESTRICTED © 2026 Gartner, Inc. and/or its affiliates. All rights reserved.</a:t>
            </a:r>
          </a:p>
        </p:txBody>
      </p:sp>
      <p:sp>
        <p:nvSpPr>
          <p:cNvPr id="6" name="Content Placeholder 5">
            <a:extLst>
              <a:ext uri="{FF2B5EF4-FFF2-40B4-BE49-F238E27FC236}">
                <a16:creationId xmlns:a16="http://schemas.microsoft.com/office/drawing/2014/main" id="{D3AB07D3-66B0-EF24-E15D-D61DB03311CA}"/>
              </a:ext>
            </a:extLst>
          </p:cNvPr>
          <p:cNvSpPr>
            <a:spLocks noGrp="1"/>
          </p:cNvSpPr>
          <p:nvPr>
            <p:ph sz="quarter" idx="10"/>
          </p:nvPr>
        </p:nvSpPr>
        <p:spPr>
          <a:xfrm>
            <a:off x="4478482" y="1346200"/>
            <a:ext cx="7256318" cy="4504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083989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1C83FFE-85A9-5C0D-5033-94BE254D3694}"/>
              </a:ext>
            </a:extLst>
          </p:cNvPr>
          <p:cNvSpPr txBox="1"/>
          <p:nvPr userDrawn="1"/>
        </p:nvSpPr>
        <p:spPr bwMode="ltGray">
          <a:xfrm>
            <a:off x="457200" y="1401620"/>
            <a:ext cx="1425191" cy="1121270"/>
          </a:xfrm>
          <a:custGeom>
            <a:avLst/>
            <a:gdLst/>
            <a:ahLst/>
            <a:cxnLst/>
            <a:rect l="l" t="t" r="r" b="b"/>
            <a:pathLst>
              <a:path w="611876" h="481394">
                <a:moveTo>
                  <a:pt x="561203" y="0"/>
                </a:moveTo>
                <a:lnTo>
                  <a:pt x="611876" y="100080"/>
                </a:lnTo>
                <a:cubicBezTo>
                  <a:pt x="564581" y="124572"/>
                  <a:pt x="531433" y="149697"/>
                  <a:pt x="512430" y="175456"/>
                </a:cubicBezTo>
                <a:cubicBezTo>
                  <a:pt x="502929" y="188335"/>
                  <a:pt x="495803" y="202429"/>
                  <a:pt x="491053" y="217736"/>
                </a:cubicBezTo>
                <a:lnTo>
                  <a:pt x="489521" y="224578"/>
                </a:lnTo>
                <a:lnTo>
                  <a:pt x="492794" y="224228"/>
                </a:lnTo>
                <a:cubicBezTo>
                  <a:pt x="525732" y="224228"/>
                  <a:pt x="553813" y="236474"/>
                  <a:pt x="577038" y="260966"/>
                </a:cubicBezTo>
                <a:cubicBezTo>
                  <a:pt x="600263" y="285458"/>
                  <a:pt x="611876" y="315440"/>
                  <a:pt x="611876" y="350911"/>
                </a:cubicBezTo>
                <a:cubicBezTo>
                  <a:pt x="611876" y="387227"/>
                  <a:pt x="599841" y="418053"/>
                  <a:pt x="575772" y="443389"/>
                </a:cubicBezTo>
                <a:cubicBezTo>
                  <a:pt x="551702" y="468726"/>
                  <a:pt x="521509" y="481394"/>
                  <a:pt x="485194" y="481394"/>
                </a:cubicBezTo>
                <a:cubicBezTo>
                  <a:pt x="441277" y="481394"/>
                  <a:pt x="404328" y="464925"/>
                  <a:pt x="374346" y="431988"/>
                </a:cubicBezTo>
                <a:cubicBezTo>
                  <a:pt x="344365" y="399050"/>
                  <a:pt x="329374" y="355556"/>
                  <a:pt x="329374" y="301505"/>
                </a:cubicBezTo>
                <a:cubicBezTo>
                  <a:pt x="329374" y="230563"/>
                  <a:pt x="350699" y="169122"/>
                  <a:pt x="393349" y="117182"/>
                </a:cubicBezTo>
                <a:cubicBezTo>
                  <a:pt x="435998" y="65242"/>
                  <a:pt x="491950" y="26181"/>
                  <a:pt x="561203" y="0"/>
                </a:cubicBezTo>
                <a:close/>
                <a:moveTo>
                  <a:pt x="231829" y="0"/>
                </a:moveTo>
                <a:lnTo>
                  <a:pt x="282502" y="100080"/>
                </a:lnTo>
                <a:cubicBezTo>
                  <a:pt x="235207" y="124572"/>
                  <a:pt x="202058" y="149697"/>
                  <a:pt x="183056" y="175456"/>
                </a:cubicBezTo>
                <a:cubicBezTo>
                  <a:pt x="173555" y="188335"/>
                  <a:pt x="166429" y="202429"/>
                  <a:pt x="161678" y="217736"/>
                </a:cubicBezTo>
                <a:lnTo>
                  <a:pt x="160146" y="224578"/>
                </a:lnTo>
                <a:lnTo>
                  <a:pt x="163420" y="224228"/>
                </a:lnTo>
                <a:cubicBezTo>
                  <a:pt x="196357" y="224228"/>
                  <a:pt x="224439" y="236474"/>
                  <a:pt x="247664" y="260966"/>
                </a:cubicBezTo>
                <a:cubicBezTo>
                  <a:pt x="270889" y="285458"/>
                  <a:pt x="282501" y="315440"/>
                  <a:pt x="282502" y="350911"/>
                </a:cubicBezTo>
                <a:cubicBezTo>
                  <a:pt x="282501" y="387227"/>
                  <a:pt x="270467" y="418053"/>
                  <a:pt x="246397" y="443389"/>
                </a:cubicBezTo>
                <a:cubicBezTo>
                  <a:pt x="222327" y="468726"/>
                  <a:pt x="192135" y="481394"/>
                  <a:pt x="155819" y="481394"/>
                </a:cubicBezTo>
                <a:cubicBezTo>
                  <a:pt x="111902" y="481394"/>
                  <a:pt x="74953" y="464925"/>
                  <a:pt x="44972" y="431988"/>
                </a:cubicBezTo>
                <a:cubicBezTo>
                  <a:pt x="14990" y="399050"/>
                  <a:pt x="0" y="355556"/>
                  <a:pt x="0" y="301505"/>
                </a:cubicBezTo>
                <a:cubicBezTo>
                  <a:pt x="0" y="230563"/>
                  <a:pt x="21324" y="169122"/>
                  <a:pt x="63974" y="117182"/>
                </a:cubicBezTo>
                <a:cubicBezTo>
                  <a:pt x="106624" y="65242"/>
                  <a:pt x="162575" y="26181"/>
                  <a:pt x="231829" y="0"/>
                </a:cubicBezTo>
                <a:close/>
              </a:path>
            </a:pathLst>
          </a:custGeom>
          <a:noFill/>
          <a:ln w="25400">
            <a:solidFill>
              <a:srgbClr val="B8DEFF"/>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spcBef>
                <a:spcPts val="600"/>
              </a:spcBef>
            </a:pPr>
            <a:endParaRPr lang="en-US" sz="10000" b="1" i="0">
              <a:latin typeface="+mn-lt"/>
            </a:endParaRPr>
          </a:p>
        </p:txBody>
      </p:sp>
      <p:sp>
        <p:nvSpPr>
          <p:cNvPr id="2" name="Title 1">
            <a:extLst>
              <a:ext uri="{FF2B5EF4-FFF2-40B4-BE49-F238E27FC236}">
                <a16:creationId xmlns:a16="http://schemas.microsoft.com/office/drawing/2014/main" id="{8B478971-A225-4A64-8E00-AA9C8577611D}"/>
              </a:ext>
            </a:extLst>
          </p:cNvPr>
          <p:cNvSpPr>
            <a:spLocks noGrp="1"/>
          </p:cNvSpPr>
          <p:nvPr>
            <p:ph type="title" hasCustomPrompt="1"/>
          </p:nvPr>
        </p:nvSpPr>
        <p:spPr>
          <a:xfrm>
            <a:off x="773056" y="1009268"/>
            <a:ext cx="5718415" cy="4476115"/>
          </a:xfrm>
        </p:spPr>
        <p:txBody>
          <a:bodyPr anchor="ctr" anchorCtr="0"/>
          <a:lstStyle>
            <a:lvl1pPr marL="0" indent="0">
              <a:lnSpc>
                <a:spcPct val="100000"/>
              </a:lnSpc>
              <a:defRPr sz="2800">
                <a:latin typeface="+mj-lt"/>
              </a:defRPr>
            </a:lvl1pPr>
          </a:lstStyle>
          <a:p>
            <a:r>
              <a:rPr lang="en-US"/>
              <a:t>Quote placeholder Lorem ipsum dolor sit </a:t>
            </a:r>
            <a:r>
              <a:rPr lang="en-US" err="1"/>
              <a:t>amet</a:t>
            </a:r>
            <a:r>
              <a:rPr lang="en-US"/>
              <a:t>, </a:t>
            </a:r>
            <a:r>
              <a:rPr lang="en-US" err="1"/>
              <a:t>conse</a:t>
            </a:r>
            <a:r>
              <a:rPr lang="en-US"/>
              <a:t> </a:t>
            </a:r>
            <a:r>
              <a:rPr lang="en-US" err="1"/>
              <a:t>ctet</a:t>
            </a:r>
            <a:r>
              <a:rPr lang="en-US"/>
              <a:t> </a:t>
            </a:r>
            <a:r>
              <a:rPr lang="en-US" err="1"/>
              <a:t>ur</a:t>
            </a:r>
            <a:r>
              <a:rPr lang="en-US"/>
              <a:t> </a:t>
            </a:r>
            <a:r>
              <a:rPr lang="en-US" err="1"/>
              <a:t>adipiscing</a:t>
            </a:r>
            <a:r>
              <a:rPr lang="en-US"/>
              <a:t> </a:t>
            </a:r>
            <a:r>
              <a:rPr lang="en-US" err="1"/>
              <a:t>elit</a:t>
            </a:r>
            <a:r>
              <a:rPr lang="en-US"/>
              <a:t>. Mauris </a:t>
            </a:r>
            <a:r>
              <a:rPr lang="en-US" err="1"/>
              <a:t>accum</a:t>
            </a:r>
            <a:r>
              <a:rPr lang="en-US"/>
              <a:t> </a:t>
            </a:r>
            <a:r>
              <a:rPr lang="en-US" err="1"/>
              <a:t>san</a:t>
            </a:r>
            <a:r>
              <a:rPr lang="en-US"/>
              <a:t> </a:t>
            </a:r>
            <a:r>
              <a:rPr lang="en-US" err="1"/>
              <a:t>urna</a:t>
            </a:r>
            <a:r>
              <a:rPr lang="en-US"/>
              <a:t>. Sus </a:t>
            </a:r>
            <a:r>
              <a:rPr lang="en-US" err="1"/>
              <a:t>pendisse</a:t>
            </a:r>
            <a:r>
              <a:rPr lang="en-US"/>
              <a:t> </a:t>
            </a:r>
            <a:r>
              <a:rPr lang="en-US" err="1"/>
              <a:t>sem</a:t>
            </a:r>
            <a:r>
              <a:rPr lang="en-US"/>
              <a:t> per semper </a:t>
            </a:r>
            <a:r>
              <a:rPr lang="en-US" err="1"/>
              <a:t>commodo</a:t>
            </a:r>
            <a:r>
              <a:rPr lang="en-US"/>
              <a:t>.”</a:t>
            </a:r>
          </a:p>
        </p:txBody>
      </p:sp>
      <p:sp>
        <p:nvSpPr>
          <p:cNvPr id="3" name="Text Placeholder 2">
            <a:extLst>
              <a:ext uri="{FF2B5EF4-FFF2-40B4-BE49-F238E27FC236}">
                <a16:creationId xmlns:a16="http://schemas.microsoft.com/office/drawing/2014/main" id="{44D4D588-53FA-4557-81C5-0FF86A2FBBA3}"/>
              </a:ext>
            </a:extLst>
          </p:cNvPr>
          <p:cNvSpPr>
            <a:spLocks noGrp="1"/>
          </p:cNvSpPr>
          <p:nvPr>
            <p:ph type="body" idx="1" hasCustomPrompt="1"/>
          </p:nvPr>
        </p:nvSpPr>
        <p:spPr>
          <a:xfrm>
            <a:off x="773056" y="5641514"/>
            <a:ext cx="5718415" cy="347472"/>
          </a:xfrm>
        </p:spPr>
        <p:txBody>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attribution</a:t>
            </a:r>
          </a:p>
        </p:txBody>
      </p:sp>
      <p:sp>
        <p:nvSpPr>
          <p:cNvPr id="10" name="Picture Placeholder 9">
            <a:extLst>
              <a:ext uri="{FF2B5EF4-FFF2-40B4-BE49-F238E27FC236}">
                <a16:creationId xmlns:a16="http://schemas.microsoft.com/office/drawing/2014/main" id="{D2E7EA53-F4D0-483C-9798-E23D7CCB2A12}"/>
              </a:ext>
            </a:extLst>
          </p:cNvPr>
          <p:cNvSpPr>
            <a:spLocks noGrp="1"/>
          </p:cNvSpPr>
          <p:nvPr>
            <p:ph type="pic" sz="quarter" idx="10"/>
          </p:nvPr>
        </p:nvSpPr>
        <p:spPr>
          <a:xfrm>
            <a:off x="7043928" y="1346199"/>
            <a:ext cx="4690872" cy="4297680"/>
          </a:xfrm>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42114646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C41137-E6C9-A053-8403-388C27EB8CE1}"/>
              </a:ext>
            </a:extLst>
          </p:cNvPr>
          <p:cNvSpPr txBox="1"/>
          <p:nvPr userDrawn="1"/>
        </p:nvSpPr>
        <p:spPr bwMode="ltGray">
          <a:xfrm>
            <a:off x="457200" y="1401620"/>
            <a:ext cx="1425191" cy="1121270"/>
          </a:xfrm>
          <a:custGeom>
            <a:avLst/>
            <a:gdLst/>
            <a:ahLst/>
            <a:cxnLst/>
            <a:rect l="l" t="t" r="r" b="b"/>
            <a:pathLst>
              <a:path w="611876" h="481394">
                <a:moveTo>
                  <a:pt x="561203" y="0"/>
                </a:moveTo>
                <a:lnTo>
                  <a:pt x="611876" y="100080"/>
                </a:lnTo>
                <a:cubicBezTo>
                  <a:pt x="564581" y="124572"/>
                  <a:pt x="531433" y="149697"/>
                  <a:pt x="512430" y="175456"/>
                </a:cubicBezTo>
                <a:cubicBezTo>
                  <a:pt x="502929" y="188335"/>
                  <a:pt x="495803" y="202429"/>
                  <a:pt x="491053" y="217736"/>
                </a:cubicBezTo>
                <a:lnTo>
                  <a:pt x="489521" y="224578"/>
                </a:lnTo>
                <a:lnTo>
                  <a:pt x="492794" y="224228"/>
                </a:lnTo>
                <a:cubicBezTo>
                  <a:pt x="525732" y="224228"/>
                  <a:pt x="553813" y="236474"/>
                  <a:pt x="577038" y="260966"/>
                </a:cubicBezTo>
                <a:cubicBezTo>
                  <a:pt x="600263" y="285458"/>
                  <a:pt x="611876" y="315440"/>
                  <a:pt x="611876" y="350911"/>
                </a:cubicBezTo>
                <a:cubicBezTo>
                  <a:pt x="611876" y="387227"/>
                  <a:pt x="599841" y="418053"/>
                  <a:pt x="575772" y="443389"/>
                </a:cubicBezTo>
                <a:cubicBezTo>
                  <a:pt x="551702" y="468726"/>
                  <a:pt x="521509" y="481394"/>
                  <a:pt x="485194" y="481394"/>
                </a:cubicBezTo>
                <a:cubicBezTo>
                  <a:pt x="441277" y="481394"/>
                  <a:pt x="404328" y="464925"/>
                  <a:pt x="374346" y="431988"/>
                </a:cubicBezTo>
                <a:cubicBezTo>
                  <a:pt x="344365" y="399050"/>
                  <a:pt x="329374" y="355556"/>
                  <a:pt x="329374" y="301505"/>
                </a:cubicBezTo>
                <a:cubicBezTo>
                  <a:pt x="329374" y="230563"/>
                  <a:pt x="350699" y="169122"/>
                  <a:pt x="393349" y="117182"/>
                </a:cubicBezTo>
                <a:cubicBezTo>
                  <a:pt x="435998" y="65242"/>
                  <a:pt x="491950" y="26181"/>
                  <a:pt x="561203" y="0"/>
                </a:cubicBezTo>
                <a:close/>
                <a:moveTo>
                  <a:pt x="231829" y="0"/>
                </a:moveTo>
                <a:lnTo>
                  <a:pt x="282502" y="100080"/>
                </a:lnTo>
                <a:cubicBezTo>
                  <a:pt x="235207" y="124572"/>
                  <a:pt x="202058" y="149697"/>
                  <a:pt x="183056" y="175456"/>
                </a:cubicBezTo>
                <a:cubicBezTo>
                  <a:pt x="173555" y="188335"/>
                  <a:pt x="166429" y="202429"/>
                  <a:pt x="161678" y="217736"/>
                </a:cubicBezTo>
                <a:lnTo>
                  <a:pt x="160146" y="224578"/>
                </a:lnTo>
                <a:lnTo>
                  <a:pt x="163420" y="224228"/>
                </a:lnTo>
                <a:cubicBezTo>
                  <a:pt x="196357" y="224228"/>
                  <a:pt x="224439" y="236474"/>
                  <a:pt x="247664" y="260966"/>
                </a:cubicBezTo>
                <a:cubicBezTo>
                  <a:pt x="270889" y="285458"/>
                  <a:pt x="282501" y="315440"/>
                  <a:pt x="282502" y="350911"/>
                </a:cubicBezTo>
                <a:cubicBezTo>
                  <a:pt x="282501" y="387227"/>
                  <a:pt x="270467" y="418053"/>
                  <a:pt x="246397" y="443389"/>
                </a:cubicBezTo>
                <a:cubicBezTo>
                  <a:pt x="222327" y="468726"/>
                  <a:pt x="192135" y="481394"/>
                  <a:pt x="155819" y="481394"/>
                </a:cubicBezTo>
                <a:cubicBezTo>
                  <a:pt x="111902" y="481394"/>
                  <a:pt x="74953" y="464925"/>
                  <a:pt x="44972" y="431988"/>
                </a:cubicBezTo>
                <a:cubicBezTo>
                  <a:pt x="14990" y="399050"/>
                  <a:pt x="0" y="355556"/>
                  <a:pt x="0" y="301505"/>
                </a:cubicBezTo>
                <a:cubicBezTo>
                  <a:pt x="0" y="230563"/>
                  <a:pt x="21324" y="169122"/>
                  <a:pt x="63974" y="117182"/>
                </a:cubicBezTo>
                <a:cubicBezTo>
                  <a:pt x="106624" y="65242"/>
                  <a:pt x="162575" y="26181"/>
                  <a:pt x="231829" y="0"/>
                </a:cubicBezTo>
                <a:close/>
              </a:path>
            </a:pathLst>
          </a:custGeom>
          <a:noFill/>
          <a:ln w="25400">
            <a:solidFill>
              <a:srgbClr val="B8DEFF"/>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spcBef>
                <a:spcPts val="600"/>
              </a:spcBef>
            </a:pPr>
            <a:endParaRPr lang="en-US" sz="10000" b="1" i="0">
              <a:latin typeface="+mn-lt"/>
            </a:endParaRPr>
          </a:p>
        </p:txBody>
      </p:sp>
      <p:sp>
        <p:nvSpPr>
          <p:cNvPr id="6" name="Title 1">
            <a:extLst>
              <a:ext uri="{FF2B5EF4-FFF2-40B4-BE49-F238E27FC236}">
                <a16:creationId xmlns:a16="http://schemas.microsoft.com/office/drawing/2014/main" id="{A5204F30-1AF4-524D-A3DC-8D6F9529A61E}"/>
              </a:ext>
            </a:extLst>
          </p:cNvPr>
          <p:cNvSpPr>
            <a:spLocks noGrp="1"/>
          </p:cNvSpPr>
          <p:nvPr>
            <p:ph type="title" hasCustomPrompt="1"/>
          </p:nvPr>
        </p:nvSpPr>
        <p:spPr>
          <a:xfrm>
            <a:off x="773054" y="995363"/>
            <a:ext cx="8086466" cy="4460875"/>
          </a:xfrm>
        </p:spPr>
        <p:txBody>
          <a:bodyPr anchor="ctr" anchorCtr="0"/>
          <a:lstStyle>
            <a:lvl1pPr marL="0" indent="0">
              <a:lnSpc>
                <a:spcPct val="100000"/>
              </a:lnSpc>
              <a:defRPr sz="2800"/>
            </a:lvl1pPr>
          </a:lstStyle>
          <a:p>
            <a:r>
              <a:rPr lang="en-US"/>
              <a:t>Quote placeholder Lorem ipsum dolor sit </a:t>
            </a:r>
            <a:r>
              <a:rPr lang="en-US" err="1"/>
              <a:t>amet</a:t>
            </a:r>
            <a:r>
              <a:rPr lang="en-US"/>
              <a:t>, </a:t>
            </a:r>
            <a:r>
              <a:rPr lang="en-US" err="1"/>
              <a:t>conse</a:t>
            </a:r>
            <a:r>
              <a:rPr lang="en-US"/>
              <a:t> </a:t>
            </a:r>
            <a:r>
              <a:rPr lang="en-US" err="1"/>
              <a:t>ctet</a:t>
            </a:r>
            <a:r>
              <a:rPr lang="en-US"/>
              <a:t> </a:t>
            </a:r>
            <a:r>
              <a:rPr lang="en-US" err="1"/>
              <a:t>ur</a:t>
            </a:r>
            <a:r>
              <a:rPr lang="en-US"/>
              <a:t> </a:t>
            </a:r>
            <a:r>
              <a:rPr lang="en-US" err="1"/>
              <a:t>adip</a:t>
            </a:r>
            <a:r>
              <a:rPr lang="en-US"/>
              <a:t> </a:t>
            </a:r>
            <a:r>
              <a:rPr lang="en-US" err="1"/>
              <a:t>iscing</a:t>
            </a:r>
            <a:r>
              <a:rPr lang="en-US"/>
              <a:t> </a:t>
            </a:r>
            <a:r>
              <a:rPr lang="en-US" err="1"/>
              <a:t>elit</a:t>
            </a:r>
            <a:r>
              <a:rPr lang="en-US"/>
              <a:t>. Mauris </a:t>
            </a:r>
            <a:r>
              <a:rPr lang="en-US" err="1"/>
              <a:t>accum</a:t>
            </a:r>
            <a:r>
              <a:rPr lang="en-US"/>
              <a:t> </a:t>
            </a:r>
            <a:r>
              <a:rPr lang="en-US" err="1"/>
              <a:t>san</a:t>
            </a:r>
            <a:r>
              <a:rPr lang="en-US"/>
              <a:t> </a:t>
            </a:r>
            <a:r>
              <a:rPr lang="en-US" err="1"/>
              <a:t>urna</a:t>
            </a:r>
            <a:r>
              <a:rPr lang="en-US"/>
              <a:t>. Sus </a:t>
            </a:r>
            <a:r>
              <a:rPr lang="en-US" err="1"/>
              <a:t>pendisse</a:t>
            </a:r>
            <a:r>
              <a:rPr lang="en-US"/>
              <a:t> </a:t>
            </a:r>
            <a:r>
              <a:rPr lang="en-US" err="1"/>
              <a:t>sem</a:t>
            </a:r>
            <a:r>
              <a:rPr lang="en-US"/>
              <a:t> per semper </a:t>
            </a:r>
            <a:r>
              <a:rPr lang="en-US" err="1"/>
              <a:t>commodo</a:t>
            </a:r>
            <a:r>
              <a:rPr lang="en-US"/>
              <a:t> lorem.”</a:t>
            </a:r>
          </a:p>
        </p:txBody>
      </p:sp>
      <p:sp>
        <p:nvSpPr>
          <p:cNvPr id="7" name="Text Placeholder 2">
            <a:extLst>
              <a:ext uri="{FF2B5EF4-FFF2-40B4-BE49-F238E27FC236}">
                <a16:creationId xmlns:a16="http://schemas.microsoft.com/office/drawing/2014/main" id="{D53A335E-67E2-3E4F-88F7-0D3EB5BAE73D}"/>
              </a:ext>
            </a:extLst>
          </p:cNvPr>
          <p:cNvSpPr>
            <a:spLocks noGrp="1"/>
          </p:cNvSpPr>
          <p:nvPr>
            <p:ph type="body" idx="1" hasCustomPrompt="1"/>
          </p:nvPr>
        </p:nvSpPr>
        <p:spPr>
          <a:xfrm>
            <a:off x="773056" y="5641514"/>
            <a:ext cx="8086463" cy="347472"/>
          </a:xfrm>
        </p:spPr>
        <p:txBody>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attribution</a:t>
            </a:r>
          </a:p>
        </p:txBody>
      </p:sp>
    </p:spTree>
    <p:extLst>
      <p:ext uri="{BB962C8B-B14F-4D97-AF65-F5344CB8AC3E}">
        <p14:creationId xmlns:p14="http://schemas.microsoft.com/office/powerpoint/2010/main" val="6567366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END">
    <p:bg>
      <p:bgPr>
        <a:solidFill>
          <a:srgbClr val="FFFF00"/>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65764A-9DB5-E0B9-2854-737204071442}"/>
              </a:ext>
            </a:extLst>
          </p:cNvPr>
          <p:cNvSpPr txBox="1"/>
          <p:nvPr userDrawn="1"/>
        </p:nvSpPr>
        <p:spPr>
          <a:xfrm>
            <a:off x="208972" y="189623"/>
            <a:ext cx="11774056" cy="6555641"/>
          </a:xfrm>
          <a:prstGeom prst="rect">
            <a:avLst/>
          </a:prstGeom>
          <a:noFill/>
        </p:spPr>
        <p:txBody>
          <a:bodyPr wrap="none" lIns="0" rIns="0" rtlCol="0">
            <a:spAutoFit/>
          </a:bodyPr>
          <a:lstStyle/>
          <a:p>
            <a:pPr algn="ctr">
              <a:spcBef>
                <a:spcPts val="600"/>
              </a:spcBef>
            </a:pPr>
            <a:r>
              <a:rPr lang="en-US" sz="9600">
                <a:solidFill>
                  <a:srgbClr val="00002D"/>
                </a:solidFill>
                <a:latin typeface="+mj-lt"/>
              </a:rPr>
              <a:t>Don’t use this or any </a:t>
            </a:r>
            <a:br>
              <a:rPr lang="en-US" sz="9600">
                <a:solidFill>
                  <a:srgbClr val="00002D"/>
                </a:solidFill>
                <a:latin typeface="+mj-lt"/>
              </a:rPr>
            </a:br>
            <a:r>
              <a:rPr lang="en-US" sz="9600">
                <a:solidFill>
                  <a:srgbClr val="00002D"/>
                </a:solidFill>
                <a:latin typeface="+mj-lt"/>
              </a:rPr>
              <a:t>layouts after this.</a:t>
            </a:r>
            <a:endParaRPr lang="en-US" sz="4400">
              <a:solidFill>
                <a:srgbClr val="00002D"/>
              </a:solidFill>
              <a:latin typeface="+mj-lt"/>
            </a:endParaRPr>
          </a:p>
          <a:p>
            <a:pPr algn="ctr">
              <a:spcBef>
                <a:spcPts val="3600"/>
              </a:spcBef>
            </a:pPr>
            <a:r>
              <a:rPr lang="en-US" sz="6600">
                <a:solidFill>
                  <a:srgbClr val="00002D"/>
                </a:solidFill>
              </a:rPr>
              <a:t>Choose an appropriate </a:t>
            </a:r>
            <a:br>
              <a:rPr lang="en-US" sz="6600">
                <a:solidFill>
                  <a:srgbClr val="00002D"/>
                </a:solidFill>
              </a:rPr>
            </a:br>
            <a:r>
              <a:rPr lang="en-US" sz="6600">
                <a:solidFill>
                  <a:srgbClr val="00002D"/>
                </a:solidFill>
              </a:rPr>
              <a:t>layout from </a:t>
            </a:r>
            <a:br>
              <a:rPr lang="en-US" sz="6600">
                <a:solidFill>
                  <a:srgbClr val="00002D"/>
                </a:solidFill>
              </a:rPr>
            </a:br>
            <a:r>
              <a:rPr lang="en-US" sz="6600" b="1">
                <a:solidFill>
                  <a:srgbClr val="00002D"/>
                </a:solidFill>
              </a:rPr>
              <a:t>Home</a:t>
            </a:r>
            <a:r>
              <a:rPr lang="en-US" sz="6600">
                <a:solidFill>
                  <a:srgbClr val="00002D"/>
                </a:solidFill>
              </a:rPr>
              <a:t> &gt; </a:t>
            </a:r>
            <a:r>
              <a:rPr lang="en-US" sz="6600" b="1">
                <a:solidFill>
                  <a:srgbClr val="00002D"/>
                </a:solidFill>
              </a:rPr>
              <a:t>Layout gallery</a:t>
            </a:r>
            <a:r>
              <a:rPr lang="en-US" sz="6600">
                <a:solidFill>
                  <a:srgbClr val="00002D"/>
                </a:solidFill>
              </a:rPr>
              <a:t>.</a:t>
            </a:r>
          </a:p>
        </p:txBody>
      </p:sp>
      <p:sp>
        <p:nvSpPr>
          <p:cNvPr id="2" name="TextBox 1">
            <a:extLst>
              <a:ext uri="{FF2B5EF4-FFF2-40B4-BE49-F238E27FC236}">
                <a16:creationId xmlns:a16="http://schemas.microsoft.com/office/drawing/2014/main" id="{C79BCB47-00AD-DF01-2171-B288626052B6}"/>
              </a:ext>
            </a:extLst>
          </p:cNvPr>
          <p:cNvSpPr txBox="1"/>
          <p:nvPr userDrawn="1"/>
        </p:nvSpPr>
        <p:spPr>
          <a:xfrm>
            <a:off x="12346930" y="835909"/>
            <a:ext cx="2668480" cy="2539157"/>
          </a:xfrm>
          <a:prstGeom prst="rect">
            <a:avLst/>
          </a:prstGeom>
          <a:noFill/>
          <a:ln>
            <a:solidFill>
              <a:srgbClr val="707996"/>
            </a:solidFill>
          </a:ln>
        </p:spPr>
        <p:txBody>
          <a:bodyPr wrap="square" lIns="91440" rIns="91440" rtlCol="0">
            <a:spAutoFit/>
          </a:bodyPr>
          <a:lstStyle/>
          <a:p>
            <a:pPr algn="l">
              <a:spcBef>
                <a:spcPts val="600"/>
              </a:spcBef>
            </a:pPr>
            <a:r>
              <a:rPr lang="en-US" sz="1400">
                <a:solidFill>
                  <a:srgbClr val="00002D"/>
                </a:solidFill>
              </a:rPr>
              <a:t>When pasting legacy slides that doesn’t match any of the new layouts, PowerPoint adds it to the end of the layouts and prepends the layout name with a number (</a:t>
            </a:r>
            <a:r>
              <a:rPr lang="en-US" sz="1400" err="1">
                <a:solidFill>
                  <a:srgbClr val="00002D"/>
                </a:solidFill>
              </a:rPr>
              <a:t>1_Title</a:t>
            </a:r>
            <a:r>
              <a:rPr lang="en-US" sz="1400">
                <a:solidFill>
                  <a:srgbClr val="00002D"/>
                </a:solidFill>
              </a:rPr>
              <a:t> Slide, for example). </a:t>
            </a:r>
          </a:p>
          <a:p>
            <a:pPr algn="l">
              <a:spcBef>
                <a:spcPts val="600"/>
              </a:spcBef>
            </a:pPr>
            <a:r>
              <a:rPr lang="en-US" sz="1400">
                <a:solidFill>
                  <a:srgbClr val="00002D"/>
                </a:solidFill>
              </a:rPr>
              <a:t>These “orphaned” layouts should not be used, instead choose from the layouts preceding this one. </a:t>
            </a:r>
          </a:p>
        </p:txBody>
      </p:sp>
    </p:spTree>
    <p:extLst>
      <p:ext uri="{BB962C8B-B14F-4D97-AF65-F5344CB8AC3E}">
        <p14:creationId xmlns:p14="http://schemas.microsoft.com/office/powerpoint/2010/main" val="29959315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18" Type="http://schemas.openxmlformats.org/officeDocument/2006/relationships/image" Target="../media/image2.png"/><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theme" Target="../theme/theme2.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9.xml"/><Relationship Id="rId13" Type="http://schemas.openxmlformats.org/officeDocument/2006/relationships/slideLayout" Target="../slideLayouts/slideLayout44.xml"/><Relationship Id="rId18" Type="http://schemas.openxmlformats.org/officeDocument/2006/relationships/image" Target="../media/image1.png"/><Relationship Id="rId3" Type="http://schemas.openxmlformats.org/officeDocument/2006/relationships/slideLayout" Target="../slideLayouts/slideLayout34.xml"/><Relationship Id="rId7" Type="http://schemas.openxmlformats.org/officeDocument/2006/relationships/slideLayout" Target="../slideLayouts/slideLayout38.xml"/><Relationship Id="rId12" Type="http://schemas.openxmlformats.org/officeDocument/2006/relationships/slideLayout" Target="../slideLayouts/slideLayout43.xml"/><Relationship Id="rId17" Type="http://schemas.openxmlformats.org/officeDocument/2006/relationships/theme" Target="../theme/theme3.xml"/><Relationship Id="rId2" Type="http://schemas.openxmlformats.org/officeDocument/2006/relationships/slideLayout" Target="../slideLayouts/slideLayout33.xml"/><Relationship Id="rId16" Type="http://schemas.openxmlformats.org/officeDocument/2006/relationships/slideLayout" Target="../slideLayouts/slideLayout47.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5" Type="http://schemas.openxmlformats.org/officeDocument/2006/relationships/slideLayout" Target="../slideLayouts/slideLayout36.xml"/><Relationship Id="rId15" Type="http://schemas.openxmlformats.org/officeDocument/2006/relationships/slideLayout" Target="../slideLayouts/slideLayout46.xml"/><Relationship Id="rId10" Type="http://schemas.openxmlformats.org/officeDocument/2006/relationships/slideLayout" Target="../slideLayouts/slideLayout41.xml"/><Relationship Id="rId4" Type="http://schemas.openxmlformats.org/officeDocument/2006/relationships/slideLayout" Target="../slideLayouts/slideLayout35.xml"/><Relationship Id="rId9" Type="http://schemas.openxmlformats.org/officeDocument/2006/relationships/slideLayout" Target="../slideLayouts/slideLayout40.xml"/><Relationship Id="rId14"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61950"/>
            <a:ext cx="11274552" cy="451231"/>
          </a:xfrm>
          <a:prstGeom prst="rect">
            <a:avLst/>
          </a:prstGeom>
        </p:spPr>
        <p:txBody>
          <a:bodyPr vert="horz" lIns="0" tIns="0" rIns="0" bIns="0" rtlCol="0" anchor="t" anchorCtr="0">
            <a:noAutofit/>
          </a:bodyPr>
          <a:lstStyle/>
          <a:p>
            <a:r>
              <a:rPr lang="en-US"/>
              <a:t>Click to edit title</a:t>
            </a:r>
          </a:p>
        </p:txBody>
      </p:sp>
      <p:sp>
        <p:nvSpPr>
          <p:cNvPr id="3" name="Text Placeholder 2"/>
          <p:cNvSpPr>
            <a:spLocks noGrp="1"/>
          </p:cNvSpPr>
          <p:nvPr>
            <p:ph type="body" idx="1"/>
          </p:nvPr>
        </p:nvSpPr>
        <p:spPr>
          <a:xfrm>
            <a:off x="457200" y="1527048"/>
            <a:ext cx="11274552" cy="4462272"/>
          </a:xfrm>
          <a:prstGeom prst="rect">
            <a:avLst/>
          </a:prstGeom>
        </p:spPr>
        <p:txBody>
          <a:bodyPr vert="horz" lIns="0" tIns="0" rIns="0" bIns="0" rtlCol="0">
            <a:noAutofit/>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14" name="TextBox 13">
            <a:extLst>
              <a:ext uri="{FF2B5EF4-FFF2-40B4-BE49-F238E27FC236}">
                <a16:creationId xmlns:a16="http://schemas.microsoft.com/office/drawing/2014/main" id="{4C02A410-1807-488C-9458-4CFAF1E4E8F0}"/>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chemeClr val="tx1"/>
                </a:solidFill>
              </a:rPr>
              <a:t>‹#›</a:t>
            </a:fld>
            <a:r>
              <a:rPr lang="en-US" sz="700" b="0">
                <a:solidFill>
                  <a:schemeClr val="tx1"/>
                </a:solidFill>
              </a:rPr>
              <a:t>	© 2026 Gartner, Inc. and/or its affiliates. All rights reserved.</a:t>
            </a:r>
          </a:p>
        </p:txBody>
      </p:sp>
      <p:pic>
        <p:nvPicPr>
          <p:cNvPr id="7" name="Picture 6">
            <a:extLst>
              <a:ext uri="{FF2B5EF4-FFF2-40B4-BE49-F238E27FC236}">
                <a16:creationId xmlns:a16="http://schemas.microsoft.com/office/drawing/2014/main" id="{57E7FBBB-CE99-4B6D-A472-B54EFCF17046}"/>
              </a:ext>
            </a:extLst>
          </p:cNvPr>
          <p:cNvPicPr>
            <a:picLocks noChangeAspect="1"/>
          </p:cNvPicPr>
          <p:nvPr/>
        </p:nvPicPr>
        <p:blipFill>
          <a:blip r:embed="rId17">
            <a:extLst>
              <a:ext uri="{28A0092B-C50C-407E-A947-70E740481C1C}">
                <a14:useLocalDpi xmlns:a14="http://schemas.microsoft.com/office/drawing/2010/main" val="0"/>
              </a:ext>
            </a:extLst>
          </a:blip>
          <a:srcRect t="226" b="226"/>
          <a:stretch/>
        </p:blipFill>
        <p:spPr>
          <a:xfrm>
            <a:off x="10454640" y="6239533"/>
            <a:ext cx="1350666" cy="307571"/>
          </a:xfrm>
          <a:prstGeom prst="rect">
            <a:avLst/>
          </a:prstGeom>
        </p:spPr>
      </p:pic>
      <p:sp>
        <p:nvSpPr>
          <p:cNvPr id="4" name="TextBox 3">
            <a:extLst>
              <a:ext uri="{FF2B5EF4-FFF2-40B4-BE49-F238E27FC236}">
                <a16:creationId xmlns:a16="http://schemas.microsoft.com/office/drawing/2014/main" id="{C6FD1AB8-BC4B-C0B0-7BDC-BA24387708A3}"/>
              </a:ext>
            </a:extLst>
          </p:cNvPr>
          <p:cNvSpPr txBox="1"/>
          <p:nvPr userDrawn="1"/>
        </p:nvSpPr>
        <p:spPr>
          <a:xfrm>
            <a:off x="694944" y="6302222"/>
            <a:ext cx="2313432" cy="107722"/>
          </a:xfrm>
          <a:prstGeom prst="rect">
            <a:avLst/>
          </a:prstGeom>
          <a:noFill/>
        </p:spPr>
        <p:txBody>
          <a:bodyPr wrap="square" lIns="0" tIns="0" rIns="0" bIns="0" rtlCol="0" anchor="b" anchorCtr="0">
            <a:spAutoFit/>
          </a:bodyPr>
          <a:lstStyle/>
          <a:p>
            <a:pPr>
              <a:lnSpc>
                <a:spcPct val="100000"/>
              </a:lnSpc>
              <a:spcBef>
                <a:spcPts val="0"/>
              </a:spcBef>
              <a:spcAft>
                <a:spcPts val="0"/>
              </a:spcAft>
            </a:pPr>
            <a:r>
              <a:rPr lang="en-US" sz="700" b="1">
                <a:solidFill>
                  <a:schemeClr val="tx1"/>
                </a:solidFill>
              </a:rPr>
              <a:t>Gartner Tool</a:t>
            </a:r>
          </a:p>
        </p:txBody>
      </p:sp>
    </p:spTree>
    <p:extLst>
      <p:ext uri="{BB962C8B-B14F-4D97-AF65-F5344CB8AC3E}">
        <p14:creationId xmlns:p14="http://schemas.microsoft.com/office/powerpoint/2010/main" val="377813297"/>
      </p:ext>
    </p:extLst>
  </p:cSld>
  <p:clrMap bg1="lt1" tx1="dk1" bg2="lt2" tx2="dk2" accent1="accent1" accent2="accent2" accent3="accent3" accent4="accent4" accent5="accent5" accent6="accent6" hlink="hlink" folHlink="folHlink"/>
  <p:sldLayoutIdLst>
    <p:sldLayoutId id="2147483929" r:id="rId1"/>
    <p:sldLayoutId id="2147483854" r:id="rId2"/>
    <p:sldLayoutId id="2147483855" r:id="rId3"/>
    <p:sldLayoutId id="2147483856" r:id="rId4"/>
    <p:sldLayoutId id="2147483857" r:id="rId5"/>
    <p:sldLayoutId id="2147483858" r:id="rId6"/>
    <p:sldLayoutId id="2147483859" r:id="rId7"/>
    <p:sldLayoutId id="2147483860" r:id="rId8"/>
    <p:sldLayoutId id="2147483943" r:id="rId9"/>
    <p:sldLayoutId id="2147483944" r:id="rId10"/>
    <p:sldLayoutId id="2147483948" r:id="rId11"/>
    <p:sldLayoutId id="2147483947" r:id="rId12"/>
    <p:sldLayoutId id="2147483867" r:id="rId13"/>
    <p:sldLayoutId id="2147483941" r:id="rId14"/>
    <p:sldLayoutId id="2147483949" r:id="rId15"/>
  </p:sldLayoutIdLst>
  <mc:AlternateContent xmlns:mc="http://schemas.openxmlformats.org/markup-compatibility/2006" xmlns:p14="http://schemas.microsoft.com/office/powerpoint/2010/main">
    <mc:Choice Requires="p14">
      <p:transition p14:dur="10"/>
    </mc:Choice>
    <mc:Fallback xmlns="">
      <p:transition/>
    </mc:Fallback>
  </mc:AlternateContent>
  <p:hf sldNum="0" hdr="0" ftr="0" dt="0"/>
  <p:txStyles>
    <p:titleStyle>
      <a:lvl1pPr algn="l" defTabSz="914400" rtl="0" eaLnBrk="1" latinLnBrk="0" hangingPunct="1">
        <a:lnSpc>
          <a:spcPct val="100000"/>
        </a:lnSpc>
        <a:spcBef>
          <a:spcPts val="0"/>
        </a:spcBef>
        <a:spcAft>
          <a:spcPts val="0"/>
        </a:spcAft>
        <a:buNone/>
        <a:defRPr sz="2800" kern="120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1pPr>
      <a:lvl2pPr marL="630936" indent="-292608"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2pPr>
      <a:lvl3pPr marL="978408"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3pPr>
      <a:lvl4pPr marL="1380744" indent="-292608" algn="l" defTabSz="914400" rtl="0" eaLnBrk="1" latinLnBrk="0" hangingPunct="1">
        <a:lnSpc>
          <a:spcPct val="100000"/>
        </a:lnSpc>
        <a:spcBef>
          <a:spcPts val="1200"/>
        </a:spcBef>
        <a:spcAft>
          <a:spcPts val="0"/>
        </a:spcAft>
        <a:buSzPct val="100000"/>
        <a:buFont typeface="Arial" panose="020B0604020202020204" pitchFamily="34" charset="0"/>
        <a:buChar char="–"/>
        <a:tabLst/>
        <a:defRPr sz="2000" kern="1200">
          <a:solidFill>
            <a:schemeClr val="tx1"/>
          </a:solidFill>
          <a:latin typeface="+mn-lt"/>
          <a:ea typeface="+mn-ea"/>
          <a:cs typeface="+mn-cs"/>
        </a:defRPr>
      </a:lvl4pPr>
      <a:lvl5pPr marL="1719072" indent="-228600" algn="l" defTabSz="914400" rtl="0" eaLnBrk="1" latinLnBrk="0" hangingPunct="1">
        <a:lnSpc>
          <a:spcPct val="100000"/>
        </a:lnSpc>
        <a:spcBef>
          <a:spcPts val="1200"/>
        </a:spcBef>
        <a:spcAft>
          <a:spcPts val="0"/>
        </a:spcAft>
        <a:buFont typeface="Arial" panose="020B0604020202020204" pitchFamily="34" charset="0"/>
        <a:buChar char="•"/>
        <a:tabLst/>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4" orient="horz" pos="2160" userDrawn="1">
          <p15:clr>
            <a:srgbClr val="A4A3A4"/>
          </p15:clr>
        </p15:guide>
        <p15:guide id="15" pos="3840" userDrawn="1">
          <p15:clr>
            <a:srgbClr val="A4A3A4"/>
          </p15:clr>
        </p15:guide>
        <p15:guide id="16" orient="horz" pos="228" userDrawn="1">
          <p15:clr>
            <a:srgbClr val="5ACBF0"/>
          </p15:clr>
        </p15:guide>
        <p15:guide id="17" orient="horz" pos="537" userDrawn="1">
          <p15:clr>
            <a:srgbClr val="FDE53C"/>
          </p15:clr>
        </p15:guide>
        <p15:guide id="18" orient="horz" pos="848" userDrawn="1">
          <p15:clr>
            <a:srgbClr val="FDE53C"/>
          </p15:clr>
        </p15:guide>
        <p15:guide id="19" orient="horz" pos="960" userDrawn="1">
          <p15:clr>
            <a:srgbClr val="5ACBF0"/>
          </p15:clr>
        </p15:guide>
        <p15:guide id="20" orient="horz" pos="3773" userDrawn="1">
          <p15:clr>
            <a:srgbClr val="FBAE40"/>
          </p15:clr>
        </p15:guide>
        <p15:guide id="21" orient="horz" pos="4001" userDrawn="1">
          <p15:clr>
            <a:srgbClr val="5ACBF0"/>
          </p15:clr>
        </p15:guide>
        <p15:guide id="22" orient="horz" pos="4113" userDrawn="1">
          <p15:clr>
            <a:srgbClr val="5ACBF0"/>
          </p15:clr>
        </p15:guide>
        <p15:guide id="23" pos="288" userDrawn="1">
          <p15:clr>
            <a:srgbClr val="5ACBF0"/>
          </p15:clr>
        </p15:guide>
        <p15:guide id="24" pos="3756" userDrawn="1">
          <p15:clr>
            <a:srgbClr val="5ACBF0"/>
          </p15:clr>
        </p15:guide>
        <p15:guide id="25" pos="3927" userDrawn="1">
          <p15:clr>
            <a:srgbClr val="5ACBF0"/>
          </p15:clr>
        </p15:guide>
        <p15:guide id="26" pos="7394" userDrawn="1">
          <p15:clr>
            <a:srgbClr val="5ACBF0"/>
          </p15:clr>
        </p15:guide>
        <p15:guide id="27" orient="horz" pos="3969" userDrawn="1">
          <p15:clr>
            <a:srgbClr val="9FCC3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61950"/>
            <a:ext cx="11274552" cy="451231"/>
          </a:xfrm>
          <a:prstGeom prst="rect">
            <a:avLst/>
          </a:prstGeom>
        </p:spPr>
        <p:txBody>
          <a:bodyPr vert="horz" lIns="0" tIns="0" rIns="0" bIns="0" rtlCol="0" anchor="t" anchorCtr="0">
            <a:noAutofit/>
          </a:bodyPr>
          <a:lstStyle/>
          <a:p>
            <a:r>
              <a:rPr lang="en-US"/>
              <a:t>Click to edit title</a:t>
            </a:r>
          </a:p>
        </p:txBody>
      </p:sp>
      <p:sp>
        <p:nvSpPr>
          <p:cNvPr id="3" name="Text Placeholder 2"/>
          <p:cNvSpPr>
            <a:spLocks noGrp="1"/>
          </p:cNvSpPr>
          <p:nvPr>
            <p:ph type="body" idx="1"/>
          </p:nvPr>
        </p:nvSpPr>
        <p:spPr>
          <a:xfrm>
            <a:off x="457200" y="1527048"/>
            <a:ext cx="11274552" cy="4462272"/>
          </a:xfrm>
          <a:prstGeom prst="rect">
            <a:avLst/>
          </a:prstGeom>
        </p:spPr>
        <p:txBody>
          <a:bodyPr vert="horz" lIns="0" tIns="0" rIns="0" bIns="0" rtlCol="0">
            <a:noAutofit/>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14" name="TextBox 13">
            <a:extLst>
              <a:ext uri="{FF2B5EF4-FFF2-40B4-BE49-F238E27FC236}">
                <a16:creationId xmlns:a16="http://schemas.microsoft.com/office/drawing/2014/main" id="{4C02A410-1807-488C-9458-4CFAF1E4E8F0}"/>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chemeClr val="tx1"/>
                </a:solidFill>
              </a:rPr>
              <a:t>‹#›</a:t>
            </a:fld>
            <a:r>
              <a:rPr lang="en-US" sz="700" b="0">
                <a:solidFill>
                  <a:schemeClr val="tx1"/>
                </a:solidFill>
              </a:rPr>
              <a:t>	RESTRICTED © 2026 Gartner, Inc. and/or its affiliates. All rights reserved.</a:t>
            </a:r>
          </a:p>
        </p:txBody>
      </p:sp>
      <p:pic>
        <p:nvPicPr>
          <p:cNvPr id="7" name="Picture 6">
            <a:extLst>
              <a:ext uri="{FF2B5EF4-FFF2-40B4-BE49-F238E27FC236}">
                <a16:creationId xmlns:a16="http://schemas.microsoft.com/office/drawing/2014/main" id="{57E7FBBB-CE99-4B6D-A472-B54EFCF17046}"/>
              </a:ext>
            </a:extLst>
          </p:cNvPr>
          <p:cNvPicPr>
            <a:picLocks noChangeAspect="1"/>
          </p:cNvPicPr>
          <p:nvPr/>
        </p:nvPicPr>
        <p:blipFill>
          <a:blip r:embed="rId18">
            <a:extLst>
              <a:ext uri="{28A0092B-C50C-407E-A947-70E740481C1C}">
                <a14:useLocalDpi xmlns:a14="http://schemas.microsoft.com/office/drawing/2010/main" val="0"/>
              </a:ext>
            </a:extLst>
          </a:blip>
          <a:srcRect t="217" b="217"/>
          <a:stretch/>
        </p:blipFill>
        <p:spPr>
          <a:xfrm>
            <a:off x="10454640" y="6239533"/>
            <a:ext cx="1350441" cy="307571"/>
          </a:xfrm>
          <a:prstGeom prst="rect">
            <a:avLst/>
          </a:prstGeom>
        </p:spPr>
      </p:pic>
      <p:sp>
        <p:nvSpPr>
          <p:cNvPr id="4" name="TextBox 3">
            <a:extLst>
              <a:ext uri="{FF2B5EF4-FFF2-40B4-BE49-F238E27FC236}">
                <a16:creationId xmlns:a16="http://schemas.microsoft.com/office/drawing/2014/main" id="{A124F1BB-9B70-FE65-6824-710EE92FB138}"/>
              </a:ext>
            </a:extLst>
          </p:cNvPr>
          <p:cNvSpPr txBox="1"/>
          <p:nvPr userDrawn="1"/>
        </p:nvSpPr>
        <p:spPr>
          <a:xfrm>
            <a:off x="694944" y="6302222"/>
            <a:ext cx="2313432" cy="107722"/>
          </a:xfrm>
          <a:prstGeom prst="rect">
            <a:avLst/>
          </a:prstGeom>
          <a:noFill/>
        </p:spPr>
        <p:txBody>
          <a:bodyPr wrap="square" lIns="0" tIns="0" rIns="0" bIns="0" rtlCol="0" anchor="b" anchorCtr="0">
            <a:spAutoFit/>
          </a:bodyPr>
          <a:lstStyle/>
          <a:p>
            <a:pPr>
              <a:lnSpc>
                <a:spcPct val="100000"/>
              </a:lnSpc>
              <a:spcBef>
                <a:spcPts val="0"/>
              </a:spcBef>
              <a:spcAft>
                <a:spcPts val="0"/>
              </a:spcAft>
            </a:pPr>
            <a:r>
              <a:rPr lang="en-US" sz="700" b="1">
                <a:solidFill>
                  <a:schemeClr val="tx1"/>
                </a:solidFill>
              </a:rPr>
              <a:t>Gartner Tool</a:t>
            </a:r>
          </a:p>
        </p:txBody>
      </p:sp>
    </p:spTree>
    <p:extLst>
      <p:ext uri="{BB962C8B-B14F-4D97-AF65-F5344CB8AC3E}">
        <p14:creationId xmlns:p14="http://schemas.microsoft.com/office/powerpoint/2010/main" val="1624709770"/>
      </p:ext>
    </p:extLst>
  </p:cSld>
  <p:clrMap bg1="dk1" tx1="lt1" bg2="dk2" tx2="lt2" accent1="accent1" accent2="accent2" accent3="accent3" accent4="accent4" accent5="accent5" accent6="accent6" hlink="hlink" folHlink="folHlink"/>
  <p:sldLayoutIdLst>
    <p:sldLayoutId id="2147483954" r:id="rId1"/>
    <p:sldLayoutId id="2147483953" r:id="rId2"/>
    <p:sldLayoutId id="2147483955" r:id="rId3"/>
    <p:sldLayoutId id="2147483956" r:id="rId4"/>
    <p:sldLayoutId id="2147483957" r:id="rId5"/>
    <p:sldLayoutId id="2147483958" r:id="rId6"/>
    <p:sldLayoutId id="2147483959" r:id="rId7"/>
    <p:sldLayoutId id="2147483960" r:id="rId8"/>
    <p:sldLayoutId id="2147483961" r:id="rId9"/>
    <p:sldLayoutId id="2147483962" r:id="rId10"/>
    <p:sldLayoutId id="2147483963" r:id="rId11"/>
    <p:sldLayoutId id="2147483964" r:id="rId12"/>
    <p:sldLayoutId id="2147483965" r:id="rId13"/>
    <p:sldLayoutId id="2147483966" r:id="rId14"/>
    <p:sldLayoutId id="2147483967" r:id="rId15"/>
    <p:sldLayoutId id="2147483985" r:id="rId16"/>
  </p:sldLayoutIdLst>
  <mc:AlternateContent xmlns:mc="http://schemas.openxmlformats.org/markup-compatibility/2006" xmlns:p14="http://schemas.microsoft.com/office/powerpoint/2010/main">
    <mc:Choice Requires="p14">
      <p:transition p14:dur="10"/>
    </mc:Choice>
    <mc:Fallback xmlns="">
      <p:transition/>
    </mc:Fallback>
  </mc:AlternateContent>
  <p:hf sldNum="0" hdr="0" ftr="0" dt="0"/>
  <p:txStyles>
    <p:titleStyle>
      <a:lvl1pPr algn="l" defTabSz="914400" rtl="0" eaLnBrk="1" latinLnBrk="0" hangingPunct="1">
        <a:lnSpc>
          <a:spcPct val="100000"/>
        </a:lnSpc>
        <a:spcBef>
          <a:spcPts val="0"/>
        </a:spcBef>
        <a:spcAft>
          <a:spcPts val="0"/>
        </a:spcAft>
        <a:buNone/>
        <a:defRPr sz="2800" kern="120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1pPr>
      <a:lvl2pPr marL="630936" indent="-292608"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2pPr>
      <a:lvl3pPr marL="978408"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3pPr>
      <a:lvl4pPr marL="1380744" indent="-292608" algn="l" defTabSz="914400" rtl="0" eaLnBrk="1" latinLnBrk="0" hangingPunct="1">
        <a:lnSpc>
          <a:spcPct val="100000"/>
        </a:lnSpc>
        <a:spcBef>
          <a:spcPts val="1200"/>
        </a:spcBef>
        <a:spcAft>
          <a:spcPts val="0"/>
        </a:spcAft>
        <a:buSzPct val="100000"/>
        <a:buFont typeface="Arial" panose="020B0604020202020204" pitchFamily="34" charset="0"/>
        <a:buChar char="–"/>
        <a:tabLst/>
        <a:defRPr sz="2000" kern="1200">
          <a:solidFill>
            <a:schemeClr val="tx1"/>
          </a:solidFill>
          <a:latin typeface="+mn-lt"/>
          <a:ea typeface="+mn-ea"/>
          <a:cs typeface="+mn-cs"/>
        </a:defRPr>
      </a:lvl4pPr>
      <a:lvl5pPr marL="1719072" indent="-228600" algn="l" defTabSz="914400" rtl="0" eaLnBrk="1" latinLnBrk="0" hangingPunct="1">
        <a:lnSpc>
          <a:spcPct val="100000"/>
        </a:lnSpc>
        <a:spcBef>
          <a:spcPts val="1200"/>
        </a:spcBef>
        <a:spcAft>
          <a:spcPts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4" orient="horz" pos="2160" userDrawn="1">
          <p15:clr>
            <a:srgbClr val="A4A3A4"/>
          </p15:clr>
        </p15:guide>
        <p15:guide id="15" pos="3840" userDrawn="1">
          <p15:clr>
            <a:srgbClr val="A4A3A4"/>
          </p15:clr>
        </p15:guide>
        <p15:guide id="16" orient="horz" pos="228" userDrawn="1">
          <p15:clr>
            <a:srgbClr val="5ACBF0"/>
          </p15:clr>
        </p15:guide>
        <p15:guide id="17" orient="horz" pos="537" userDrawn="1">
          <p15:clr>
            <a:srgbClr val="FDE53C"/>
          </p15:clr>
        </p15:guide>
        <p15:guide id="18" orient="horz" pos="848" userDrawn="1">
          <p15:clr>
            <a:srgbClr val="FDE53C"/>
          </p15:clr>
        </p15:guide>
        <p15:guide id="19" orient="horz" pos="960" userDrawn="1">
          <p15:clr>
            <a:srgbClr val="5ACBF0"/>
          </p15:clr>
        </p15:guide>
        <p15:guide id="20" orient="horz" pos="3773" userDrawn="1">
          <p15:clr>
            <a:srgbClr val="FBAE40"/>
          </p15:clr>
        </p15:guide>
        <p15:guide id="21" orient="horz" pos="4001" userDrawn="1">
          <p15:clr>
            <a:srgbClr val="5ACBF0"/>
          </p15:clr>
        </p15:guide>
        <p15:guide id="22" orient="horz" pos="4113" userDrawn="1">
          <p15:clr>
            <a:srgbClr val="5ACBF0"/>
          </p15:clr>
        </p15:guide>
        <p15:guide id="23" pos="288" userDrawn="1">
          <p15:clr>
            <a:srgbClr val="5ACBF0"/>
          </p15:clr>
        </p15:guide>
        <p15:guide id="24" pos="3756" userDrawn="1">
          <p15:clr>
            <a:srgbClr val="5ACBF0"/>
          </p15:clr>
        </p15:guide>
        <p15:guide id="25" pos="3927" userDrawn="1">
          <p15:clr>
            <a:srgbClr val="5ACBF0"/>
          </p15:clr>
        </p15:guide>
        <p15:guide id="26" pos="7394" userDrawn="1">
          <p15:clr>
            <a:srgbClr val="5ACBF0"/>
          </p15:clr>
        </p15:guide>
        <p15:guide id="27" orient="horz" pos="3969" userDrawn="1">
          <p15:clr>
            <a:srgbClr val="9FCC3B"/>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E0F1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61950"/>
            <a:ext cx="11274552" cy="451231"/>
          </a:xfrm>
          <a:prstGeom prst="rect">
            <a:avLst/>
          </a:prstGeom>
        </p:spPr>
        <p:txBody>
          <a:bodyPr vert="horz" lIns="0" tIns="0" rIns="0" bIns="0" rtlCol="0" anchor="t" anchorCtr="0">
            <a:noAutofit/>
          </a:bodyPr>
          <a:lstStyle/>
          <a:p>
            <a:r>
              <a:rPr lang="en-US"/>
              <a:t>Click to edit title</a:t>
            </a:r>
          </a:p>
        </p:txBody>
      </p:sp>
      <p:sp>
        <p:nvSpPr>
          <p:cNvPr id="3" name="Text Placeholder 2"/>
          <p:cNvSpPr>
            <a:spLocks noGrp="1"/>
          </p:cNvSpPr>
          <p:nvPr>
            <p:ph type="body" idx="1"/>
          </p:nvPr>
        </p:nvSpPr>
        <p:spPr>
          <a:xfrm>
            <a:off x="457200" y="1527048"/>
            <a:ext cx="11274552" cy="4462272"/>
          </a:xfrm>
          <a:prstGeom prst="rect">
            <a:avLst/>
          </a:prstGeom>
        </p:spPr>
        <p:txBody>
          <a:bodyPr vert="horz" lIns="0" tIns="0" rIns="0" bIns="0" rtlCol="0">
            <a:noAutofit/>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14" name="TextBox 13">
            <a:extLst>
              <a:ext uri="{FF2B5EF4-FFF2-40B4-BE49-F238E27FC236}">
                <a16:creationId xmlns:a16="http://schemas.microsoft.com/office/drawing/2014/main" id="{4C02A410-1807-488C-9458-4CFAF1E4E8F0}"/>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chemeClr val="tx1"/>
                </a:solidFill>
              </a:rPr>
              <a:t>‹#›</a:t>
            </a:fld>
            <a:r>
              <a:rPr lang="en-US" sz="700" b="0">
                <a:solidFill>
                  <a:schemeClr val="tx1"/>
                </a:solidFill>
              </a:rPr>
              <a:t>	RESTRICTED © 2026 Gartner, Inc. and/or its affiliates. All rights reserved.</a:t>
            </a:r>
          </a:p>
        </p:txBody>
      </p:sp>
      <p:pic>
        <p:nvPicPr>
          <p:cNvPr id="7" name="Picture 6">
            <a:extLst>
              <a:ext uri="{FF2B5EF4-FFF2-40B4-BE49-F238E27FC236}">
                <a16:creationId xmlns:a16="http://schemas.microsoft.com/office/drawing/2014/main" id="{57E7FBBB-CE99-4B6D-A472-B54EFCF17046}"/>
              </a:ext>
            </a:extLst>
          </p:cNvPr>
          <p:cNvPicPr>
            <a:picLocks noChangeAspect="1"/>
          </p:cNvPicPr>
          <p:nvPr/>
        </p:nvPicPr>
        <p:blipFill>
          <a:blip r:embed="rId18">
            <a:extLst>
              <a:ext uri="{28A0092B-C50C-407E-A947-70E740481C1C}">
                <a14:useLocalDpi xmlns:a14="http://schemas.microsoft.com/office/drawing/2010/main" val="0"/>
              </a:ext>
            </a:extLst>
          </a:blip>
          <a:srcRect t="226" b="226"/>
          <a:stretch/>
        </p:blipFill>
        <p:spPr>
          <a:xfrm>
            <a:off x="10454640" y="6239533"/>
            <a:ext cx="1350666" cy="307571"/>
          </a:xfrm>
          <a:prstGeom prst="rect">
            <a:avLst/>
          </a:prstGeom>
        </p:spPr>
      </p:pic>
      <p:sp>
        <p:nvSpPr>
          <p:cNvPr id="4" name="TextBox 3">
            <a:extLst>
              <a:ext uri="{FF2B5EF4-FFF2-40B4-BE49-F238E27FC236}">
                <a16:creationId xmlns:a16="http://schemas.microsoft.com/office/drawing/2014/main" id="{5AC81520-B590-E338-ED37-D470E9E476C8}"/>
              </a:ext>
            </a:extLst>
          </p:cNvPr>
          <p:cNvSpPr txBox="1"/>
          <p:nvPr userDrawn="1"/>
        </p:nvSpPr>
        <p:spPr>
          <a:xfrm>
            <a:off x="694944" y="6302222"/>
            <a:ext cx="2313432" cy="107722"/>
          </a:xfrm>
          <a:prstGeom prst="rect">
            <a:avLst/>
          </a:prstGeom>
          <a:noFill/>
        </p:spPr>
        <p:txBody>
          <a:bodyPr wrap="square" lIns="0" tIns="0" rIns="0" bIns="0" rtlCol="0" anchor="b" anchorCtr="0">
            <a:spAutoFit/>
          </a:bodyPr>
          <a:lstStyle/>
          <a:p>
            <a:pPr>
              <a:lnSpc>
                <a:spcPct val="100000"/>
              </a:lnSpc>
              <a:spcBef>
                <a:spcPts val="0"/>
              </a:spcBef>
              <a:spcAft>
                <a:spcPts val="0"/>
              </a:spcAft>
            </a:pPr>
            <a:r>
              <a:rPr lang="en-US" sz="700" b="1">
                <a:solidFill>
                  <a:schemeClr val="tx1"/>
                </a:solidFill>
              </a:rPr>
              <a:t>Gartner Tool</a:t>
            </a:r>
          </a:p>
        </p:txBody>
      </p:sp>
    </p:spTree>
    <p:extLst>
      <p:ext uri="{BB962C8B-B14F-4D97-AF65-F5344CB8AC3E}">
        <p14:creationId xmlns:p14="http://schemas.microsoft.com/office/powerpoint/2010/main" val="2602401083"/>
      </p:ext>
    </p:extLst>
  </p:cSld>
  <p:clrMap bg1="lt1" tx1="dk1" bg2="lt2" tx2="dk2" accent1="accent1" accent2="accent2" accent3="accent3" accent4="accent4" accent5="accent5" accent6="accent6" hlink="hlink" folHlink="folHlink"/>
  <p:sldLayoutIdLst>
    <p:sldLayoutId id="2147483971" r:id="rId1"/>
    <p:sldLayoutId id="2147483970" r:id="rId2"/>
    <p:sldLayoutId id="2147483972" r:id="rId3"/>
    <p:sldLayoutId id="2147483973" r:id="rId4"/>
    <p:sldLayoutId id="2147483974" r:id="rId5"/>
    <p:sldLayoutId id="2147483975" r:id="rId6"/>
    <p:sldLayoutId id="2147483976" r:id="rId7"/>
    <p:sldLayoutId id="2147483977" r:id="rId8"/>
    <p:sldLayoutId id="2147483978" r:id="rId9"/>
    <p:sldLayoutId id="2147483979" r:id="rId10"/>
    <p:sldLayoutId id="2147483980" r:id="rId11"/>
    <p:sldLayoutId id="2147483981" r:id="rId12"/>
    <p:sldLayoutId id="2147483982" r:id="rId13"/>
    <p:sldLayoutId id="2147483983" r:id="rId14"/>
    <p:sldLayoutId id="2147483984" r:id="rId15"/>
    <p:sldLayoutId id="2147483986" r:id="rId16"/>
  </p:sldLayoutIdLst>
  <mc:AlternateContent xmlns:mc="http://schemas.openxmlformats.org/markup-compatibility/2006" xmlns:p14="http://schemas.microsoft.com/office/powerpoint/2010/main">
    <mc:Choice Requires="p14">
      <p:transition p14:dur="10"/>
    </mc:Choice>
    <mc:Fallback xmlns="">
      <p:transition/>
    </mc:Fallback>
  </mc:AlternateContent>
  <p:hf sldNum="0" hdr="0" ftr="0" dt="0"/>
  <p:txStyles>
    <p:titleStyle>
      <a:lvl1pPr algn="l" defTabSz="914400" rtl="0" eaLnBrk="1" latinLnBrk="0" hangingPunct="1">
        <a:lnSpc>
          <a:spcPct val="100000"/>
        </a:lnSpc>
        <a:spcBef>
          <a:spcPts val="0"/>
        </a:spcBef>
        <a:spcAft>
          <a:spcPts val="0"/>
        </a:spcAft>
        <a:buNone/>
        <a:defRPr sz="2800" kern="120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1pPr>
      <a:lvl2pPr marL="630936" indent="-292608"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2pPr>
      <a:lvl3pPr marL="978408"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3pPr>
      <a:lvl4pPr marL="1380744" indent="-292608" algn="l" defTabSz="914400" rtl="0" eaLnBrk="1" latinLnBrk="0" hangingPunct="1">
        <a:lnSpc>
          <a:spcPct val="100000"/>
        </a:lnSpc>
        <a:spcBef>
          <a:spcPts val="1200"/>
        </a:spcBef>
        <a:spcAft>
          <a:spcPts val="0"/>
        </a:spcAft>
        <a:buSzPct val="100000"/>
        <a:buFont typeface="Arial" panose="020B0604020202020204" pitchFamily="34" charset="0"/>
        <a:buChar char="–"/>
        <a:tabLst/>
        <a:defRPr sz="2000" kern="1200">
          <a:solidFill>
            <a:schemeClr val="tx1"/>
          </a:solidFill>
          <a:latin typeface="+mn-lt"/>
          <a:ea typeface="+mn-ea"/>
          <a:cs typeface="+mn-cs"/>
        </a:defRPr>
      </a:lvl4pPr>
      <a:lvl5pPr marL="1719072" indent="-228600" algn="l" defTabSz="914400" rtl="0" eaLnBrk="1" latinLnBrk="0" hangingPunct="1">
        <a:lnSpc>
          <a:spcPct val="100000"/>
        </a:lnSpc>
        <a:spcBef>
          <a:spcPts val="1200"/>
        </a:spcBef>
        <a:spcAft>
          <a:spcPts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4" orient="horz" pos="2160" userDrawn="1">
          <p15:clr>
            <a:srgbClr val="A4A3A4"/>
          </p15:clr>
        </p15:guide>
        <p15:guide id="15" pos="3840" userDrawn="1">
          <p15:clr>
            <a:srgbClr val="A4A3A4"/>
          </p15:clr>
        </p15:guide>
        <p15:guide id="16" orient="horz" pos="228" userDrawn="1">
          <p15:clr>
            <a:srgbClr val="5ACBF0"/>
          </p15:clr>
        </p15:guide>
        <p15:guide id="17" orient="horz" pos="537" userDrawn="1">
          <p15:clr>
            <a:srgbClr val="FDE53C"/>
          </p15:clr>
        </p15:guide>
        <p15:guide id="18" orient="horz" pos="848" userDrawn="1">
          <p15:clr>
            <a:srgbClr val="FDE53C"/>
          </p15:clr>
        </p15:guide>
        <p15:guide id="19" orient="horz" pos="960" userDrawn="1">
          <p15:clr>
            <a:srgbClr val="5ACBF0"/>
          </p15:clr>
        </p15:guide>
        <p15:guide id="20" orient="horz" pos="3773" userDrawn="1">
          <p15:clr>
            <a:srgbClr val="FBAE40"/>
          </p15:clr>
        </p15:guide>
        <p15:guide id="21" orient="horz" pos="4001" userDrawn="1">
          <p15:clr>
            <a:srgbClr val="5ACBF0"/>
          </p15:clr>
        </p15:guide>
        <p15:guide id="22" orient="horz" pos="4113" userDrawn="1">
          <p15:clr>
            <a:srgbClr val="5ACBF0"/>
          </p15:clr>
        </p15:guide>
        <p15:guide id="23" pos="288" userDrawn="1">
          <p15:clr>
            <a:srgbClr val="5ACBF0"/>
          </p15:clr>
        </p15:guide>
        <p15:guide id="24" pos="3756" userDrawn="1">
          <p15:clr>
            <a:srgbClr val="5ACBF0"/>
          </p15:clr>
        </p15:guide>
        <p15:guide id="25" pos="3927" userDrawn="1">
          <p15:clr>
            <a:srgbClr val="5ACBF0"/>
          </p15:clr>
        </p15:guide>
        <p15:guide id="26" pos="7394" userDrawn="1">
          <p15:clr>
            <a:srgbClr val="5ACBF0"/>
          </p15:clr>
        </p15:guide>
        <p15:guide id="27" orient="horz" pos="3969"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4.png"/><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svg"/><Relationship Id="rId1" Type="http://schemas.openxmlformats.org/officeDocument/2006/relationships/slideLayout" Target="../slideLayouts/slideLayout3.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image" Target="../media/image8.svg"/><Relationship Id="rId1" Type="http://schemas.openxmlformats.org/officeDocument/2006/relationships/slideLayout" Target="../slideLayouts/slideLayout3.xml"/><Relationship Id="rId5" Type="http://schemas.openxmlformats.org/officeDocument/2006/relationships/image" Target="../media/image5.svg"/><Relationship Id="rId4" Type="http://schemas.openxmlformats.org/officeDocument/2006/relationships/slide" Target="slide3.xml"/></Relationships>
</file>

<file path=ppt/slides/_rels/slide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slide" Target="slide12.xml"/><Relationship Id="rId1" Type="http://schemas.openxmlformats.org/officeDocument/2006/relationships/slideLayout" Target="../slideLayouts/slideLayout3.xml"/><Relationship Id="rId5" Type="http://schemas.openxmlformats.org/officeDocument/2006/relationships/image" Target="../media/image5.svg"/><Relationship Id="rId4" Type="http://schemas.openxmlformats.org/officeDocument/2006/relationships/slide" Target="slide3.xml"/></Relationships>
</file>

<file path=ppt/slides/_rels/slide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slide" Target="slide13.xml"/><Relationship Id="rId1" Type="http://schemas.openxmlformats.org/officeDocument/2006/relationships/slideLayout" Target="../slideLayouts/slideLayout3.xml"/><Relationship Id="rId5" Type="http://schemas.openxmlformats.org/officeDocument/2006/relationships/image" Target="../media/image5.svg"/><Relationship Id="rId4" Type="http://schemas.openxmlformats.org/officeDocument/2006/relationships/slide" Target="slide3.xml"/></Relationships>
</file>

<file path=ppt/slides/_rels/slide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slide" Target="slide15.xml"/><Relationship Id="rId1" Type="http://schemas.openxmlformats.org/officeDocument/2006/relationships/slideLayout" Target="../slideLayouts/slideLayout3.xml"/><Relationship Id="rId5" Type="http://schemas.openxmlformats.org/officeDocument/2006/relationships/image" Target="../media/image5.svg"/><Relationship Id="rId4" Type="http://schemas.openxmlformats.org/officeDocument/2006/relationships/slide" Target="slide2.xml"/></Relationships>
</file>

<file path=ppt/slides/_rels/slide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slide" Target="slide17.xml"/><Relationship Id="rId1" Type="http://schemas.openxmlformats.org/officeDocument/2006/relationships/slideLayout" Target="../slideLayouts/slideLayout3.xml"/><Relationship Id="rId5" Type="http://schemas.openxmlformats.org/officeDocument/2006/relationships/image" Target="../media/image5.svg"/><Relationship Id="rId4" Type="http://schemas.openxmlformats.org/officeDocument/2006/relationships/slide" Target="slide3.xml"/></Relationships>
</file>

<file path=ppt/slides/_rels/slide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slide" Target="slide20.xml"/><Relationship Id="rId1" Type="http://schemas.openxmlformats.org/officeDocument/2006/relationships/slideLayout" Target="../slideLayouts/slideLayout3.xml"/><Relationship Id="rId5" Type="http://schemas.openxmlformats.org/officeDocument/2006/relationships/image" Target="../media/image5.svg"/><Relationship Id="rId4" Type="http://schemas.openxmlformats.org/officeDocument/2006/relationships/slide" Target="slide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hyperlink" Target="https://www.gartner.com/interactive/hc/6591402" TargetMode="External"/><Relationship Id="rId7" Type="http://schemas.openxmlformats.org/officeDocument/2006/relationships/hyperlink" Target="https://www.gartner.com/document-reader/document/852707" TargetMode="External"/><Relationship Id="rId2" Type="http://schemas.openxmlformats.org/officeDocument/2006/relationships/hyperlink" Target="https://www.gartner.com/mysearch/all?q=ai%20trends%20chro" TargetMode="External"/><Relationship Id="rId1" Type="http://schemas.openxmlformats.org/officeDocument/2006/relationships/slideLayout" Target="../slideLayouts/slideLayout3.xml"/><Relationship Id="rId6" Type="http://schemas.openxmlformats.org/officeDocument/2006/relationships/hyperlink" Target="https://www.gartner.com/en/documents/6347179" TargetMode="External"/><Relationship Id="rId5" Type="http://schemas.openxmlformats.org/officeDocument/2006/relationships/hyperlink" Target="https://www.gartner.com/document-reader/document/7601365?ref=askgartner-smart" TargetMode="External"/><Relationship Id="rId4" Type="http://schemas.openxmlformats.org/officeDocument/2006/relationships/hyperlink" Target="https://www.gartner.com/document-reader/document/6791134?ref=solrAll&amp;refval=542988679&amp;"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www.gartner.com/document-reader/document/7624629" TargetMode="External"/><Relationship Id="rId2" Type="http://schemas.openxmlformats.org/officeDocument/2006/relationships/hyperlink" Target="https://tools.gartner.com/use-case-insights" TargetMode="External"/><Relationship Id="rId1" Type="http://schemas.openxmlformats.org/officeDocument/2006/relationships/slideLayout" Target="../slideLayouts/slideLayout3.xml"/><Relationship Id="rId4" Type="http://schemas.openxmlformats.org/officeDocument/2006/relationships/hyperlink" Target="https://www.gartner.com/document-reader/document/6894866?ref=solrAll&amp;refval=544122621&amp;" TargetMode="External"/></Relationships>
</file>

<file path=ppt/slides/_rels/slide13.xml.rels><?xml version="1.0" encoding="UTF-8" standalone="yes"?>
<Relationships xmlns="http://schemas.openxmlformats.org/package/2006/relationships"><Relationship Id="rId8" Type="http://schemas.openxmlformats.org/officeDocument/2006/relationships/hyperlink" Target="https://www.gartner.com/document-reader/document/7614565" TargetMode="External"/><Relationship Id="rId3" Type="http://schemas.openxmlformats.org/officeDocument/2006/relationships/hyperlink" Target="https://www.gartner.com/document-reader/document/6329447" TargetMode="External"/><Relationship Id="rId7" Type="http://schemas.openxmlformats.org/officeDocument/2006/relationships/hyperlink" Target="https://www.gartner.com/document-reader/document/code/833430" TargetMode="External"/><Relationship Id="rId2" Type="http://schemas.openxmlformats.org/officeDocument/2006/relationships/hyperlink" Target="https://www.gartner.com/document-reader/document/7601365" TargetMode="External"/><Relationship Id="rId1" Type="http://schemas.openxmlformats.org/officeDocument/2006/relationships/slideLayout" Target="../slideLayouts/slideLayout3.xml"/><Relationship Id="rId6" Type="http://schemas.openxmlformats.org/officeDocument/2006/relationships/hyperlink" Target="https://www.gartner.com/document-reader/document/7656861" TargetMode="External"/><Relationship Id="rId11" Type="http://schemas.openxmlformats.org/officeDocument/2006/relationships/hyperlink" Target="https://www.gartner.com/document-reader/document/6806434" TargetMode="External"/><Relationship Id="rId5" Type="http://schemas.openxmlformats.org/officeDocument/2006/relationships/hyperlink" Target="https://www.gartner.com/document-reader/document/6858266" TargetMode="External"/><Relationship Id="rId10" Type="http://schemas.openxmlformats.org/officeDocument/2006/relationships/hyperlink" Target="https://www.gartner.com/document-reader/document/7413330" TargetMode="External"/><Relationship Id="rId4" Type="http://schemas.openxmlformats.org/officeDocument/2006/relationships/hyperlink" Target="https://www.gartner.com/document-reader/document/6909666" TargetMode="External"/><Relationship Id="rId9" Type="http://schemas.openxmlformats.org/officeDocument/2006/relationships/hyperlink" Target="https://www.gartner.com/document-reader/document/4018582" TargetMode="External"/></Relationships>
</file>

<file path=ppt/slides/_rels/slide14.xml.rels><?xml version="1.0" encoding="UTF-8" standalone="yes"?>
<Relationships xmlns="http://schemas.openxmlformats.org/package/2006/relationships"><Relationship Id="rId8" Type="http://schemas.openxmlformats.org/officeDocument/2006/relationships/hyperlink" Target="https://www.gartner.com/document-reader/document/7606165" TargetMode="External"/><Relationship Id="rId3" Type="http://schemas.openxmlformats.org/officeDocument/2006/relationships/hyperlink" Target="https://www.gartner.com/document-reader/document/6322247" TargetMode="External"/><Relationship Id="rId7" Type="http://schemas.openxmlformats.org/officeDocument/2006/relationships/hyperlink" Target="https://www.gartner.com/document-reader/document/7184330" TargetMode="External"/><Relationship Id="rId2" Type="http://schemas.openxmlformats.org/officeDocument/2006/relationships/hyperlink" Target="https://www.gartner.com/document-reader/document/6899166" TargetMode="External"/><Relationship Id="rId1" Type="http://schemas.openxmlformats.org/officeDocument/2006/relationships/slideLayout" Target="../slideLayouts/slideLayout3.xml"/><Relationship Id="rId6" Type="http://schemas.openxmlformats.org/officeDocument/2006/relationships/hyperlink" Target="https://www.gartner.com/document-reader/document/6791134" TargetMode="External"/><Relationship Id="rId5" Type="http://schemas.openxmlformats.org/officeDocument/2006/relationships/hyperlink" Target="https://www.gartner.com/document-reader/document/4749331" TargetMode="External"/><Relationship Id="rId4" Type="http://schemas.openxmlformats.org/officeDocument/2006/relationships/hyperlink" Target="https://www.gartner.com/document-reader/document/7614565"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www.gartner.com/document-reader/document/7302830" TargetMode="External"/><Relationship Id="rId7" Type="http://schemas.openxmlformats.org/officeDocument/2006/relationships/hyperlink" Target="https://www.gartner.com/document-reader/document/6325047?ref=solrAll&amp;refval=537605639&amp;" TargetMode="External"/><Relationship Id="rId2" Type="http://schemas.openxmlformats.org/officeDocument/2006/relationships/hyperlink" Target="https://www.gartner.com/document-reader/document/6566602" TargetMode="External"/><Relationship Id="rId1" Type="http://schemas.openxmlformats.org/officeDocument/2006/relationships/slideLayout" Target="../slideLayouts/slideLayout3.xml"/><Relationship Id="rId6" Type="http://schemas.openxmlformats.org/officeDocument/2006/relationships/hyperlink" Target="https://www.gartner.com/document-reader/document/6914866?ref=solrAll&amp;refval=543217859&amp;" TargetMode="External"/><Relationship Id="rId5" Type="http://schemas.openxmlformats.org/officeDocument/2006/relationships/hyperlink" Target="https://www.gartner.com/document-reader/document/7446226?ref=solrResearch&amp;refval=542999161&amp;" TargetMode="External"/><Relationship Id="rId4" Type="http://schemas.openxmlformats.org/officeDocument/2006/relationships/hyperlink" Target="https://www.gartner.com/document-reader/document/7345830?ref=solrAll&amp;refval=542997811&amp;"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www.gartner.com/document-reader/document/6909666?ref=solrAll&amp;refval=542725154&amp;" TargetMode="External"/><Relationship Id="rId2" Type="http://schemas.openxmlformats.org/officeDocument/2006/relationships/hyperlink" Target="https://www.gartner.com/document-reader/document/6707734?ref=solrAlIImg&amp;refval=543039681&amp;" TargetMode="External"/><Relationship Id="rId1" Type="http://schemas.openxmlformats.org/officeDocument/2006/relationships/slideLayout" Target="../slideLayouts/slideLayout3.xml"/><Relationship Id="rId5" Type="http://schemas.openxmlformats.org/officeDocument/2006/relationships/hyperlink" Target="https://www.gartner.com/document-reader/document/7101230?ref=solrResearch&amp;refval=543040644&amp;" TargetMode="External"/><Relationship Id="rId4" Type="http://schemas.openxmlformats.org/officeDocument/2006/relationships/hyperlink" Target="https://www.gartner.com/document-reader/document/7601265?ref=solrResearch&amp;refval=543040644&amp;"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www.gartner.com/document-reader/document/5335063" TargetMode="External"/><Relationship Id="rId2" Type="http://schemas.openxmlformats.org/officeDocument/2006/relationships/hyperlink" Target="https://www.gartner.com/document-reader/document/5479695" TargetMode="External"/><Relationship Id="rId1" Type="http://schemas.openxmlformats.org/officeDocument/2006/relationships/slideLayout" Target="../slideLayouts/slideLayout3.xml"/><Relationship Id="rId5" Type="http://schemas.openxmlformats.org/officeDocument/2006/relationships/hyperlink" Target="https://www.gartner.com/document-reader/document/5809615" TargetMode="External"/><Relationship Id="rId4" Type="http://schemas.openxmlformats.org/officeDocument/2006/relationships/hyperlink" Target="https://www.gartner.com/document-reader/document/5577627"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www.gartner.com/document-reader/document/4759131" TargetMode="External"/><Relationship Id="rId2" Type="http://schemas.openxmlformats.org/officeDocument/2006/relationships/hyperlink" Target="https://www.gartner.com/document-reader/document/5212663" TargetMode="External"/><Relationship Id="rId1" Type="http://schemas.openxmlformats.org/officeDocument/2006/relationships/slideLayout" Target="../slideLayouts/slideLayout3.xml"/><Relationship Id="rId6" Type="http://schemas.openxmlformats.org/officeDocument/2006/relationships/hyperlink" Target="https://www.gartner.com/document-reader/document/5809615" TargetMode="External"/><Relationship Id="rId5" Type="http://schemas.openxmlformats.org/officeDocument/2006/relationships/hyperlink" Target="https://www.gartner.com/document-reader/document/5187563" TargetMode="External"/><Relationship Id="rId4" Type="http://schemas.openxmlformats.org/officeDocument/2006/relationships/hyperlink" Target="https://www.gartner.com/document-reader/document/5458863"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www.gartner.com/document-reader/document/5212663" TargetMode="External"/><Relationship Id="rId2" Type="http://schemas.openxmlformats.org/officeDocument/2006/relationships/hyperlink" Target="https://www.gartner.com/document-reader/document/7522453?ref=solrAll&amp;refval=544304767&amp;" TargetMode="Externa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8" Type="http://schemas.openxmlformats.org/officeDocument/2006/relationships/hyperlink" Target="https://www.gartner.com/document-reader/document/5735883?ref=solrAll&amp;refval=541138871&amp;" TargetMode="External"/><Relationship Id="rId3" Type="http://schemas.openxmlformats.org/officeDocument/2006/relationships/hyperlink" Target="https://www.gartner.com/document-reader/document/6919166?ref=solrAll&amp;refval=541138255&amp;" TargetMode="External"/><Relationship Id="rId7" Type="http://schemas.openxmlformats.org/officeDocument/2006/relationships/hyperlink" Target="https://www.gartner.com/document-reader/document/7381430?ref=solrAll&amp;refval=541153397&amp;" TargetMode="External"/><Relationship Id="rId12" Type="http://schemas.openxmlformats.org/officeDocument/2006/relationships/hyperlink" Target="https://www.gartner.com/document-reader/document/6732134?ref=solrAll&amp;refval=541134090&amp;" TargetMode="External"/><Relationship Id="rId2" Type="http://schemas.openxmlformats.org/officeDocument/2006/relationships/hyperlink" Target="https://www.gartner.com/document-reader/document/6854766?ref=solrAll&amp;refval=541139063&amp;" TargetMode="External"/><Relationship Id="rId1" Type="http://schemas.openxmlformats.org/officeDocument/2006/relationships/slideLayout" Target="../slideLayouts/slideLayout3.xml"/><Relationship Id="rId6" Type="http://schemas.openxmlformats.org/officeDocument/2006/relationships/hyperlink" Target="https://www.gartner.com/document-reader/document/7381630?ref=solrAll&amp;refval=541153397&amp;" TargetMode="External"/><Relationship Id="rId11" Type="http://schemas.openxmlformats.org/officeDocument/2006/relationships/hyperlink" Target="https://www.gartner.com/document-reader/document/7056998?ref=solrAll&amp;refval=543591712&amp;" TargetMode="External"/><Relationship Id="rId5" Type="http://schemas.openxmlformats.org/officeDocument/2006/relationships/hyperlink" Target="https://www.gartner.com/document-reader/document/6860566" TargetMode="External"/><Relationship Id="rId10" Type="http://schemas.openxmlformats.org/officeDocument/2006/relationships/hyperlink" Target="https://www.gartner.com/document-reader/document/6552802?ref=solrAll&amp;refval=541132841&amp;" TargetMode="External"/><Relationship Id="rId4" Type="http://schemas.openxmlformats.org/officeDocument/2006/relationships/hyperlink" Target="https://www.gartner.com/document-reader/document/6709934?ref=solrAll&amp;refval=541152546&amp;" TargetMode="External"/><Relationship Id="rId9" Type="http://schemas.openxmlformats.org/officeDocument/2006/relationships/hyperlink" Target="https://www.gartner.com/document-reader/document/6553602?ref=solrAll&amp;refval=541131859&amp;" TargetMode="External"/></Relationships>
</file>

<file path=ppt/slides/_rels/slide21.xml.rels><?xml version="1.0" encoding="UTF-8" standalone="yes"?>
<Relationships xmlns="http://schemas.openxmlformats.org/package/2006/relationships"><Relationship Id="rId8" Type="http://schemas.openxmlformats.org/officeDocument/2006/relationships/hyperlink" Target="https://www.gartner.com/document-reader/document/7436962?ref=solrAll&amp;refval=544714110&amp;" TargetMode="External"/><Relationship Id="rId3" Type="http://schemas.openxmlformats.org/officeDocument/2006/relationships/hyperlink" Target="https://www.gartner.com/document-reader/document/7243930?ref=solrAll&amp;refval=541135276&amp;" TargetMode="External"/><Relationship Id="rId7" Type="http://schemas.openxmlformats.org/officeDocument/2006/relationships/hyperlink" Target="https://www.gartner.com/document-reader/document/6142259?ref=solrAll&amp;refval=541151146&amp;" TargetMode="External"/><Relationship Id="rId2" Type="http://schemas.openxmlformats.org/officeDocument/2006/relationships/hyperlink" Target="https://www.gartner.com/document-reader/document/3995881?ref=solrAll&amp;refval=541130453&amp;" TargetMode="External"/><Relationship Id="rId1" Type="http://schemas.openxmlformats.org/officeDocument/2006/relationships/slideLayout" Target="../slideLayouts/slideLayout3.xml"/><Relationship Id="rId6" Type="http://schemas.openxmlformats.org/officeDocument/2006/relationships/hyperlink" Target="https://www.gartner.com/document-reader/document/6142059?ref=solrAll&amp;refval=541149875&amp;" TargetMode="External"/><Relationship Id="rId5" Type="http://schemas.openxmlformats.org/officeDocument/2006/relationships/hyperlink" Target="https://www.gartner.com/document-reader/document/6974966?ref=solrAll&amp;refval=541136206&amp;" TargetMode="External"/><Relationship Id="rId4" Type="http://schemas.openxmlformats.org/officeDocument/2006/relationships/hyperlink" Target="https://www.gartner.com/fast-answer/tech/a9e9e9d5-1b4f-3f1f-86ee-a52f562f742a?ref=panel-in-disguise&amp;refval=541136206" TargetMode="External"/><Relationship Id="rId9" Type="http://schemas.openxmlformats.org/officeDocument/2006/relationships/hyperlink" Target="https://www.gartner.com/document-reader/document/7642329?ref=solrAll&amp;refval=544715040&amp;" TargetMode="External"/></Relationships>
</file>

<file path=ppt/slides/_rels/slide22.xml.rels><?xml version="1.0" encoding="UTF-8" standalone="yes"?>
<Relationships xmlns="http://schemas.openxmlformats.org/package/2006/relationships"><Relationship Id="rId8" Type="http://schemas.openxmlformats.org/officeDocument/2006/relationships/hyperlink" Target="https://www.gartner.com/document-reader/document/7413330?ref=TypeAheadSearch" TargetMode="External"/><Relationship Id="rId3" Type="http://schemas.openxmlformats.org/officeDocument/2006/relationships/hyperlink" Target="https://www.gartner.com/document-reader/document/code/834336" TargetMode="External"/><Relationship Id="rId7" Type="http://schemas.openxmlformats.org/officeDocument/2006/relationships/hyperlink" Target="https://www.gartner.com/document-reader/document/4018582?ref=solrAll&amp;refval=544715745&amp;" TargetMode="External"/><Relationship Id="rId2" Type="http://schemas.openxmlformats.org/officeDocument/2006/relationships/hyperlink" Target="https://www.gartner.com/document-reader/document/7209730?ref=TypeAheadSearch" TargetMode="External"/><Relationship Id="rId1" Type="http://schemas.openxmlformats.org/officeDocument/2006/relationships/slideLayout" Target="../slideLayouts/slideLayout3.xml"/><Relationship Id="rId6" Type="http://schemas.openxmlformats.org/officeDocument/2006/relationships/hyperlink" Target="https://www.gartner.com/document-reader/document/7447826?ref=solrAll&amp;refval=544719924&amp;" TargetMode="External"/><Relationship Id="rId11" Type="http://schemas.openxmlformats.org/officeDocument/2006/relationships/hyperlink" Target="https://www.gartner.com/document-reader/document/code/837066" TargetMode="External"/><Relationship Id="rId5" Type="http://schemas.openxmlformats.org/officeDocument/2006/relationships/hyperlink" Target="https://www.gartner.com/document-reader/document/code/834503" TargetMode="External"/><Relationship Id="rId10" Type="http://schemas.openxmlformats.org/officeDocument/2006/relationships/hyperlink" Target="https://www.gartner.com/document-reader/document/code/840526" TargetMode="External"/><Relationship Id="rId4" Type="http://schemas.openxmlformats.org/officeDocument/2006/relationships/hyperlink" Target="https://www.gartner.com/document-reader/document/7266630?ref=lib" TargetMode="External"/><Relationship Id="rId9" Type="http://schemas.openxmlformats.org/officeDocument/2006/relationships/hyperlink" Target="https://www.gartner.com/document-reader/document/7595865?ref=TypeAheadSearch"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www.gartner.com/document-reader/document/code/842293" TargetMode="External"/><Relationship Id="rId2" Type="http://schemas.openxmlformats.org/officeDocument/2006/relationships/hyperlink" Target="https://www.gartner.com/document-reader/document/code/836477"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832255C-78E0-9949-0AB9-B3AD704F460E}"/>
              </a:ext>
            </a:extLst>
          </p:cNvPr>
          <p:cNvSpPr>
            <a:spLocks noGrp="1"/>
          </p:cNvSpPr>
          <p:nvPr>
            <p:ph type="ctrTitle"/>
          </p:nvPr>
        </p:nvSpPr>
        <p:spPr>
          <a:xfrm>
            <a:off x="1371600" y="2149713"/>
            <a:ext cx="8426919" cy="1508105"/>
          </a:xfrm>
        </p:spPr>
        <p:txBody>
          <a:bodyPr/>
          <a:lstStyle/>
          <a:p>
            <a:r>
              <a:rPr lang="en-US" dirty="0"/>
              <a:t>Tool: AI Roadmap for HR</a:t>
            </a:r>
          </a:p>
        </p:txBody>
      </p:sp>
      <p:sp>
        <p:nvSpPr>
          <p:cNvPr id="8" name="Subtitle 7">
            <a:extLst>
              <a:ext uri="{FF2B5EF4-FFF2-40B4-BE49-F238E27FC236}">
                <a16:creationId xmlns:a16="http://schemas.microsoft.com/office/drawing/2014/main" id="{528508E6-DED5-A3EA-DA26-AB7BEBAF8D7E}"/>
              </a:ext>
            </a:extLst>
          </p:cNvPr>
          <p:cNvSpPr>
            <a:spLocks noGrp="1"/>
          </p:cNvSpPr>
          <p:nvPr>
            <p:ph type="subTitle" idx="1"/>
          </p:nvPr>
        </p:nvSpPr>
        <p:spPr>
          <a:xfrm>
            <a:off x="1371600" y="2149713"/>
            <a:ext cx="8426919" cy="276999"/>
          </a:xfrm>
        </p:spPr>
        <p:txBody>
          <a:bodyPr/>
          <a:lstStyle/>
          <a:p>
            <a:r>
              <a:rPr lang="en-US"/>
              <a:t>Gartner for HR Leaders</a:t>
            </a:r>
          </a:p>
        </p:txBody>
      </p:sp>
    </p:spTree>
    <p:extLst>
      <p:ext uri="{BB962C8B-B14F-4D97-AF65-F5344CB8AC3E}">
        <p14:creationId xmlns:p14="http://schemas.microsoft.com/office/powerpoint/2010/main" val="35675110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1D09972A-F09E-A6D8-051E-832DECA011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64777" y="3574540"/>
            <a:ext cx="3275896" cy="1635731"/>
          </a:xfrm>
          <a:prstGeom prst="rect">
            <a:avLst/>
          </a:prstGeom>
          <a:ln w="19050">
            <a:solidFill>
              <a:srgbClr val="707996"/>
            </a:solidFill>
          </a:ln>
        </p:spPr>
      </p:pic>
      <p:sp>
        <p:nvSpPr>
          <p:cNvPr id="2" name="Title 1">
            <a:extLst>
              <a:ext uri="{FF2B5EF4-FFF2-40B4-BE49-F238E27FC236}">
                <a16:creationId xmlns:a16="http://schemas.microsoft.com/office/drawing/2014/main" id="{C04F7EA6-7326-92DE-9D8F-BE5AE649A24D}"/>
              </a:ext>
            </a:extLst>
          </p:cNvPr>
          <p:cNvSpPr>
            <a:spLocks noGrp="1"/>
          </p:cNvSpPr>
          <p:nvPr>
            <p:ph type="title"/>
          </p:nvPr>
        </p:nvSpPr>
        <p:spPr/>
        <p:txBody>
          <a:bodyPr/>
          <a:lstStyle/>
          <a:p>
            <a:r>
              <a:rPr lang="en-US"/>
              <a:t>How to Use This Tool</a:t>
            </a:r>
          </a:p>
        </p:txBody>
      </p:sp>
      <p:sp>
        <p:nvSpPr>
          <p:cNvPr id="3" name="Google Shape;239;p2">
            <a:extLst>
              <a:ext uri="{FF2B5EF4-FFF2-40B4-BE49-F238E27FC236}">
                <a16:creationId xmlns:a16="http://schemas.microsoft.com/office/drawing/2014/main" id="{6E533BF4-01A7-0F13-513C-FD22C8FA673A}"/>
              </a:ext>
            </a:extLst>
          </p:cNvPr>
          <p:cNvSpPr txBox="1"/>
          <p:nvPr/>
        </p:nvSpPr>
        <p:spPr>
          <a:xfrm>
            <a:off x="457199" y="2271052"/>
            <a:ext cx="3307849" cy="1144928"/>
          </a:xfrm>
          <a:prstGeom prst="rect">
            <a:avLst/>
          </a:prstGeom>
          <a:solidFill>
            <a:srgbClr val="E0F1FF"/>
          </a:solidFill>
          <a:ln>
            <a:noFill/>
          </a:ln>
        </p:spPr>
        <p:txBody>
          <a:bodyPr spcFirstLastPara="1" wrap="square" lIns="182880" tIns="182880" rIns="182880" bIns="182880" anchor="ctr" anchorCtr="0">
            <a:noAutofit/>
          </a:bodyPr>
          <a:lstStyle/>
          <a:p>
            <a:pPr marL="0" marR="0" lvl="0" indent="0" algn="ctr" rtl="0">
              <a:lnSpc>
                <a:spcPct val="90000"/>
              </a:lnSpc>
              <a:spcBef>
                <a:spcPts val="0"/>
              </a:spcBef>
              <a:spcAft>
                <a:spcPts val="0"/>
              </a:spcAft>
              <a:buNone/>
            </a:pPr>
            <a:r>
              <a:rPr lang="en-US" sz="1400" dirty="0">
                <a:solidFill>
                  <a:schemeClr val="dk1"/>
                </a:solidFill>
                <a:ea typeface="Arial"/>
                <a:cs typeface="Arial"/>
                <a:sym typeface="Arial"/>
              </a:rPr>
              <a:t>In the next slide, we present</a:t>
            </a:r>
            <a:br>
              <a:rPr lang="en-US" sz="1400" dirty="0">
                <a:solidFill>
                  <a:schemeClr val="dk1"/>
                </a:solidFill>
                <a:ea typeface="Arial"/>
                <a:cs typeface="Arial"/>
                <a:sym typeface="Arial"/>
              </a:rPr>
            </a:br>
            <a:r>
              <a:rPr lang="en-US" sz="1400" dirty="0">
                <a:solidFill>
                  <a:schemeClr val="dk1"/>
                </a:solidFill>
                <a:ea typeface="Arial"/>
                <a:cs typeface="Arial"/>
                <a:sym typeface="Arial"/>
              </a:rPr>
              <a:t>six AI workstreams with their</a:t>
            </a:r>
            <a:br>
              <a:rPr lang="en-US" sz="1400" dirty="0">
                <a:solidFill>
                  <a:schemeClr val="dk1"/>
                </a:solidFill>
                <a:ea typeface="Arial"/>
                <a:cs typeface="Arial"/>
                <a:sym typeface="Arial"/>
              </a:rPr>
            </a:br>
            <a:r>
              <a:rPr lang="en-US" sz="1400" dirty="0">
                <a:solidFill>
                  <a:schemeClr val="dk1"/>
                </a:solidFill>
                <a:ea typeface="Arial"/>
                <a:cs typeface="Arial"/>
                <a:sym typeface="Arial"/>
              </a:rPr>
              <a:t>top-level tasks.</a:t>
            </a:r>
            <a:endParaRPr sz="1400" dirty="0">
              <a:solidFill>
                <a:schemeClr val="dk1"/>
              </a:solidFill>
              <a:ea typeface="Arial"/>
              <a:cs typeface="Arial"/>
              <a:sym typeface="Arial"/>
            </a:endParaRPr>
          </a:p>
        </p:txBody>
      </p:sp>
      <p:sp>
        <p:nvSpPr>
          <p:cNvPr id="4" name="Google Shape;240;p2">
            <a:extLst>
              <a:ext uri="{FF2B5EF4-FFF2-40B4-BE49-F238E27FC236}">
                <a16:creationId xmlns:a16="http://schemas.microsoft.com/office/drawing/2014/main" id="{4CE56128-B516-D4AD-C8AD-CDE012A8409B}"/>
              </a:ext>
            </a:extLst>
          </p:cNvPr>
          <p:cNvSpPr/>
          <p:nvPr/>
        </p:nvSpPr>
        <p:spPr>
          <a:xfrm>
            <a:off x="1952611" y="2113657"/>
            <a:ext cx="317024" cy="317024"/>
          </a:xfrm>
          <a:prstGeom prst="ellipse">
            <a:avLst/>
          </a:prstGeom>
          <a:solidFill>
            <a:srgbClr val="002869"/>
          </a:solidFill>
          <a:ln w="2540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1400" b="1">
                <a:solidFill>
                  <a:srgbClr val="FFFFFF"/>
                </a:solidFill>
                <a:latin typeface="+mj-lt"/>
                <a:ea typeface="Arial"/>
                <a:cs typeface="Arial"/>
                <a:sym typeface="Arial"/>
              </a:rPr>
              <a:t>1</a:t>
            </a:r>
            <a:endParaRPr>
              <a:latin typeface="+mj-lt"/>
            </a:endParaRPr>
          </a:p>
        </p:txBody>
      </p:sp>
      <p:sp>
        <p:nvSpPr>
          <p:cNvPr id="5" name="Google Shape;241;p2">
            <a:extLst>
              <a:ext uri="{FF2B5EF4-FFF2-40B4-BE49-F238E27FC236}">
                <a16:creationId xmlns:a16="http://schemas.microsoft.com/office/drawing/2014/main" id="{8833F2AD-2921-2BB1-32B6-BDD5A7FBB8D5}"/>
              </a:ext>
            </a:extLst>
          </p:cNvPr>
          <p:cNvSpPr txBox="1"/>
          <p:nvPr/>
        </p:nvSpPr>
        <p:spPr>
          <a:xfrm>
            <a:off x="4448801" y="2271052"/>
            <a:ext cx="3307849" cy="1144929"/>
          </a:xfrm>
          <a:prstGeom prst="rect">
            <a:avLst/>
          </a:prstGeom>
          <a:solidFill>
            <a:srgbClr val="E0F1FF"/>
          </a:solidFill>
          <a:ln>
            <a:noFill/>
          </a:ln>
        </p:spPr>
        <p:txBody>
          <a:bodyPr spcFirstLastPara="1" wrap="square" lIns="182880" tIns="182880" rIns="182880" bIns="182880" anchor="ctr" anchorCtr="0">
            <a:spAutoFit/>
          </a:bodyPr>
          <a:lstStyle/>
          <a:p>
            <a:pPr marL="0" marR="0" lvl="0" indent="0" algn="ctr" rtl="0">
              <a:lnSpc>
                <a:spcPct val="90000"/>
              </a:lnSpc>
              <a:spcBef>
                <a:spcPts val="0"/>
              </a:spcBef>
              <a:spcAft>
                <a:spcPts val="0"/>
              </a:spcAft>
              <a:buNone/>
            </a:pPr>
            <a:r>
              <a:rPr lang="en-US" sz="1400" dirty="0">
                <a:solidFill>
                  <a:schemeClr val="dk1"/>
                </a:solidFill>
                <a:ea typeface="Arial"/>
                <a:cs typeface="Arial"/>
                <a:sym typeface="Arial"/>
              </a:rPr>
              <a:t>Click on each workstream</a:t>
            </a:r>
            <a:br>
              <a:rPr lang="en-US" sz="1400" dirty="0">
                <a:solidFill>
                  <a:schemeClr val="dk1"/>
                </a:solidFill>
                <a:ea typeface="Arial"/>
                <a:cs typeface="Arial"/>
                <a:sym typeface="Arial"/>
              </a:rPr>
            </a:br>
            <a:r>
              <a:rPr lang="en-US" sz="1400" dirty="0">
                <a:solidFill>
                  <a:schemeClr val="dk1"/>
                </a:solidFill>
                <a:ea typeface="Arial"/>
                <a:cs typeface="Arial"/>
                <a:sym typeface="Arial"/>
              </a:rPr>
              <a:t>to see a typical roadmap. You can also click for a detailed description and resources found in the appendix.</a:t>
            </a:r>
            <a:endParaRPr sz="1400" dirty="0">
              <a:solidFill>
                <a:schemeClr val="dk1"/>
              </a:solidFill>
              <a:ea typeface="Arial"/>
              <a:cs typeface="Arial"/>
              <a:sym typeface="Arial"/>
            </a:endParaRPr>
          </a:p>
        </p:txBody>
      </p:sp>
      <p:sp>
        <p:nvSpPr>
          <p:cNvPr id="6" name="Google Shape;242;p2">
            <a:extLst>
              <a:ext uri="{FF2B5EF4-FFF2-40B4-BE49-F238E27FC236}">
                <a16:creationId xmlns:a16="http://schemas.microsoft.com/office/drawing/2014/main" id="{334843AE-684F-F0A1-26D7-BC48DCD52534}"/>
              </a:ext>
            </a:extLst>
          </p:cNvPr>
          <p:cNvSpPr/>
          <p:nvPr/>
        </p:nvSpPr>
        <p:spPr>
          <a:xfrm>
            <a:off x="5911532" y="2113657"/>
            <a:ext cx="317024" cy="317024"/>
          </a:xfrm>
          <a:prstGeom prst="ellipse">
            <a:avLst/>
          </a:prstGeom>
          <a:solidFill>
            <a:srgbClr val="002869"/>
          </a:solidFill>
          <a:ln w="2540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1400" b="1">
                <a:solidFill>
                  <a:srgbClr val="FFFFFF"/>
                </a:solidFill>
                <a:latin typeface="+mj-lt"/>
                <a:ea typeface="Arial"/>
                <a:cs typeface="Arial"/>
                <a:sym typeface="Arial"/>
              </a:rPr>
              <a:t>2</a:t>
            </a:r>
            <a:endParaRPr>
              <a:latin typeface="+mj-lt"/>
            </a:endParaRPr>
          </a:p>
        </p:txBody>
      </p:sp>
      <p:sp>
        <p:nvSpPr>
          <p:cNvPr id="7" name="Google Shape;243;p2">
            <a:extLst>
              <a:ext uri="{FF2B5EF4-FFF2-40B4-BE49-F238E27FC236}">
                <a16:creationId xmlns:a16="http://schemas.microsoft.com/office/drawing/2014/main" id="{BB7E08AE-A01D-CE06-168E-421C07224A27}"/>
              </a:ext>
            </a:extLst>
          </p:cNvPr>
          <p:cNvSpPr txBox="1"/>
          <p:nvPr/>
        </p:nvSpPr>
        <p:spPr>
          <a:xfrm>
            <a:off x="8440402" y="2271052"/>
            <a:ext cx="3307849" cy="1144928"/>
          </a:xfrm>
          <a:prstGeom prst="rect">
            <a:avLst/>
          </a:prstGeom>
          <a:solidFill>
            <a:srgbClr val="E0F1FF"/>
          </a:solidFill>
          <a:ln>
            <a:noFill/>
          </a:ln>
        </p:spPr>
        <p:txBody>
          <a:bodyPr spcFirstLastPara="1" wrap="square" lIns="182880" tIns="182880" rIns="182880" bIns="182880" anchor="ctr" anchorCtr="0">
            <a:noAutofit/>
          </a:bodyPr>
          <a:lstStyle/>
          <a:p>
            <a:pPr marL="0" marR="0" lvl="0" indent="0" algn="ctr" rtl="0">
              <a:lnSpc>
                <a:spcPct val="90000"/>
              </a:lnSpc>
              <a:spcBef>
                <a:spcPts val="0"/>
              </a:spcBef>
              <a:spcAft>
                <a:spcPts val="0"/>
              </a:spcAft>
              <a:buNone/>
            </a:pPr>
            <a:r>
              <a:rPr lang="en-US" sz="1400">
                <a:solidFill>
                  <a:schemeClr val="dk1"/>
                </a:solidFill>
                <a:ea typeface="Arial"/>
                <a:cs typeface="Arial"/>
                <a:sym typeface="Arial"/>
              </a:rPr>
              <a:t>At any point, you can click</a:t>
            </a:r>
            <a:br>
              <a:rPr lang="en-US" sz="1400">
                <a:solidFill>
                  <a:schemeClr val="dk1"/>
                </a:solidFill>
                <a:ea typeface="Arial"/>
                <a:cs typeface="Arial"/>
                <a:sym typeface="Arial"/>
              </a:rPr>
            </a:br>
            <a:r>
              <a:rPr lang="en-US" sz="1400">
                <a:solidFill>
                  <a:schemeClr val="dk1"/>
                </a:solidFill>
                <a:ea typeface="Arial"/>
                <a:cs typeface="Arial"/>
                <a:sym typeface="Arial"/>
              </a:rPr>
              <a:t>the “back” icon to return to</a:t>
            </a:r>
            <a:br>
              <a:rPr lang="en-US" sz="1400">
                <a:solidFill>
                  <a:schemeClr val="dk1"/>
                </a:solidFill>
                <a:ea typeface="Arial"/>
                <a:cs typeface="Arial"/>
                <a:sym typeface="Arial"/>
              </a:rPr>
            </a:br>
            <a:r>
              <a:rPr lang="en-US" sz="1400">
                <a:solidFill>
                  <a:schemeClr val="dk1"/>
                </a:solidFill>
                <a:ea typeface="Arial"/>
                <a:cs typeface="Arial"/>
                <a:sym typeface="Arial"/>
              </a:rPr>
              <a:t>the main screen. </a:t>
            </a:r>
            <a:endParaRPr/>
          </a:p>
        </p:txBody>
      </p:sp>
      <p:sp>
        <p:nvSpPr>
          <p:cNvPr id="8" name="Google Shape;244;p2">
            <a:extLst>
              <a:ext uri="{FF2B5EF4-FFF2-40B4-BE49-F238E27FC236}">
                <a16:creationId xmlns:a16="http://schemas.microsoft.com/office/drawing/2014/main" id="{DAF82362-1DDC-9F16-6487-2D8863FC57E4}"/>
              </a:ext>
            </a:extLst>
          </p:cNvPr>
          <p:cNvSpPr/>
          <p:nvPr/>
        </p:nvSpPr>
        <p:spPr>
          <a:xfrm>
            <a:off x="9948545" y="2113657"/>
            <a:ext cx="317024" cy="317024"/>
          </a:xfrm>
          <a:prstGeom prst="ellipse">
            <a:avLst/>
          </a:prstGeom>
          <a:solidFill>
            <a:srgbClr val="002869"/>
          </a:solidFill>
          <a:ln w="2540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1400" b="1">
                <a:solidFill>
                  <a:srgbClr val="FFFFFF"/>
                </a:solidFill>
                <a:latin typeface="+mj-lt"/>
                <a:ea typeface="Arial"/>
                <a:cs typeface="Arial"/>
                <a:sym typeface="Arial"/>
              </a:rPr>
              <a:t>3</a:t>
            </a:r>
            <a:endParaRPr>
              <a:latin typeface="+mj-lt"/>
            </a:endParaRPr>
          </a:p>
        </p:txBody>
      </p:sp>
      <p:sp>
        <p:nvSpPr>
          <p:cNvPr id="9" name="Google Shape;245;p2">
            <a:extLst>
              <a:ext uri="{FF2B5EF4-FFF2-40B4-BE49-F238E27FC236}">
                <a16:creationId xmlns:a16="http://schemas.microsoft.com/office/drawing/2014/main" id="{797187A5-21C4-B0F7-18C5-713CA33F8C9F}"/>
              </a:ext>
            </a:extLst>
          </p:cNvPr>
          <p:cNvSpPr txBox="1"/>
          <p:nvPr/>
        </p:nvSpPr>
        <p:spPr>
          <a:xfrm>
            <a:off x="4455165" y="1533024"/>
            <a:ext cx="3295120" cy="400095"/>
          </a:xfrm>
          <a:prstGeom prst="rect">
            <a:avLst/>
          </a:prstGeom>
          <a:noFill/>
          <a:ln w="19050" cap="flat" cmpd="sng">
            <a:solidFill>
              <a:srgbClr val="E36135"/>
            </a:solidFill>
            <a:prstDash val="solid"/>
            <a:round/>
            <a:headEnd type="none" w="sm" len="sm"/>
            <a:tailEnd type="none" w="sm" len="sm"/>
          </a:ln>
        </p:spPr>
        <p:txBody>
          <a:bodyPr spcFirstLastPara="1" wrap="square" lIns="91425" tIns="91425" rIns="91425" bIns="91425" anchor="t" anchorCtr="0">
            <a:spAutoFit/>
          </a:bodyPr>
          <a:lstStyle/>
          <a:p>
            <a:pPr marL="0" marR="0" lvl="0" indent="0" algn="ctr" rtl="0">
              <a:spcBef>
                <a:spcPts val="0"/>
              </a:spcBef>
              <a:spcAft>
                <a:spcPts val="0"/>
              </a:spcAft>
              <a:buNone/>
            </a:pPr>
            <a:r>
              <a:rPr lang="en-US" sz="1400">
                <a:solidFill>
                  <a:srgbClr val="000000"/>
                </a:solidFill>
                <a:ea typeface="Arial"/>
                <a:cs typeface="Arial"/>
                <a:sym typeface="Arial"/>
              </a:rPr>
              <a:t>Go </a:t>
            </a:r>
            <a:r>
              <a:rPr lang="en-US" sz="1400">
                <a:solidFill>
                  <a:srgbClr val="000000"/>
                </a:solidFill>
                <a:latin typeface="+mj-lt"/>
                <a:ea typeface="Arial"/>
                <a:cs typeface="Arial"/>
                <a:sym typeface="Arial"/>
              </a:rPr>
              <a:t>full screen </a:t>
            </a:r>
            <a:r>
              <a:rPr lang="en-US" sz="1400">
                <a:solidFill>
                  <a:srgbClr val="000000"/>
                </a:solidFill>
                <a:ea typeface="Arial"/>
                <a:cs typeface="Arial"/>
                <a:sym typeface="Arial"/>
              </a:rPr>
              <a:t>for the best experience!</a:t>
            </a:r>
            <a:endParaRPr/>
          </a:p>
        </p:txBody>
      </p:sp>
      <p:sp>
        <p:nvSpPr>
          <p:cNvPr id="10" name="Google Shape;248;p2">
            <a:extLst>
              <a:ext uri="{FF2B5EF4-FFF2-40B4-BE49-F238E27FC236}">
                <a16:creationId xmlns:a16="http://schemas.microsoft.com/office/drawing/2014/main" id="{B8076BF0-036C-684E-ECCC-6300DF0A648A}"/>
              </a:ext>
            </a:extLst>
          </p:cNvPr>
          <p:cNvSpPr/>
          <p:nvPr/>
        </p:nvSpPr>
        <p:spPr>
          <a:xfrm>
            <a:off x="3995119" y="2522956"/>
            <a:ext cx="223611" cy="447222"/>
          </a:xfrm>
          <a:custGeom>
            <a:avLst/>
            <a:gdLst/>
            <a:ahLst/>
            <a:cxnLst/>
            <a:rect l="l" t="t" r="r" b="b"/>
            <a:pathLst>
              <a:path w="304038" h="608076" extrusionOk="0">
                <a:moveTo>
                  <a:pt x="304038" y="304038"/>
                </a:moveTo>
                <a:lnTo>
                  <a:pt x="0" y="0"/>
                </a:lnTo>
                <a:lnTo>
                  <a:pt x="0" y="608076"/>
                </a:lnTo>
                <a:close/>
              </a:path>
            </a:pathLst>
          </a:custGeom>
          <a:solidFill>
            <a:srgbClr val="0028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 name="Google Shape;249;p2">
            <a:extLst>
              <a:ext uri="{FF2B5EF4-FFF2-40B4-BE49-F238E27FC236}">
                <a16:creationId xmlns:a16="http://schemas.microsoft.com/office/drawing/2014/main" id="{D3106C03-71A7-9934-9520-D6FE7FAB3F87}"/>
              </a:ext>
            </a:extLst>
          </p:cNvPr>
          <p:cNvSpPr/>
          <p:nvPr/>
        </p:nvSpPr>
        <p:spPr>
          <a:xfrm>
            <a:off x="7986721" y="2522956"/>
            <a:ext cx="223611" cy="447222"/>
          </a:xfrm>
          <a:custGeom>
            <a:avLst/>
            <a:gdLst/>
            <a:ahLst/>
            <a:cxnLst/>
            <a:rect l="l" t="t" r="r" b="b"/>
            <a:pathLst>
              <a:path w="304038" h="608076" extrusionOk="0">
                <a:moveTo>
                  <a:pt x="304038" y="304038"/>
                </a:moveTo>
                <a:lnTo>
                  <a:pt x="0" y="0"/>
                </a:lnTo>
                <a:lnTo>
                  <a:pt x="0" y="608076"/>
                </a:lnTo>
                <a:close/>
              </a:path>
            </a:pathLst>
          </a:custGeom>
          <a:solidFill>
            <a:srgbClr val="00286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 name="Google Shape;251;p2">
            <a:extLst>
              <a:ext uri="{FF2B5EF4-FFF2-40B4-BE49-F238E27FC236}">
                <a16:creationId xmlns:a16="http://schemas.microsoft.com/office/drawing/2014/main" id="{8AD50C08-EAB6-B881-CD3A-161A7FB07A42}"/>
              </a:ext>
            </a:extLst>
          </p:cNvPr>
          <p:cNvSpPr/>
          <p:nvPr/>
        </p:nvSpPr>
        <p:spPr>
          <a:xfrm flipH="1">
            <a:off x="7899654" y="4191822"/>
            <a:ext cx="1607127" cy="447222"/>
          </a:xfrm>
          <a:prstGeom prst="rightArrow">
            <a:avLst>
              <a:gd name="adj1" fmla="val 38044"/>
              <a:gd name="adj2" fmla="val 61034"/>
            </a:avLst>
          </a:prstGeom>
          <a:solidFill>
            <a:srgbClr val="D3D3D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pic>
        <p:nvPicPr>
          <p:cNvPr id="13" name="Graphic 12">
            <a:hlinkClick r:id="rId3" action="ppaction://hlinksldjump"/>
            <a:extLst>
              <a:ext uri="{FF2B5EF4-FFF2-40B4-BE49-F238E27FC236}">
                <a16:creationId xmlns:a16="http://schemas.microsoft.com/office/drawing/2014/main" id="{83895363-C507-356D-0B5E-DD83329B0AD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662403" y="4079492"/>
            <a:ext cx="863847" cy="671882"/>
          </a:xfrm>
          <a:prstGeom prst="rect">
            <a:avLst/>
          </a:prstGeom>
        </p:spPr>
      </p:pic>
      <p:pic>
        <p:nvPicPr>
          <p:cNvPr id="18" name="Picture 17">
            <a:extLst>
              <a:ext uri="{FF2B5EF4-FFF2-40B4-BE49-F238E27FC236}">
                <a16:creationId xmlns:a16="http://schemas.microsoft.com/office/drawing/2014/main" id="{C7DBB9E9-5C60-F6EC-EFD2-DA88CFABC49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5602" y="3574540"/>
            <a:ext cx="3275896" cy="1681786"/>
          </a:xfrm>
          <a:prstGeom prst="rect">
            <a:avLst/>
          </a:prstGeom>
          <a:ln w="19050">
            <a:solidFill>
              <a:srgbClr val="707996"/>
            </a:solidFill>
          </a:ln>
        </p:spPr>
      </p:pic>
    </p:spTree>
    <p:extLst>
      <p:ext uri="{BB962C8B-B14F-4D97-AF65-F5344CB8AC3E}">
        <p14:creationId xmlns:p14="http://schemas.microsoft.com/office/powerpoint/2010/main" val="23528467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38F2A-BD97-AE51-7AD9-F709C8E1135C}"/>
            </a:ext>
          </a:extLst>
        </p:cNvPr>
        <p:cNvGrpSpPr/>
        <p:nvPr/>
      </p:nvGrpSpPr>
      <p:grpSpPr>
        <a:xfrm>
          <a:off x="0" y="0"/>
          <a:ext cx="0" cy="0"/>
          <a:chOff x="0" y="0"/>
          <a:chExt cx="0" cy="0"/>
        </a:xfrm>
      </p:grpSpPr>
      <p:grpSp>
        <p:nvGrpSpPr>
          <p:cNvPr id="17" name="Group 16">
            <a:extLst>
              <a:ext uri="{FF2B5EF4-FFF2-40B4-BE49-F238E27FC236}">
                <a16:creationId xmlns:a16="http://schemas.microsoft.com/office/drawing/2014/main" id="{424F00C1-1AF3-3C69-C40C-5CA2C181A014}"/>
              </a:ext>
            </a:extLst>
          </p:cNvPr>
          <p:cNvGrpSpPr/>
          <p:nvPr/>
        </p:nvGrpSpPr>
        <p:grpSpPr>
          <a:xfrm>
            <a:off x="1701567" y="1540074"/>
            <a:ext cx="10036407" cy="814973"/>
            <a:chOff x="2092840" y="3475340"/>
            <a:chExt cx="9645135" cy="814973"/>
          </a:xfrm>
        </p:grpSpPr>
        <p:sp>
          <p:nvSpPr>
            <p:cNvPr id="18" name="Rectangle 17">
              <a:extLst>
                <a:ext uri="{FF2B5EF4-FFF2-40B4-BE49-F238E27FC236}">
                  <a16:creationId xmlns:a16="http://schemas.microsoft.com/office/drawing/2014/main" id="{B7DABF53-E8FA-AE42-8CAC-2244587EE499}"/>
                </a:ext>
              </a:extLst>
            </p:cNvPr>
            <p:cNvSpPr/>
            <p:nvPr/>
          </p:nvSpPr>
          <p:spPr>
            <a:xfrm>
              <a:off x="2092840" y="3475340"/>
              <a:ext cx="9645135" cy="814973"/>
            </a:xfrm>
            <a:prstGeom prst="rect">
              <a:avLst/>
            </a:prstGeom>
            <a:solidFill>
              <a:srgbClr val="0057AF">
                <a:alpha val="4898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900" baseline="30000" err="1">
                <a:solidFill>
                  <a:schemeClr val="bg1"/>
                </a:solidFill>
              </a:endParaRPr>
            </a:p>
          </p:txBody>
        </p:sp>
        <p:grpSp>
          <p:nvGrpSpPr>
            <p:cNvPr id="19" name="Group 18">
              <a:extLst>
                <a:ext uri="{FF2B5EF4-FFF2-40B4-BE49-F238E27FC236}">
                  <a16:creationId xmlns:a16="http://schemas.microsoft.com/office/drawing/2014/main" id="{EEABB07E-628C-DDFE-725D-C79D4899D8AA}"/>
                </a:ext>
              </a:extLst>
            </p:cNvPr>
            <p:cNvGrpSpPr/>
            <p:nvPr/>
          </p:nvGrpSpPr>
          <p:grpSpPr>
            <a:xfrm>
              <a:off x="2166814" y="3556797"/>
              <a:ext cx="9508060" cy="658453"/>
              <a:chOff x="2166814" y="3556797"/>
              <a:chExt cx="9508060" cy="658453"/>
            </a:xfrm>
          </p:grpSpPr>
          <p:grpSp>
            <p:nvGrpSpPr>
              <p:cNvPr id="20" name="Group 19">
                <a:extLst>
                  <a:ext uri="{FF2B5EF4-FFF2-40B4-BE49-F238E27FC236}">
                    <a16:creationId xmlns:a16="http://schemas.microsoft.com/office/drawing/2014/main" id="{2F34F58C-C00F-93C4-4378-9C6E8DFBEA17}"/>
                  </a:ext>
                </a:extLst>
              </p:cNvPr>
              <p:cNvGrpSpPr/>
              <p:nvPr/>
            </p:nvGrpSpPr>
            <p:grpSpPr>
              <a:xfrm>
                <a:off x="2166814" y="3556797"/>
                <a:ext cx="8155387" cy="658453"/>
                <a:chOff x="2166814" y="3556797"/>
                <a:chExt cx="7131780" cy="658453"/>
              </a:xfrm>
            </p:grpSpPr>
            <p:sp>
              <p:nvSpPr>
                <p:cNvPr id="22" name="Google Shape;266;p3">
                  <a:extLst>
                    <a:ext uri="{FF2B5EF4-FFF2-40B4-BE49-F238E27FC236}">
                      <a16:creationId xmlns:a16="http://schemas.microsoft.com/office/drawing/2014/main" id="{41DDE68D-2FF8-C775-6CD6-90E5F6D1BD74}"/>
                    </a:ext>
                  </a:extLst>
                </p:cNvPr>
                <p:cNvSpPr/>
                <p:nvPr/>
              </p:nvSpPr>
              <p:spPr>
                <a:xfrm>
                  <a:off x="2166814" y="3556797"/>
                  <a:ext cx="2381626" cy="298691"/>
                </a:xfrm>
                <a:prstGeom prst="rect">
                  <a:avLst/>
                </a:prstGeom>
                <a:solidFill>
                  <a:srgbClr val="FFFFFF"/>
                </a:solidFill>
                <a:ln>
                  <a:noFill/>
                </a:ln>
              </p:spPr>
              <p:txBody>
                <a:bodyPr spcFirstLastPara="1" wrap="square" lIns="91425" tIns="0" rIns="91425" bIns="0" anchor="ctr" anchorCtr="0">
                  <a:noAutofit/>
                </a:bodyPr>
                <a:lstStyle/>
                <a:p>
                  <a:pPr algn="ctr">
                    <a:lnSpc>
                      <a:spcPct val="90000"/>
                    </a:lnSpc>
                  </a:pPr>
                  <a:r>
                    <a:rPr lang="en-US" sz="900"/>
                    <a:t>Source and prioritize AI use cases</a:t>
                  </a:r>
                </a:p>
              </p:txBody>
            </p:sp>
            <p:sp>
              <p:nvSpPr>
                <p:cNvPr id="23" name="Google Shape;267;p3">
                  <a:extLst>
                    <a:ext uri="{FF2B5EF4-FFF2-40B4-BE49-F238E27FC236}">
                      <a16:creationId xmlns:a16="http://schemas.microsoft.com/office/drawing/2014/main" id="{FBF44344-67C2-6EE0-F517-F76A84278C30}"/>
                    </a:ext>
                  </a:extLst>
                </p:cNvPr>
                <p:cNvSpPr/>
                <p:nvPr/>
              </p:nvSpPr>
              <p:spPr>
                <a:xfrm>
                  <a:off x="6977432" y="3556797"/>
                  <a:ext cx="2321162" cy="298691"/>
                </a:xfrm>
                <a:prstGeom prst="rect">
                  <a:avLst/>
                </a:prstGeom>
                <a:solidFill>
                  <a:srgbClr val="FFFFFF"/>
                </a:solidFill>
                <a:ln>
                  <a:noFill/>
                </a:ln>
              </p:spPr>
              <p:txBody>
                <a:bodyPr spcFirstLastPara="1" wrap="square" lIns="91425" tIns="0" rIns="91425" bIns="0" anchor="ctr" anchorCtr="0">
                  <a:noAutofit/>
                </a:bodyPr>
                <a:lstStyle/>
                <a:p>
                  <a:pPr algn="ctr">
                    <a:lnSpc>
                      <a:spcPct val="90000"/>
                    </a:lnSpc>
                  </a:pPr>
                  <a:r>
                    <a:rPr lang="en-US" sz="900">
                      <a:solidFill>
                        <a:srgbClr val="000000"/>
                      </a:solidFill>
                      <a:ea typeface="Arial"/>
                      <a:cs typeface="Arial"/>
                      <a:sym typeface="Arial"/>
                    </a:rPr>
                    <a:t>Measure value and realize benefits</a:t>
                  </a:r>
                </a:p>
              </p:txBody>
            </p:sp>
            <p:sp>
              <p:nvSpPr>
                <p:cNvPr id="24" name="Google Shape;268;p3">
                  <a:extLst>
                    <a:ext uri="{FF2B5EF4-FFF2-40B4-BE49-F238E27FC236}">
                      <a16:creationId xmlns:a16="http://schemas.microsoft.com/office/drawing/2014/main" id="{B7A7B53B-C33F-3E8E-C74D-7F3E78B5F7BB}"/>
                    </a:ext>
                  </a:extLst>
                </p:cNvPr>
                <p:cNvSpPr/>
                <p:nvPr/>
              </p:nvSpPr>
              <p:spPr>
                <a:xfrm>
                  <a:off x="4601151" y="3556797"/>
                  <a:ext cx="2321162" cy="298691"/>
                </a:xfrm>
                <a:prstGeom prst="rect">
                  <a:avLst/>
                </a:prstGeom>
                <a:solidFill>
                  <a:srgbClr val="FFFFFF"/>
                </a:solidFill>
                <a:ln>
                  <a:noFill/>
                </a:ln>
              </p:spPr>
              <p:txBody>
                <a:bodyPr spcFirstLastPara="1" wrap="square" lIns="91425" tIns="0" rIns="91425" bIns="0" anchor="ctr" anchorCtr="0">
                  <a:noAutofit/>
                </a:bodyPr>
                <a:lstStyle/>
                <a:p>
                  <a:pPr algn="ctr">
                    <a:lnSpc>
                      <a:spcPct val="90000"/>
                    </a:lnSpc>
                  </a:pPr>
                  <a:r>
                    <a:rPr lang="en-US" sz="900">
                      <a:solidFill>
                        <a:srgbClr val="000000"/>
                      </a:solidFill>
                      <a:ea typeface="Arial"/>
                      <a:cs typeface="Arial"/>
                      <a:sym typeface="Arial"/>
                    </a:rPr>
                    <a:t>Develop the AI business case and manage funding</a:t>
                  </a:r>
                </a:p>
              </p:txBody>
            </p:sp>
            <p:sp>
              <p:nvSpPr>
                <p:cNvPr id="25" name="Google Shape;266;p3">
                  <a:extLst>
                    <a:ext uri="{FF2B5EF4-FFF2-40B4-BE49-F238E27FC236}">
                      <a16:creationId xmlns:a16="http://schemas.microsoft.com/office/drawing/2014/main" id="{14B29D30-0C7C-958D-1D77-93DFE7D94C03}"/>
                    </a:ext>
                  </a:extLst>
                </p:cNvPr>
                <p:cNvSpPr/>
                <p:nvPr/>
              </p:nvSpPr>
              <p:spPr>
                <a:xfrm>
                  <a:off x="2166814" y="3916559"/>
                  <a:ext cx="2381626" cy="298691"/>
                </a:xfrm>
                <a:prstGeom prst="rect">
                  <a:avLst/>
                </a:prstGeom>
                <a:solidFill>
                  <a:srgbClr val="FFFFFF"/>
                </a:solidFill>
                <a:ln>
                  <a:noFill/>
                </a:ln>
              </p:spPr>
              <p:txBody>
                <a:bodyPr spcFirstLastPara="1" wrap="square" lIns="91425" tIns="0" rIns="91425" bIns="0" anchor="ctr" anchorCtr="0">
                  <a:noAutofit/>
                </a:bodyPr>
                <a:lstStyle/>
                <a:p>
                  <a:pPr algn="ctr">
                    <a:lnSpc>
                      <a:spcPct val="90000"/>
                    </a:lnSpc>
                  </a:pPr>
                  <a:r>
                    <a:rPr lang="en-US" sz="900">
                      <a:solidFill>
                        <a:srgbClr val="000000"/>
                      </a:solidFill>
                      <a:ea typeface="Arial"/>
                      <a:cs typeface="Arial"/>
                      <a:sym typeface="Arial"/>
                    </a:rPr>
                    <a:t>Define and align the AI roadmap for HR</a:t>
                  </a:r>
                  <a:endParaRPr lang="en-US" sz="900"/>
                </a:p>
              </p:txBody>
            </p:sp>
            <p:sp>
              <p:nvSpPr>
                <p:cNvPr id="26" name="Google Shape;267;p3">
                  <a:extLst>
                    <a:ext uri="{FF2B5EF4-FFF2-40B4-BE49-F238E27FC236}">
                      <a16:creationId xmlns:a16="http://schemas.microsoft.com/office/drawing/2014/main" id="{C0B03A2E-18A3-E40F-F807-CB1DF1F8B9CC}"/>
                    </a:ext>
                  </a:extLst>
                </p:cNvPr>
                <p:cNvSpPr/>
                <p:nvPr/>
              </p:nvSpPr>
              <p:spPr>
                <a:xfrm>
                  <a:off x="6977432" y="3916559"/>
                  <a:ext cx="2321162" cy="298691"/>
                </a:xfrm>
                <a:prstGeom prst="rect">
                  <a:avLst/>
                </a:prstGeom>
                <a:solidFill>
                  <a:srgbClr val="FFFFFF"/>
                </a:solidFill>
                <a:ln>
                  <a:noFill/>
                </a:ln>
              </p:spPr>
              <p:txBody>
                <a:bodyPr spcFirstLastPara="1" wrap="square" lIns="91425" tIns="0" rIns="91425" bIns="0" anchor="ctr" anchorCtr="0">
                  <a:noAutofit/>
                </a:bodyPr>
                <a:lstStyle/>
                <a:p>
                  <a:pPr algn="ctr">
                    <a:lnSpc>
                      <a:spcPct val="90000"/>
                    </a:lnSpc>
                  </a:pPr>
                  <a:r>
                    <a:rPr lang="en-US" sz="900">
                      <a:solidFill>
                        <a:srgbClr val="000000"/>
                      </a:solidFill>
                      <a:ea typeface="Arial"/>
                      <a:cs typeface="Arial"/>
                      <a:sym typeface="Arial"/>
                    </a:rPr>
                    <a:t>Standardize practices and share lessons</a:t>
                  </a:r>
                  <a:br>
                    <a:rPr lang="en-US" sz="900">
                      <a:solidFill>
                        <a:srgbClr val="000000"/>
                      </a:solidFill>
                      <a:ea typeface="Arial"/>
                      <a:cs typeface="Arial"/>
                      <a:sym typeface="Arial"/>
                    </a:rPr>
                  </a:br>
                  <a:r>
                    <a:rPr lang="en-US" sz="900">
                      <a:solidFill>
                        <a:srgbClr val="000000"/>
                      </a:solidFill>
                      <a:ea typeface="Arial"/>
                      <a:cs typeface="Arial"/>
                      <a:sym typeface="Arial"/>
                    </a:rPr>
                    <a:t>on AI value realization</a:t>
                  </a:r>
                  <a:endParaRPr lang="en-US" sz="900">
                    <a:solidFill>
                      <a:schemeClr val="dk1"/>
                    </a:solidFill>
                    <a:ea typeface="Arial"/>
                    <a:cs typeface="Arial"/>
                    <a:sym typeface="Arial"/>
                  </a:endParaRPr>
                </a:p>
              </p:txBody>
            </p:sp>
            <p:sp>
              <p:nvSpPr>
                <p:cNvPr id="28" name="Google Shape;268;p3">
                  <a:extLst>
                    <a:ext uri="{FF2B5EF4-FFF2-40B4-BE49-F238E27FC236}">
                      <a16:creationId xmlns:a16="http://schemas.microsoft.com/office/drawing/2014/main" id="{F4533A97-6306-0102-C8FF-5A1F70906920}"/>
                    </a:ext>
                  </a:extLst>
                </p:cNvPr>
                <p:cNvSpPr/>
                <p:nvPr/>
              </p:nvSpPr>
              <p:spPr>
                <a:xfrm>
                  <a:off x="4601151" y="3916559"/>
                  <a:ext cx="2321162" cy="298691"/>
                </a:xfrm>
                <a:prstGeom prst="rect">
                  <a:avLst/>
                </a:prstGeom>
                <a:solidFill>
                  <a:srgbClr val="FFFFFF"/>
                </a:solidFill>
                <a:ln>
                  <a:noFill/>
                </a:ln>
              </p:spPr>
              <p:txBody>
                <a:bodyPr spcFirstLastPara="1" wrap="square" lIns="91425" tIns="0" rIns="91425" bIns="0" anchor="ctr" anchorCtr="0">
                  <a:noAutofit/>
                </a:bodyPr>
                <a:lstStyle/>
                <a:p>
                  <a:pPr lvl="0" algn="ctr">
                    <a:lnSpc>
                      <a:spcPct val="90000"/>
                    </a:lnSpc>
                  </a:pPr>
                  <a:r>
                    <a:rPr lang="en-US" sz="900">
                      <a:solidFill>
                        <a:srgbClr val="000000"/>
                      </a:solidFill>
                      <a:ea typeface="Arial"/>
                      <a:cs typeface="Arial"/>
                      <a:sym typeface="Arial"/>
                    </a:rPr>
                    <a:t>Manage AI portfolio and interdependencies</a:t>
                  </a:r>
                </a:p>
              </p:txBody>
            </p:sp>
          </p:grpSp>
          <p:sp>
            <p:nvSpPr>
              <p:cNvPr id="21" name="Google Shape;267;p3">
                <a:extLst>
                  <a:ext uri="{FF2B5EF4-FFF2-40B4-BE49-F238E27FC236}">
                    <a16:creationId xmlns:a16="http://schemas.microsoft.com/office/drawing/2014/main" id="{219E99CA-71D6-55E4-6D3C-FE1D3402933F}"/>
                  </a:ext>
                </a:extLst>
              </p:cNvPr>
              <p:cNvSpPr/>
              <p:nvPr/>
            </p:nvSpPr>
            <p:spPr>
              <a:xfrm>
                <a:off x="10369494" y="3556797"/>
                <a:ext cx="1305380" cy="658453"/>
              </a:xfrm>
              <a:prstGeom prst="rect">
                <a:avLst/>
              </a:prstGeom>
              <a:solidFill>
                <a:srgbClr val="FFFFFF"/>
              </a:solidFill>
              <a:ln>
                <a:noFill/>
              </a:ln>
            </p:spPr>
            <p:txBody>
              <a:bodyPr spcFirstLastPara="1" wrap="square" lIns="91425" tIns="0" rIns="91425" bIns="0" anchor="ctr" anchorCtr="0">
                <a:noAutofit/>
              </a:bodyPr>
              <a:lstStyle/>
              <a:p>
                <a:pPr algn="ctr">
                  <a:lnSpc>
                    <a:spcPct val="90000"/>
                  </a:lnSpc>
                </a:pPr>
                <a:r>
                  <a:rPr lang="en-US" sz="900">
                    <a:solidFill>
                      <a:srgbClr val="000000"/>
                    </a:solidFill>
                    <a:ea typeface="Arial"/>
                    <a:cs typeface="Arial"/>
                    <a:sym typeface="Arial"/>
                  </a:rPr>
                  <a:t>Continuously</a:t>
                </a:r>
                <a:br>
                  <a:rPr lang="en-US" sz="900">
                    <a:solidFill>
                      <a:srgbClr val="000000"/>
                    </a:solidFill>
                    <a:ea typeface="Arial"/>
                    <a:cs typeface="Arial"/>
                    <a:sym typeface="Arial"/>
                  </a:rPr>
                </a:br>
                <a:r>
                  <a:rPr lang="en-US" sz="900">
                    <a:solidFill>
                      <a:srgbClr val="000000"/>
                    </a:solidFill>
                    <a:ea typeface="Arial"/>
                    <a:cs typeface="Arial"/>
                    <a:sym typeface="Arial"/>
                  </a:rPr>
                  <a:t>identify and optimize the portfolio,</a:t>
                </a:r>
                <a:br>
                  <a:rPr lang="en-US" sz="900">
                    <a:solidFill>
                      <a:srgbClr val="000000"/>
                    </a:solidFill>
                    <a:ea typeface="Arial"/>
                    <a:cs typeface="Arial"/>
                    <a:sym typeface="Arial"/>
                  </a:rPr>
                </a:br>
                <a:r>
                  <a:rPr lang="en-US" sz="900">
                    <a:solidFill>
                      <a:srgbClr val="000000"/>
                    </a:solidFill>
                    <a:ea typeface="Arial"/>
                    <a:cs typeface="Arial"/>
                    <a:sym typeface="Arial"/>
                  </a:rPr>
                  <a:t>and lead innovation</a:t>
                </a:r>
                <a:endParaRPr lang="en-US" sz="900">
                  <a:solidFill>
                    <a:schemeClr val="dk1"/>
                  </a:solidFill>
                  <a:ea typeface="Arial"/>
                  <a:cs typeface="Arial"/>
                  <a:sym typeface="Arial"/>
                </a:endParaRPr>
              </a:p>
            </p:txBody>
          </p:sp>
        </p:grpSp>
      </p:grpSp>
      <p:sp>
        <p:nvSpPr>
          <p:cNvPr id="2" name="Title 1">
            <a:extLst>
              <a:ext uri="{FF2B5EF4-FFF2-40B4-BE49-F238E27FC236}">
                <a16:creationId xmlns:a16="http://schemas.microsoft.com/office/drawing/2014/main" id="{45F726FB-C45C-AD8A-38B2-56CE19BCB0F4}"/>
              </a:ext>
            </a:extLst>
          </p:cNvPr>
          <p:cNvSpPr>
            <a:spLocks noGrp="1"/>
          </p:cNvSpPr>
          <p:nvPr>
            <p:ph type="title"/>
          </p:nvPr>
        </p:nvSpPr>
        <p:spPr/>
        <p:txBody>
          <a:bodyPr/>
          <a:lstStyle/>
          <a:p>
            <a:r>
              <a:rPr lang="en-US" dirty="0"/>
              <a:t>AI Roadmap for the HR Function at a Glance</a:t>
            </a:r>
          </a:p>
        </p:txBody>
      </p:sp>
      <p:grpSp>
        <p:nvGrpSpPr>
          <p:cNvPr id="229" name="Group 228">
            <a:extLst>
              <a:ext uri="{FF2B5EF4-FFF2-40B4-BE49-F238E27FC236}">
                <a16:creationId xmlns:a16="http://schemas.microsoft.com/office/drawing/2014/main" id="{73D47A22-9174-C4F6-E073-706F58937D53}"/>
              </a:ext>
            </a:extLst>
          </p:cNvPr>
          <p:cNvGrpSpPr/>
          <p:nvPr/>
        </p:nvGrpSpPr>
        <p:grpSpPr>
          <a:xfrm>
            <a:off x="458802" y="4940605"/>
            <a:ext cx="1207159" cy="1269083"/>
            <a:chOff x="458802" y="5073754"/>
            <a:chExt cx="1207159" cy="1269083"/>
          </a:xfrm>
        </p:grpSpPr>
        <p:sp>
          <p:nvSpPr>
            <p:cNvPr id="5" name="Google Shape;278;p3">
              <a:extLst>
                <a:ext uri="{FF2B5EF4-FFF2-40B4-BE49-F238E27FC236}">
                  <a16:creationId xmlns:a16="http://schemas.microsoft.com/office/drawing/2014/main" id="{6B699A7F-4A05-0693-DC78-3AE477F45B9D}"/>
                </a:ext>
              </a:extLst>
            </p:cNvPr>
            <p:cNvSpPr/>
            <p:nvPr/>
          </p:nvSpPr>
          <p:spPr>
            <a:xfrm>
              <a:off x="458802" y="5073754"/>
              <a:ext cx="1207159" cy="1269083"/>
            </a:xfrm>
            <a:prstGeom prst="rect">
              <a:avLst/>
            </a:prstGeom>
            <a:solidFill>
              <a:srgbClr val="3C92B5"/>
            </a:solidFill>
            <a:ln>
              <a:noFill/>
            </a:ln>
          </p:spPr>
          <p:txBody>
            <a:bodyPr spcFirstLastPara="1" wrap="square" lIns="457200" tIns="0" rIns="91440" bIns="0" anchor="ctr" anchorCtr="0">
              <a:noAutofit/>
            </a:bodyPr>
            <a:lstStyle/>
            <a:p>
              <a:pPr marL="0" marR="0" lvl="0" indent="0" algn="l" rtl="0">
                <a:lnSpc>
                  <a:spcPct val="90000"/>
                </a:lnSpc>
                <a:spcBef>
                  <a:spcPts val="0"/>
                </a:spcBef>
                <a:spcAft>
                  <a:spcPts val="0"/>
                </a:spcAft>
                <a:buClr>
                  <a:srgbClr val="000000"/>
                </a:buClr>
                <a:buSzPts val="1000"/>
                <a:buFont typeface="Arial"/>
                <a:buNone/>
              </a:pPr>
              <a:r>
                <a:rPr lang="en-US" sz="900" b="1" i="0" u="none" strike="noStrike" cap="none">
                  <a:solidFill>
                    <a:srgbClr val="FFFFFF"/>
                  </a:solidFill>
                  <a:latin typeface="+mj-lt"/>
                  <a:ea typeface="Arial"/>
                  <a:cs typeface="Arial"/>
                  <a:sym typeface="Arial"/>
                </a:rPr>
                <a:t>AI data and </a:t>
              </a:r>
              <a:r>
                <a:rPr lang="en-US" sz="900" b="1">
                  <a:solidFill>
                    <a:srgbClr val="FFFFFF"/>
                  </a:solidFill>
                  <a:latin typeface="+mj-lt"/>
                  <a:ea typeface="Arial"/>
                  <a:cs typeface="Arial"/>
                  <a:sym typeface="Arial"/>
                </a:rPr>
                <a:t>systems</a:t>
              </a:r>
              <a:r>
                <a:rPr lang="en-US" sz="900" b="1" i="0" u="none" strike="noStrike" cap="none">
                  <a:solidFill>
                    <a:srgbClr val="FFFFFF"/>
                  </a:solidFill>
                  <a:latin typeface="+mj-lt"/>
                  <a:ea typeface="Arial"/>
                  <a:cs typeface="Arial"/>
                  <a:sym typeface="Arial"/>
                </a:rPr>
                <a:t> for the HR </a:t>
              </a:r>
              <a:r>
                <a:rPr lang="en-US" sz="900" b="1">
                  <a:solidFill>
                    <a:srgbClr val="FFFFFF"/>
                  </a:solidFill>
                  <a:latin typeface="+mj-lt"/>
                  <a:ea typeface="Arial"/>
                  <a:cs typeface="Arial"/>
                  <a:sym typeface="Arial"/>
                </a:rPr>
                <a:t>f</a:t>
              </a:r>
              <a:r>
                <a:rPr lang="en-US" sz="900" b="1" i="0" u="none" strike="noStrike" cap="none">
                  <a:solidFill>
                    <a:srgbClr val="FFFFFF"/>
                  </a:solidFill>
                  <a:latin typeface="+mj-lt"/>
                  <a:ea typeface="Arial"/>
                  <a:cs typeface="Arial"/>
                  <a:sym typeface="Arial"/>
                </a:rPr>
                <a:t>unction</a:t>
              </a:r>
              <a:endParaRPr lang="en-US" sz="900">
                <a:solidFill>
                  <a:srgbClr val="FFFFFF"/>
                </a:solidFill>
                <a:latin typeface="+mj-lt"/>
              </a:endParaRPr>
            </a:p>
          </p:txBody>
        </p:sp>
        <p:pic>
          <p:nvPicPr>
            <p:cNvPr id="31" name="Graphic 30">
              <a:extLst>
                <a:ext uri="{FF2B5EF4-FFF2-40B4-BE49-F238E27FC236}">
                  <a16:creationId xmlns:a16="http://schemas.microsoft.com/office/drawing/2014/main" id="{4B4E9B7F-29D5-06FE-E1D8-D5E6DFE6D2D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80873" y="5558729"/>
              <a:ext cx="384599" cy="299133"/>
            </a:xfrm>
            <a:prstGeom prst="rect">
              <a:avLst/>
            </a:prstGeom>
          </p:spPr>
        </p:pic>
      </p:grpSp>
      <p:grpSp>
        <p:nvGrpSpPr>
          <p:cNvPr id="54" name="Group 53">
            <a:extLst>
              <a:ext uri="{FF2B5EF4-FFF2-40B4-BE49-F238E27FC236}">
                <a16:creationId xmlns:a16="http://schemas.microsoft.com/office/drawing/2014/main" id="{275CD14A-F2AF-1448-82F8-37B276A782BA}"/>
              </a:ext>
            </a:extLst>
          </p:cNvPr>
          <p:cNvGrpSpPr/>
          <p:nvPr/>
        </p:nvGrpSpPr>
        <p:grpSpPr>
          <a:xfrm>
            <a:off x="1705529" y="802770"/>
            <a:ext cx="10038796" cy="230792"/>
            <a:chOff x="2024874" y="1167460"/>
            <a:chExt cx="9713101" cy="230792"/>
          </a:xfrm>
        </p:grpSpPr>
        <p:cxnSp>
          <p:nvCxnSpPr>
            <p:cNvPr id="43" name="Google Shape;320;p3">
              <a:extLst>
                <a:ext uri="{FF2B5EF4-FFF2-40B4-BE49-F238E27FC236}">
                  <a16:creationId xmlns:a16="http://schemas.microsoft.com/office/drawing/2014/main" id="{BC2FC434-EA40-5BA1-5536-B0391C5CE332}"/>
                </a:ext>
              </a:extLst>
            </p:cNvPr>
            <p:cNvCxnSpPr>
              <a:cxnSpLocks/>
            </p:cNvCxnSpPr>
            <p:nvPr/>
          </p:nvCxnSpPr>
          <p:spPr>
            <a:xfrm>
              <a:off x="2024874" y="1290571"/>
              <a:ext cx="9713101" cy="0"/>
            </a:xfrm>
            <a:prstGeom prst="straightConnector1">
              <a:avLst/>
            </a:prstGeom>
            <a:noFill/>
            <a:ln w="19050" cap="flat" cmpd="sng">
              <a:solidFill>
                <a:srgbClr val="707996"/>
              </a:solidFill>
              <a:prstDash val="solid"/>
              <a:round/>
              <a:headEnd type="none" w="sm" len="sm"/>
              <a:tailEnd type="none" w="sm" len="sm"/>
            </a:ln>
          </p:spPr>
        </p:cxnSp>
        <p:sp>
          <p:nvSpPr>
            <p:cNvPr id="44" name="Google Shape;321;p3">
              <a:extLst>
                <a:ext uri="{FF2B5EF4-FFF2-40B4-BE49-F238E27FC236}">
                  <a16:creationId xmlns:a16="http://schemas.microsoft.com/office/drawing/2014/main" id="{ED129CC7-B6C7-A40B-2A71-2BE26F460E3B}"/>
                </a:ext>
              </a:extLst>
            </p:cNvPr>
            <p:cNvSpPr txBox="1"/>
            <p:nvPr/>
          </p:nvSpPr>
          <p:spPr>
            <a:xfrm>
              <a:off x="2152862" y="1167460"/>
              <a:ext cx="979006" cy="230792"/>
            </a:xfrm>
            <a:prstGeom prst="rect">
              <a:avLst/>
            </a:prstGeom>
            <a:solidFill>
              <a:schemeClr val="lt1"/>
            </a:solidFill>
            <a:ln>
              <a:noFill/>
            </a:ln>
          </p:spPr>
          <p:txBody>
            <a:bodyPr spcFirstLastPara="1" wrap="square" lIns="0" tIns="45700" rIns="0"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900" b="1" i="0" u="none" strike="noStrike" cap="none">
                  <a:solidFill>
                    <a:srgbClr val="000000"/>
                  </a:solidFill>
                  <a:latin typeface="+mj-lt"/>
                  <a:ea typeface="Arial"/>
                  <a:cs typeface="Arial"/>
                  <a:sym typeface="Arial"/>
                </a:rPr>
                <a:t>Initial activities</a:t>
              </a:r>
              <a:endParaRPr lang="en-US" sz="900">
                <a:latin typeface="+mj-lt"/>
              </a:endParaRPr>
            </a:p>
          </p:txBody>
        </p:sp>
        <p:sp>
          <p:nvSpPr>
            <p:cNvPr id="45" name="Google Shape;322;p3">
              <a:extLst>
                <a:ext uri="{FF2B5EF4-FFF2-40B4-BE49-F238E27FC236}">
                  <a16:creationId xmlns:a16="http://schemas.microsoft.com/office/drawing/2014/main" id="{BFD39986-ADAF-5F6B-94B2-8C0985CE65C0}"/>
                </a:ext>
              </a:extLst>
            </p:cNvPr>
            <p:cNvSpPr txBox="1"/>
            <p:nvPr/>
          </p:nvSpPr>
          <p:spPr>
            <a:xfrm>
              <a:off x="10335239" y="1167460"/>
              <a:ext cx="1265776" cy="230792"/>
            </a:xfrm>
            <a:prstGeom prst="rect">
              <a:avLst/>
            </a:prstGeom>
            <a:solidFill>
              <a:schemeClr val="lt1"/>
            </a:solid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900" b="1" i="0" u="none" strike="noStrike" cap="none">
                  <a:solidFill>
                    <a:srgbClr val="000000"/>
                  </a:solidFill>
                  <a:latin typeface="+mj-lt"/>
                  <a:ea typeface="Arial"/>
                  <a:cs typeface="Arial"/>
                  <a:sym typeface="Arial"/>
                </a:rPr>
                <a:t>Advanced </a:t>
              </a:r>
              <a:r>
                <a:rPr lang="en-US" sz="900" b="1">
                  <a:solidFill>
                    <a:srgbClr val="000000"/>
                  </a:solidFill>
                  <a:latin typeface="+mj-lt"/>
                  <a:ea typeface="Arial"/>
                  <a:cs typeface="Arial"/>
                  <a:sym typeface="Arial"/>
                </a:rPr>
                <a:t>activities</a:t>
              </a:r>
              <a:endParaRPr lang="en-US" sz="900" b="1" i="0" u="none" strike="noStrike" cap="none">
                <a:solidFill>
                  <a:srgbClr val="000000"/>
                </a:solidFill>
                <a:latin typeface="+mj-lt"/>
                <a:ea typeface="Arial"/>
                <a:cs typeface="Arial"/>
                <a:sym typeface="Arial"/>
              </a:endParaRPr>
            </a:p>
          </p:txBody>
        </p:sp>
      </p:grpSp>
      <p:grpSp>
        <p:nvGrpSpPr>
          <p:cNvPr id="234" name="Group 233">
            <a:extLst>
              <a:ext uri="{FF2B5EF4-FFF2-40B4-BE49-F238E27FC236}">
                <a16:creationId xmlns:a16="http://schemas.microsoft.com/office/drawing/2014/main" id="{753975D2-D670-9046-D0B1-A4677E42945C}"/>
              </a:ext>
            </a:extLst>
          </p:cNvPr>
          <p:cNvGrpSpPr/>
          <p:nvPr/>
        </p:nvGrpSpPr>
        <p:grpSpPr>
          <a:xfrm>
            <a:off x="458801" y="1029426"/>
            <a:ext cx="1204993" cy="475488"/>
            <a:chOff x="458801" y="1021480"/>
            <a:chExt cx="1204993" cy="475488"/>
          </a:xfrm>
        </p:grpSpPr>
        <p:sp>
          <p:nvSpPr>
            <p:cNvPr id="3" name="Google Shape;265;p3">
              <a:extLst>
                <a:ext uri="{FF2B5EF4-FFF2-40B4-BE49-F238E27FC236}">
                  <a16:creationId xmlns:a16="http://schemas.microsoft.com/office/drawing/2014/main" id="{C8DD9A30-9338-5063-9DA5-1C3931929D36}"/>
                </a:ext>
              </a:extLst>
            </p:cNvPr>
            <p:cNvSpPr/>
            <p:nvPr/>
          </p:nvSpPr>
          <p:spPr>
            <a:xfrm>
              <a:off x="458801" y="1021480"/>
              <a:ext cx="1204993" cy="475488"/>
            </a:xfrm>
            <a:prstGeom prst="rect">
              <a:avLst/>
            </a:prstGeom>
            <a:solidFill>
              <a:srgbClr val="002869"/>
            </a:solidFill>
            <a:ln>
              <a:noFill/>
            </a:ln>
          </p:spPr>
          <p:txBody>
            <a:bodyPr spcFirstLastPara="1" wrap="square" lIns="457200" tIns="0" rIns="91440" bIns="0" anchor="ctr" anchorCtr="0">
              <a:noAutofit/>
            </a:bodyPr>
            <a:lstStyle/>
            <a:p>
              <a:pPr marL="0" marR="0" lvl="0" indent="0" algn="l" rtl="0">
                <a:lnSpc>
                  <a:spcPct val="90000"/>
                </a:lnSpc>
                <a:spcBef>
                  <a:spcPts val="0"/>
                </a:spcBef>
                <a:spcAft>
                  <a:spcPts val="0"/>
                </a:spcAft>
                <a:buClr>
                  <a:srgbClr val="000000"/>
                </a:buClr>
                <a:buSzPts val="1000"/>
                <a:buFont typeface="Arial"/>
                <a:buNone/>
              </a:pPr>
              <a:r>
                <a:rPr lang="en-US" sz="900" i="0" u="none" strike="noStrike" cap="none">
                  <a:solidFill>
                    <a:srgbClr val="FFFFFF"/>
                  </a:solidFill>
                  <a:latin typeface="+mj-lt"/>
                  <a:ea typeface="Arial"/>
                  <a:cs typeface="Arial"/>
                  <a:sym typeface="Arial"/>
                </a:rPr>
                <a:t>AI strategy for the HR </a:t>
              </a:r>
              <a:r>
                <a:rPr lang="en-US" sz="900">
                  <a:solidFill>
                    <a:srgbClr val="FFFFFF"/>
                  </a:solidFill>
                  <a:latin typeface="+mj-lt"/>
                  <a:ea typeface="Arial"/>
                  <a:cs typeface="Arial"/>
                  <a:sym typeface="Arial"/>
                </a:rPr>
                <a:t>f</a:t>
              </a:r>
              <a:r>
                <a:rPr lang="en-US" sz="900" i="0" u="none" strike="noStrike" cap="none">
                  <a:solidFill>
                    <a:srgbClr val="FFFFFF"/>
                  </a:solidFill>
                  <a:latin typeface="+mj-lt"/>
                  <a:ea typeface="Arial"/>
                  <a:cs typeface="Arial"/>
                  <a:sym typeface="Arial"/>
                </a:rPr>
                <a:t>unction</a:t>
              </a:r>
              <a:endParaRPr lang="en-US" sz="900">
                <a:solidFill>
                  <a:srgbClr val="FFFFFF"/>
                </a:solidFill>
                <a:latin typeface="+mj-lt"/>
              </a:endParaRPr>
            </a:p>
          </p:txBody>
        </p:sp>
        <p:pic>
          <p:nvPicPr>
            <p:cNvPr id="39" name="Graphic 38">
              <a:extLst>
                <a:ext uri="{FF2B5EF4-FFF2-40B4-BE49-F238E27FC236}">
                  <a16:creationId xmlns:a16="http://schemas.microsoft.com/office/drawing/2014/main" id="{142C9D23-BD6A-5E3F-8350-604436A603C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12374" y="1134159"/>
              <a:ext cx="321597" cy="250130"/>
            </a:xfrm>
            <a:prstGeom prst="rect">
              <a:avLst/>
            </a:prstGeom>
          </p:spPr>
        </p:pic>
      </p:grpSp>
      <p:grpSp>
        <p:nvGrpSpPr>
          <p:cNvPr id="206" name="Group 205">
            <a:extLst>
              <a:ext uri="{FF2B5EF4-FFF2-40B4-BE49-F238E27FC236}">
                <a16:creationId xmlns:a16="http://schemas.microsoft.com/office/drawing/2014/main" id="{C682A275-7911-7FA8-6336-2718CD5BEC16}"/>
              </a:ext>
            </a:extLst>
          </p:cNvPr>
          <p:cNvGrpSpPr/>
          <p:nvPr/>
        </p:nvGrpSpPr>
        <p:grpSpPr>
          <a:xfrm>
            <a:off x="1701567" y="1029426"/>
            <a:ext cx="10036407" cy="475488"/>
            <a:chOff x="2092839" y="1076900"/>
            <a:chExt cx="9645135" cy="475488"/>
          </a:xfrm>
        </p:grpSpPr>
        <p:sp>
          <p:nvSpPr>
            <p:cNvPr id="61" name="Rectangle 60">
              <a:extLst>
                <a:ext uri="{FF2B5EF4-FFF2-40B4-BE49-F238E27FC236}">
                  <a16:creationId xmlns:a16="http://schemas.microsoft.com/office/drawing/2014/main" id="{ED3B1C1F-8784-94F3-36B6-B0E2363368F9}"/>
                </a:ext>
              </a:extLst>
            </p:cNvPr>
            <p:cNvSpPr/>
            <p:nvPr/>
          </p:nvSpPr>
          <p:spPr>
            <a:xfrm>
              <a:off x="2092839" y="1076900"/>
              <a:ext cx="9645135" cy="475488"/>
            </a:xfrm>
            <a:prstGeom prst="rect">
              <a:avLst/>
            </a:prstGeom>
            <a:solidFill>
              <a:srgbClr val="002869">
                <a:alpha val="4898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900" err="1">
                <a:solidFill>
                  <a:schemeClr val="bg1"/>
                </a:solidFill>
              </a:endParaRPr>
            </a:p>
          </p:txBody>
        </p:sp>
        <p:grpSp>
          <p:nvGrpSpPr>
            <p:cNvPr id="62" name="Group 61">
              <a:extLst>
                <a:ext uri="{FF2B5EF4-FFF2-40B4-BE49-F238E27FC236}">
                  <a16:creationId xmlns:a16="http://schemas.microsoft.com/office/drawing/2014/main" id="{60FD03F2-6CAD-BF18-50FD-23FD1A1623F9}"/>
                </a:ext>
              </a:extLst>
            </p:cNvPr>
            <p:cNvGrpSpPr/>
            <p:nvPr/>
          </p:nvGrpSpPr>
          <p:grpSpPr>
            <a:xfrm>
              <a:off x="2166814" y="1145656"/>
              <a:ext cx="9497184" cy="337975"/>
              <a:chOff x="2234567" y="1519125"/>
              <a:chExt cx="9321498" cy="370865"/>
            </a:xfrm>
            <a:solidFill>
              <a:srgbClr val="FFFFFF"/>
            </a:solidFill>
          </p:grpSpPr>
          <p:sp>
            <p:nvSpPr>
              <p:cNvPr id="55" name="Google Shape;266;p3">
                <a:extLst>
                  <a:ext uri="{FF2B5EF4-FFF2-40B4-BE49-F238E27FC236}">
                    <a16:creationId xmlns:a16="http://schemas.microsoft.com/office/drawing/2014/main" id="{18B09FB4-A3BC-C0D3-C145-3C8DA5E0E886}"/>
                  </a:ext>
                </a:extLst>
              </p:cNvPr>
              <p:cNvSpPr/>
              <p:nvPr/>
            </p:nvSpPr>
            <p:spPr>
              <a:xfrm>
                <a:off x="2234567" y="1519125"/>
                <a:ext cx="1846888" cy="370865"/>
              </a:xfrm>
              <a:prstGeom prst="rect">
                <a:avLst/>
              </a:prstGeom>
              <a:grpFill/>
              <a:ln>
                <a:noFill/>
              </a:ln>
            </p:spPr>
            <p:txBody>
              <a:bodyPr spcFirstLastPara="1" wrap="square" lIns="91425" tIns="0" rIns="91425" bIns="0" anchor="ctr" anchorCtr="0">
                <a:noAutofit/>
              </a:bodyPr>
              <a:lstStyle/>
              <a:p>
                <a:pPr marL="0" marR="0" lvl="0" indent="0" algn="ctr" rtl="0">
                  <a:lnSpc>
                    <a:spcPct val="90000"/>
                  </a:lnSpc>
                  <a:spcBef>
                    <a:spcPts val="0"/>
                  </a:spcBef>
                  <a:spcAft>
                    <a:spcPts val="0"/>
                  </a:spcAft>
                  <a:buNone/>
                </a:pPr>
                <a:r>
                  <a:rPr lang="en-US" sz="900">
                    <a:solidFill>
                      <a:schemeClr val="dk1"/>
                    </a:solidFill>
                    <a:ea typeface="Arial"/>
                    <a:cs typeface="Arial"/>
                    <a:sym typeface="Arial"/>
                  </a:rPr>
                  <a:t>Analyze AI trends</a:t>
                </a:r>
                <a:br>
                  <a:rPr lang="en-US" sz="900">
                    <a:solidFill>
                      <a:schemeClr val="dk1"/>
                    </a:solidFill>
                    <a:ea typeface="Arial"/>
                    <a:cs typeface="Arial"/>
                    <a:sym typeface="Arial"/>
                  </a:rPr>
                </a:br>
                <a:r>
                  <a:rPr lang="en-US" sz="900">
                    <a:solidFill>
                      <a:schemeClr val="dk1"/>
                    </a:solidFill>
                    <a:ea typeface="Arial"/>
                    <a:cs typeface="Arial"/>
                    <a:sym typeface="Arial"/>
                  </a:rPr>
                  <a:t>and impact on HR</a:t>
                </a:r>
                <a:endParaRPr sz="900" i="0" u="none" strike="noStrike" cap="none">
                  <a:solidFill>
                    <a:schemeClr val="dk1"/>
                  </a:solidFill>
                  <a:ea typeface="Arial"/>
                  <a:cs typeface="Arial"/>
                  <a:sym typeface="Arial"/>
                </a:endParaRPr>
              </a:p>
            </p:txBody>
          </p:sp>
          <p:sp>
            <p:nvSpPr>
              <p:cNvPr id="56" name="Google Shape;267;p3">
                <a:extLst>
                  <a:ext uri="{FF2B5EF4-FFF2-40B4-BE49-F238E27FC236}">
                    <a16:creationId xmlns:a16="http://schemas.microsoft.com/office/drawing/2014/main" id="{F8055F1D-2B38-0484-C694-07B76299CBCA}"/>
                  </a:ext>
                </a:extLst>
              </p:cNvPr>
              <p:cNvSpPr/>
              <p:nvPr/>
            </p:nvSpPr>
            <p:spPr>
              <a:xfrm>
                <a:off x="6019217" y="1519125"/>
                <a:ext cx="1800000" cy="370865"/>
              </a:xfrm>
              <a:prstGeom prst="rect">
                <a:avLst/>
              </a:prstGeom>
              <a:grpFill/>
              <a:ln>
                <a:noFill/>
              </a:ln>
            </p:spPr>
            <p:txBody>
              <a:bodyPr spcFirstLastPara="1" wrap="square" lIns="91425" tIns="0" rIns="91425" bIns="0" anchor="ctr" anchorCtr="0">
                <a:noAutofit/>
              </a:bodyPr>
              <a:lstStyle/>
              <a:p>
                <a:pPr marL="0" marR="0" lvl="0" indent="0" algn="ctr" rtl="0">
                  <a:lnSpc>
                    <a:spcPct val="90000"/>
                  </a:lnSpc>
                  <a:spcBef>
                    <a:spcPts val="0"/>
                  </a:spcBef>
                  <a:spcAft>
                    <a:spcPts val="0"/>
                  </a:spcAft>
                  <a:buNone/>
                </a:pPr>
                <a:r>
                  <a:rPr lang="en-US" sz="900">
                    <a:solidFill>
                      <a:schemeClr val="dk1"/>
                    </a:solidFill>
                    <a:ea typeface="Arial"/>
                    <a:cs typeface="Arial"/>
                    <a:sym typeface="Arial"/>
                  </a:rPr>
                  <a:t>Measure HR function</a:t>
                </a:r>
                <a:endParaRPr sz="900"/>
              </a:p>
              <a:p>
                <a:pPr marL="0" marR="0" lvl="0" indent="0" algn="ctr" rtl="0">
                  <a:lnSpc>
                    <a:spcPct val="90000"/>
                  </a:lnSpc>
                  <a:spcBef>
                    <a:spcPts val="0"/>
                  </a:spcBef>
                  <a:spcAft>
                    <a:spcPts val="0"/>
                  </a:spcAft>
                  <a:buNone/>
                </a:pPr>
                <a:r>
                  <a:rPr lang="en-US" sz="900">
                    <a:solidFill>
                      <a:schemeClr val="dk1"/>
                    </a:solidFill>
                    <a:ea typeface="Arial"/>
                    <a:cs typeface="Arial"/>
                    <a:sym typeface="Arial"/>
                  </a:rPr>
                  <a:t>readiness for AI</a:t>
                </a:r>
                <a:endParaRPr sz="900" i="0" u="none" strike="noStrike" cap="none">
                  <a:solidFill>
                    <a:schemeClr val="dk1"/>
                  </a:solidFill>
                  <a:ea typeface="Arial"/>
                  <a:cs typeface="Arial"/>
                  <a:sym typeface="Arial"/>
                </a:endParaRPr>
              </a:p>
            </p:txBody>
          </p:sp>
          <p:sp>
            <p:nvSpPr>
              <p:cNvPr id="57" name="Google Shape;268;p3">
                <a:extLst>
                  <a:ext uri="{FF2B5EF4-FFF2-40B4-BE49-F238E27FC236}">
                    <a16:creationId xmlns:a16="http://schemas.microsoft.com/office/drawing/2014/main" id="{BD2D34C5-4D07-1D1F-A5C6-6A3E5D729289}"/>
                  </a:ext>
                </a:extLst>
              </p:cNvPr>
              <p:cNvSpPr/>
              <p:nvPr/>
            </p:nvSpPr>
            <p:spPr>
              <a:xfrm>
                <a:off x="4150336" y="1519125"/>
                <a:ext cx="1800000" cy="370865"/>
              </a:xfrm>
              <a:prstGeom prst="rect">
                <a:avLst/>
              </a:prstGeom>
              <a:grpFill/>
              <a:ln>
                <a:noFill/>
              </a:ln>
            </p:spPr>
            <p:txBody>
              <a:bodyPr spcFirstLastPara="1" wrap="square" lIns="91425" tIns="0" rIns="91425" bIns="0" anchor="ctr" anchorCtr="0">
                <a:noAutofit/>
              </a:bodyPr>
              <a:lstStyle/>
              <a:p>
                <a:pPr marL="0" marR="0" lvl="0" indent="0" algn="ctr" rtl="0">
                  <a:lnSpc>
                    <a:spcPct val="90000"/>
                  </a:lnSpc>
                  <a:spcBef>
                    <a:spcPts val="0"/>
                  </a:spcBef>
                  <a:spcAft>
                    <a:spcPts val="0"/>
                  </a:spcAft>
                  <a:buNone/>
                </a:pPr>
                <a:r>
                  <a:rPr lang="en-US" sz="900">
                    <a:solidFill>
                      <a:schemeClr val="dk1"/>
                    </a:solidFill>
                    <a:ea typeface="Arial"/>
                    <a:cs typeface="Arial"/>
                    <a:sym typeface="Arial"/>
                  </a:rPr>
                  <a:t>Set AI vision and ambition</a:t>
                </a:r>
                <a:endParaRPr sz="900"/>
              </a:p>
            </p:txBody>
          </p:sp>
          <p:sp>
            <p:nvSpPr>
              <p:cNvPr id="58" name="Google Shape;269;p3">
                <a:extLst>
                  <a:ext uri="{FF2B5EF4-FFF2-40B4-BE49-F238E27FC236}">
                    <a16:creationId xmlns:a16="http://schemas.microsoft.com/office/drawing/2014/main" id="{C54402A5-2F8C-727F-A4F9-A245C0E029FA}"/>
                  </a:ext>
                </a:extLst>
              </p:cNvPr>
              <p:cNvSpPr/>
              <p:nvPr/>
            </p:nvSpPr>
            <p:spPr>
              <a:xfrm>
                <a:off x="9756065" y="1519125"/>
                <a:ext cx="1800000" cy="370865"/>
              </a:xfrm>
              <a:prstGeom prst="rect">
                <a:avLst/>
              </a:prstGeom>
              <a:grpFill/>
              <a:ln>
                <a:noFill/>
              </a:ln>
            </p:spPr>
            <p:txBody>
              <a:bodyPr spcFirstLastPara="1" wrap="square" lIns="91425" tIns="0" rIns="91425" bIns="0" anchor="ctr" anchorCtr="0">
                <a:noAutofit/>
              </a:bodyPr>
              <a:lstStyle/>
              <a:p>
                <a:pPr marL="0" marR="0" lvl="0" indent="0" algn="ctr" rtl="0">
                  <a:lnSpc>
                    <a:spcPct val="90000"/>
                  </a:lnSpc>
                  <a:spcBef>
                    <a:spcPts val="0"/>
                  </a:spcBef>
                  <a:spcAft>
                    <a:spcPts val="0"/>
                  </a:spcAft>
                  <a:buNone/>
                </a:pPr>
                <a:r>
                  <a:rPr lang="en-US" sz="900">
                    <a:solidFill>
                      <a:schemeClr val="dk1"/>
                    </a:solidFill>
                    <a:ea typeface="Arial"/>
                    <a:cs typeface="Arial"/>
                    <a:sym typeface="Arial"/>
                  </a:rPr>
                  <a:t>Continually evolve</a:t>
                </a:r>
                <a:br>
                  <a:rPr lang="en-US" sz="900">
                    <a:solidFill>
                      <a:schemeClr val="dk1"/>
                    </a:solidFill>
                    <a:ea typeface="Arial"/>
                    <a:cs typeface="Arial"/>
                    <a:sym typeface="Arial"/>
                  </a:rPr>
                </a:br>
                <a:r>
                  <a:rPr lang="en-US" sz="900">
                    <a:solidFill>
                      <a:schemeClr val="dk1"/>
                    </a:solidFill>
                    <a:ea typeface="Arial"/>
                    <a:cs typeface="Arial"/>
                    <a:sym typeface="Arial"/>
                  </a:rPr>
                  <a:t>the AI strategy</a:t>
                </a:r>
                <a:endParaRPr sz="900"/>
              </a:p>
            </p:txBody>
          </p:sp>
          <p:sp>
            <p:nvSpPr>
              <p:cNvPr id="59" name="Google Shape;270;p3">
                <a:extLst>
                  <a:ext uri="{FF2B5EF4-FFF2-40B4-BE49-F238E27FC236}">
                    <a16:creationId xmlns:a16="http://schemas.microsoft.com/office/drawing/2014/main" id="{15913667-DF9E-72BE-1FD3-E813374D6371}"/>
                  </a:ext>
                </a:extLst>
              </p:cNvPr>
              <p:cNvSpPr/>
              <p:nvPr/>
            </p:nvSpPr>
            <p:spPr>
              <a:xfrm>
                <a:off x="7888098" y="1519125"/>
                <a:ext cx="1800000" cy="370865"/>
              </a:xfrm>
              <a:prstGeom prst="rect">
                <a:avLst/>
              </a:prstGeom>
              <a:grpFill/>
              <a:ln>
                <a:noFill/>
              </a:ln>
            </p:spPr>
            <p:txBody>
              <a:bodyPr spcFirstLastPara="1" wrap="square" lIns="91425" tIns="0" rIns="91425" bIns="0" anchor="ctr" anchorCtr="0">
                <a:noAutofit/>
              </a:bodyPr>
              <a:lstStyle/>
              <a:p>
                <a:pPr marL="0" marR="0" lvl="0" indent="0" algn="ctr" rtl="0">
                  <a:lnSpc>
                    <a:spcPct val="90000"/>
                  </a:lnSpc>
                  <a:spcBef>
                    <a:spcPts val="0"/>
                  </a:spcBef>
                  <a:spcAft>
                    <a:spcPts val="0"/>
                  </a:spcAft>
                  <a:buNone/>
                </a:pPr>
                <a:r>
                  <a:rPr lang="en-US" sz="900">
                    <a:solidFill>
                      <a:schemeClr val="dk1"/>
                    </a:solidFill>
                    <a:ea typeface="Arial"/>
                    <a:cs typeface="Arial"/>
                    <a:sym typeface="Arial"/>
                  </a:rPr>
                  <a:t>Develop and align the</a:t>
                </a:r>
                <a:br>
                  <a:rPr lang="en-US" sz="900">
                    <a:solidFill>
                      <a:schemeClr val="dk1"/>
                    </a:solidFill>
                    <a:ea typeface="Arial"/>
                    <a:cs typeface="Arial"/>
                    <a:sym typeface="Arial"/>
                  </a:rPr>
                </a:br>
                <a:r>
                  <a:rPr lang="en-US" sz="900">
                    <a:solidFill>
                      <a:schemeClr val="dk1"/>
                    </a:solidFill>
                    <a:ea typeface="Arial"/>
                    <a:cs typeface="Arial"/>
                    <a:sym typeface="Arial"/>
                  </a:rPr>
                  <a:t>AI strategy document</a:t>
                </a:r>
                <a:endParaRPr sz="900" i="0" u="none" strike="noStrike" cap="none">
                  <a:solidFill>
                    <a:schemeClr val="dk1"/>
                  </a:solidFill>
                  <a:ea typeface="Arial"/>
                  <a:cs typeface="Arial"/>
                  <a:sym typeface="Arial"/>
                </a:endParaRPr>
              </a:p>
            </p:txBody>
          </p:sp>
        </p:grpSp>
      </p:grpSp>
      <p:grpSp>
        <p:nvGrpSpPr>
          <p:cNvPr id="233" name="Group 232">
            <a:extLst>
              <a:ext uri="{FF2B5EF4-FFF2-40B4-BE49-F238E27FC236}">
                <a16:creationId xmlns:a16="http://schemas.microsoft.com/office/drawing/2014/main" id="{D9F29904-5804-1AE0-B501-F32B08A87C40}"/>
              </a:ext>
            </a:extLst>
          </p:cNvPr>
          <p:cNvGrpSpPr/>
          <p:nvPr/>
        </p:nvGrpSpPr>
        <p:grpSpPr>
          <a:xfrm>
            <a:off x="458801" y="1540074"/>
            <a:ext cx="1204993" cy="814973"/>
            <a:chOff x="458801" y="1562890"/>
            <a:chExt cx="1204993" cy="814973"/>
          </a:xfrm>
        </p:grpSpPr>
        <p:sp>
          <p:nvSpPr>
            <p:cNvPr id="4" name="Google Shape;271;p3">
              <a:extLst>
                <a:ext uri="{FF2B5EF4-FFF2-40B4-BE49-F238E27FC236}">
                  <a16:creationId xmlns:a16="http://schemas.microsoft.com/office/drawing/2014/main" id="{0FB0F3F7-6A51-0B97-0812-D3B5E6290D33}"/>
                </a:ext>
              </a:extLst>
            </p:cNvPr>
            <p:cNvSpPr/>
            <p:nvPr/>
          </p:nvSpPr>
          <p:spPr>
            <a:xfrm>
              <a:off x="458801" y="1562890"/>
              <a:ext cx="1204993" cy="814973"/>
            </a:xfrm>
            <a:prstGeom prst="rect">
              <a:avLst/>
            </a:prstGeom>
            <a:solidFill>
              <a:srgbClr val="0057AF"/>
            </a:solidFill>
            <a:ln>
              <a:noFill/>
            </a:ln>
          </p:spPr>
          <p:txBody>
            <a:bodyPr spcFirstLastPara="1" wrap="square" lIns="457200" tIns="0" rIns="91440" bIns="0" anchor="ctr" anchorCtr="0">
              <a:noAutofit/>
            </a:bodyPr>
            <a:lstStyle/>
            <a:p>
              <a:pPr marL="0" marR="0" lvl="0" indent="0" algn="l" rtl="0">
                <a:lnSpc>
                  <a:spcPct val="90000"/>
                </a:lnSpc>
                <a:spcBef>
                  <a:spcPts val="0"/>
                </a:spcBef>
                <a:spcAft>
                  <a:spcPts val="0"/>
                </a:spcAft>
                <a:buClr>
                  <a:srgbClr val="000000"/>
                </a:buClr>
                <a:buSzPts val="1000"/>
                <a:buFont typeface="Arial"/>
                <a:buNone/>
              </a:pPr>
              <a:r>
                <a:rPr lang="en-US" sz="900" i="0" u="none" strike="noStrike" cap="none">
                  <a:solidFill>
                    <a:srgbClr val="FFFFFF"/>
                  </a:solidFill>
                  <a:latin typeface="+mj-lt"/>
                  <a:ea typeface="Arial"/>
                  <a:cs typeface="Arial"/>
                  <a:sym typeface="Arial"/>
                </a:rPr>
                <a:t>AI value</a:t>
              </a:r>
              <a:br>
                <a:rPr lang="en-US" sz="900" i="0" u="none" strike="noStrike" cap="none">
                  <a:solidFill>
                    <a:srgbClr val="FFFFFF"/>
                  </a:solidFill>
                  <a:latin typeface="+mj-lt"/>
                  <a:ea typeface="Arial"/>
                  <a:cs typeface="Arial"/>
                  <a:sym typeface="Arial"/>
                </a:rPr>
              </a:br>
              <a:r>
                <a:rPr lang="en-US" sz="900" i="0" u="none" strike="noStrike" cap="none">
                  <a:solidFill>
                    <a:srgbClr val="FFFFFF"/>
                  </a:solidFill>
                  <a:latin typeface="+mj-lt"/>
                  <a:ea typeface="Arial"/>
                  <a:cs typeface="Arial"/>
                  <a:sym typeface="Arial"/>
                </a:rPr>
                <a:t>for</a:t>
              </a:r>
              <a:r>
                <a:rPr lang="en-US" sz="900">
                  <a:solidFill>
                    <a:srgbClr val="FFFFFF"/>
                  </a:solidFill>
                  <a:latin typeface="+mj-lt"/>
                  <a:ea typeface="Arial"/>
                  <a:cs typeface="Arial"/>
                  <a:sym typeface="Arial"/>
                </a:rPr>
                <a:t> </a:t>
              </a:r>
              <a:r>
                <a:rPr lang="en-US" sz="900" i="0" u="none" strike="noStrike" cap="none">
                  <a:solidFill>
                    <a:srgbClr val="FFFFFF"/>
                  </a:solidFill>
                  <a:latin typeface="+mj-lt"/>
                  <a:ea typeface="Arial"/>
                  <a:cs typeface="Arial"/>
                  <a:sym typeface="Arial"/>
                </a:rPr>
                <a:t>the HR </a:t>
              </a:r>
              <a:r>
                <a:rPr lang="en-US" sz="900">
                  <a:solidFill>
                    <a:srgbClr val="FFFFFF"/>
                  </a:solidFill>
                  <a:latin typeface="+mj-lt"/>
                  <a:ea typeface="Arial"/>
                  <a:cs typeface="Arial"/>
                  <a:sym typeface="Arial"/>
                </a:rPr>
                <a:t>f</a:t>
              </a:r>
              <a:r>
                <a:rPr lang="en-US" sz="900" i="0" u="none" strike="noStrike" cap="none">
                  <a:solidFill>
                    <a:srgbClr val="FFFFFF"/>
                  </a:solidFill>
                  <a:latin typeface="+mj-lt"/>
                  <a:ea typeface="Arial"/>
                  <a:cs typeface="Arial"/>
                  <a:sym typeface="Arial"/>
                </a:rPr>
                <a:t>unction</a:t>
              </a:r>
              <a:endParaRPr lang="en-US" sz="900">
                <a:solidFill>
                  <a:srgbClr val="FFFFFF"/>
                </a:solidFill>
                <a:latin typeface="+mj-lt"/>
              </a:endParaRPr>
            </a:p>
          </p:txBody>
        </p:sp>
        <p:pic>
          <p:nvPicPr>
            <p:cNvPr id="33" name="Graphic 32">
              <a:extLst>
                <a:ext uri="{FF2B5EF4-FFF2-40B4-BE49-F238E27FC236}">
                  <a16:creationId xmlns:a16="http://schemas.microsoft.com/office/drawing/2014/main" id="{7D6A32A6-4055-E824-AE8E-44A7F5872E5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1969" y="1837218"/>
              <a:ext cx="342407" cy="266316"/>
            </a:xfrm>
            <a:prstGeom prst="rect">
              <a:avLst/>
            </a:prstGeom>
          </p:spPr>
        </p:pic>
      </p:grpSp>
      <p:grpSp>
        <p:nvGrpSpPr>
          <p:cNvPr id="232" name="Group 231">
            <a:extLst>
              <a:ext uri="{FF2B5EF4-FFF2-40B4-BE49-F238E27FC236}">
                <a16:creationId xmlns:a16="http://schemas.microsoft.com/office/drawing/2014/main" id="{777A8CE7-8E74-0CC4-BC4D-3D4D26267D17}"/>
              </a:ext>
            </a:extLst>
          </p:cNvPr>
          <p:cNvGrpSpPr/>
          <p:nvPr/>
        </p:nvGrpSpPr>
        <p:grpSpPr>
          <a:xfrm>
            <a:off x="456414" y="2390207"/>
            <a:ext cx="1207159" cy="814973"/>
            <a:chOff x="456414" y="2438934"/>
            <a:chExt cx="1207159" cy="814973"/>
          </a:xfrm>
        </p:grpSpPr>
        <p:sp>
          <p:nvSpPr>
            <p:cNvPr id="105" name="Google Shape;271;p3">
              <a:extLst>
                <a:ext uri="{FF2B5EF4-FFF2-40B4-BE49-F238E27FC236}">
                  <a16:creationId xmlns:a16="http://schemas.microsoft.com/office/drawing/2014/main" id="{774A7725-B2F8-BAB0-2AC2-DE4EDDB1C129}"/>
                </a:ext>
              </a:extLst>
            </p:cNvPr>
            <p:cNvSpPr/>
            <p:nvPr/>
          </p:nvSpPr>
          <p:spPr>
            <a:xfrm>
              <a:off x="456414" y="2438934"/>
              <a:ext cx="1207159" cy="814973"/>
            </a:xfrm>
            <a:prstGeom prst="rect">
              <a:avLst/>
            </a:prstGeom>
            <a:solidFill>
              <a:srgbClr val="1F96FF"/>
            </a:solidFill>
            <a:ln>
              <a:noFill/>
            </a:ln>
          </p:spPr>
          <p:txBody>
            <a:bodyPr spcFirstLastPara="1" wrap="square" lIns="457200" tIns="0" rIns="91440" bIns="0" anchor="ctr" anchorCtr="0">
              <a:noAutofit/>
            </a:bodyPr>
            <a:lstStyle/>
            <a:p>
              <a:pPr>
                <a:lnSpc>
                  <a:spcPct val="90000"/>
                </a:lnSpc>
                <a:buClr>
                  <a:srgbClr val="000000"/>
                </a:buClr>
                <a:buSzPts val="1000"/>
              </a:pPr>
              <a:r>
                <a:rPr lang="en-US" sz="900">
                  <a:solidFill>
                    <a:srgbClr val="FFFFFF"/>
                  </a:solidFill>
                  <a:latin typeface="+mj-lt"/>
                  <a:ea typeface="Arial"/>
                  <a:cs typeface="Arial"/>
                  <a:sym typeface="Arial"/>
                </a:rPr>
                <a:t>AI impact on work</a:t>
              </a:r>
              <a:br>
                <a:rPr lang="en-US" sz="900">
                  <a:solidFill>
                    <a:srgbClr val="FFFFFF"/>
                  </a:solidFill>
                  <a:latin typeface="+mj-lt"/>
                  <a:ea typeface="Arial"/>
                  <a:cs typeface="Arial"/>
                  <a:sym typeface="Arial"/>
                </a:rPr>
              </a:br>
              <a:r>
                <a:rPr lang="en-US" sz="900">
                  <a:solidFill>
                    <a:srgbClr val="FFFFFF"/>
                  </a:solidFill>
                  <a:latin typeface="+mj-lt"/>
                  <a:ea typeface="Arial"/>
                  <a:cs typeface="Arial"/>
                  <a:sym typeface="Arial"/>
                </a:rPr>
                <a:t>in the HR function</a:t>
              </a:r>
              <a:endParaRPr lang="en-US" sz="900">
                <a:solidFill>
                  <a:srgbClr val="FFFFFF"/>
                </a:solidFill>
                <a:latin typeface="+mj-lt"/>
              </a:endParaRPr>
            </a:p>
          </p:txBody>
        </p:sp>
        <p:pic>
          <p:nvPicPr>
            <p:cNvPr id="41" name="Graphic 40">
              <a:extLst>
                <a:ext uri="{FF2B5EF4-FFF2-40B4-BE49-F238E27FC236}">
                  <a16:creationId xmlns:a16="http://schemas.microsoft.com/office/drawing/2014/main" id="{A8362D9C-2C29-914F-4A67-9A0F41E7FA8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8189" y="2710323"/>
              <a:ext cx="349967" cy="272196"/>
            </a:xfrm>
            <a:prstGeom prst="rect">
              <a:avLst/>
            </a:prstGeom>
          </p:spPr>
        </p:pic>
      </p:grpSp>
      <p:grpSp>
        <p:nvGrpSpPr>
          <p:cNvPr id="207" name="Group 206">
            <a:extLst>
              <a:ext uri="{FF2B5EF4-FFF2-40B4-BE49-F238E27FC236}">
                <a16:creationId xmlns:a16="http://schemas.microsoft.com/office/drawing/2014/main" id="{4477EF7E-8520-9EDD-540D-DBF1B9B2E066}"/>
              </a:ext>
            </a:extLst>
          </p:cNvPr>
          <p:cNvGrpSpPr/>
          <p:nvPr/>
        </p:nvGrpSpPr>
        <p:grpSpPr>
          <a:xfrm>
            <a:off x="1699179" y="2390207"/>
            <a:ext cx="10036407" cy="814973"/>
            <a:chOff x="2090451" y="2494354"/>
            <a:chExt cx="9645135" cy="814973"/>
          </a:xfrm>
        </p:grpSpPr>
        <p:sp>
          <p:nvSpPr>
            <p:cNvPr id="95" name="Rectangle 94">
              <a:extLst>
                <a:ext uri="{FF2B5EF4-FFF2-40B4-BE49-F238E27FC236}">
                  <a16:creationId xmlns:a16="http://schemas.microsoft.com/office/drawing/2014/main" id="{B6F0368D-032D-32ED-2762-52E69FF89232}"/>
                </a:ext>
              </a:extLst>
            </p:cNvPr>
            <p:cNvSpPr/>
            <p:nvPr/>
          </p:nvSpPr>
          <p:spPr>
            <a:xfrm>
              <a:off x="2090451" y="2494354"/>
              <a:ext cx="9645135" cy="814973"/>
            </a:xfrm>
            <a:prstGeom prst="rect">
              <a:avLst/>
            </a:prstGeom>
            <a:solidFill>
              <a:srgbClr val="1F96FF">
                <a:alpha val="4898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900" err="1">
                <a:solidFill>
                  <a:schemeClr val="bg1"/>
                </a:solidFill>
              </a:endParaRPr>
            </a:p>
          </p:txBody>
        </p:sp>
        <p:grpSp>
          <p:nvGrpSpPr>
            <p:cNvPr id="180" name="Group 179">
              <a:extLst>
                <a:ext uri="{FF2B5EF4-FFF2-40B4-BE49-F238E27FC236}">
                  <a16:creationId xmlns:a16="http://schemas.microsoft.com/office/drawing/2014/main" id="{60364F37-3456-71BC-4B73-F692FF4D5B4D}"/>
                </a:ext>
              </a:extLst>
            </p:cNvPr>
            <p:cNvGrpSpPr/>
            <p:nvPr/>
          </p:nvGrpSpPr>
          <p:grpSpPr>
            <a:xfrm>
              <a:off x="2164425" y="2575811"/>
              <a:ext cx="9499575" cy="658453"/>
              <a:chOff x="2164425" y="2677409"/>
              <a:chExt cx="9499575" cy="658453"/>
            </a:xfrm>
          </p:grpSpPr>
          <p:sp>
            <p:nvSpPr>
              <p:cNvPr id="102" name="Google Shape;266;p3">
                <a:extLst>
                  <a:ext uri="{FF2B5EF4-FFF2-40B4-BE49-F238E27FC236}">
                    <a16:creationId xmlns:a16="http://schemas.microsoft.com/office/drawing/2014/main" id="{D982DFC1-B2C0-1890-B5B1-EFEDD15167C2}"/>
                  </a:ext>
                </a:extLst>
              </p:cNvPr>
              <p:cNvSpPr/>
              <p:nvPr/>
            </p:nvSpPr>
            <p:spPr>
              <a:xfrm>
                <a:off x="2164425" y="2677409"/>
                <a:ext cx="2043400" cy="298691"/>
              </a:xfrm>
              <a:prstGeom prst="rect">
                <a:avLst/>
              </a:prstGeom>
              <a:solidFill>
                <a:srgbClr val="FFFFFF"/>
              </a:solidFill>
              <a:ln>
                <a:noFill/>
              </a:ln>
            </p:spPr>
            <p:txBody>
              <a:bodyPr spcFirstLastPara="1" wrap="square" lIns="91425" tIns="0" rIns="91425" bIns="0" anchor="ctr" anchorCtr="0">
                <a:noAutofit/>
              </a:bodyPr>
              <a:lstStyle/>
              <a:p>
                <a:pPr algn="ctr">
                  <a:lnSpc>
                    <a:spcPct val="90000"/>
                  </a:lnSpc>
                </a:pPr>
                <a:r>
                  <a:rPr lang="en-US" sz="900">
                    <a:solidFill>
                      <a:schemeClr val="dk1"/>
                    </a:solidFill>
                    <a:ea typeface="Arial"/>
                    <a:cs typeface="Arial"/>
                    <a:sym typeface="Arial"/>
                  </a:rPr>
                  <a:t>Promote new AI use cases</a:t>
                </a:r>
                <a:br>
                  <a:rPr lang="en-US" sz="900">
                    <a:solidFill>
                      <a:schemeClr val="dk1"/>
                    </a:solidFill>
                    <a:ea typeface="Arial"/>
                    <a:cs typeface="Arial"/>
                    <a:sym typeface="Arial"/>
                  </a:rPr>
                </a:br>
                <a:r>
                  <a:rPr lang="en-US" sz="900">
                    <a:solidFill>
                      <a:schemeClr val="dk1"/>
                    </a:solidFill>
                    <a:ea typeface="Arial"/>
                    <a:cs typeface="Arial"/>
                    <a:sym typeface="Arial"/>
                  </a:rPr>
                  <a:t>in HR workflows</a:t>
                </a:r>
                <a:endParaRPr lang="en-US" sz="900"/>
              </a:p>
            </p:txBody>
          </p:sp>
          <p:sp>
            <p:nvSpPr>
              <p:cNvPr id="103" name="Google Shape;267;p3">
                <a:extLst>
                  <a:ext uri="{FF2B5EF4-FFF2-40B4-BE49-F238E27FC236}">
                    <a16:creationId xmlns:a16="http://schemas.microsoft.com/office/drawing/2014/main" id="{DD0B29EE-76A1-7C67-35F7-3B72067D99B2}"/>
                  </a:ext>
                </a:extLst>
              </p:cNvPr>
              <p:cNvSpPr/>
              <p:nvPr/>
            </p:nvSpPr>
            <p:spPr>
              <a:xfrm>
                <a:off x="6291865" y="2677409"/>
                <a:ext cx="1991523" cy="298691"/>
              </a:xfrm>
              <a:prstGeom prst="rect">
                <a:avLst/>
              </a:prstGeom>
              <a:solidFill>
                <a:srgbClr val="FFFFFF"/>
              </a:solidFill>
              <a:ln>
                <a:noFill/>
              </a:ln>
            </p:spPr>
            <p:txBody>
              <a:bodyPr spcFirstLastPara="1" wrap="square" lIns="91425" tIns="0" rIns="91425" bIns="0" anchor="ctr" anchorCtr="0">
                <a:noAutofit/>
              </a:bodyPr>
              <a:lstStyle/>
              <a:p>
                <a:pPr algn="ctr">
                  <a:lnSpc>
                    <a:spcPct val="90000"/>
                  </a:lnSpc>
                </a:pPr>
                <a:r>
                  <a:rPr lang="en-US" sz="900"/>
                  <a:t>Redesign HR jobs and teams for</a:t>
                </a:r>
                <a:br>
                  <a:rPr lang="en-US" sz="900"/>
                </a:br>
                <a:r>
                  <a:rPr lang="en-US" sz="900"/>
                  <a:t>new AI-enabled value streams</a:t>
                </a:r>
              </a:p>
            </p:txBody>
          </p:sp>
          <p:sp>
            <p:nvSpPr>
              <p:cNvPr id="104" name="Google Shape;268;p3">
                <a:extLst>
                  <a:ext uri="{FF2B5EF4-FFF2-40B4-BE49-F238E27FC236}">
                    <a16:creationId xmlns:a16="http://schemas.microsoft.com/office/drawing/2014/main" id="{714E6C26-2F09-0753-CA39-BD8BEA9EED64}"/>
                  </a:ext>
                </a:extLst>
              </p:cNvPr>
              <p:cNvSpPr/>
              <p:nvPr/>
            </p:nvSpPr>
            <p:spPr>
              <a:xfrm>
                <a:off x="4253051" y="2677409"/>
                <a:ext cx="1991523" cy="298691"/>
              </a:xfrm>
              <a:prstGeom prst="rect">
                <a:avLst/>
              </a:prstGeom>
              <a:solidFill>
                <a:srgbClr val="FFFFFF"/>
              </a:solidFill>
              <a:ln>
                <a:noFill/>
              </a:ln>
            </p:spPr>
            <p:txBody>
              <a:bodyPr spcFirstLastPara="1" wrap="square" lIns="91425" tIns="0" rIns="91425" bIns="0" anchor="ctr" anchorCtr="0">
                <a:noAutofit/>
              </a:bodyPr>
              <a:lstStyle/>
              <a:p>
                <a:pPr lvl="0" algn="ctr">
                  <a:lnSpc>
                    <a:spcPct val="90000"/>
                  </a:lnSpc>
                </a:pPr>
                <a:r>
                  <a:rPr lang="en-US" sz="900">
                    <a:solidFill>
                      <a:schemeClr val="dk1"/>
                    </a:solidFill>
                    <a:ea typeface="Arial"/>
                    <a:cs typeface="Arial"/>
                    <a:sym typeface="Arial"/>
                  </a:rPr>
                  <a:t>Define the role of human and</a:t>
                </a:r>
                <a:br>
                  <a:rPr lang="en-US" sz="900">
                    <a:solidFill>
                      <a:schemeClr val="dk1"/>
                    </a:solidFill>
                    <a:ea typeface="Arial"/>
                    <a:cs typeface="Arial"/>
                    <a:sym typeface="Arial"/>
                  </a:rPr>
                </a:br>
                <a:r>
                  <a:rPr lang="en-US" sz="900">
                    <a:solidFill>
                      <a:schemeClr val="dk1"/>
                    </a:solidFill>
                    <a:ea typeface="Arial"/>
                    <a:cs typeface="Arial"/>
                    <a:sym typeface="Arial"/>
                  </a:rPr>
                  <a:t>AI in HR value streams</a:t>
                </a:r>
                <a:endParaRPr lang="en-US" sz="900">
                  <a:solidFill>
                    <a:srgbClr val="000000"/>
                  </a:solidFill>
                  <a:ea typeface="Arial"/>
                  <a:cs typeface="Arial"/>
                  <a:sym typeface="Arial"/>
                </a:endParaRPr>
              </a:p>
            </p:txBody>
          </p:sp>
          <p:sp>
            <p:nvSpPr>
              <p:cNvPr id="99" name="Google Shape;266;p3">
                <a:extLst>
                  <a:ext uri="{FF2B5EF4-FFF2-40B4-BE49-F238E27FC236}">
                    <a16:creationId xmlns:a16="http://schemas.microsoft.com/office/drawing/2014/main" id="{975CB0D3-1CEA-B242-66F2-4E24A79C0169}"/>
                  </a:ext>
                </a:extLst>
              </p:cNvPr>
              <p:cNvSpPr/>
              <p:nvPr/>
            </p:nvSpPr>
            <p:spPr>
              <a:xfrm>
                <a:off x="2164425" y="3037171"/>
                <a:ext cx="2043400" cy="298691"/>
              </a:xfrm>
              <a:prstGeom prst="rect">
                <a:avLst/>
              </a:prstGeom>
              <a:solidFill>
                <a:srgbClr val="FFFFFF"/>
              </a:solidFill>
              <a:ln>
                <a:noFill/>
              </a:ln>
            </p:spPr>
            <p:txBody>
              <a:bodyPr spcFirstLastPara="1" wrap="square" lIns="91425" tIns="0" rIns="91425" bIns="0" anchor="ctr" anchorCtr="0">
                <a:noAutofit/>
              </a:bodyPr>
              <a:lstStyle/>
              <a:p>
                <a:pPr algn="ctr">
                  <a:lnSpc>
                    <a:spcPct val="90000"/>
                  </a:lnSpc>
                </a:pPr>
                <a:r>
                  <a:rPr lang="en-US" sz="900">
                    <a:solidFill>
                      <a:schemeClr val="dk1"/>
                    </a:solidFill>
                    <a:ea typeface="Arial"/>
                    <a:cs typeface="Arial"/>
                    <a:sym typeface="Arial"/>
                  </a:rPr>
                  <a:t>Augment existing ways</a:t>
                </a:r>
                <a:br>
                  <a:rPr lang="en-US" sz="900">
                    <a:solidFill>
                      <a:schemeClr val="dk1"/>
                    </a:solidFill>
                    <a:ea typeface="Arial"/>
                    <a:cs typeface="Arial"/>
                    <a:sym typeface="Arial"/>
                  </a:rPr>
                </a:br>
                <a:r>
                  <a:rPr lang="en-US" sz="900">
                    <a:solidFill>
                      <a:schemeClr val="dk1"/>
                    </a:solidFill>
                    <a:ea typeface="Arial"/>
                    <a:cs typeface="Arial"/>
                    <a:sym typeface="Arial"/>
                  </a:rPr>
                  <a:t>of working with AI</a:t>
                </a:r>
              </a:p>
            </p:txBody>
          </p:sp>
          <p:sp>
            <p:nvSpPr>
              <p:cNvPr id="100" name="Google Shape;267;p3">
                <a:extLst>
                  <a:ext uri="{FF2B5EF4-FFF2-40B4-BE49-F238E27FC236}">
                    <a16:creationId xmlns:a16="http://schemas.microsoft.com/office/drawing/2014/main" id="{F88CFF21-D8FB-C6B2-D262-9D08E9611A1E}"/>
                  </a:ext>
                </a:extLst>
              </p:cNvPr>
              <p:cNvSpPr/>
              <p:nvPr/>
            </p:nvSpPr>
            <p:spPr>
              <a:xfrm>
                <a:off x="6291865" y="3037171"/>
                <a:ext cx="1991523" cy="298691"/>
              </a:xfrm>
              <a:prstGeom prst="rect">
                <a:avLst/>
              </a:prstGeom>
              <a:solidFill>
                <a:srgbClr val="FFFFFF"/>
              </a:solidFill>
              <a:ln>
                <a:noFill/>
              </a:ln>
            </p:spPr>
            <p:txBody>
              <a:bodyPr spcFirstLastPara="1" wrap="square" lIns="91425" tIns="0" rIns="91425" bIns="0" anchor="ctr" anchorCtr="0">
                <a:noAutofit/>
              </a:bodyPr>
              <a:lstStyle/>
              <a:p>
                <a:pPr lvl="0" algn="ctr">
                  <a:lnSpc>
                    <a:spcPct val="90000"/>
                  </a:lnSpc>
                </a:pPr>
                <a:r>
                  <a:rPr lang="en-US" sz="900">
                    <a:solidFill>
                      <a:schemeClr val="dk1"/>
                    </a:solidFill>
                    <a:ea typeface="Arial"/>
                    <a:cs typeface="Arial"/>
                    <a:sym typeface="Arial"/>
                  </a:rPr>
                  <a:t>Preserve human interactions </a:t>
                </a:r>
                <a:endParaRPr lang="en-US" sz="900"/>
              </a:p>
              <a:p>
                <a:pPr lvl="0" algn="ctr">
                  <a:lnSpc>
                    <a:spcPct val="90000"/>
                  </a:lnSpc>
                </a:pPr>
                <a:r>
                  <a:rPr lang="en-US" sz="900">
                    <a:solidFill>
                      <a:schemeClr val="dk1"/>
                    </a:solidFill>
                    <a:ea typeface="Arial"/>
                    <a:cs typeface="Arial"/>
                    <a:sym typeface="Arial"/>
                  </a:rPr>
                  <a:t>for high-impact moments</a:t>
                </a:r>
              </a:p>
            </p:txBody>
          </p:sp>
          <p:sp>
            <p:nvSpPr>
              <p:cNvPr id="101" name="Google Shape;268;p3">
                <a:extLst>
                  <a:ext uri="{FF2B5EF4-FFF2-40B4-BE49-F238E27FC236}">
                    <a16:creationId xmlns:a16="http://schemas.microsoft.com/office/drawing/2014/main" id="{410FE4D9-924B-CE6A-2FF9-333B1B3C4D2E}"/>
                  </a:ext>
                </a:extLst>
              </p:cNvPr>
              <p:cNvSpPr/>
              <p:nvPr/>
            </p:nvSpPr>
            <p:spPr>
              <a:xfrm>
                <a:off x="4253051" y="3037171"/>
                <a:ext cx="1991523" cy="298691"/>
              </a:xfrm>
              <a:prstGeom prst="rect">
                <a:avLst/>
              </a:prstGeom>
              <a:solidFill>
                <a:srgbClr val="FFFFFF"/>
              </a:solidFill>
              <a:ln>
                <a:noFill/>
              </a:ln>
            </p:spPr>
            <p:txBody>
              <a:bodyPr spcFirstLastPara="1" wrap="square" lIns="91425" tIns="0" rIns="91425" bIns="0" anchor="ctr" anchorCtr="0">
                <a:noAutofit/>
              </a:bodyPr>
              <a:lstStyle/>
              <a:p>
                <a:pPr algn="ctr">
                  <a:lnSpc>
                    <a:spcPct val="90000"/>
                  </a:lnSpc>
                </a:pPr>
                <a:r>
                  <a:rPr lang="en-US" sz="900">
                    <a:solidFill>
                      <a:schemeClr val="dk1"/>
                    </a:solidFill>
                    <a:ea typeface="Arial"/>
                    <a:cs typeface="Arial"/>
                    <a:sym typeface="Arial"/>
                  </a:rPr>
                  <a:t>Plan and document workflows for</a:t>
                </a:r>
                <a:br>
                  <a:rPr lang="en-US" sz="900">
                    <a:solidFill>
                      <a:schemeClr val="dk1"/>
                    </a:solidFill>
                    <a:ea typeface="Arial"/>
                    <a:cs typeface="Arial"/>
                    <a:sym typeface="Arial"/>
                  </a:rPr>
                </a:br>
                <a:r>
                  <a:rPr lang="en-US" sz="900">
                    <a:solidFill>
                      <a:schemeClr val="dk1"/>
                    </a:solidFill>
                    <a:ea typeface="Arial"/>
                    <a:cs typeface="Arial"/>
                    <a:sym typeface="Arial"/>
                  </a:rPr>
                  <a:t>human effort and dependency</a:t>
                </a:r>
                <a:endParaRPr lang="en-US" sz="900"/>
              </a:p>
            </p:txBody>
          </p:sp>
          <p:sp>
            <p:nvSpPr>
              <p:cNvPr id="126" name="Google Shape;267;p3">
                <a:extLst>
                  <a:ext uri="{FF2B5EF4-FFF2-40B4-BE49-F238E27FC236}">
                    <a16:creationId xmlns:a16="http://schemas.microsoft.com/office/drawing/2014/main" id="{E366A9C8-B330-381B-5860-C444724EFD48}"/>
                  </a:ext>
                </a:extLst>
              </p:cNvPr>
              <p:cNvSpPr/>
              <p:nvPr/>
            </p:nvSpPr>
            <p:spPr>
              <a:xfrm>
                <a:off x="8330679" y="2677409"/>
                <a:ext cx="1991523" cy="298691"/>
              </a:xfrm>
              <a:prstGeom prst="rect">
                <a:avLst/>
              </a:prstGeom>
              <a:solidFill>
                <a:srgbClr val="FFFFFF"/>
              </a:solidFill>
              <a:ln>
                <a:noFill/>
              </a:ln>
            </p:spPr>
            <p:txBody>
              <a:bodyPr spcFirstLastPara="1" wrap="square" lIns="91425" tIns="0" rIns="91425" bIns="0" anchor="ctr" anchorCtr="0">
                <a:noAutofit/>
              </a:bodyPr>
              <a:lstStyle/>
              <a:p>
                <a:pPr algn="ctr">
                  <a:lnSpc>
                    <a:spcPct val="90000"/>
                  </a:lnSpc>
                </a:pPr>
                <a:r>
                  <a:rPr lang="en-US" sz="900"/>
                  <a:t>Adopt a dynamic work redesign to capture emerging value</a:t>
                </a:r>
              </a:p>
            </p:txBody>
          </p:sp>
          <p:sp>
            <p:nvSpPr>
              <p:cNvPr id="127" name="Google Shape;267;p3">
                <a:extLst>
                  <a:ext uri="{FF2B5EF4-FFF2-40B4-BE49-F238E27FC236}">
                    <a16:creationId xmlns:a16="http://schemas.microsoft.com/office/drawing/2014/main" id="{98BEFA49-2C11-0DD8-4944-946799D6D9FF}"/>
                  </a:ext>
                </a:extLst>
              </p:cNvPr>
              <p:cNvSpPr/>
              <p:nvPr/>
            </p:nvSpPr>
            <p:spPr>
              <a:xfrm>
                <a:off x="8330679" y="3037171"/>
                <a:ext cx="1991523" cy="298691"/>
              </a:xfrm>
              <a:prstGeom prst="rect">
                <a:avLst/>
              </a:prstGeom>
              <a:solidFill>
                <a:srgbClr val="FFFFFF"/>
              </a:solidFill>
              <a:ln>
                <a:noFill/>
              </a:ln>
            </p:spPr>
            <p:txBody>
              <a:bodyPr spcFirstLastPara="1" wrap="square" lIns="91425" tIns="0" rIns="91425" bIns="0" anchor="ctr" anchorCtr="0">
                <a:noAutofit/>
              </a:bodyPr>
              <a:lstStyle/>
              <a:p>
                <a:pPr lvl="0" algn="ctr">
                  <a:lnSpc>
                    <a:spcPct val="90000"/>
                  </a:lnSpc>
                </a:pPr>
                <a:r>
                  <a:rPr lang="en-US" sz="900">
                    <a:solidFill>
                      <a:schemeClr val="dk1"/>
                    </a:solidFill>
                    <a:ea typeface="Arial"/>
                    <a:cs typeface="Arial"/>
                    <a:sym typeface="Arial"/>
                  </a:rPr>
                  <a:t>Transform the HR operating model by deploying the latest AI solutions</a:t>
                </a:r>
              </a:p>
            </p:txBody>
          </p:sp>
          <p:sp>
            <p:nvSpPr>
              <p:cNvPr id="128" name="Google Shape;267;p3">
                <a:extLst>
                  <a:ext uri="{FF2B5EF4-FFF2-40B4-BE49-F238E27FC236}">
                    <a16:creationId xmlns:a16="http://schemas.microsoft.com/office/drawing/2014/main" id="{98B20D89-F24B-ABBE-F1FA-F04A04834C57}"/>
                  </a:ext>
                </a:extLst>
              </p:cNvPr>
              <p:cNvSpPr/>
              <p:nvPr/>
            </p:nvSpPr>
            <p:spPr>
              <a:xfrm>
                <a:off x="10369494" y="2677409"/>
                <a:ext cx="1294506" cy="658453"/>
              </a:xfrm>
              <a:prstGeom prst="rect">
                <a:avLst/>
              </a:prstGeom>
              <a:solidFill>
                <a:srgbClr val="FFFFFF"/>
              </a:solidFill>
              <a:ln>
                <a:noFill/>
              </a:ln>
            </p:spPr>
            <p:txBody>
              <a:bodyPr spcFirstLastPara="1" wrap="square" lIns="91425" tIns="0" rIns="91425" bIns="0" anchor="ctr" anchorCtr="0">
                <a:noAutofit/>
              </a:bodyPr>
              <a:lstStyle/>
              <a:p>
                <a:pPr algn="ctr">
                  <a:lnSpc>
                    <a:spcPct val="90000"/>
                  </a:lnSpc>
                </a:pPr>
                <a:r>
                  <a:rPr lang="en-US" sz="900">
                    <a:solidFill>
                      <a:schemeClr val="dk1"/>
                    </a:solidFill>
                    <a:ea typeface="Arial"/>
                    <a:cs typeface="Arial"/>
                    <a:sym typeface="Arial"/>
                  </a:rPr>
                  <a:t>Develop new</a:t>
                </a:r>
                <a:br>
                  <a:rPr lang="en-US" sz="900">
                    <a:solidFill>
                      <a:schemeClr val="dk1"/>
                    </a:solidFill>
                    <a:ea typeface="Arial"/>
                    <a:cs typeface="Arial"/>
                    <a:sym typeface="Arial"/>
                  </a:rPr>
                </a:br>
                <a:r>
                  <a:rPr lang="en-US" sz="900">
                    <a:solidFill>
                      <a:schemeClr val="dk1"/>
                    </a:solidFill>
                    <a:ea typeface="Arial"/>
                    <a:cs typeface="Arial"/>
                    <a:sym typeface="Arial"/>
                  </a:rPr>
                  <a:t>HR products/</a:t>
                </a:r>
                <a:br>
                  <a:rPr lang="en-US" sz="900">
                    <a:solidFill>
                      <a:schemeClr val="dk1"/>
                    </a:solidFill>
                    <a:ea typeface="Arial"/>
                    <a:cs typeface="Arial"/>
                    <a:sym typeface="Arial"/>
                  </a:rPr>
                </a:br>
                <a:r>
                  <a:rPr lang="en-US" sz="900">
                    <a:solidFill>
                      <a:schemeClr val="dk1"/>
                    </a:solidFill>
                    <a:ea typeface="Arial"/>
                    <a:cs typeface="Arial"/>
                    <a:sym typeface="Arial"/>
                  </a:rPr>
                  <a:t>services beyond</a:t>
                </a:r>
                <a:br>
                  <a:rPr lang="en-US" sz="900">
                    <a:solidFill>
                      <a:schemeClr val="dk1"/>
                    </a:solidFill>
                    <a:ea typeface="Arial"/>
                    <a:cs typeface="Arial"/>
                    <a:sym typeface="Arial"/>
                  </a:rPr>
                </a:br>
                <a:r>
                  <a:rPr lang="en-US" sz="900">
                    <a:solidFill>
                      <a:schemeClr val="dk1"/>
                    </a:solidFill>
                    <a:ea typeface="Arial"/>
                    <a:cs typeface="Arial"/>
                    <a:sym typeface="Arial"/>
                  </a:rPr>
                  <a:t>the boundaries of</a:t>
                </a:r>
                <a:br>
                  <a:rPr lang="en-US" sz="900">
                    <a:solidFill>
                      <a:schemeClr val="dk1"/>
                    </a:solidFill>
                    <a:ea typeface="Arial"/>
                    <a:cs typeface="Arial"/>
                    <a:sym typeface="Arial"/>
                  </a:rPr>
                </a:br>
                <a:r>
                  <a:rPr lang="en-US" sz="900">
                    <a:solidFill>
                      <a:schemeClr val="dk1"/>
                    </a:solidFill>
                    <a:ea typeface="Arial"/>
                    <a:cs typeface="Arial"/>
                    <a:sym typeface="Arial"/>
                  </a:rPr>
                  <a:t>the HR function</a:t>
                </a:r>
              </a:p>
            </p:txBody>
          </p:sp>
        </p:grpSp>
      </p:grpSp>
      <p:grpSp>
        <p:nvGrpSpPr>
          <p:cNvPr id="155" name="Group 154">
            <a:extLst>
              <a:ext uri="{FF2B5EF4-FFF2-40B4-BE49-F238E27FC236}">
                <a16:creationId xmlns:a16="http://schemas.microsoft.com/office/drawing/2014/main" id="{BF68443A-251E-4E1B-2DF5-300DBD9DA081}"/>
              </a:ext>
            </a:extLst>
          </p:cNvPr>
          <p:cNvGrpSpPr/>
          <p:nvPr/>
        </p:nvGrpSpPr>
        <p:grpSpPr>
          <a:xfrm>
            <a:off x="1701568" y="3240340"/>
            <a:ext cx="10036407" cy="814973"/>
            <a:chOff x="2092840" y="3475340"/>
            <a:chExt cx="9645135" cy="814973"/>
          </a:xfrm>
        </p:grpSpPr>
        <p:sp>
          <p:nvSpPr>
            <p:cNvPr id="131" name="Rectangle 130">
              <a:extLst>
                <a:ext uri="{FF2B5EF4-FFF2-40B4-BE49-F238E27FC236}">
                  <a16:creationId xmlns:a16="http://schemas.microsoft.com/office/drawing/2014/main" id="{F44048B5-3D5E-D310-F0BC-B4CFD66B41DB}"/>
                </a:ext>
              </a:extLst>
            </p:cNvPr>
            <p:cNvSpPr/>
            <p:nvPr/>
          </p:nvSpPr>
          <p:spPr>
            <a:xfrm>
              <a:off x="2092840" y="3475340"/>
              <a:ext cx="9645135" cy="814973"/>
            </a:xfrm>
            <a:prstGeom prst="rect">
              <a:avLst/>
            </a:prstGeom>
            <a:solidFill>
              <a:srgbClr val="9673BE">
                <a:alpha val="4898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900" err="1">
                <a:solidFill>
                  <a:schemeClr val="bg1"/>
                </a:solidFill>
              </a:endParaRPr>
            </a:p>
          </p:txBody>
        </p:sp>
        <p:grpSp>
          <p:nvGrpSpPr>
            <p:cNvPr id="154" name="Group 153">
              <a:extLst>
                <a:ext uri="{FF2B5EF4-FFF2-40B4-BE49-F238E27FC236}">
                  <a16:creationId xmlns:a16="http://schemas.microsoft.com/office/drawing/2014/main" id="{790315D2-FCC9-32F6-A07C-C0747F053DA3}"/>
                </a:ext>
              </a:extLst>
            </p:cNvPr>
            <p:cNvGrpSpPr/>
            <p:nvPr/>
          </p:nvGrpSpPr>
          <p:grpSpPr>
            <a:xfrm>
              <a:off x="2166814" y="3556797"/>
              <a:ext cx="9508060" cy="658453"/>
              <a:chOff x="2166814" y="3556797"/>
              <a:chExt cx="9508060" cy="658453"/>
            </a:xfrm>
          </p:grpSpPr>
          <p:grpSp>
            <p:nvGrpSpPr>
              <p:cNvPr id="153" name="Group 152">
                <a:extLst>
                  <a:ext uri="{FF2B5EF4-FFF2-40B4-BE49-F238E27FC236}">
                    <a16:creationId xmlns:a16="http://schemas.microsoft.com/office/drawing/2014/main" id="{5168378E-AD65-26CD-AAF0-773B11F8C082}"/>
                  </a:ext>
                </a:extLst>
              </p:cNvPr>
              <p:cNvGrpSpPr/>
              <p:nvPr/>
            </p:nvGrpSpPr>
            <p:grpSpPr>
              <a:xfrm>
                <a:off x="2166814" y="3556797"/>
                <a:ext cx="8155387" cy="658453"/>
                <a:chOff x="2166814" y="3556797"/>
                <a:chExt cx="7131780" cy="658453"/>
              </a:xfrm>
            </p:grpSpPr>
            <p:sp>
              <p:nvSpPr>
                <p:cNvPr id="132" name="Google Shape;266;p3">
                  <a:extLst>
                    <a:ext uri="{FF2B5EF4-FFF2-40B4-BE49-F238E27FC236}">
                      <a16:creationId xmlns:a16="http://schemas.microsoft.com/office/drawing/2014/main" id="{8C14CB56-A23D-4745-C86C-DD529534E535}"/>
                    </a:ext>
                  </a:extLst>
                </p:cNvPr>
                <p:cNvSpPr/>
                <p:nvPr/>
              </p:nvSpPr>
              <p:spPr>
                <a:xfrm>
                  <a:off x="2166814" y="3556797"/>
                  <a:ext cx="2381626" cy="298691"/>
                </a:xfrm>
                <a:prstGeom prst="rect">
                  <a:avLst/>
                </a:prstGeom>
                <a:solidFill>
                  <a:srgbClr val="FFFFFF"/>
                </a:solidFill>
                <a:ln>
                  <a:noFill/>
                </a:ln>
              </p:spPr>
              <p:txBody>
                <a:bodyPr spcFirstLastPara="1" wrap="square" lIns="91425" tIns="0" rIns="91425" bIns="0" anchor="ctr" anchorCtr="0">
                  <a:noAutofit/>
                </a:bodyPr>
                <a:lstStyle/>
                <a:p>
                  <a:pPr algn="ctr">
                    <a:lnSpc>
                      <a:spcPct val="90000"/>
                    </a:lnSpc>
                  </a:pPr>
                  <a:r>
                    <a:rPr lang="en-US" sz="900"/>
                    <a:t>Conduct an HR workforce sentiment and readiness assessment, and assess the impact of AI on HR</a:t>
                  </a:r>
                </a:p>
              </p:txBody>
            </p:sp>
            <p:sp>
              <p:nvSpPr>
                <p:cNvPr id="133" name="Google Shape;267;p3">
                  <a:extLst>
                    <a:ext uri="{FF2B5EF4-FFF2-40B4-BE49-F238E27FC236}">
                      <a16:creationId xmlns:a16="http://schemas.microsoft.com/office/drawing/2014/main" id="{5A086E6E-1574-CCD0-B53D-A4ED327AFC93}"/>
                    </a:ext>
                  </a:extLst>
                </p:cNvPr>
                <p:cNvSpPr/>
                <p:nvPr/>
              </p:nvSpPr>
              <p:spPr>
                <a:xfrm>
                  <a:off x="6977432" y="3556797"/>
                  <a:ext cx="2321162" cy="298691"/>
                </a:xfrm>
                <a:prstGeom prst="rect">
                  <a:avLst/>
                </a:prstGeom>
                <a:solidFill>
                  <a:srgbClr val="FFFFFF"/>
                </a:solidFill>
                <a:ln>
                  <a:noFill/>
                </a:ln>
              </p:spPr>
              <p:txBody>
                <a:bodyPr spcFirstLastPara="1" wrap="square" lIns="91425" tIns="0" rIns="91425" bIns="0" anchor="ctr" anchorCtr="0">
                  <a:noAutofit/>
                </a:bodyPr>
                <a:lstStyle/>
                <a:p>
                  <a:pPr algn="ctr">
                    <a:lnSpc>
                      <a:spcPct val="90000"/>
                    </a:lnSpc>
                  </a:pPr>
                  <a:r>
                    <a:rPr lang="en-US" sz="900"/>
                    <a:t>Integrate AI literacy into broader L&amp;D programs</a:t>
                  </a:r>
                </a:p>
              </p:txBody>
            </p:sp>
            <p:sp>
              <p:nvSpPr>
                <p:cNvPr id="134" name="Google Shape;268;p3">
                  <a:extLst>
                    <a:ext uri="{FF2B5EF4-FFF2-40B4-BE49-F238E27FC236}">
                      <a16:creationId xmlns:a16="http://schemas.microsoft.com/office/drawing/2014/main" id="{D084273F-3B04-13F5-C51A-2C90E34A01AF}"/>
                    </a:ext>
                  </a:extLst>
                </p:cNvPr>
                <p:cNvSpPr/>
                <p:nvPr/>
              </p:nvSpPr>
              <p:spPr>
                <a:xfrm>
                  <a:off x="4601151" y="3556797"/>
                  <a:ext cx="2321162" cy="298691"/>
                </a:xfrm>
                <a:prstGeom prst="rect">
                  <a:avLst/>
                </a:prstGeom>
                <a:solidFill>
                  <a:srgbClr val="FFFFFF"/>
                </a:solidFill>
                <a:ln>
                  <a:noFill/>
                </a:ln>
              </p:spPr>
              <p:txBody>
                <a:bodyPr spcFirstLastPara="1" wrap="square" lIns="91425" tIns="0" rIns="91425" bIns="0" anchor="ctr" anchorCtr="0">
                  <a:noAutofit/>
                </a:bodyPr>
                <a:lstStyle/>
                <a:p>
                  <a:pPr lvl="0" algn="ctr">
                    <a:lnSpc>
                      <a:spcPct val="90000"/>
                    </a:lnSpc>
                  </a:pPr>
                  <a:r>
                    <a:rPr lang="en-US" sz="900">
                      <a:solidFill>
                        <a:srgbClr val="000000"/>
                      </a:solidFill>
                      <a:ea typeface="Arial"/>
                      <a:cs typeface="Arial"/>
                      <a:sym typeface="Arial"/>
                    </a:rPr>
                    <a:t>Foster knowledge-sharing and best</a:t>
                  </a:r>
                  <a:br>
                    <a:rPr lang="en-US" sz="900">
                      <a:solidFill>
                        <a:srgbClr val="000000"/>
                      </a:solidFill>
                      <a:ea typeface="Arial"/>
                      <a:cs typeface="Arial"/>
                      <a:sym typeface="Arial"/>
                    </a:rPr>
                  </a:br>
                  <a:r>
                    <a:rPr lang="en-US" sz="900">
                      <a:solidFill>
                        <a:srgbClr val="000000"/>
                      </a:solidFill>
                      <a:ea typeface="Arial"/>
                      <a:cs typeface="Arial"/>
                      <a:sym typeface="Arial"/>
                    </a:rPr>
                    <a:t>practice communities</a:t>
                  </a:r>
                </a:p>
              </p:txBody>
            </p:sp>
            <p:sp>
              <p:nvSpPr>
                <p:cNvPr id="135" name="Google Shape;266;p3">
                  <a:extLst>
                    <a:ext uri="{FF2B5EF4-FFF2-40B4-BE49-F238E27FC236}">
                      <a16:creationId xmlns:a16="http://schemas.microsoft.com/office/drawing/2014/main" id="{8A1183A4-C415-5D22-AEB7-CBACC454DB6C}"/>
                    </a:ext>
                  </a:extLst>
                </p:cNvPr>
                <p:cNvSpPr/>
                <p:nvPr/>
              </p:nvSpPr>
              <p:spPr>
                <a:xfrm>
                  <a:off x="2166814" y="3916559"/>
                  <a:ext cx="2381626" cy="298691"/>
                </a:xfrm>
                <a:prstGeom prst="rect">
                  <a:avLst/>
                </a:prstGeom>
                <a:solidFill>
                  <a:srgbClr val="FFFFFF"/>
                </a:solidFill>
                <a:ln>
                  <a:noFill/>
                </a:ln>
              </p:spPr>
              <p:txBody>
                <a:bodyPr spcFirstLastPara="1" wrap="square" lIns="91425" tIns="0" rIns="91425" bIns="0" anchor="ctr" anchorCtr="0">
                  <a:noAutofit/>
                </a:bodyPr>
                <a:lstStyle/>
                <a:p>
                  <a:pPr algn="ctr">
                    <a:lnSpc>
                      <a:spcPct val="90000"/>
                    </a:lnSpc>
                  </a:pPr>
                  <a:r>
                    <a:rPr lang="en-US" sz="900">
                      <a:solidFill>
                        <a:schemeClr val="dk1"/>
                      </a:solidFill>
                      <a:ea typeface="Arial"/>
                      <a:cs typeface="Arial"/>
                      <a:sym typeface="Arial"/>
                    </a:rPr>
                    <a:t>Implement AI literacy training</a:t>
                  </a:r>
                  <a:br>
                    <a:rPr lang="en-US" sz="900">
                      <a:solidFill>
                        <a:schemeClr val="dk1"/>
                      </a:solidFill>
                      <a:ea typeface="Arial"/>
                      <a:cs typeface="Arial"/>
                      <a:sym typeface="Arial"/>
                    </a:rPr>
                  </a:br>
                  <a:r>
                    <a:rPr lang="en-US" sz="900">
                      <a:solidFill>
                        <a:schemeClr val="dk1"/>
                      </a:solidFill>
                      <a:ea typeface="Arial"/>
                      <a:cs typeface="Arial"/>
                      <a:sym typeface="Arial"/>
                    </a:rPr>
                    <a:t>and upskilling, and measure effectiveness</a:t>
                  </a:r>
                </a:p>
              </p:txBody>
            </p:sp>
            <p:sp>
              <p:nvSpPr>
                <p:cNvPr id="136" name="Google Shape;267;p3">
                  <a:extLst>
                    <a:ext uri="{FF2B5EF4-FFF2-40B4-BE49-F238E27FC236}">
                      <a16:creationId xmlns:a16="http://schemas.microsoft.com/office/drawing/2014/main" id="{4F104AFE-8E25-10D0-A2BC-F25BC93457AB}"/>
                    </a:ext>
                  </a:extLst>
                </p:cNvPr>
                <p:cNvSpPr/>
                <p:nvPr/>
              </p:nvSpPr>
              <p:spPr>
                <a:xfrm>
                  <a:off x="6977432" y="3916559"/>
                  <a:ext cx="2321162" cy="298691"/>
                </a:xfrm>
                <a:prstGeom prst="rect">
                  <a:avLst/>
                </a:prstGeom>
                <a:solidFill>
                  <a:srgbClr val="FFFFFF"/>
                </a:solidFill>
                <a:ln>
                  <a:noFill/>
                </a:ln>
              </p:spPr>
              <p:txBody>
                <a:bodyPr spcFirstLastPara="1" wrap="square" lIns="91425" tIns="0" rIns="91425" bIns="0" anchor="ctr" anchorCtr="0">
                  <a:noAutofit/>
                </a:bodyPr>
                <a:lstStyle/>
                <a:p>
                  <a:pPr algn="ctr">
                    <a:lnSpc>
                      <a:spcPct val="90000"/>
                    </a:lnSpc>
                  </a:pPr>
                  <a:r>
                    <a:rPr lang="en-US" sz="900">
                      <a:solidFill>
                        <a:srgbClr val="000000"/>
                      </a:solidFill>
                      <a:ea typeface="Arial"/>
                      <a:cs typeface="Arial"/>
                      <a:sym typeface="Arial"/>
                    </a:rPr>
                    <a:t>Foster an innovation culture</a:t>
                  </a:r>
                </a:p>
              </p:txBody>
            </p:sp>
            <p:sp>
              <p:nvSpPr>
                <p:cNvPr id="137" name="Google Shape;268;p3">
                  <a:extLst>
                    <a:ext uri="{FF2B5EF4-FFF2-40B4-BE49-F238E27FC236}">
                      <a16:creationId xmlns:a16="http://schemas.microsoft.com/office/drawing/2014/main" id="{03172B22-AC8D-3DBC-6D1F-55AC261997BF}"/>
                    </a:ext>
                  </a:extLst>
                </p:cNvPr>
                <p:cNvSpPr/>
                <p:nvPr/>
              </p:nvSpPr>
              <p:spPr>
                <a:xfrm>
                  <a:off x="4601151" y="3916559"/>
                  <a:ext cx="2321162" cy="298691"/>
                </a:xfrm>
                <a:prstGeom prst="rect">
                  <a:avLst/>
                </a:prstGeom>
                <a:solidFill>
                  <a:srgbClr val="FFFFFF"/>
                </a:solidFill>
                <a:ln>
                  <a:noFill/>
                </a:ln>
              </p:spPr>
              <p:txBody>
                <a:bodyPr spcFirstLastPara="1" wrap="square" lIns="91425" tIns="0" rIns="91425" bIns="0" anchor="ctr" anchorCtr="0">
                  <a:noAutofit/>
                </a:bodyPr>
                <a:lstStyle/>
                <a:p>
                  <a:pPr lvl="0" algn="ctr">
                    <a:lnSpc>
                      <a:spcPct val="90000"/>
                    </a:lnSpc>
                  </a:pPr>
                  <a:r>
                    <a:rPr lang="en-US" sz="900">
                      <a:solidFill>
                        <a:srgbClr val="000000"/>
                      </a:solidFill>
                      <a:ea typeface="Arial"/>
                      <a:cs typeface="Arial"/>
                      <a:sym typeface="Arial"/>
                    </a:rPr>
                    <a:t>Design targeted interventions to </a:t>
                  </a:r>
                  <a:endParaRPr lang="en-US" sz="900"/>
                </a:p>
                <a:p>
                  <a:pPr lvl="0" algn="ctr">
                    <a:lnSpc>
                      <a:spcPct val="90000"/>
                    </a:lnSpc>
                  </a:pPr>
                  <a:r>
                    <a:rPr lang="en-US" sz="900">
                      <a:solidFill>
                        <a:srgbClr val="000000"/>
                      </a:solidFill>
                      <a:ea typeface="Arial"/>
                      <a:cs typeface="Arial"/>
                      <a:sym typeface="Arial"/>
                    </a:rPr>
                    <a:t>future-proof the workforce for AI</a:t>
                  </a:r>
                </a:p>
              </p:txBody>
            </p:sp>
          </p:grpSp>
          <p:sp>
            <p:nvSpPr>
              <p:cNvPr id="139" name="Google Shape;267;p3">
                <a:extLst>
                  <a:ext uri="{FF2B5EF4-FFF2-40B4-BE49-F238E27FC236}">
                    <a16:creationId xmlns:a16="http://schemas.microsoft.com/office/drawing/2014/main" id="{446B7092-1E56-F7AC-DC0D-82B47FFE9DB5}"/>
                  </a:ext>
                </a:extLst>
              </p:cNvPr>
              <p:cNvSpPr/>
              <p:nvPr/>
            </p:nvSpPr>
            <p:spPr>
              <a:xfrm>
                <a:off x="10369494" y="3556797"/>
                <a:ext cx="1305380" cy="658453"/>
              </a:xfrm>
              <a:prstGeom prst="rect">
                <a:avLst/>
              </a:prstGeom>
              <a:solidFill>
                <a:srgbClr val="FFFFFF"/>
              </a:solidFill>
              <a:ln>
                <a:noFill/>
              </a:ln>
            </p:spPr>
            <p:txBody>
              <a:bodyPr spcFirstLastPara="1" wrap="square" lIns="91425" tIns="0" rIns="91425" bIns="0" anchor="ctr" anchorCtr="0">
                <a:noAutofit/>
              </a:bodyPr>
              <a:lstStyle/>
              <a:p>
                <a:pPr algn="ctr">
                  <a:lnSpc>
                    <a:spcPct val="90000"/>
                  </a:lnSpc>
                </a:pPr>
                <a:r>
                  <a:rPr lang="en-US" sz="900">
                    <a:solidFill>
                      <a:srgbClr val="000000"/>
                    </a:solidFill>
                    <a:ea typeface="Arial"/>
                    <a:cs typeface="Arial"/>
                    <a:sym typeface="Arial"/>
                  </a:rPr>
                  <a:t>Recognize and reward AI-driven innovation</a:t>
                </a:r>
              </a:p>
            </p:txBody>
          </p:sp>
        </p:grpSp>
      </p:grpSp>
      <p:grpSp>
        <p:nvGrpSpPr>
          <p:cNvPr id="231" name="Group 230">
            <a:extLst>
              <a:ext uri="{FF2B5EF4-FFF2-40B4-BE49-F238E27FC236}">
                <a16:creationId xmlns:a16="http://schemas.microsoft.com/office/drawing/2014/main" id="{139E77C1-36E8-D2B3-A3DA-9054F9ACA05C}"/>
              </a:ext>
            </a:extLst>
          </p:cNvPr>
          <p:cNvGrpSpPr/>
          <p:nvPr/>
        </p:nvGrpSpPr>
        <p:grpSpPr>
          <a:xfrm>
            <a:off x="458803" y="3240340"/>
            <a:ext cx="1207159" cy="814973"/>
            <a:chOff x="458803" y="3318322"/>
            <a:chExt cx="1207159" cy="814973"/>
          </a:xfrm>
        </p:grpSpPr>
        <p:sp>
          <p:nvSpPr>
            <p:cNvPr id="142" name="Google Shape;271;p3">
              <a:extLst>
                <a:ext uri="{FF2B5EF4-FFF2-40B4-BE49-F238E27FC236}">
                  <a16:creationId xmlns:a16="http://schemas.microsoft.com/office/drawing/2014/main" id="{48FC1772-6832-E30B-9D7D-7DE348085F7C}"/>
                </a:ext>
              </a:extLst>
            </p:cNvPr>
            <p:cNvSpPr/>
            <p:nvPr/>
          </p:nvSpPr>
          <p:spPr>
            <a:xfrm>
              <a:off x="458803" y="3318322"/>
              <a:ext cx="1207159" cy="814973"/>
            </a:xfrm>
            <a:prstGeom prst="rect">
              <a:avLst/>
            </a:prstGeom>
            <a:solidFill>
              <a:srgbClr val="9673BE"/>
            </a:solidFill>
            <a:ln>
              <a:noFill/>
            </a:ln>
          </p:spPr>
          <p:txBody>
            <a:bodyPr spcFirstLastPara="1" wrap="square" lIns="457200" tIns="0" rIns="91440" bIns="0" anchor="ctr" anchorCtr="0">
              <a:noAutofit/>
            </a:bodyPr>
            <a:lstStyle/>
            <a:p>
              <a:pPr>
                <a:lnSpc>
                  <a:spcPct val="90000"/>
                </a:lnSpc>
                <a:buClr>
                  <a:srgbClr val="000000"/>
                </a:buClr>
                <a:buSzPts val="1000"/>
              </a:pPr>
              <a:r>
                <a:rPr lang="en-US" sz="900">
                  <a:solidFill>
                    <a:srgbClr val="FFFFFF"/>
                  </a:solidFill>
                  <a:latin typeface="+mj-lt"/>
                  <a:ea typeface="Arial"/>
                  <a:cs typeface="Arial"/>
                  <a:sym typeface="Arial"/>
                </a:rPr>
                <a:t>AI people</a:t>
              </a:r>
              <a:br>
                <a:rPr lang="en-US" sz="900">
                  <a:solidFill>
                    <a:srgbClr val="FFFFFF"/>
                  </a:solidFill>
                  <a:latin typeface="+mj-lt"/>
                  <a:ea typeface="Arial"/>
                  <a:cs typeface="Arial"/>
                  <a:sym typeface="Arial"/>
                </a:rPr>
              </a:br>
              <a:r>
                <a:rPr lang="en-US" sz="900">
                  <a:solidFill>
                    <a:srgbClr val="FFFFFF"/>
                  </a:solidFill>
                  <a:latin typeface="+mj-lt"/>
                  <a:ea typeface="Arial"/>
                  <a:cs typeface="Arial"/>
                  <a:sym typeface="Arial"/>
                </a:rPr>
                <a:t>and culture</a:t>
              </a:r>
              <a:br>
                <a:rPr lang="en-US" sz="900">
                  <a:solidFill>
                    <a:srgbClr val="FFFFFF"/>
                  </a:solidFill>
                  <a:latin typeface="+mj-lt"/>
                  <a:ea typeface="Arial"/>
                  <a:cs typeface="Arial"/>
                  <a:sym typeface="Arial"/>
                </a:rPr>
              </a:br>
              <a:r>
                <a:rPr lang="en-US" sz="900">
                  <a:solidFill>
                    <a:srgbClr val="FFFFFF"/>
                  </a:solidFill>
                  <a:latin typeface="+mj-lt"/>
                  <a:ea typeface="Arial"/>
                  <a:cs typeface="Arial"/>
                  <a:sym typeface="Arial"/>
                </a:rPr>
                <a:t>for the HR function</a:t>
              </a:r>
              <a:endParaRPr lang="en-US" sz="900">
                <a:solidFill>
                  <a:srgbClr val="FFFFFF"/>
                </a:solidFill>
                <a:latin typeface="+mj-lt"/>
              </a:endParaRPr>
            </a:p>
          </p:txBody>
        </p:sp>
        <p:pic>
          <p:nvPicPr>
            <p:cNvPr id="35" name="Graphic 34">
              <a:extLst>
                <a:ext uri="{FF2B5EF4-FFF2-40B4-BE49-F238E27FC236}">
                  <a16:creationId xmlns:a16="http://schemas.microsoft.com/office/drawing/2014/main" id="{7D470EFE-20BE-E35B-E777-6F354797193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94409" y="3586770"/>
              <a:ext cx="357527" cy="278077"/>
            </a:xfrm>
            <a:prstGeom prst="rect">
              <a:avLst/>
            </a:prstGeom>
          </p:spPr>
        </p:pic>
      </p:grpSp>
      <p:grpSp>
        <p:nvGrpSpPr>
          <p:cNvPr id="230" name="Group 229">
            <a:extLst>
              <a:ext uri="{FF2B5EF4-FFF2-40B4-BE49-F238E27FC236}">
                <a16:creationId xmlns:a16="http://schemas.microsoft.com/office/drawing/2014/main" id="{C9A71012-C286-3EEE-CCC0-5925FCEBF187}"/>
              </a:ext>
            </a:extLst>
          </p:cNvPr>
          <p:cNvGrpSpPr/>
          <p:nvPr/>
        </p:nvGrpSpPr>
        <p:grpSpPr>
          <a:xfrm>
            <a:off x="458803" y="4090473"/>
            <a:ext cx="1207159" cy="814973"/>
            <a:chOff x="458803" y="4212018"/>
            <a:chExt cx="1207159" cy="814973"/>
          </a:xfrm>
        </p:grpSpPr>
        <p:sp>
          <p:nvSpPr>
            <p:cNvPr id="168" name="Google Shape;271;p3">
              <a:extLst>
                <a:ext uri="{FF2B5EF4-FFF2-40B4-BE49-F238E27FC236}">
                  <a16:creationId xmlns:a16="http://schemas.microsoft.com/office/drawing/2014/main" id="{31F3E09D-DBC3-3F1A-0D52-E00411324370}"/>
                </a:ext>
              </a:extLst>
            </p:cNvPr>
            <p:cNvSpPr/>
            <p:nvPr/>
          </p:nvSpPr>
          <p:spPr>
            <a:xfrm>
              <a:off x="458803" y="4212018"/>
              <a:ext cx="1207159" cy="814973"/>
            </a:xfrm>
            <a:prstGeom prst="rect">
              <a:avLst/>
            </a:prstGeom>
            <a:solidFill>
              <a:srgbClr val="6872B6"/>
            </a:solidFill>
            <a:ln>
              <a:noFill/>
            </a:ln>
          </p:spPr>
          <p:txBody>
            <a:bodyPr spcFirstLastPara="1" wrap="square" lIns="457200" tIns="0" rIns="91440" bIns="0" anchor="ctr" anchorCtr="0">
              <a:noAutofit/>
            </a:bodyPr>
            <a:lstStyle/>
            <a:p>
              <a:pPr>
                <a:lnSpc>
                  <a:spcPct val="90000"/>
                </a:lnSpc>
                <a:buClr>
                  <a:srgbClr val="000000"/>
                </a:buClr>
                <a:buSzPts val="1000"/>
              </a:pPr>
              <a:r>
                <a:rPr lang="en-US" sz="900">
                  <a:solidFill>
                    <a:srgbClr val="FFFFFF"/>
                  </a:solidFill>
                  <a:latin typeface="+mj-lt"/>
                  <a:ea typeface="Arial"/>
                  <a:cs typeface="Arial"/>
                  <a:sym typeface="Arial"/>
                </a:rPr>
                <a:t>AI governance</a:t>
              </a:r>
            </a:p>
            <a:p>
              <a:pPr>
                <a:lnSpc>
                  <a:spcPct val="90000"/>
                </a:lnSpc>
                <a:buClr>
                  <a:srgbClr val="000000"/>
                </a:buClr>
                <a:buSzPts val="1000"/>
              </a:pPr>
              <a:r>
                <a:rPr lang="en-US" sz="900">
                  <a:solidFill>
                    <a:srgbClr val="FFFFFF"/>
                  </a:solidFill>
                  <a:latin typeface="+mj-lt"/>
                  <a:ea typeface="Arial"/>
                  <a:cs typeface="Arial"/>
                  <a:sym typeface="Arial"/>
                </a:rPr>
                <a:t>for the HR function</a:t>
              </a:r>
            </a:p>
          </p:txBody>
        </p:sp>
        <p:pic>
          <p:nvPicPr>
            <p:cNvPr id="27" name="Graphic 26">
              <a:extLst>
                <a:ext uri="{FF2B5EF4-FFF2-40B4-BE49-F238E27FC236}">
                  <a16:creationId xmlns:a16="http://schemas.microsoft.com/office/drawing/2014/main" id="{C1F516FA-C10F-5119-A9E6-CE4C711B4F5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22084" y="4501990"/>
              <a:ext cx="302178" cy="235028"/>
            </a:xfrm>
            <a:prstGeom prst="rect">
              <a:avLst/>
            </a:prstGeom>
          </p:spPr>
        </p:pic>
      </p:grpSp>
      <p:grpSp>
        <p:nvGrpSpPr>
          <p:cNvPr id="208" name="Group 207">
            <a:extLst>
              <a:ext uri="{FF2B5EF4-FFF2-40B4-BE49-F238E27FC236}">
                <a16:creationId xmlns:a16="http://schemas.microsoft.com/office/drawing/2014/main" id="{4979951E-90C0-106B-8DD4-063B807EB390}"/>
              </a:ext>
            </a:extLst>
          </p:cNvPr>
          <p:cNvGrpSpPr/>
          <p:nvPr/>
        </p:nvGrpSpPr>
        <p:grpSpPr>
          <a:xfrm>
            <a:off x="1701568" y="4090473"/>
            <a:ext cx="10036407" cy="814973"/>
            <a:chOff x="2092840" y="4267438"/>
            <a:chExt cx="9645135" cy="814973"/>
          </a:xfrm>
        </p:grpSpPr>
        <p:sp>
          <p:nvSpPr>
            <p:cNvPr id="157" name="Rectangle 156">
              <a:extLst>
                <a:ext uri="{FF2B5EF4-FFF2-40B4-BE49-F238E27FC236}">
                  <a16:creationId xmlns:a16="http://schemas.microsoft.com/office/drawing/2014/main" id="{F8322C66-BD78-912C-1547-7B9332E0A7C9}"/>
                </a:ext>
              </a:extLst>
            </p:cNvPr>
            <p:cNvSpPr/>
            <p:nvPr/>
          </p:nvSpPr>
          <p:spPr>
            <a:xfrm>
              <a:off x="2092840" y="4267438"/>
              <a:ext cx="9645135" cy="814973"/>
            </a:xfrm>
            <a:prstGeom prst="rect">
              <a:avLst/>
            </a:prstGeom>
            <a:solidFill>
              <a:srgbClr val="6872B6">
                <a:alpha val="4898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900" err="1">
                <a:solidFill>
                  <a:schemeClr val="bg1"/>
                </a:solidFill>
              </a:endParaRPr>
            </a:p>
          </p:txBody>
        </p:sp>
        <p:grpSp>
          <p:nvGrpSpPr>
            <p:cNvPr id="181" name="Group 180">
              <a:extLst>
                <a:ext uri="{FF2B5EF4-FFF2-40B4-BE49-F238E27FC236}">
                  <a16:creationId xmlns:a16="http://schemas.microsoft.com/office/drawing/2014/main" id="{D3D90CED-CE7A-838A-42E6-9B6C29A8D809}"/>
                </a:ext>
              </a:extLst>
            </p:cNvPr>
            <p:cNvGrpSpPr/>
            <p:nvPr/>
          </p:nvGrpSpPr>
          <p:grpSpPr>
            <a:xfrm>
              <a:off x="2165620" y="4345698"/>
              <a:ext cx="9499575" cy="658453"/>
              <a:chOff x="2164425" y="2677409"/>
              <a:chExt cx="9499575" cy="658453"/>
            </a:xfrm>
          </p:grpSpPr>
          <p:sp>
            <p:nvSpPr>
              <p:cNvPr id="182" name="Google Shape;266;p3">
                <a:extLst>
                  <a:ext uri="{FF2B5EF4-FFF2-40B4-BE49-F238E27FC236}">
                    <a16:creationId xmlns:a16="http://schemas.microsoft.com/office/drawing/2014/main" id="{5DB89EBF-7C9A-1DAC-3C97-FC4B33FF679F}"/>
                  </a:ext>
                </a:extLst>
              </p:cNvPr>
              <p:cNvSpPr/>
              <p:nvPr/>
            </p:nvSpPr>
            <p:spPr>
              <a:xfrm>
                <a:off x="2164425" y="2677409"/>
                <a:ext cx="1689702" cy="298691"/>
              </a:xfrm>
              <a:prstGeom prst="rect">
                <a:avLst/>
              </a:prstGeom>
              <a:solidFill>
                <a:srgbClr val="FFFFFF"/>
              </a:solidFill>
              <a:ln>
                <a:noFill/>
              </a:ln>
            </p:spPr>
            <p:txBody>
              <a:bodyPr spcFirstLastPara="1" wrap="square" lIns="91425" tIns="0" rIns="91425" bIns="0" anchor="ctr" anchorCtr="0">
                <a:noAutofit/>
              </a:bodyPr>
              <a:lstStyle/>
              <a:p>
                <a:pPr algn="ctr">
                  <a:lnSpc>
                    <a:spcPct val="90000"/>
                  </a:lnSpc>
                </a:pPr>
                <a:r>
                  <a:rPr lang="en-US" sz="900"/>
                  <a:t>Form an HR AI</a:t>
                </a:r>
                <a:br>
                  <a:rPr lang="en-US" sz="900"/>
                </a:br>
                <a:r>
                  <a:rPr lang="en-US" sz="900"/>
                  <a:t>governance team</a:t>
                </a:r>
              </a:p>
            </p:txBody>
          </p:sp>
          <p:sp>
            <p:nvSpPr>
              <p:cNvPr id="183" name="Google Shape;267;p3">
                <a:extLst>
                  <a:ext uri="{FF2B5EF4-FFF2-40B4-BE49-F238E27FC236}">
                    <a16:creationId xmlns:a16="http://schemas.microsoft.com/office/drawing/2014/main" id="{E2A621C0-F993-7369-7B14-8986343E433A}"/>
                  </a:ext>
                </a:extLst>
              </p:cNvPr>
              <p:cNvSpPr/>
              <p:nvPr/>
            </p:nvSpPr>
            <p:spPr>
              <a:xfrm>
                <a:off x="6291865" y="2677409"/>
                <a:ext cx="1991523" cy="298691"/>
              </a:xfrm>
              <a:prstGeom prst="rect">
                <a:avLst/>
              </a:prstGeom>
              <a:solidFill>
                <a:srgbClr val="FFFFFF"/>
              </a:solidFill>
              <a:ln>
                <a:noFill/>
              </a:ln>
            </p:spPr>
            <p:txBody>
              <a:bodyPr spcFirstLastPara="1" wrap="square" lIns="91425" tIns="0" rIns="91425" bIns="0" anchor="ctr" anchorCtr="0">
                <a:noAutofit/>
              </a:bodyPr>
              <a:lstStyle/>
              <a:p>
                <a:pPr algn="ctr">
                  <a:lnSpc>
                    <a:spcPct val="90000"/>
                  </a:lnSpc>
                </a:pPr>
                <a:r>
                  <a:rPr lang="en-US" sz="900"/>
                  <a:t>Implement legal and regulatory frameworks and policies for HR</a:t>
                </a:r>
              </a:p>
            </p:txBody>
          </p:sp>
          <p:sp>
            <p:nvSpPr>
              <p:cNvPr id="184" name="Google Shape;268;p3">
                <a:extLst>
                  <a:ext uri="{FF2B5EF4-FFF2-40B4-BE49-F238E27FC236}">
                    <a16:creationId xmlns:a16="http://schemas.microsoft.com/office/drawing/2014/main" id="{B6AEFCE4-6130-BADA-9812-5C8A353D34B0}"/>
                  </a:ext>
                </a:extLst>
              </p:cNvPr>
              <p:cNvSpPr/>
              <p:nvPr/>
            </p:nvSpPr>
            <p:spPr>
              <a:xfrm>
                <a:off x="3917628" y="2677409"/>
                <a:ext cx="2326946" cy="298691"/>
              </a:xfrm>
              <a:prstGeom prst="rect">
                <a:avLst/>
              </a:prstGeom>
              <a:solidFill>
                <a:srgbClr val="FFFFFF"/>
              </a:solidFill>
              <a:ln>
                <a:noFill/>
              </a:ln>
            </p:spPr>
            <p:txBody>
              <a:bodyPr spcFirstLastPara="1" wrap="square" lIns="91425" tIns="0" rIns="91425" bIns="0" anchor="ctr" anchorCtr="0">
                <a:noAutofit/>
              </a:bodyPr>
              <a:lstStyle/>
              <a:p>
                <a:pPr lvl="0" algn="ctr">
                  <a:lnSpc>
                    <a:spcPct val="90000"/>
                  </a:lnSpc>
                </a:pPr>
                <a:r>
                  <a:rPr lang="en-US" sz="900">
                    <a:solidFill>
                      <a:srgbClr val="000000"/>
                    </a:solidFill>
                    <a:ea typeface="Arial"/>
                    <a:cs typeface="Arial"/>
                    <a:sym typeface="Arial"/>
                  </a:rPr>
                  <a:t>Customize enterprise AI ethics, risk, security and safety for HR</a:t>
                </a:r>
              </a:p>
            </p:txBody>
          </p:sp>
          <p:sp>
            <p:nvSpPr>
              <p:cNvPr id="185" name="Google Shape;266;p3">
                <a:extLst>
                  <a:ext uri="{FF2B5EF4-FFF2-40B4-BE49-F238E27FC236}">
                    <a16:creationId xmlns:a16="http://schemas.microsoft.com/office/drawing/2014/main" id="{EA1075F0-33AA-4605-D39B-9486B0CD03E4}"/>
                  </a:ext>
                </a:extLst>
              </p:cNvPr>
              <p:cNvSpPr/>
              <p:nvPr/>
            </p:nvSpPr>
            <p:spPr>
              <a:xfrm>
                <a:off x="2164425" y="3037171"/>
                <a:ext cx="1689702" cy="298691"/>
              </a:xfrm>
              <a:prstGeom prst="rect">
                <a:avLst/>
              </a:prstGeom>
              <a:solidFill>
                <a:srgbClr val="FFFFFF"/>
              </a:solidFill>
              <a:ln>
                <a:noFill/>
              </a:ln>
            </p:spPr>
            <p:txBody>
              <a:bodyPr spcFirstLastPara="1" wrap="square" lIns="91425" tIns="0" rIns="91425" bIns="0" anchor="ctr" anchorCtr="0">
                <a:noAutofit/>
              </a:bodyPr>
              <a:lstStyle/>
              <a:p>
                <a:pPr algn="ctr">
                  <a:lnSpc>
                    <a:spcPct val="90000"/>
                  </a:lnSpc>
                </a:pPr>
                <a:r>
                  <a:rPr lang="en-US" sz="900">
                    <a:solidFill>
                      <a:schemeClr val="dk1"/>
                    </a:solidFill>
                    <a:ea typeface="Arial"/>
                    <a:cs typeface="Arial"/>
                    <a:sym typeface="Arial"/>
                  </a:rPr>
                  <a:t>Participate in the enterprise AI governance council</a:t>
                </a:r>
              </a:p>
            </p:txBody>
          </p:sp>
          <p:sp>
            <p:nvSpPr>
              <p:cNvPr id="186" name="Google Shape;267;p3">
                <a:extLst>
                  <a:ext uri="{FF2B5EF4-FFF2-40B4-BE49-F238E27FC236}">
                    <a16:creationId xmlns:a16="http://schemas.microsoft.com/office/drawing/2014/main" id="{C75E962B-4FB0-A2E7-1B35-C8302E8EE573}"/>
                  </a:ext>
                </a:extLst>
              </p:cNvPr>
              <p:cNvSpPr/>
              <p:nvPr/>
            </p:nvSpPr>
            <p:spPr>
              <a:xfrm>
                <a:off x="6291865" y="3037171"/>
                <a:ext cx="1991523" cy="298691"/>
              </a:xfrm>
              <a:prstGeom prst="rect">
                <a:avLst/>
              </a:prstGeom>
              <a:solidFill>
                <a:srgbClr val="FFFFFF"/>
              </a:solidFill>
              <a:ln>
                <a:noFill/>
              </a:ln>
            </p:spPr>
            <p:txBody>
              <a:bodyPr spcFirstLastPara="1" wrap="square" lIns="91425" tIns="0" rIns="91425" bIns="0" anchor="ctr" anchorCtr="0">
                <a:noAutofit/>
              </a:bodyPr>
              <a:lstStyle/>
              <a:p>
                <a:pPr lvl="0" algn="ctr">
                  <a:lnSpc>
                    <a:spcPct val="90000"/>
                  </a:lnSpc>
                </a:pPr>
                <a:r>
                  <a:rPr lang="en-US" sz="900">
                    <a:solidFill>
                      <a:schemeClr val="dk1"/>
                    </a:solidFill>
                    <a:ea typeface="Arial"/>
                    <a:cs typeface="Arial"/>
                    <a:sym typeface="Arial"/>
                  </a:rPr>
                  <a:t>Communicate and train HR staff on AI governance mandate within HR</a:t>
                </a:r>
              </a:p>
            </p:txBody>
          </p:sp>
          <p:sp>
            <p:nvSpPr>
              <p:cNvPr id="187" name="Google Shape;268;p3">
                <a:extLst>
                  <a:ext uri="{FF2B5EF4-FFF2-40B4-BE49-F238E27FC236}">
                    <a16:creationId xmlns:a16="http://schemas.microsoft.com/office/drawing/2014/main" id="{ECF5010C-A987-2FDB-DEB6-006F1E247DE8}"/>
                  </a:ext>
                </a:extLst>
              </p:cNvPr>
              <p:cNvSpPr/>
              <p:nvPr/>
            </p:nvSpPr>
            <p:spPr>
              <a:xfrm>
                <a:off x="3917628" y="3037171"/>
                <a:ext cx="2326946" cy="298691"/>
              </a:xfrm>
              <a:prstGeom prst="rect">
                <a:avLst/>
              </a:prstGeom>
              <a:solidFill>
                <a:srgbClr val="FFFFFF"/>
              </a:solidFill>
              <a:ln>
                <a:noFill/>
              </a:ln>
            </p:spPr>
            <p:txBody>
              <a:bodyPr spcFirstLastPara="1" wrap="square" lIns="91425" tIns="0" rIns="91425" bIns="0" anchor="ctr" anchorCtr="0">
                <a:noAutofit/>
              </a:bodyPr>
              <a:lstStyle/>
              <a:p>
                <a:pPr algn="ctr">
                  <a:lnSpc>
                    <a:spcPct val="90000"/>
                  </a:lnSpc>
                </a:pPr>
                <a:r>
                  <a:rPr lang="en-US" sz="900"/>
                  <a:t>Define governance decision rights and stakeholders in HR</a:t>
                </a:r>
              </a:p>
            </p:txBody>
          </p:sp>
          <p:sp>
            <p:nvSpPr>
              <p:cNvPr id="188" name="Google Shape;267;p3">
                <a:extLst>
                  <a:ext uri="{FF2B5EF4-FFF2-40B4-BE49-F238E27FC236}">
                    <a16:creationId xmlns:a16="http://schemas.microsoft.com/office/drawing/2014/main" id="{6AD0F965-C849-0199-6EB3-AA49E8FFEC69}"/>
                  </a:ext>
                </a:extLst>
              </p:cNvPr>
              <p:cNvSpPr/>
              <p:nvPr/>
            </p:nvSpPr>
            <p:spPr>
              <a:xfrm>
                <a:off x="8330679" y="2677409"/>
                <a:ext cx="1991523" cy="298691"/>
              </a:xfrm>
              <a:prstGeom prst="rect">
                <a:avLst/>
              </a:prstGeom>
              <a:solidFill>
                <a:srgbClr val="FFFFFF"/>
              </a:solidFill>
              <a:ln>
                <a:noFill/>
              </a:ln>
            </p:spPr>
            <p:txBody>
              <a:bodyPr spcFirstLastPara="1" wrap="square" lIns="91425" tIns="0" rIns="91425" bIns="0" anchor="ctr" anchorCtr="0">
                <a:noAutofit/>
              </a:bodyPr>
              <a:lstStyle/>
              <a:p>
                <a:pPr algn="ctr">
                  <a:lnSpc>
                    <a:spcPct val="90000"/>
                  </a:lnSpc>
                </a:pPr>
                <a:r>
                  <a:rPr lang="en-US" sz="900"/>
                  <a:t>Ensure AI governance adherence</a:t>
                </a:r>
                <a:br>
                  <a:rPr lang="en-US" sz="900"/>
                </a:br>
                <a:r>
                  <a:rPr lang="en-US" sz="900"/>
                  <a:t>for HR and third-party vendors</a:t>
                </a:r>
              </a:p>
            </p:txBody>
          </p:sp>
          <p:sp>
            <p:nvSpPr>
              <p:cNvPr id="189" name="Google Shape;267;p3">
                <a:extLst>
                  <a:ext uri="{FF2B5EF4-FFF2-40B4-BE49-F238E27FC236}">
                    <a16:creationId xmlns:a16="http://schemas.microsoft.com/office/drawing/2014/main" id="{BC37EB0A-742B-48F3-ED59-6F8304E79B88}"/>
                  </a:ext>
                </a:extLst>
              </p:cNvPr>
              <p:cNvSpPr/>
              <p:nvPr/>
            </p:nvSpPr>
            <p:spPr>
              <a:xfrm>
                <a:off x="8330679" y="3037171"/>
                <a:ext cx="1991523" cy="298691"/>
              </a:xfrm>
              <a:prstGeom prst="rect">
                <a:avLst/>
              </a:prstGeom>
              <a:solidFill>
                <a:srgbClr val="FFFFFF"/>
              </a:solidFill>
              <a:ln>
                <a:noFill/>
              </a:ln>
            </p:spPr>
            <p:txBody>
              <a:bodyPr spcFirstLastPara="1" wrap="square" lIns="91425" tIns="0" rIns="91425" bIns="0" anchor="ctr" anchorCtr="0">
                <a:noAutofit/>
              </a:bodyPr>
              <a:lstStyle/>
              <a:p>
                <a:pPr lvl="0" algn="ctr">
                  <a:lnSpc>
                    <a:spcPct val="90000"/>
                  </a:lnSpc>
                </a:pPr>
                <a:r>
                  <a:rPr lang="en-US" sz="900">
                    <a:solidFill>
                      <a:schemeClr val="dk1"/>
                    </a:solidFill>
                    <a:ea typeface="Arial"/>
                    <a:cs typeface="Arial"/>
                    <a:sym typeface="Arial"/>
                  </a:rPr>
                  <a:t>Handle exceptions and escalations</a:t>
                </a:r>
              </a:p>
            </p:txBody>
          </p:sp>
          <p:sp>
            <p:nvSpPr>
              <p:cNvPr id="190" name="Google Shape;267;p3">
                <a:extLst>
                  <a:ext uri="{FF2B5EF4-FFF2-40B4-BE49-F238E27FC236}">
                    <a16:creationId xmlns:a16="http://schemas.microsoft.com/office/drawing/2014/main" id="{46F08DC2-1B33-ED09-98DF-7354E9611B1A}"/>
                  </a:ext>
                </a:extLst>
              </p:cNvPr>
              <p:cNvSpPr/>
              <p:nvPr/>
            </p:nvSpPr>
            <p:spPr>
              <a:xfrm>
                <a:off x="10369494" y="2677409"/>
                <a:ext cx="1294506" cy="658453"/>
              </a:xfrm>
              <a:prstGeom prst="rect">
                <a:avLst/>
              </a:prstGeom>
              <a:solidFill>
                <a:srgbClr val="FFFFFF"/>
              </a:solidFill>
              <a:ln>
                <a:noFill/>
              </a:ln>
            </p:spPr>
            <p:txBody>
              <a:bodyPr spcFirstLastPara="1" wrap="square" lIns="91425" tIns="0" rIns="91425" bIns="0" anchor="ctr" anchorCtr="0">
                <a:noAutofit/>
              </a:bodyPr>
              <a:lstStyle/>
              <a:p>
                <a:pPr algn="ctr">
                  <a:lnSpc>
                    <a:spcPct val="90000"/>
                  </a:lnSpc>
                </a:pPr>
                <a:r>
                  <a:rPr lang="en-US" sz="900">
                    <a:solidFill>
                      <a:schemeClr val="dk1"/>
                    </a:solidFill>
                    <a:ea typeface="Arial"/>
                    <a:cs typeface="Arial"/>
                    <a:sym typeface="Arial"/>
                  </a:rPr>
                  <a:t>Create employee</a:t>
                </a:r>
                <a:br>
                  <a:rPr lang="en-US" sz="900">
                    <a:solidFill>
                      <a:schemeClr val="dk1"/>
                    </a:solidFill>
                    <a:ea typeface="Arial"/>
                    <a:cs typeface="Arial"/>
                    <a:sym typeface="Arial"/>
                  </a:rPr>
                </a:br>
                <a:r>
                  <a:rPr lang="en-US" sz="900">
                    <a:solidFill>
                      <a:schemeClr val="dk1"/>
                    </a:solidFill>
                    <a:ea typeface="Arial"/>
                    <a:cs typeface="Arial"/>
                    <a:sym typeface="Arial"/>
                  </a:rPr>
                  <a:t>and candidate AI transparency</a:t>
                </a:r>
              </a:p>
            </p:txBody>
          </p:sp>
        </p:grpSp>
      </p:grpSp>
      <p:grpSp>
        <p:nvGrpSpPr>
          <p:cNvPr id="235" name="Group 234">
            <a:extLst>
              <a:ext uri="{FF2B5EF4-FFF2-40B4-BE49-F238E27FC236}">
                <a16:creationId xmlns:a16="http://schemas.microsoft.com/office/drawing/2014/main" id="{41781DF1-628C-0E16-A918-55E4F4C1DCB4}"/>
              </a:ext>
            </a:extLst>
          </p:cNvPr>
          <p:cNvGrpSpPr/>
          <p:nvPr/>
        </p:nvGrpSpPr>
        <p:grpSpPr>
          <a:xfrm>
            <a:off x="1701568" y="4940605"/>
            <a:ext cx="10036407" cy="1269083"/>
            <a:chOff x="1854956" y="5073754"/>
            <a:chExt cx="9883019" cy="1269083"/>
          </a:xfrm>
        </p:grpSpPr>
        <p:sp>
          <p:nvSpPr>
            <p:cNvPr id="191" name="Rectangle 190">
              <a:extLst>
                <a:ext uri="{FF2B5EF4-FFF2-40B4-BE49-F238E27FC236}">
                  <a16:creationId xmlns:a16="http://schemas.microsoft.com/office/drawing/2014/main" id="{85A14CDA-9C6F-6966-B8A8-41D1FDB23356}"/>
                </a:ext>
              </a:extLst>
            </p:cNvPr>
            <p:cNvSpPr/>
            <p:nvPr/>
          </p:nvSpPr>
          <p:spPr>
            <a:xfrm>
              <a:off x="1854956" y="5073754"/>
              <a:ext cx="9883019" cy="1269083"/>
            </a:xfrm>
            <a:prstGeom prst="rect">
              <a:avLst/>
            </a:prstGeom>
            <a:solidFill>
              <a:srgbClr val="3C92B5">
                <a:alpha val="4898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900" err="1">
                <a:solidFill>
                  <a:schemeClr val="bg1"/>
                </a:solidFill>
              </a:endParaRPr>
            </a:p>
          </p:txBody>
        </p:sp>
        <p:grpSp>
          <p:nvGrpSpPr>
            <p:cNvPr id="227" name="Group 226">
              <a:extLst>
                <a:ext uri="{FF2B5EF4-FFF2-40B4-BE49-F238E27FC236}">
                  <a16:creationId xmlns:a16="http://schemas.microsoft.com/office/drawing/2014/main" id="{0625B082-0626-7878-8FBD-FDAF41942112}"/>
                </a:ext>
              </a:extLst>
            </p:cNvPr>
            <p:cNvGrpSpPr/>
            <p:nvPr/>
          </p:nvGrpSpPr>
          <p:grpSpPr>
            <a:xfrm>
              <a:off x="1928365" y="5144860"/>
              <a:ext cx="9753258" cy="1126870"/>
              <a:chOff x="1928365" y="5145323"/>
              <a:chExt cx="9702454" cy="1126870"/>
            </a:xfrm>
          </p:grpSpPr>
          <p:grpSp>
            <p:nvGrpSpPr>
              <p:cNvPr id="214" name="Group 213">
                <a:extLst>
                  <a:ext uri="{FF2B5EF4-FFF2-40B4-BE49-F238E27FC236}">
                    <a16:creationId xmlns:a16="http://schemas.microsoft.com/office/drawing/2014/main" id="{0E978FD2-BC74-A497-8FAA-3947CF1C4F34}"/>
                  </a:ext>
                </a:extLst>
              </p:cNvPr>
              <p:cNvGrpSpPr/>
              <p:nvPr/>
            </p:nvGrpSpPr>
            <p:grpSpPr>
              <a:xfrm>
                <a:off x="1928365" y="5145323"/>
                <a:ext cx="9685902" cy="337975"/>
                <a:chOff x="1928365" y="5034038"/>
                <a:chExt cx="9685902" cy="337975"/>
              </a:xfrm>
            </p:grpSpPr>
            <p:sp>
              <p:nvSpPr>
                <p:cNvPr id="209" name="Google Shape;266;p3">
                  <a:extLst>
                    <a:ext uri="{FF2B5EF4-FFF2-40B4-BE49-F238E27FC236}">
                      <a16:creationId xmlns:a16="http://schemas.microsoft.com/office/drawing/2014/main" id="{2244D84C-B5D0-C720-9FE1-BB26F9A20DEA}"/>
                    </a:ext>
                  </a:extLst>
                </p:cNvPr>
                <p:cNvSpPr/>
                <p:nvPr/>
              </p:nvSpPr>
              <p:spPr>
                <a:xfrm>
                  <a:off x="1928365" y="5034038"/>
                  <a:ext cx="1928107" cy="337975"/>
                </a:xfrm>
                <a:prstGeom prst="rect">
                  <a:avLst/>
                </a:prstGeom>
                <a:solidFill>
                  <a:srgbClr val="FFFFFF"/>
                </a:solidFill>
                <a:ln>
                  <a:noFill/>
                </a:ln>
              </p:spPr>
              <p:txBody>
                <a:bodyPr spcFirstLastPara="1" wrap="square" lIns="91425" tIns="0" rIns="91425" bIns="0" anchor="ctr" anchorCtr="0">
                  <a:noAutofit/>
                </a:bodyPr>
                <a:lstStyle/>
                <a:p>
                  <a:pPr algn="ctr">
                    <a:lnSpc>
                      <a:spcPct val="90000"/>
                    </a:lnSpc>
                  </a:pPr>
                  <a:r>
                    <a:rPr lang="en-US" sz="900">
                      <a:solidFill>
                        <a:srgbClr val="000000"/>
                      </a:solidFill>
                      <a:ea typeface="Arial"/>
                      <a:cs typeface="Arial"/>
                      <a:sym typeface="Arial"/>
                    </a:rPr>
                    <a:t>Design AI solutions as part of</a:t>
                  </a:r>
                  <a:br>
                    <a:rPr lang="en-US" sz="900">
                      <a:solidFill>
                        <a:srgbClr val="000000"/>
                      </a:solidFill>
                      <a:ea typeface="Arial"/>
                      <a:cs typeface="Arial"/>
                      <a:sym typeface="Arial"/>
                    </a:rPr>
                  </a:br>
                  <a:r>
                    <a:rPr lang="en-US" sz="900">
                      <a:solidFill>
                        <a:srgbClr val="000000"/>
                      </a:solidFill>
                      <a:ea typeface="Arial"/>
                      <a:cs typeface="Arial"/>
                      <a:sym typeface="Arial"/>
                    </a:rPr>
                    <a:t>the HR technology strategy</a:t>
                  </a:r>
                </a:p>
              </p:txBody>
            </p:sp>
            <p:sp>
              <p:nvSpPr>
                <p:cNvPr id="210" name="Google Shape;267;p3">
                  <a:extLst>
                    <a:ext uri="{FF2B5EF4-FFF2-40B4-BE49-F238E27FC236}">
                      <a16:creationId xmlns:a16="http://schemas.microsoft.com/office/drawing/2014/main" id="{B08EF70D-F554-F7F4-BE83-848593E696FF}"/>
                    </a:ext>
                  </a:extLst>
                </p:cNvPr>
                <p:cNvSpPr/>
                <p:nvPr/>
              </p:nvSpPr>
              <p:spPr>
                <a:xfrm>
                  <a:off x="5862897" y="5034038"/>
                  <a:ext cx="1879157" cy="337975"/>
                </a:xfrm>
                <a:prstGeom prst="rect">
                  <a:avLst/>
                </a:prstGeom>
                <a:solidFill>
                  <a:srgbClr val="FFFFFF"/>
                </a:solidFill>
                <a:ln>
                  <a:noFill/>
                </a:ln>
              </p:spPr>
              <p:txBody>
                <a:bodyPr spcFirstLastPara="1" wrap="square" lIns="91425" tIns="0" rIns="91425" bIns="0" anchor="ctr" anchorCtr="0">
                  <a:noAutofit/>
                </a:bodyPr>
                <a:lstStyle/>
                <a:p>
                  <a:pPr algn="ctr">
                    <a:lnSpc>
                      <a:spcPct val="90000"/>
                    </a:lnSpc>
                  </a:pPr>
                  <a:r>
                    <a:rPr lang="en-US" sz="900">
                      <a:solidFill>
                        <a:srgbClr val="000000"/>
                      </a:solidFill>
                      <a:ea typeface="Arial"/>
                      <a:cs typeface="Arial"/>
                      <a:sym typeface="Arial"/>
                    </a:rPr>
                    <a:t>Configure AI with extensibility and platform controls</a:t>
                  </a:r>
                </a:p>
              </p:txBody>
            </p:sp>
            <p:sp>
              <p:nvSpPr>
                <p:cNvPr id="211" name="Google Shape;268;p3">
                  <a:extLst>
                    <a:ext uri="{FF2B5EF4-FFF2-40B4-BE49-F238E27FC236}">
                      <a16:creationId xmlns:a16="http://schemas.microsoft.com/office/drawing/2014/main" id="{7120E5AC-9759-2E9C-8DA0-49A3693E354E}"/>
                    </a:ext>
                  </a:extLst>
                </p:cNvPr>
                <p:cNvSpPr/>
                <p:nvPr/>
              </p:nvSpPr>
              <p:spPr>
                <a:xfrm>
                  <a:off x="3917894" y="5034038"/>
                  <a:ext cx="1879157" cy="337975"/>
                </a:xfrm>
                <a:prstGeom prst="rect">
                  <a:avLst/>
                </a:prstGeom>
                <a:solidFill>
                  <a:srgbClr val="FFFFFF"/>
                </a:solidFill>
                <a:ln>
                  <a:noFill/>
                </a:ln>
              </p:spPr>
              <p:txBody>
                <a:bodyPr spcFirstLastPara="1" wrap="square" lIns="91425" tIns="0" rIns="91425" bIns="0" anchor="ctr" anchorCtr="0">
                  <a:noAutofit/>
                </a:bodyPr>
                <a:lstStyle/>
                <a:p>
                  <a:pPr algn="ctr">
                    <a:lnSpc>
                      <a:spcPct val="90000"/>
                    </a:lnSpc>
                  </a:pPr>
                  <a:r>
                    <a:rPr lang="en-US" sz="900">
                      <a:solidFill>
                        <a:srgbClr val="000000"/>
                      </a:solidFill>
                      <a:ea typeface="Arial"/>
                      <a:cs typeface="Arial"/>
                      <a:sym typeface="Arial"/>
                    </a:rPr>
                    <a:t>Manage AI features in the HR technology portfolio</a:t>
                  </a:r>
                </a:p>
              </p:txBody>
            </p:sp>
            <p:sp>
              <p:nvSpPr>
                <p:cNvPr id="212" name="Google Shape;269;p3">
                  <a:extLst>
                    <a:ext uri="{FF2B5EF4-FFF2-40B4-BE49-F238E27FC236}">
                      <a16:creationId xmlns:a16="http://schemas.microsoft.com/office/drawing/2014/main" id="{9F2C1E62-E476-DAA9-2E8F-C3BE3F696B24}"/>
                    </a:ext>
                  </a:extLst>
                </p:cNvPr>
                <p:cNvSpPr/>
                <p:nvPr/>
              </p:nvSpPr>
              <p:spPr>
                <a:xfrm>
                  <a:off x="9735110" y="5034038"/>
                  <a:ext cx="1879157" cy="337975"/>
                </a:xfrm>
                <a:prstGeom prst="rect">
                  <a:avLst/>
                </a:prstGeom>
                <a:solidFill>
                  <a:srgbClr val="FFFFFF"/>
                </a:solidFill>
                <a:ln>
                  <a:noFill/>
                </a:ln>
              </p:spPr>
              <p:txBody>
                <a:bodyPr spcFirstLastPara="1" wrap="square" lIns="91425" tIns="0" rIns="91425" bIns="0" anchor="ctr" anchorCtr="0">
                  <a:noAutofit/>
                </a:bodyPr>
                <a:lstStyle/>
                <a:p>
                  <a:pPr algn="ctr">
                    <a:lnSpc>
                      <a:spcPct val="90000"/>
                    </a:lnSpc>
                  </a:pPr>
                  <a:r>
                    <a:rPr lang="en-IN" sz="900"/>
                    <a:t>Maintain HR AI data quality, integrity and behavior</a:t>
                  </a:r>
                  <a:endParaRPr lang="en-US" sz="900">
                    <a:solidFill>
                      <a:srgbClr val="000000"/>
                    </a:solidFill>
                    <a:ea typeface="Arial"/>
                    <a:cs typeface="Arial"/>
                    <a:sym typeface="Arial"/>
                  </a:endParaRPr>
                </a:p>
              </p:txBody>
            </p:sp>
            <p:sp>
              <p:nvSpPr>
                <p:cNvPr id="213" name="Google Shape;270;p3">
                  <a:extLst>
                    <a:ext uri="{FF2B5EF4-FFF2-40B4-BE49-F238E27FC236}">
                      <a16:creationId xmlns:a16="http://schemas.microsoft.com/office/drawing/2014/main" id="{5BB99E0E-2EFD-3426-D2A4-0922067778CD}"/>
                    </a:ext>
                  </a:extLst>
                </p:cNvPr>
                <p:cNvSpPr/>
                <p:nvPr/>
              </p:nvSpPr>
              <p:spPr>
                <a:xfrm>
                  <a:off x="7801550" y="5034038"/>
                  <a:ext cx="1879157" cy="337975"/>
                </a:xfrm>
                <a:prstGeom prst="rect">
                  <a:avLst/>
                </a:prstGeom>
                <a:solidFill>
                  <a:srgbClr val="FFFFFF"/>
                </a:solidFill>
                <a:ln>
                  <a:noFill/>
                </a:ln>
              </p:spPr>
              <p:txBody>
                <a:bodyPr spcFirstLastPara="1" wrap="square" lIns="91425" tIns="0" rIns="91425" bIns="0" anchor="ctr" anchorCtr="0">
                  <a:noAutofit/>
                </a:bodyPr>
                <a:lstStyle/>
                <a:p>
                  <a:pPr algn="ctr">
                    <a:lnSpc>
                      <a:spcPct val="90000"/>
                    </a:lnSpc>
                  </a:pPr>
                  <a:r>
                    <a:rPr lang="en-US" sz="900">
                      <a:solidFill>
                        <a:srgbClr val="000000"/>
                      </a:solidFill>
                      <a:ea typeface="Arial"/>
                      <a:cs typeface="Arial"/>
                      <a:sym typeface="Arial"/>
                    </a:rPr>
                    <a:t>Develop and provide metadata</a:t>
                  </a:r>
                </a:p>
              </p:txBody>
            </p:sp>
          </p:grpSp>
          <p:grpSp>
            <p:nvGrpSpPr>
              <p:cNvPr id="215" name="Group 214">
                <a:extLst>
                  <a:ext uri="{FF2B5EF4-FFF2-40B4-BE49-F238E27FC236}">
                    <a16:creationId xmlns:a16="http://schemas.microsoft.com/office/drawing/2014/main" id="{D56EA9D6-FBA7-64CA-89AC-92F6D32240EF}"/>
                  </a:ext>
                </a:extLst>
              </p:cNvPr>
              <p:cNvGrpSpPr/>
              <p:nvPr/>
            </p:nvGrpSpPr>
            <p:grpSpPr>
              <a:xfrm>
                <a:off x="1928365" y="5539770"/>
                <a:ext cx="9685902" cy="337975"/>
                <a:chOff x="1928365" y="5034038"/>
                <a:chExt cx="9685902" cy="337975"/>
              </a:xfrm>
            </p:grpSpPr>
            <p:sp>
              <p:nvSpPr>
                <p:cNvPr id="216" name="Google Shape;266;p3">
                  <a:extLst>
                    <a:ext uri="{FF2B5EF4-FFF2-40B4-BE49-F238E27FC236}">
                      <a16:creationId xmlns:a16="http://schemas.microsoft.com/office/drawing/2014/main" id="{59244C90-2CF2-79DD-05C3-1A8DF688AB92}"/>
                    </a:ext>
                  </a:extLst>
                </p:cNvPr>
                <p:cNvSpPr/>
                <p:nvPr/>
              </p:nvSpPr>
              <p:spPr>
                <a:xfrm>
                  <a:off x="1928365" y="5034038"/>
                  <a:ext cx="1928107" cy="337975"/>
                </a:xfrm>
                <a:prstGeom prst="rect">
                  <a:avLst/>
                </a:prstGeom>
                <a:solidFill>
                  <a:srgbClr val="FFFFFF"/>
                </a:solidFill>
                <a:ln>
                  <a:noFill/>
                </a:ln>
              </p:spPr>
              <p:txBody>
                <a:bodyPr spcFirstLastPara="1" wrap="square" lIns="91425" tIns="0" rIns="91425" bIns="0" anchor="ctr" anchorCtr="0">
                  <a:noAutofit/>
                </a:bodyPr>
                <a:lstStyle/>
                <a:p>
                  <a:pPr algn="ctr">
                    <a:lnSpc>
                      <a:spcPct val="90000"/>
                    </a:lnSpc>
                  </a:pPr>
                  <a:r>
                    <a:rPr lang="en-US" sz="900">
                      <a:solidFill>
                        <a:srgbClr val="000000"/>
                      </a:solidFill>
                      <a:ea typeface="Arial"/>
                      <a:cs typeface="Arial"/>
                      <a:sym typeface="Arial"/>
                    </a:rPr>
                    <a:t>Define AI's role at the system level</a:t>
                  </a:r>
                </a:p>
              </p:txBody>
            </p:sp>
            <p:sp>
              <p:nvSpPr>
                <p:cNvPr id="217" name="Google Shape;267;p3">
                  <a:extLst>
                    <a:ext uri="{FF2B5EF4-FFF2-40B4-BE49-F238E27FC236}">
                      <a16:creationId xmlns:a16="http://schemas.microsoft.com/office/drawing/2014/main" id="{181E440A-A384-C600-3540-C808760A153B}"/>
                    </a:ext>
                  </a:extLst>
                </p:cNvPr>
                <p:cNvSpPr/>
                <p:nvPr/>
              </p:nvSpPr>
              <p:spPr>
                <a:xfrm>
                  <a:off x="5862897" y="5034038"/>
                  <a:ext cx="1879157" cy="337975"/>
                </a:xfrm>
                <a:prstGeom prst="rect">
                  <a:avLst/>
                </a:prstGeom>
                <a:solidFill>
                  <a:srgbClr val="FFFFFF"/>
                </a:solidFill>
                <a:ln>
                  <a:noFill/>
                </a:ln>
              </p:spPr>
              <p:txBody>
                <a:bodyPr spcFirstLastPara="1" wrap="square" lIns="91425" tIns="0" rIns="91425" bIns="0" anchor="ctr" anchorCtr="0">
                  <a:noAutofit/>
                </a:bodyPr>
                <a:lstStyle/>
                <a:p>
                  <a:pPr algn="ctr">
                    <a:lnSpc>
                      <a:spcPct val="90000"/>
                    </a:lnSpc>
                  </a:pPr>
                  <a:r>
                    <a:rPr lang="en-US" sz="900">
                      <a:solidFill>
                        <a:srgbClr val="000000"/>
                      </a:solidFill>
                      <a:ea typeface="Arial"/>
                      <a:cs typeface="Arial"/>
                      <a:sym typeface="Arial"/>
                    </a:rPr>
                    <a:t>Acquire, prepare, standardize</a:t>
                  </a:r>
                  <a:br>
                    <a:rPr lang="en-US" sz="900">
                      <a:solidFill>
                        <a:srgbClr val="000000"/>
                      </a:solidFill>
                      <a:ea typeface="Arial"/>
                      <a:cs typeface="Arial"/>
                      <a:sym typeface="Arial"/>
                    </a:rPr>
                  </a:br>
                  <a:r>
                    <a:rPr lang="en-US" sz="900">
                      <a:solidFill>
                        <a:srgbClr val="000000"/>
                      </a:solidFill>
                      <a:ea typeface="Arial"/>
                      <a:cs typeface="Arial"/>
                      <a:sym typeface="Arial"/>
                    </a:rPr>
                    <a:t>and integrate HR data for AI</a:t>
                  </a:r>
                </a:p>
              </p:txBody>
            </p:sp>
            <p:sp>
              <p:nvSpPr>
                <p:cNvPr id="218" name="Google Shape;268;p3">
                  <a:extLst>
                    <a:ext uri="{FF2B5EF4-FFF2-40B4-BE49-F238E27FC236}">
                      <a16:creationId xmlns:a16="http://schemas.microsoft.com/office/drawing/2014/main" id="{B51869F6-8709-CD49-6A28-759DAF0431E0}"/>
                    </a:ext>
                  </a:extLst>
                </p:cNvPr>
                <p:cNvSpPr/>
                <p:nvPr/>
              </p:nvSpPr>
              <p:spPr>
                <a:xfrm>
                  <a:off x="3917894" y="5034038"/>
                  <a:ext cx="1879157" cy="337975"/>
                </a:xfrm>
                <a:prstGeom prst="rect">
                  <a:avLst/>
                </a:prstGeom>
                <a:solidFill>
                  <a:srgbClr val="FFFFFF"/>
                </a:solidFill>
                <a:ln>
                  <a:noFill/>
                </a:ln>
              </p:spPr>
              <p:txBody>
                <a:bodyPr spcFirstLastPara="1" wrap="square" lIns="91425" tIns="0" rIns="91425" bIns="0" anchor="ctr" anchorCtr="0">
                  <a:noAutofit/>
                </a:bodyPr>
                <a:lstStyle/>
                <a:p>
                  <a:pPr algn="ctr">
                    <a:lnSpc>
                      <a:spcPct val="90000"/>
                    </a:lnSpc>
                  </a:pPr>
                  <a:r>
                    <a:rPr lang="en-US" sz="900">
                      <a:solidFill>
                        <a:srgbClr val="000000"/>
                      </a:solidFill>
                      <a:ea typeface="Arial"/>
                      <a:cs typeface="Arial"/>
                      <a:sym typeface="Arial"/>
                    </a:rPr>
                    <a:t>Define AI architecture,</a:t>
                  </a:r>
                  <a:br>
                    <a:rPr lang="en-US" sz="900">
                      <a:solidFill>
                        <a:srgbClr val="000000"/>
                      </a:solidFill>
                      <a:ea typeface="Arial"/>
                      <a:cs typeface="Arial"/>
                      <a:sym typeface="Arial"/>
                    </a:rPr>
                  </a:br>
                  <a:r>
                    <a:rPr lang="en-US" sz="900">
                      <a:solidFill>
                        <a:srgbClr val="000000"/>
                      </a:solidFill>
                      <a:ea typeface="Arial"/>
                      <a:cs typeface="Arial"/>
                      <a:sym typeface="Arial"/>
                    </a:rPr>
                    <a:t>integration and controls</a:t>
                  </a:r>
                </a:p>
              </p:txBody>
            </p:sp>
            <p:sp>
              <p:nvSpPr>
                <p:cNvPr id="219" name="Google Shape;269;p3">
                  <a:extLst>
                    <a:ext uri="{FF2B5EF4-FFF2-40B4-BE49-F238E27FC236}">
                      <a16:creationId xmlns:a16="http://schemas.microsoft.com/office/drawing/2014/main" id="{8E2A4261-795B-C38D-69D3-F5D4C5AC0A78}"/>
                    </a:ext>
                  </a:extLst>
                </p:cNvPr>
                <p:cNvSpPr/>
                <p:nvPr/>
              </p:nvSpPr>
              <p:spPr>
                <a:xfrm>
                  <a:off x="9735110" y="5034038"/>
                  <a:ext cx="1879157" cy="337975"/>
                </a:xfrm>
                <a:prstGeom prst="rect">
                  <a:avLst/>
                </a:prstGeom>
                <a:solidFill>
                  <a:srgbClr val="FFFFFF"/>
                </a:solidFill>
                <a:ln>
                  <a:noFill/>
                </a:ln>
              </p:spPr>
              <p:txBody>
                <a:bodyPr spcFirstLastPara="1" wrap="square" lIns="91425" tIns="0" rIns="91425" bIns="0" anchor="ctr" anchorCtr="0">
                  <a:noAutofit/>
                </a:bodyPr>
                <a:lstStyle/>
                <a:p>
                  <a:pPr algn="ctr">
                    <a:lnSpc>
                      <a:spcPct val="90000"/>
                    </a:lnSpc>
                  </a:pPr>
                  <a:r>
                    <a:rPr lang="en-US" sz="900">
                      <a:solidFill>
                        <a:srgbClr val="000000"/>
                      </a:solidFill>
                      <a:ea typeface="Arial"/>
                      <a:cs typeface="Arial"/>
                      <a:sym typeface="Arial"/>
                    </a:rPr>
                    <a:t>Measure effectiveness of data</a:t>
                  </a:r>
                  <a:br>
                    <a:rPr lang="en-US" sz="900">
                      <a:solidFill>
                        <a:srgbClr val="000000"/>
                      </a:solidFill>
                      <a:ea typeface="Arial"/>
                      <a:cs typeface="Arial"/>
                      <a:sym typeface="Arial"/>
                    </a:rPr>
                  </a:br>
                  <a:r>
                    <a:rPr lang="en-US" sz="900">
                      <a:solidFill>
                        <a:srgbClr val="000000"/>
                      </a:solidFill>
                      <a:ea typeface="Arial"/>
                      <a:cs typeface="Arial"/>
                      <a:sym typeface="Arial"/>
                    </a:rPr>
                    <a:t>in HR AI use cases</a:t>
                  </a:r>
                </a:p>
              </p:txBody>
            </p:sp>
            <p:sp>
              <p:nvSpPr>
                <p:cNvPr id="220" name="Google Shape;270;p3">
                  <a:extLst>
                    <a:ext uri="{FF2B5EF4-FFF2-40B4-BE49-F238E27FC236}">
                      <a16:creationId xmlns:a16="http://schemas.microsoft.com/office/drawing/2014/main" id="{29D65D23-F7B2-EEF0-8B8C-F851DC55C714}"/>
                    </a:ext>
                  </a:extLst>
                </p:cNvPr>
                <p:cNvSpPr/>
                <p:nvPr/>
              </p:nvSpPr>
              <p:spPr>
                <a:xfrm>
                  <a:off x="7801550" y="5034038"/>
                  <a:ext cx="1879157" cy="337975"/>
                </a:xfrm>
                <a:prstGeom prst="rect">
                  <a:avLst/>
                </a:prstGeom>
                <a:solidFill>
                  <a:srgbClr val="FFFFFF"/>
                </a:solidFill>
                <a:ln>
                  <a:noFill/>
                </a:ln>
              </p:spPr>
              <p:txBody>
                <a:bodyPr spcFirstLastPara="1" wrap="square" lIns="91425" tIns="0" rIns="91425" bIns="0" anchor="ctr" anchorCtr="0">
                  <a:noAutofit/>
                </a:bodyPr>
                <a:lstStyle/>
                <a:p>
                  <a:pPr algn="ctr">
                    <a:lnSpc>
                      <a:spcPct val="90000"/>
                    </a:lnSpc>
                  </a:pPr>
                  <a:r>
                    <a:rPr lang="en-US" sz="900">
                      <a:solidFill>
                        <a:srgbClr val="000000"/>
                      </a:solidFill>
                      <a:ea typeface="Arial"/>
                      <a:cs typeface="Arial"/>
                      <a:sym typeface="Arial"/>
                    </a:rPr>
                    <a:t>Assure security and privacy</a:t>
                  </a:r>
                  <a:br>
                    <a:rPr lang="en-US" sz="900">
                      <a:solidFill>
                        <a:srgbClr val="000000"/>
                      </a:solidFill>
                      <a:ea typeface="Arial"/>
                      <a:cs typeface="Arial"/>
                      <a:sym typeface="Arial"/>
                    </a:rPr>
                  </a:br>
                  <a:r>
                    <a:rPr lang="en-US" sz="900">
                      <a:solidFill>
                        <a:srgbClr val="000000"/>
                      </a:solidFill>
                      <a:ea typeface="Arial"/>
                      <a:cs typeface="Arial"/>
                      <a:sym typeface="Arial"/>
                    </a:rPr>
                    <a:t>for HR data</a:t>
                  </a:r>
                </a:p>
              </p:txBody>
            </p:sp>
          </p:grpSp>
          <p:grpSp>
            <p:nvGrpSpPr>
              <p:cNvPr id="221" name="Group 220">
                <a:extLst>
                  <a:ext uri="{FF2B5EF4-FFF2-40B4-BE49-F238E27FC236}">
                    <a16:creationId xmlns:a16="http://schemas.microsoft.com/office/drawing/2014/main" id="{C46FA8C8-0FAB-93B5-3D0B-55F1A05934E2}"/>
                  </a:ext>
                </a:extLst>
              </p:cNvPr>
              <p:cNvGrpSpPr/>
              <p:nvPr/>
            </p:nvGrpSpPr>
            <p:grpSpPr>
              <a:xfrm>
                <a:off x="1928365" y="5934218"/>
                <a:ext cx="9702454" cy="337975"/>
                <a:chOff x="1928365" y="5034038"/>
                <a:chExt cx="9702454" cy="337975"/>
              </a:xfrm>
            </p:grpSpPr>
            <p:sp>
              <p:nvSpPr>
                <p:cNvPr id="222" name="Google Shape;266;p3">
                  <a:extLst>
                    <a:ext uri="{FF2B5EF4-FFF2-40B4-BE49-F238E27FC236}">
                      <a16:creationId xmlns:a16="http://schemas.microsoft.com/office/drawing/2014/main" id="{DEC7AD2F-42E4-E34F-1D54-5B5C6DCE9D6D}"/>
                    </a:ext>
                  </a:extLst>
                </p:cNvPr>
                <p:cNvSpPr/>
                <p:nvPr/>
              </p:nvSpPr>
              <p:spPr>
                <a:xfrm>
                  <a:off x="1928365" y="5034038"/>
                  <a:ext cx="1928107" cy="337975"/>
                </a:xfrm>
                <a:prstGeom prst="rect">
                  <a:avLst/>
                </a:prstGeom>
                <a:solidFill>
                  <a:srgbClr val="FFFFFF"/>
                </a:solidFill>
                <a:ln>
                  <a:noFill/>
                </a:ln>
              </p:spPr>
              <p:txBody>
                <a:bodyPr spcFirstLastPara="1" wrap="square" lIns="91425" tIns="0" rIns="91425" bIns="0" anchor="ctr" anchorCtr="0">
                  <a:noAutofit/>
                </a:bodyPr>
                <a:lstStyle/>
                <a:p>
                  <a:pPr algn="ctr">
                    <a:lnSpc>
                      <a:spcPct val="90000"/>
                    </a:lnSpc>
                  </a:pPr>
                  <a:r>
                    <a:rPr lang="en-US" sz="900">
                      <a:solidFill>
                        <a:srgbClr val="000000"/>
                      </a:solidFill>
                      <a:ea typeface="Arial"/>
                      <a:cs typeface="Arial"/>
                      <a:sym typeface="Arial"/>
                    </a:rPr>
                    <a:t>Separate workflows from tools</a:t>
                  </a:r>
                </a:p>
              </p:txBody>
            </p:sp>
            <p:sp>
              <p:nvSpPr>
                <p:cNvPr id="223" name="Google Shape;267;p3">
                  <a:extLst>
                    <a:ext uri="{FF2B5EF4-FFF2-40B4-BE49-F238E27FC236}">
                      <a16:creationId xmlns:a16="http://schemas.microsoft.com/office/drawing/2014/main" id="{00F495A8-52C6-014B-0D02-0DD3CF1AB182}"/>
                    </a:ext>
                  </a:extLst>
                </p:cNvPr>
                <p:cNvSpPr/>
                <p:nvPr/>
              </p:nvSpPr>
              <p:spPr>
                <a:xfrm>
                  <a:off x="5862897" y="5034038"/>
                  <a:ext cx="1879157" cy="337975"/>
                </a:xfrm>
                <a:prstGeom prst="rect">
                  <a:avLst/>
                </a:prstGeom>
                <a:solidFill>
                  <a:srgbClr val="FFFFFF"/>
                </a:solidFill>
                <a:ln>
                  <a:noFill/>
                </a:ln>
              </p:spPr>
              <p:txBody>
                <a:bodyPr spcFirstLastPara="1" wrap="square" lIns="91425" tIns="0" rIns="91425" bIns="0" anchor="ctr" anchorCtr="0">
                  <a:noAutofit/>
                </a:bodyPr>
                <a:lstStyle/>
                <a:p>
                  <a:pPr algn="ctr">
                    <a:lnSpc>
                      <a:spcPct val="90000"/>
                    </a:lnSpc>
                  </a:pPr>
                  <a:r>
                    <a:rPr lang="en-US" sz="900">
                      <a:solidFill>
                        <a:srgbClr val="000000"/>
                      </a:solidFill>
                      <a:ea typeface="Arial"/>
                      <a:cs typeface="Arial"/>
                      <a:sym typeface="Arial"/>
                    </a:rPr>
                    <a:t>Provide AI data provenance</a:t>
                  </a:r>
                  <a:br>
                    <a:rPr lang="en-US" sz="900">
                      <a:solidFill>
                        <a:srgbClr val="000000"/>
                      </a:solidFill>
                      <a:ea typeface="Arial"/>
                      <a:cs typeface="Arial"/>
                      <a:sym typeface="Arial"/>
                    </a:rPr>
                  </a:br>
                  <a:r>
                    <a:rPr lang="en-US" sz="900">
                      <a:solidFill>
                        <a:srgbClr val="000000"/>
                      </a:solidFill>
                      <a:ea typeface="Arial"/>
                      <a:cs typeface="Arial"/>
                      <a:sym typeface="Arial"/>
                    </a:rPr>
                    <a:t>and traceability</a:t>
                  </a:r>
                </a:p>
              </p:txBody>
            </p:sp>
            <p:sp>
              <p:nvSpPr>
                <p:cNvPr id="224" name="Google Shape;268;p3">
                  <a:extLst>
                    <a:ext uri="{FF2B5EF4-FFF2-40B4-BE49-F238E27FC236}">
                      <a16:creationId xmlns:a16="http://schemas.microsoft.com/office/drawing/2014/main" id="{3BA42397-8701-5DF5-D495-02D2361590F0}"/>
                    </a:ext>
                  </a:extLst>
                </p:cNvPr>
                <p:cNvSpPr/>
                <p:nvPr/>
              </p:nvSpPr>
              <p:spPr>
                <a:xfrm>
                  <a:off x="3917894" y="5034038"/>
                  <a:ext cx="1879157" cy="337975"/>
                </a:xfrm>
                <a:prstGeom prst="rect">
                  <a:avLst/>
                </a:prstGeom>
                <a:solidFill>
                  <a:srgbClr val="FFFFFF"/>
                </a:solidFill>
                <a:ln>
                  <a:noFill/>
                </a:ln>
              </p:spPr>
              <p:txBody>
                <a:bodyPr spcFirstLastPara="1" wrap="square" lIns="91425" tIns="0" rIns="91425" bIns="0" anchor="ctr" anchorCtr="0">
                  <a:noAutofit/>
                </a:bodyPr>
                <a:lstStyle/>
                <a:p>
                  <a:pPr algn="ctr">
                    <a:lnSpc>
                      <a:spcPct val="90000"/>
                    </a:lnSpc>
                  </a:pPr>
                  <a:r>
                    <a:rPr lang="en-US" sz="900">
                      <a:solidFill>
                        <a:srgbClr val="000000"/>
                      </a:solidFill>
                      <a:ea typeface="Arial"/>
                      <a:cs typeface="Arial"/>
                      <a:sym typeface="Arial"/>
                    </a:rPr>
                    <a:t>Create an AI runtime and execution environment</a:t>
                  </a:r>
                </a:p>
              </p:txBody>
            </p:sp>
            <p:sp>
              <p:nvSpPr>
                <p:cNvPr id="226" name="Google Shape;270;p3">
                  <a:extLst>
                    <a:ext uri="{FF2B5EF4-FFF2-40B4-BE49-F238E27FC236}">
                      <a16:creationId xmlns:a16="http://schemas.microsoft.com/office/drawing/2014/main" id="{0876875D-50F4-1589-F3FC-710B7EC8DEEE}"/>
                    </a:ext>
                  </a:extLst>
                </p:cNvPr>
                <p:cNvSpPr/>
                <p:nvPr/>
              </p:nvSpPr>
              <p:spPr>
                <a:xfrm>
                  <a:off x="7801550" y="5034038"/>
                  <a:ext cx="3829269" cy="337975"/>
                </a:xfrm>
                <a:prstGeom prst="rect">
                  <a:avLst/>
                </a:prstGeom>
                <a:solidFill>
                  <a:srgbClr val="FFFFFF"/>
                </a:solidFill>
                <a:ln>
                  <a:noFill/>
                </a:ln>
              </p:spPr>
              <p:txBody>
                <a:bodyPr spcFirstLastPara="1" wrap="square" lIns="91425" tIns="0" rIns="91425" bIns="0" anchor="ctr" anchorCtr="0">
                  <a:noAutofit/>
                </a:bodyPr>
                <a:lstStyle/>
                <a:p>
                  <a:pPr algn="ctr">
                    <a:lnSpc>
                      <a:spcPct val="90000"/>
                    </a:lnSpc>
                  </a:pPr>
                  <a:r>
                    <a:rPr lang="en-US" sz="900">
                      <a:solidFill>
                        <a:srgbClr val="000000"/>
                      </a:solidFill>
                      <a:ea typeface="Arial"/>
                      <a:cs typeface="Arial"/>
                      <a:sym typeface="Arial"/>
                    </a:rPr>
                    <a:t>Develop and enforce HR data governance controls,</a:t>
                  </a:r>
                  <a:br>
                    <a:rPr lang="en-US" sz="900">
                      <a:solidFill>
                        <a:srgbClr val="000000"/>
                      </a:solidFill>
                      <a:ea typeface="Arial"/>
                      <a:cs typeface="Arial"/>
                      <a:sym typeface="Arial"/>
                    </a:rPr>
                  </a:br>
                  <a:r>
                    <a:rPr lang="en-US" sz="900">
                      <a:solidFill>
                        <a:srgbClr val="000000"/>
                      </a:solidFill>
                      <a:ea typeface="Arial"/>
                      <a:cs typeface="Arial"/>
                      <a:sym typeface="Arial"/>
                    </a:rPr>
                    <a:t>policies and processes</a:t>
                  </a:r>
                </a:p>
              </p:txBody>
            </p:sp>
          </p:grpSp>
        </p:grpSp>
      </p:grpSp>
    </p:spTree>
    <p:extLst>
      <p:ext uri="{BB962C8B-B14F-4D97-AF65-F5344CB8AC3E}">
        <p14:creationId xmlns:p14="http://schemas.microsoft.com/office/powerpoint/2010/main" val="26868068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25ACE-CB73-531A-0365-3D5FF88E93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28A640-77B7-F8C4-917E-BB50CA953327}"/>
              </a:ext>
            </a:extLst>
          </p:cNvPr>
          <p:cNvSpPr>
            <a:spLocks noGrp="1"/>
          </p:cNvSpPr>
          <p:nvPr>
            <p:ph type="title"/>
          </p:nvPr>
        </p:nvSpPr>
        <p:spPr>
          <a:xfrm>
            <a:off x="457200" y="361950"/>
            <a:ext cx="11274552" cy="451231"/>
          </a:xfrm>
        </p:spPr>
        <p:txBody>
          <a:bodyPr/>
          <a:lstStyle/>
          <a:p>
            <a:r>
              <a:rPr lang="en-US"/>
              <a:t>AI Strategy for the HR Function Illustrative Roadmap</a:t>
            </a:r>
          </a:p>
        </p:txBody>
      </p:sp>
      <p:sp>
        <p:nvSpPr>
          <p:cNvPr id="61" name="Rectangle 60">
            <a:extLst>
              <a:ext uri="{FF2B5EF4-FFF2-40B4-BE49-F238E27FC236}">
                <a16:creationId xmlns:a16="http://schemas.microsoft.com/office/drawing/2014/main" id="{536F428A-9FE9-5EDD-543C-86FD04980DE6}"/>
              </a:ext>
            </a:extLst>
          </p:cNvPr>
          <p:cNvSpPr/>
          <p:nvPr/>
        </p:nvSpPr>
        <p:spPr>
          <a:xfrm>
            <a:off x="1924593" y="1293975"/>
            <a:ext cx="9819732" cy="4695663"/>
          </a:xfrm>
          <a:prstGeom prst="rect">
            <a:avLst/>
          </a:prstGeom>
          <a:solidFill>
            <a:srgbClr val="E0F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900" err="1">
              <a:solidFill>
                <a:schemeClr val="bg1"/>
              </a:solidFill>
            </a:endParaRPr>
          </a:p>
        </p:txBody>
      </p:sp>
      <p:grpSp>
        <p:nvGrpSpPr>
          <p:cNvPr id="14" name="Group 13">
            <a:extLst>
              <a:ext uri="{FF2B5EF4-FFF2-40B4-BE49-F238E27FC236}">
                <a16:creationId xmlns:a16="http://schemas.microsoft.com/office/drawing/2014/main" id="{0B709EFC-C7FD-25D8-5FBE-54D35C991D4B}"/>
              </a:ext>
            </a:extLst>
          </p:cNvPr>
          <p:cNvGrpSpPr/>
          <p:nvPr/>
        </p:nvGrpSpPr>
        <p:grpSpPr>
          <a:xfrm>
            <a:off x="458801" y="1293974"/>
            <a:ext cx="1379008" cy="4695664"/>
            <a:chOff x="458801" y="1293974"/>
            <a:chExt cx="1379008" cy="4695664"/>
          </a:xfrm>
        </p:grpSpPr>
        <p:sp>
          <p:nvSpPr>
            <p:cNvPr id="3" name="Google Shape;265;p3">
              <a:extLst>
                <a:ext uri="{FF2B5EF4-FFF2-40B4-BE49-F238E27FC236}">
                  <a16:creationId xmlns:a16="http://schemas.microsoft.com/office/drawing/2014/main" id="{6664E067-373E-EE62-9EA2-D24D6F9C13AE}"/>
                </a:ext>
              </a:extLst>
            </p:cNvPr>
            <p:cNvSpPr/>
            <p:nvPr/>
          </p:nvSpPr>
          <p:spPr>
            <a:xfrm>
              <a:off x="458801" y="1293974"/>
              <a:ext cx="1379008" cy="4695664"/>
            </a:xfrm>
            <a:prstGeom prst="rect">
              <a:avLst/>
            </a:prstGeom>
            <a:solidFill>
              <a:srgbClr val="002869"/>
            </a:solidFill>
            <a:ln>
              <a:noFill/>
            </a:ln>
          </p:spPr>
          <p:txBody>
            <a:bodyPr spcFirstLastPara="1" wrap="square" lIns="91440" tIns="91440" rIns="91440" bIns="91440" anchor="ctr" anchorCtr="0">
              <a:noAutofit/>
            </a:bodyPr>
            <a:lstStyle/>
            <a:p>
              <a:pPr lvl="0" algn="ctr">
                <a:lnSpc>
                  <a:spcPct val="90000"/>
                </a:lnSpc>
                <a:buClr>
                  <a:srgbClr val="000000"/>
                </a:buClr>
                <a:buSzPts val="1000"/>
              </a:pPr>
              <a:endParaRPr lang="en-US" sz="1400">
                <a:solidFill>
                  <a:srgbClr val="FFFFFF"/>
                </a:solidFill>
                <a:latin typeface="+mj-lt"/>
              </a:endParaRPr>
            </a:p>
          </p:txBody>
        </p:sp>
        <p:grpSp>
          <p:nvGrpSpPr>
            <p:cNvPr id="7" name="Group 6">
              <a:extLst>
                <a:ext uri="{FF2B5EF4-FFF2-40B4-BE49-F238E27FC236}">
                  <a16:creationId xmlns:a16="http://schemas.microsoft.com/office/drawing/2014/main" id="{34929D89-2323-0FD5-A1EC-9ACDD6203405}"/>
                </a:ext>
              </a:extLst>
            </p:cNvPr>
            <p:cNvGrpSpPr/>
            <p:nvPr/>
          </p:nvGrpSpPr>
          <p:grpSpPr>
            <a:xfrm>
              <a:off x="458801" y="3076356"/>
              <a:ext cx="1379008" cy="1130899"/>
              <a:chOff x="330575" y="2544158"/>
              <a:chExt cx="1379008" cy="1130899"/>
            </a:xfrm>
          </p:grpSpPr>
          <p:pic>
            <p:nvPicPr>
              <p:cNvPr id="39" name="Graphic 38">
                <a:extLst>
                  <a:ext uri="{FF2B5EF4-FFF2-40B4-BE49-F238E27FC236}">
                    <a16:creationId xmlns:a16="http://schemas.microsoft.com/office/drawing/2014/main" id="{99FA436C-0651-3B37-4A9A-305C6C407A9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93751" y="2544158"/>
                <a:ext cx="455858" cy="354555"/>
              </a:xfrm>
              <a:prstGeom prst="rect">
                <a:avLst/>
              </a:prstGeom>
            </p:spPr>
          </p:pic>
          <p:sp>
            <p:nvSpPr>
              <p:cNvPr id="6" name="TextBox 5">
                <a:extLst>
                  <a:ext uri="{FF2B5EF4-FFF2-40B4-BE49-F238E27FC236}">
                    <a16:creationId xmlns:a16="http://schemas.microsoft.com/office/drawing/2014/main" id="{5AE5FA21-F41A-F72F-9569-EFB624D01159}"/>
                  </a:ext>
                </a:extLst>
              </p:cNvPr>
              <p:cNvSpPr txBox="1"/>
              <p:nvPr/>
            </p:nvSpPr>
            <p:spPr>
              <a:xfrm>
                <a:off x="330575" y="2890227"/>
                <a:ext cx="1379008" cy="784830"/>
              </a:xfrm>
              <a:prstGeom prst="rect">
                <a:avLst/>
              </a:prstGeom>
              <a:noFill/>
            </p:spPr>
            <p:txBody>
              <a:bodyPr wrap="square" lIns="91440" tIns="91440" rIns="91440" bIns="91440" rtlCol="0">
                <a:spAutoFit/>
              </a:bodyPr>
              <a:lstStyle/>
              <a:p>
                <a:pPr algn="ctr">
                  <a:spcBef>
                    <a:spcPts val="600"/>
                  </a:spcBef>
                </a:pPr>
                <a:r>
                  <a:rPr lang="en-US" sz="1300">
                    <a:solidFill>
                      <a:srgbClr val="FFFFFF"/>
                    </a:solidFill>
                    <a:latin typeface="+mj-lt"/>
                    <a:ea typeface="Arial"/>
                    <a:cs typeface="Arial"/>
                    <a:sym typeface="Arial"/>
                  </a:rPr>
                  <a:t>AI strategy</a:t>
                </a:r>
                <a:br>
                  <a:rPr lang="en-US" sz="1300">
                    <a:solidFill>
                      <a:srgbClr val="FFFFFF"/>
                    </a:solidFill>
                    <a:latin typeface="+mj-lt"/>
                    <a:ea typeface="Arial"/>
                    <a:cs typeface="Arial"/>
                    <a:sym typeface="Arial"/>
                  </a:rPr>
                </a:br>
                <a:r>
                  <a:rPr lang="en-US" sz="1300">
                    <a:solidFill>
                      <a:srgbClr val="FFFFFF"/>
                    </a:solidFill>
                    <a:latin typeface="+mj-lt"/>
                    <a:ea typeface="Arial"/>
                    <a:cs typeface="Arial"/>
                    <a:sym typeface="Arial"/>
                  </a:rPr>
                  <a:t>for the HR function</a:t>
                </a:r>
                <a:endParaRPr lang="en-US" sz="1300">
                  <a:solidFill>
                    <a:srgbClr val="FFFFFF"/>
                  </a:solidFill>
                  <a:latin typeface="+mj-lt"/>
                </a:endParaRPr>
              </a:p>
            </p:txBody>
          </p:sp>
        </p:grpSp>
      </p:grpSp>
      <p:grpSp>
        <p:nvGrpSpPr>
          <p:cNvPr id="46" name="Group 45">
            <a:extLst>
              <a:ext uri="{FF2B5EF4-FFF2-40B4-BE49-F238E27FC236}">
                <a16:creationId xmlns:a16="http://schemas.microsoft.com/office/drawing/2014/main" id="{256C4B04-FA42-9AE7-4CE0-8AF6C6D3A013}"/>
              </a:ext>
            </a:extLst>
          </p:cNvPr>
          <p:cNvGrpSpPr/>
          <p:nvPr/>
        </p:nvGrpSpPr>
        <p:grpSpPr>
          <a:xfrm>
            <a:off x="2100280" y="1518995"/>
            <a:ext cx="8167127" cy="4247726"/>
            <a:chOff x="2100280" y="1452145"/>
            <a:chExt cx="8167127" cy="4304911"/>
          </a:xfrm>
        </p:grpSpPr>
        <p:sp>
          <p:nvSpPr>
            <p:cNvPr id="58" name="Google Shape;269;p3">
              <a:extLst>
                <a:ext uri="{FF2B5EF4-FFF2-40B4-BE49-F238E27FC236}">
                  <a16:creationId xmlns:a16="http://schemas.microsoft.com/office/drawing/2014/main" id="{982B294E-B792-31DB-4F96-2448E1D348F5}"/>
                </a:ext>
              </a:extLst>
            </p:cNvPr>
            <p:cNvSpPr/>
            <p:nvPr/>
          </p:nvSpPr>
          <p:spPr>
            <a:xfrm>
              <a:off x="7334686" y="5204957"/>
              <a:ext cx="2932721" cy="552099"/>
            </a:xfrm>
            <a:prstGeom prst="rect">
              <a:avLst/>
            </a:prstGeom>
            <a:solidFill>
              <a:srgbClr val="FFFFFF"/>
            </a:solidFill>
            <a:ln w="19050">
              <a:solidFill>
                <a:schemeClr val="accent1"/>
              </a:solidFill>
            </a:ln>
          </p:spPr>
          <p:txBody>
            <a:bodyPr spcFirstLastPara="1" wrap="square" lIns="91425" tIns="91440" rIns="91425" bIns="91440" anchor="ctr" anchorCtr="0">
              <a:spAutoFit/>
            </a:bodyPr>
            <a:lstStyle/>
            <a:p>
              <a:pPr marL="0" marR="0" lvl="0" indent="0" algn="ctr" rtl="0">
                <a:lnSpc>
                  <a:spcPct val="90000"/>
                </a:lnSpc>
                <a:spcBef>
                  <a:spcPts val="0"/>
                </a:spcBef>
                <a:spcAft>
                  <a:spcPts val="0"/>
                </a:spcAft>
                <a:buNone/>
              </a:pPr>
              <a:r>
                <a:rPr lang="en-US" sz="1300">
                  <a:solidFill>
                    <a:srgbClr val="00002D"/>
                  </a:solidFill>
                  <a:ea typeface="Arial"/>
                  <a:cs typeface="Arial"/>
                  <a:sym typeface="Arial"/>
                </a:rPr>
                <a:t>Continually evolve the</a:t>
              </a:r>
              <a:br>
                <a:rPr lang="en-US" sz="1300">
                  <a:solidFill>
                    <a:srgbClr val="00002D"/>
                  </a:solidFill>
                  <a:ea typeface="Arial"/>
                  <a:cs typeface="Arial"/>
                  <a:sym typeface="Arial"/>
                </a:rPr>
              </a:br>
              <a:r>
                <a:rPr lang="en-US" sz="1300">
                  <a:solidFill>
                    <a:srgbClr val="00002D"/>
                  </a:solidFill>
                  <a:ea typeface="Arial"/>
                  <a:cs typeface="Arial"/>
                  <a:sym typeface="Arial"/>
                </a:rPr>
                <a:t>AI strategy</a:t>
              </a:r>
              <a:endParaRPr sz="1300">
                <a:solidFill>
                  <a:srgbClr val="00002D"/>
                </a:solidFill>
              </a:endParaRPr>
            </a:p>
          </p:txBody>
        </p:sp>
        <p:grpSp>
          <p:nvGrpSpPr>
            <p:cNvPr id="25" name="Group 24">
              <a:extLst>
                <a:ext uri="{FF2B5EF4-FFF2-40B4-BE49-F238E27FC236}">
                  <a16:creationId xmlns:a16="http://schemas.microsoft.com/office/drawing/2014/main" id="{9D093909-CC65-11C5-69EE-2F81C8884597}"/>
                </a:ext>
              </a:extLst>
            </p:cNvPr>
            <p:cNvGrpSpPr/>
            <p:nvPr/>
          </p:nvGrpSpPr>
          <p:grpSpPr>
            <a:xfrm>
              <a:off x="2595428" y="2000053"/>
              <a:ext cx="792408" cy="676232"/>
              <a:chOff x="2575198" y="1735503"/>
              <a:chExt cx="792408" cy="676232"/>
            </a:xfrm>
          </p:grpSpPr>
          <p:cxnSp>
            <p:nvCxnSpPr>
              <p:cNvPr id="18" name="Straight Connector 17">
                <a:extLst>
                  <a:ext uri="{FF2B5EF4-FFF2-40B4-BE49-F238E27FC236}">
                    <a16:creationId xmlns:a16="http://schemas.microsoft.com/office/drawing/2014/main" id="{704F192E-8053-7915-E74D-FD7B4BAC3040}"/>
                  </a:ext>
                </a:extLst>
              </p:cNvPr>
              <p:cNvCxnSpPr/>
              <p:nvPr/>
            </p:nvCxnSpPr>
            <p:spPr>
              <a:xfrm>
                <a:off x="2581343" y="1735503"/>
                <a:ext cx="0" cy="676232"/>
              </a:xfrm>
              <a:prstGeom prst="line">
                <a:avLst/>
              </a:prstGeom>
              <a:ln w="19050">
                <a:solidFill>
                  <a:srgbClr val="707996"/>
                </a:solidFill>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0C7CE14-2D18-8468-2701-E350D8292C40}"/>
                  </a:ext>
                </a:extLst>
              </p:cNvPr>
              <p:cNvCxnSpPr>
                <a:cxnSpLocks/>
              </p:cNvCxnSpPr>
              <p:nvPr/>
            </p:nvCxnSpPr>
            <p:spPr>
              <a:xfrm flipH="1">
                <a:off x="2575198" y="2403812"/>
                <a:ext cx="792408" cy="0"/>
              </a:xfrm>
              <a:prstGeom prst="line">
                <a:avLst/>
              </a:prstGeom>
              <a:ln w="19050">
                <a:solidFill>
                  <a:srgbClr val="707996"/>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55" name="Google Shape;266;p3">
              <a:extLst>
                <a:ext uri="{FF2B5EF4-FFF2-40B4-BE49-F238E27FC236}">
                  <a16:creationId xmlns:a16="http://schemas.microsoft.com/office/drawing/2014/main" id="{700DD20A-DE2A-9D18-AA3B-A7DCBAD1C0D8}"/>
                </a:ext>
              </a:extLst>
            </p:cNvPr>
            <p:cNvSpPr/>
            <p:nvPr/>
          </p:nvSpPr>
          <p:spPr>
            <a:xfrm>
              <a:off x="2100280" y="1452145"/>
              <a:ext cx="2932721" cy="556026"/>
            </a:xfrm>
            <a:prstGeom prst="rect">
              <a:avLst/>
            </a:prstGeom>
            <a:solidFill>
              <a:srgbClr val="FFFFFF"/>
            </a:solidFill>
            <a:ln w="19050">
              <a:solidFill>
                <a:schemeClr val="accent1"/>
              </a:solidFill>
            </a:ln>
          </p:spPr>
          <p:txBody>
            <a:bodyPr spcFirstLastPara="1" wrap="square" lIns="91425" tIns="91440" rIns="91425" bIns="91440" anchor="ctr" anchorCtr="0">
              <a:spAutoFit/>
            </a:bodyPr>
            <a:lstStyle/>
            <a:p>
              <a:pPr marL="0" marR="0" lvl="0" indent="0" algn="ctr" rtl="0">
                <a:lnSpc>
                  <a:spcPct val="90000"/>
                </a:lnSpc>
                <a:spcBef>
                  <a:spcPts val="0"/>
                </a:spcBef>
                <a:spcAft>
                  <a:spcPts val="0"/>
                </a:spcAft>
                <a:buNone/>
              </a:pPr>
              <a:r>
                <a:rPr lang="en-IN" sz="1300" i="0" u="none" strike="noStrike" cap="none">
                  <a:solidFill>
                    <a:srgbClr val="00002D"/>
                  </a:solidFill>
                  <a:ea typeface="Arial"/>
                  <a:cs typeface="Arial"/>
                  <a:sym typeface="Arial"/>
                </a:rPr>
                <a:t>Analyze current AI trends</a:t>
              </a:r>
              <a:br>
                <a:rPr lang="en-IN" sz="1300" i="0" u="none" strike="noStrike" cap="none">
                  <a:solidFill>
                    <a:srgbClr val="00002D"/>
                  </a:solidFill>
                  <a:ea typeface="Arial"/>
                  <a:cs typeface="Arial"/>
                  <a:sym typeface="Arial"/>
                </a:rPr>
              </a:br>
              <a:r>
                <a:rPr lang="en-IN" sz="1300" i="0" u="none" strike="noStrike" cap="none">
                  <a:solidFill>
                    <a:srgbClr val="00002D"/>
                  </a:solidFill>
                  <a:ea typeface="Arial"/>
                  <a:cs typeface="Arial"/>
                  <a:sym typeface="Arial"/>
                </a:rPr>
                <a:t>and</a:t>
              </a:r>
              <a:r>
                <a:rPr lang="en-IN" sz="1300">
                  <a:solidFill>
                    <a:srgbClr val="00002D"/>
                  </a:solidFill>
                  <a:ea typeface="Arial"/>
                  <a:cs typeface="Arial"/>
                  <a:sym typeface="Arial"/>
                </a:rPr>
                <a:t> </a:t>
              </a:r>
              <a:r>
                <a:rPr lang="en-IN" sz="1300" i="0" u="none" strike="noStrike" cap="none">
                  <a:solidFill>
                    <a:srgbClr val="00002D"/>
                  </a:solidFill>
                  <a:ea typeface="Arial"/>
                  <a:cs typeface="Arial"/>
                  <a:sym typeface="Arial"/>
                </a:rPr>
                <a:t>impact on HR</a:t>
              </a:r>
            </a:p>
          </p:txBody>
        </p:sp>
        <p:grpSp>
          <p:nvGrpSpPr>
            <p:cNvPr id="26" name="Group 25">
              <a:extLst>
                <a:ext uri="{FF2B5EF4-FFF2-40B4-BE49-F238E27FC236}">
                  <a16:creationId xmlns:a16="http://schemas.microsoft.com/office/drawing/2014/main" id="{C5E79CC3-6CB3-2871-DC49-D6B56D18000F}"/>
                </a:ext>
              </a:extLst>
            </p:cNvPr>
            <p:cNvGrpSpPr/>
            <p:nvPr/>
          </p:nvGrpSpPr>
          <p:grpSpPr>
            <a:xfrm>
              <a:off x="3900554" y="2936532"/>
              <a:ext cx="792408" cy="676232"/>
              <a:chOff x="3900554" y="2671982"/>
              <a:chExt cx="792408" cy="676232"/>
            </a:xfrm>
          </p:grpSpPr>
          <p:cxnSp>
            <p:nvCxnSpPr>
              <p:cNvPr id="23" name="Straight Connector 22">
                <a:extLst>
                  <a:ext uri="{FF2B5EF4-FFF2-40B4-BE49-F238E27FC236}">
                    <a16:creationId xmlns:a16="http://schemas.microsoft.com/office/drawing/2014/main" id="{03E41866-79FB-8ECB-D4B1-1C28B6D7D2DB}"/>
                  </a:ext>
                </a:extLst>
              </p:cNvPr>
              <p:cNvCxnSpPr/>
              <p:nvPr/>
            </p:nvCxnSpPr>
            <p:spPr>
              <a:xfrm>
                <a:off x="3904600" y="2671982"/>
                <a:ext cx="0" cy="676232"/>
              </a:xfrm>
              <a:prstGeom prst="line">
                <a:avLst/>
              </a:prstGeom>
              <a:ln w="19050">
                <a:solidFill>
                  <a:srgbClr val="707996"/>
                </a:solidFill>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14CA047-DAC1-7167-159D-77A8285803C9}"/>
                  </a:ext>
                </a:extLst>
              </p:cNvPr>
              <p:cNvCxnSpPr>
                <a:cxnSpLocks/>
              </p:cNvCxnSpPr>
              <p:nvPr/>
            </p:nvCxnSpPr>
            <p:spPr>
              <a:xfrm flipH="1">
                <a:off x="3900554" y="3342014"/>
                <a:ext cx="792408" cy="0"/>
              </a:xfrm>
              <a:prstGeom prst="line">
                <a:avLst/>
              </a:prstGeom>
              <a:ln w="19050">
                <a:solidFill>
                  <a:srgbClr val="707996"/>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57" name="Google Shape;268;p3">
              <a:extLst>
                <a:ext uri="{FF2B5EF4-FFF2-40B4-BE49-F238E27FC236}">
                  <a16:creationId xmlns:a16="http://schemas.microsoft.com/office/drawing/2014/main" id="{9A9FC911-3403-4265-27E2-A9A667EBFF9D}"/>
                </a:ext>
              </a:extLst>
            </p:cNvPr>
            <p:cNvSpPr/>
            <p:nvPr/>
          </p:nvSpPr>
          <p:spPr>
            <a:xfrm>
              <a:off x="3408881" y="2390348"/>
              <a:ext cx="2932721" cy="556026"/>
            </a:xfrm>
            <a:prstGeom prst="rect">
              <a:avLst/>
            </a:prstGeom>
            <a:solidFill>
              <a:srgbClr val="FFFFFF"/>
            </a:solidFill>
            <a:ln w="19050">
              <a:solidFill>
                <a:schemeClr val="accent1"/>
              </a:solidFill>
            </a:ln>
          </p:spPr>
          <p:txBody>
            <a:bodyPr spcFirstLastPara="1" wrap="square" lIns="91425" tIns="91440" rIns="91425" bIns="91440" anchor="ctr" anchorCtr="0">
              <a:noAutofit/>
            </a:bodyPr>
            <a:lstStyle/>
            <a:p>
              <a:pPr marL="0" marR="0" lvl="0" indent="0" algn="ctr" rtl="0">
                <a:lnSpc>
                  <a:spcPct val="90000"/>
                </a:lnSpc>
                <a:spcBef>
                  <a:spcPts val="0"/>
                </a:spcBef>
                <a:spcAft>
                  <a:spcPts val="0"/>
                </a:spcAft>
                <a:buNone/>
              </a:pPr>
              <a:r>
                <a:rPr lang="en-US" sz="1300">
                  <a:solidFill>
                    <a:srgbClr val="00002D"/>
                  </a:solidFill>
                  <a:ea typeface="Arial"/>
                  <a:cs typeface="Arial"/>
                  <a:sym typeface="Arial"/>
                </a:rPr>
                <a:t>Set AI vision and ambition</a:t>
              </a:r>
              <a:endParaRPr sz="1300">
                <a:solidFill>
                  <a:srgbClr val="00002D"/>
                </a:solidFill>
              </a:endParaRPr>
            </a:p>
          </p:txBody>
        </p:sp>
        <p:grpSp>
          <p:nvGrpSpPr>
            <p:cNvPr id="32" name="Group 31">
              <a:extLst>
                <a:ext uri="{FF2B5EF4-FFF2-40B4-BE49-F238E27FC236}">
                  <a16:creationId xmlns:a16="http://schemas.microsoft.com/office/drawing/2014/main" id="{CDC7D1A5-95D2-3F93-5A1F-54ED5398ECE3}"/>
                </a:ext>
              </a:extLst>
            </p:cNvPr>
            <p:cNvGrpSpPr/>
            <p:nvPr/>
          </p:nvGrpSpPr>
          <p:grpSpPr>
            <a:xfrm>
              <a:off x="5208654" y="3872879"/>
              <a:ext cx="792408" cy="676232"/>
              <a:chOff x="5208654" y="3608329"/>
              <a:chExt cx="792408" cy="676232"/>
            </a:xfrm>
          </p:grpSpPr>
          <p:cxnSp>
            <p:nvCxnSpPr>
              <p:cNvPr id="29" name="Straight Connector 28">
                <a:extLst>
                  <a:ext uri="{FF2B5EF4-FFF2-40B4-BE49-F238E27FC236}">
                    <a16:creationId xmlns:a16="http://schemas.microsoft.com/office/drawing/2014/main" id="{6D400DE0-D0B1-B3AA-67B3-3B85CC738D95}"/>
                  </a:ext>
                </a:extLst>
              </p:cNvPr>
              <p:cNvCxnSpPr/>
              <p:nvPr/>
            </p:nvCxnSpPr>
            <p:spPr>
              <a:xfrm>
                <a:off x="5212700" y="3608329"/>
                <a:ext cx="0" cy="676232"/>
              </a:xfrm>
              <a:prstGeom prst="line">
                <a:avLst/>
              </a:prstGeom>
              <a:ln w="19050">
                <a:solidFill>
                  <a:srgbClr val="707996"/>
                </a:solidFill>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D88081A-5958-12D9-79AD-CD83A5CB66F1}"/>
                  </a:ext>
                </a:extLst>
              </p:cNvPr>
              <p:cNvCxnSpPr>
                <a:cxnSpLocks/>
              </p:cNvCxnSpPr>
              <p:nvPr/>
            </p:nvCxnSpPr>
            <p:spPr>
              <a:xfrm flipH="1">
                <a:off x="5208654" y="4280217"/>
                <a:ext cx="792408" cy="0"/>
              </a:xfrm>
              <a:prstGeom prst="line">
                <a:avLst/>
              </a:prstGeom>
              <a:ln w="19050">
                <a:solidFill>
                  <a:srgbClr val="707996"/>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56" name="Google Shape;267;p3">
              <a:extLst>
                <a:ext uri="{FF2B5EF4-FFF2-40B4-BE49-F238E27FC236}">
                  <a16:creationId xmlns:a16="http://schemas.microsoft.com/office/drawing/2014/main" id="{1DB1BC05-0DB9-1C55-6F54-70A2AA83C650}"/>
                </a:ext>
              </a:extLst>
            </p:cNvPr>
            <p:cNvSpPr/>
            <p:nvPr/>
          </p:nvSpPr>
          <p:spPr>
            <a:xfrm>
              <a:off x="4717483" y="3328551"/>
              <a:ext cx="2932721" cy="556026"/>
            </a:xfrm>
            <a:prstGeom prst="rect">
              <a:avLst/>
            </a:prstGeom>
            <a:solidFill>
              <a:srgbClr val="FFFFFF"/>
            </a:solidFill>
            <a:ln w="19050">
              <a:solidFill>
                <a:schemeClr val="accent1"/>
              </a:solidFill>
            </a:ln>
          </p:spPr>
          <p:txBody>
            <a:bodyPr spcFirstLastPara="1" wrap="square" lIns="91425" tIns="91440" rIns="91425" bIns="91440" anchor="ctr" anchorCtr="0">
              <a:spAutoFit/>
            </a:bodyPr>
            <a:lstStyle/>
            <a:p>
              <a:pPr marL="0" marR="0" lvl="0" indent="0" algn="ctr" rtl="0">
                <a:lnSpc>
                  <a:spcPct val="90000"/>
                </a:lnSpc>
                <a:spcBef>
                  <a:spcPts val="0"/>
                </a:spcBef>
                <a:spcAft>
                  <a:spcPts val="0"/>
                </a:spcAft>
                <a:buNone/>
              </a:pPr>
              <a:r>
                <a:rPr lang="en-US" sz="1300">
                  <a:solidFill>
                    <a:srgbClr val="00002D"/>
                  </a:solidFill>
                  <a:ea typeface="Arial"/>
                  <a:cs typeface="Arial"/>
                  <a:sym typeface="Arial"/>
                </a:rPr>
                <a:t>Measure HR function</a:t>
              </a:r>
              <a:endParaRPr sz="1300">
                <a:solidFill>
                  <a:srgbClr val="00002D"/>
                </a:solidFill>
              </a:endParaRPr>
            </a:p>
            <a:p>
              <a:pPr marL="0" marR="0" lvl="0" indent="0" algn="ctr" rtl="0">
                <a:lnSpc>
                  <a:spcPct val="90000"/>
                </a:lnSpc>
                <a:spcBef>
                  <a:spcPts val="0"/>
                </a:spcBef>
                <a:spcAft>
                  <a:spcPts val="0"/>
                </a:spcAft>
                <a:buNone/>
              </a:pPr>
              <a:r>
                <a:rPr lang="en-US" sz="1300">
                  <a:solidFill>
                    <a:srgbClr val="00002D"/>
                  </a:solidFill>
                  <a:ea typeface="Arial"/>
                  <a:cs typeface="Arial"/>
                  <a:sym typeface="Arial"/>
                </a:rPr>
                <a:t>readiness for AI</a:t>
              </a:r>
              <a:endParaRPr sz="1300" i="0" u="none" strike="noStrike" cap="none">
                <a:solidFill>
                  <a:srgbClr val="00002D"/>
                </a:solidFill>
                <a:ea typeface="Arial"/>
                <a:cs typeface="Arial"/>
                <a:sym typeface="Arial"/>
              </a:endParaRPr>
            </a:p>
          </p:txBody>
        </p:sp>
        <p:grpSp>
          <p:nvGrpSpPr>
            <p:cNvPr id="38" name="Group 37">
              <a:extLst>
                <a:ext uri="{FF2B5EF4-FFF2-40B4-BE49-F238E27FC236}">
                  <a16:creationId xmlns:a16="http://schemas.microsoft.com/office/drawing/2014/main" id="{7E61E4FC-44EA-8AF9-655C-6C7671D97305}"/>
                </a:ext>
              </a:extLst>
            </p:cNvPr>
            <p:cNvGrpSpPr/>
            <p:nvPr/>
          </p:nvGrpSpPr>
          <p:grpSpPr>
            <a:xfrm>
              <a:off x="6521111" y="4812009"/>
              <a:ext cx="792408" cy="676232"/>
              <a:chOff x="6521111" y="4547459"/>
              <a:chExt cx="792408" cy="676232"/>
            </a:xfrm>
          </p:grpSpPr>
          <p:cxnSp>
            <p:nvCxnSpPr>
              <p:cNvPr id="36" name="Straight Connector 35">
                <a:extLst>
                  <a:ext uri="{FF2B5EF4-FFF2-40B4-BE49-F238E27FC236}">
                    <a16:creationId xmlns:a16="http://schemas.microsoft.com/office/drawing/2014/main" id="{948732AB-8086-7831-B62D-9094C7BC47D7}"/>
                  </a:ext>
                </a:extLst>
              </p:cNvPr>
              <p:cNvCxnSpPr/>
              <p:nvPr/>
            </p:nvCxnSpPr>
            <p:spPr>
              <a:xfrm>
                <a:off x="6525157" y="4547459"/>
                <a:ext cx="0" cy="676232"/>
              </a:xfrm>
              <a:prstGeom prst="line">
                <a:avLst/>
              </a:prstGeom>
              <a:ln w="19050">
                <a:solidFill>
                  <a:srgbClr val="707996"/>
                </a:solidFill>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66BCDA0-E8EE-33BD-9493-D28E122252C0}"/>
                  </a:ext>
                </a:extLst>
              </p:cNvPr>
              <p:cNvCxnSpPr>
                <a:cxnSpLocks/>
              </p:cNvCxnSpPr>
              <p:nvPr/>
            </p:nvCxnSpPr>
            <p:spPr>
              <a:xfrm flipH="1">
                <a:off x="6521111" y="5216457"/>
                <a:ext cx="792408" cy="0"/>
              </a:xfrm>
              <a:prstGeom prst="line">
                <a:avLst/>
              </a:prstGeom>
              <a:ln w="19050">
                <a:solidFill>
                  <a:srgbClr val="707996"/>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59" name="Google Shape;270;p3">
              <a:extLst>
                <a:ext uri="{FF2B5EF4-FFF2-40B4-BE49-F238E27FC236}">
                  <a16:creationId xmlns:a16="http://schemas.microsoft.com/office/drawing/2014/main" id="{F6C6DD4B-D9FC-CF9E-549D-EC43C7D1BA19}"/>
                </a:ext>
              </a:extLst>
            </p:cNvPr>
            <p:cNvSpPr/>
            <p:nvPr/>
          </p:nvSpPr>
          <p:spPr>
            <a:xfrm>
              <a:off x="6026084" y="4266754"/>
              <a:ext cx="2932721" cy="556026"/>
            </a:xfrm>
            <a:prstGeom prst="rect">
              <a:avLst/>
            </a:prstGeom>
            <a:solidFill>
              <a:srgbClr val="FFFFFF"/>
            </a:solidFill>
            <a:ln w="19050">
              <a:solidFill>
                <a:schemeClr val="accent1"/>
              </a:solidFill>
            </a:ln>
          </p:spPr>
          <p:txBody>
            <a:bodyPr spcFirstLastPara="1" wrap="square" lIns="91425" tIns="91440" rIns="91425" bIns="91440" anchor="ctr" anchorCtr="0">
              <a:spAutoFit/>
            </a:bodyPr>
            <a:lstStyle/>
            <a:p>
              <a:pPr marL="0" marR="0" lvl="0" indent="0" algn="ctr" rtl="0">
                <a:lnSpc>
                  <a:spcPct val="90000"/>
                </a:lnSpc>
                <a:spcBef>
                  <a:spcPts val="0"/>
                </a:spcBef>
                <a:spcAft>
                  <a:spcPts val="0"/>
                </a:spcAft>
                <a:buNone/>
              </a:pPr>
              <a:r>
                <a:rPr lang="en-US" sz="1300">
                  <a:solidFill>
                    <a:srgbClr val="00002D"/>
                  </a:solidFill>
                  <a:ea typeface="Arial"/>
                  <a:cs typeface="Arial"/>
                  <a:sym typeface="Arial"/>
                </a:rPr>
                <a:t>Develop and align</a:t>
              </a:r>
              <a:br>
                <a:rPr lang="en-US" sz="1300">
                  <a:solidFill>
                    <a:srgbClr val="00002D"/>
                  </a:solidFill>
                  <a:ea typeface="Arial"/>
                  <a:cs typeface="Arial"/>
                  <a:sym typeface="Arial"/>
                </a:rPr>
              </a:br>
              <a:r>
                <a:rPr lang="en-US" sz="1300">
                  <a:solidFill>
                    <a:srgbClr val="00002D"/>
                  </a:solidFill>
                  <a:ea typeface="Arial"/>
                  <a:cs typeface="Arial"/>
                  <a:sym typeface="Arial"/>
                </a:rPr>
                <a:t>AI strategy document</a:t>
              </a:r>
              <a:endParaRPr sz="1300" i="0" u="none" strike="noStrike" cap="none">
                <a:solidFill>
                  <a:srgbClr val="00002D"/>
                </a:solidFill>
                <a:ea typeface="Arial"/>
                <a:cs typeface="Arial"/>
                <a:sym typeface="Arial"/>
              </a:endParaRPr>
            </a:p>
          </p:txBody>
        </p:sp>
      </p:grpSp>
      <p:sp>
        <p:nvSpPr>
          <p:cNvPr id="5" name="Google Shape;352;p4">
            <a:extLst>
              <a:ext uri="{FF2B5EF4-FFF2-40B4-BE49-F238E27FC236}">
                <a16:creationId xmlns:a16="http://schemas.microsoft.com/office/drawing/2014/main" id="{7E01F234-6325-84AF-E900-7436AB7E8F24}"/>
              </a:ext>
            </a:extLst>
          </p:cNvPr>
          <p:cNvSpPr txBox="1"/>
          <p:nvPr/>
        </p:nvSpPr>
        <p:spPr>
          <a:xfrm>
            <a:off x="371475" y="5995191"/>
            <a:ext cx="6096000" cy="276979"/>
          </a:xfrm>
          <a:prstGeom prst="rect">
            <a:avLst/>
          </a:prstGeom>
          <a:noFill/>
          <a:ln>
            <a:noFill/>
          </a:ln>
        </p:spPr>
        <p:txBody>
          <a:bodyPr spcFirstLastPara="1" wrap="square" lIns="91440" tIns="91440" rIns="91440"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900" i="0" u="none" strike="noStrike" cap="none">
                <a:solidFill>
                  <a:srgbClr val="000000"/>
                </a:solidFill>
                <a:ea typeface="Arial"/>
                <a:cs typeface="Arial"/>
                <a:sym typeface="Arial"/>
              </a:rPr>
              <a:t>See Appendix for detailed descriptions </a:t>
            </a:r>
            <a:r>
              <a:rPr lang="en-US" sz="900" i="0" u="none" strike="noStrike" cap="none">
                <a:solidFill>
                  <a:srgbClr val="000000"/>
                </a:solidFill>
                <a:latin typeface="+mj-lt"/>
                <a:ea typeface="Arial"/>
                <a:cs typeface="Arial"/>
                <a:sym typeface="Arial"/>
                <a:hlinkClick r:id="rId3" action="ppaction://hlinksldjump"/>
              </a:rPr>
              <a:t>(click </a:t>
            </a:r>
            <a:r>
              <a:rPr lang="en-US" sz="900" i="0" u="sng" strike="noStrike" cap="none">
                <a:solidFill>
                  <a:srgbClr val="000000"/>
                </a:solidFill>
                <a:latin typeface="+mj-lt"/>
                <a:ea typeface="Arial"/>
                <a:cs typeface="Arial"/>
                <a:sym typeface="Arial"/>
                <a:hlinkClick r:id="rId3" action="ppaction://hlinksldjump"/>
              </a:rPr>
              <a:t>here</a:t>
            </a:r>
            <a:r>
              <a:rPr lang="en-US" sz="900" i="0" u="none" strike="noStrike" cap="none">
                <a:solidFill>
                  <a:srgbClr val="000000"/>
                </a:solidFill>
                <a:latin typeface="+mj-lt"/>
                <a:ea typeface="Arial"/>
                <a:cs typeface="Arial"/>
                <a:sym typeface="Arial"/>
                <a:hlinkClick r:id="rId3" action="ppaction://hlinksldjump"/>
              </a:rPr>
              <a:t>)</a:t>
            </a:r>
            <a:endParaRPr sz="900">
              <a:latin typeface="+mj-lt"/>
            </a:endParaRPr>
          </a:p>
        </p:txBody>
      </p:sp>
      <p:pic>
        <p:nvPicPr>
          <p:cNvPr id="8" name="Graphic 7">
            <a:hlinkClick r:id="rId4" action="ppaction://hlinksldjump"/>
            <a:extLst>
              <a:ext uri="{FF2B5EF4-FFF2-40B4-BE49-F238E27FC236}">
                <a16:creationId xmlns:a16="http://schemas.microsoft.com/office/drawing/2014/main" id="{80C8CD75-F5DA-31B0-4441-93EAFA5F19B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291401" y="391876"/>
            <a:ext cx="503201" cy="391379"/>
          </a:xfrm>
          <a:prstGeom prst="rect">
            <a:avLst/>
          </a:prstGeom>
        </p:spPr>
      </p:pic>
      <p:grpSp>
        <p:nvGrpSpPr>
          <p:cNvPr id="9" name="Group 8">
            <a:extLst>
              <a:ext uri="{FF2B5EF4-FFF2-40B4-BE49-F238E27FC236}">
                <a16:creationId xmlns:a16="http://schemas.microsoft.com/office/drawing/2014/main" id="{00FB9BE7-B303-82D2-DEE6-027707C6962D}"/>
              </a:ext>
            </a:extLst>
          </p:cNvPr>
          <p:cNvGrpSpPr/>
          <p:nvPr/>
        </p:nvGrpSpPr>
        <p:grpSpPr>
          <a:xfrm>
            <a:off x="1924593" y="973101"/>
            <a:ext cx="9819732" cy="292347"/>
            <a:chOff x="2024874" y="1175154"/>
            <a:chExt cx="9713101" cy="292347"/>
          </a:xfrm>
        </p:grpSpPr>
        <p:cxnSp>
          <p:nvCxnSpPr>
            <p:cNvPr id="10" name="Google Shape;320;p3">
              <a:extLst>
                <a:ext uri="{FF2B5EF4-FFF2-40B4-BE49-F238E27FC236}">
                  <a16:creationId xmlns:a16="http://schemas.microsoft.com/office/drawing/2014/main" id="{595D00E1-3FA5-4F5C-965E-16D9CAB31421}"/>
                </a:ext>
              </a:extLst>
            </p:cNvPr>
            <p:cNvCxnSpPr>
              <a:cxnSpLocks/>
            </p:cNvCxnSpPr>
            <p:nvPr/>
          </p:nvCxnSpPr>
          <p:spPr>
            <a:xfrm>
              <a:off x="2024874" y="1321328"/>
              <a:ext cx="9713101" cy="0"/>
            </a:xfrm>
            <a:prstGeom prst="straightConnector1">
              <a:avLst/>
            </a:prstGeom>
            <a:noFill/>
            <a:ln w="19050" cap="flat" cmpd="sng">
              <a:solidFill>
                <a:srgbClr val="707996"/>
              </a:solidFill>
              <a:prstDash val="solid"/>
              <a:round/>
              <a:headEnd type="none" w="sm" len="sm"/>
              <a:tailEnd type="none" w="sm" len="sm"/>
            </a:ln>
          </p:spPr>
        </p:cxnSp>
        <p:sp>
          <p:nvSpPr>
            <p:cNvPr id="11" name="Google Shape;321;p3">
              <a:extLst>
                <a:ext uri="{FF2B5EF4-FFF2-40B4-BE49-F238E27FC236}">
                  <a16:creationId xmlns:a16="http://schemas.microsoft.com/office/drawing/2014/main" id="{AD46A884-E54A-5F6E-EEFB-606971CABF57}"/>
                </a:ext>
              </a:extLst>
            </p:cNvPr>
            <p:cNvSpPr txBox="1"/>
            <p:nvPr/>
          </p:nvSpPr>
          <p:spPr>
            <a:xfrm>
              <a:off x="2152860" y="1175154"/>
              <a:ext cx="1399564" cy="292347"/>
            </a:xfrm>
            <a:prstGeom prst="rect">
              <a:avLst/>
            </a:prstGeom>
            <a:solidFill>
              <a:schemeClr val="lt1"/>
            </a:solidFill>
            <a:ln>
              <a:noFill/>
            </a:ln>
          </p:spPr>
          <p:txBody>
            <a:bodyPr spcFirstLastPara="1" wrap="square" lIns="0" tIns="45700" rIns="0"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300" b="1" i="0" u="none" strike="noStrike" cap="none">
                  <a:solidFill>
                    <a:srgbClr val="000000"/>
                  </a:solidFill>
                  <a:latin typeface="+mj-lt"/>
                  <a:ea typeface="Arial"/>
                  <a:cs typeface="Arial"/>
                  <a:sym typeface="Arial"/>
                </a:rPr>
                <a:t>Initial activities</a:t>
              </a:r>
              <a:endParaRPr lang="en-US" sz="1300">
                <a:latin typeface="+mj-lt"/>
              </a:endParaRPr>
            </a:p>
          </p:txBody>
        </p:sp>
        <p:sp>
          <p:nvSpPr>
            <p:cNvPr id="12" name="Google Shape;322;p3">
              <a:extLst>
                <a:ext uri="{FF2B5EF4-FFF2-40B4-BE49-F238E27FC236}">
                  <a16:creationId xmlns:a16="http://schemas.microsoft.com/office/drawing/2014/main" id="{1FD7AA11-23E2-7F40-3AD6-9438726568A7}"/>
                </a:ext>
              </a:extLst>
            </p:cNvPr>
            <p:cNvSpPr txBox="1"/>
            <p:nvPr/>
          </p:nvSpPr>
          <p:spPr>
            <a:xfrm>
              <a:off x="9804759" y="1175154"/>
              <a:ext cx="1796256" cy="292347"/>
            </a:xfrm>
            <a:prstGeom prst="rect">
              <a:avLst/>
            </a:prstGeom>
            <a:solidFill>
              <a:schemeClr val="lt1"/>
            </a:solid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i="0" u="none" strike="noStrike" cap="none">
                  <a:solidFill>
                    <a:srgbClr val="000000"/>
                  </a:solidFill>
                  <a:latin typeface="+mj-lt"/>
                  <a:ea typeface="Arial"/>
                  <a:cs typeface="Arial"/>
                  <a:sym typeface="Arial"/>
                </a:rPr>
                <a:t>Advanced </a:t>
              </a:r>
              <a:r>
                <a:rPr lang="en-US" sz="1300" b="1">
                  <a:solidFill>
                    <a:srgbClr val="000000"/>
                  </a:solidFill>
                  <a:latin typeface="+mj-lt"/>
                  <a:ea typeface="Arial"/>
                  <a:cs typeface="Arial"/>
                  <a:sym typeface="Arial"/>
                </a:rPr>
                <a:t>activities</a:t>
              </a:r>
              <a:endParaRPr lang="en-US" sz="1300" b="1" i="0" u="none" strike="noStrike" cap="none">
                <a:solidFill>
                  <a:srgbClr val="000000"/>
                </a:solidFill>
                <a:latin typeface="+mj-lt"/>
                <a:ea typeface="Arial"/>
                <a:cs typeface="Arial"/>
                <a:sym typeface="Arial"/>
              </a:endParaRPr>
            </a:p>
          </p:txBody>
        </p:sp>
      </p:grpSp>
    </p:spTree>
    <p:extLst>
      <p:ext uri="{BB962C8B-B14F-4D97-AF65-F5344CB8AC3E}">
        <p14:creationId xmlns:p14="http://schemas.microsoft.com/office/powerpoint/2010/main" val="27705447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1D92-B8DD-27C6-7A0A-97FFE2BE47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A61C98-6CA9-8D53-8A96-7FC0359A0DE3}"/>
              </a:ext>
            </a:extLst>
          </p:cNvPr>
          <p:cNvSpPr>
            <a:spLocks noGrp="1"/>
          </p:cNvSpPr>
          <p:nvPr>
            <p:ph type="title"/>
          </p:nvPr>
        </p:nvSpPr>
        <p:spPr/>
        <p:txBody>
          <a:bodyPr/>
          <a:lstStyle/>
          <a:p>
            <a:r>
              <a:rPr lang="en-US"/>
              <a:t>AI Value for the HR Function Roadmap Activities</a:t>
            </a:r>
          </a:p>
        </p:txBody>
      </p:sp>
      <p:sp>
        <p:nvSpPr>
          <p:cNvPr id="61" name="Rectangle 60">
            <a:extLst>
              <a:ext uri="{FF2B5EF4-FFF2-40B4-BE49-F238E27FC236}">
                <a16:creationId xmlns:a16="http://schemas.microsoft.com/office/drawing/2014/main" id="{72AE3E13-28E4-585C-3E4D-73490938C654}"/>
              </a:ext>
            </a:extLst>
          </p:cNvPr>
          <p:cNvSpPr/>
          <p:nvPr/>
        </p:nvSpPr>
        <p:spPr>
          <a:xfrm>
            <a:off x="1924593" y="1293975"/>
            <a:ext cx="9819732" cy="4695663"/>
          </a:xfrm>
          <a:prstGeom prst="rect">
            <a:avLst/>
          </a:prstGeom>
          <a:solidFill>
            <a:srgbClr val="E0F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900" err="1">
              <a:solidFill>
                <a:schemeClr val="bg1"/>
              </a:solidFill>
            </a:endParaRPr>
          </a:p>
        </p:txBody>
      </p:sp>
      <p:sp>
        <p:nvSpPr>
          <p:cNvPr id="5" name="Google Shape;352;p4">
            <a:extLst>
              <a:ext uri="{FF2B5EF4-FFF2-40B4-BE49-F238E27FC236}">
                <a16:creationId xmlns:a16="http://schemas.microsoft.com/office/drawing/2014/main" id="{E8C4D3D0-884B-BBB4-BF2D-A60DA91BD073}"/>
              </a:ext>
            </a:extLst>
          </p:cNvPr>
          <p:cNvSpPr txBox="1"/>
          <p:nvPr/>
        </p:nvSpPr>
        <p:spPr>
          <a:xfrm>
            <a:off x="371475" y="5995191"/>
            <a:ext cx="6096000" cy="276979"/>
          </a:xfrm>
          <a:prstGeom prst="rect">
            <a:avLst/>
          </a:prstGeom>
          <a:noFill/>
          <a:ln>
            <a:noFill/>
          </a:ln>
        </p:spPr>
        <p:txBody>
          <a:bodyPr spcFirstLastPara="1" wrap="square" lIns="91440" tIns="91440" rIns="91440"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IN" sz="900"/>
              <a:t>See Appendix for detailed descriptions </a:t>
            </a:r>
            <a:r>
              <a:rPr lang="en-IN" sz="900">
                <a:latin typeface="+mj-lt"/>
                <a:hlinkClick r:id="rId2" action="ppaction://hlinksldjump"/>
              </a:rPr>
              <a:t>(click here)</a:t>
            </a:r>
            <a:endParaRPr lang="en-IN" sz="900">
              <a:latin typeface="+mj-lt"/>
            </a:endParaRPr>
          </a:p>
        </p:txBody>
      </p:sp>
      <p:grpSp>
        <p:nvGrpSpPr>
          <p:cNvPr id="49" name="Group 48">
            <a:extLst>
              <a:ext uri="{FF2B5EF4-FFF2-40B4-BE49-F238E27FC236}">
                <a16:creationId xmlns:a16="http://schemas.microsoft.com/office/drawing/2014/main" id="{DB886F46-BFBB-4499-7A13-EA40AEB7FF7B}"/>
              </a:ext>
            </a:extLst>
          </p:cNvPr>
          <p:cNvGrpSpPr/>
          <p:nvPr/>
        </p:nvGrpSpPr>
        <p:grpSpPr>
          <a:xfrm>
            <a:off x="458001" y="1293974"/>
            <a:ext cx="1380609" cy="4695664"/>
            <a:chOff x="458001" y="1293974"/>
            <a:chExt cx="1380609" cy="4695664"/>
          </a:xfrm>
        </p:grpSpPr>
        <p:sp>
          <p:nvSpPr>
            <p:cNvPr id="3" name="Google Shape;265;p3">
              <a:extLst>
                <a:ext uri="{FF2B5EF4-FFF2-40B4-BE49-F238E27FC236}">
                  <a16:creationId xmlns:a16="http://schemas.microsoft.com/office/drawing/2014/main" id="{4ABCBFB6-9C3C-0556-BAFE-7187AD7FC49D}"/>
                </a:ext>
              </a:extLst>
            </p:cNvPr>
            <p:cNvSpPr/>
            <p:nvPr/>
          </p:nvSpPr>
          <p:spPr>
            <a:xfrm>
              <a:off x="458801" y="1293974"/>
              <a:ext cx="1379008" cy="4695664"/>
            </a:xfrm>
            <a:prstGeom prst="rect">
              <a:avLst/>
            </a:prstGeom>
            <a:solidFill>
              <a:srgbClr val="0057AF"/>
            </a:solidFill>
            <a:ln>
              <a:noFill/>
            </a:ln>
          </p:spPr>
          <p:txBody>
            <a:bodyPr spcFirstLastPara="1" wrap="square" lIns="91440" tIns="91440" rIns="91440" bIns="91440" anchor="ctr" anchorCtr="0">
              <a:noAutofit/>
            </a:bodyPr>
            <a:lstStyle/>
            <a:p>
              <a:pPr lvl="0" algn="ctr">
                <a:lnSpc>
                  <a:spcPct val="90000"/>
                </a:lnSpc>
                <a:buClr>
                  <a:srgbClr val="000000"/>
                </a:buClr>
                <a:buSzPts val="1000"/>
              </a:pPr>
              <a:endParaRPr lang="en-US" sz="1400">
                <a:solidFill>
                  <a:srgbClr val="FFFFFF"/>
                </a:solidFill>
                <a:latin typeface="+mj-lt"/>
              </a:endParaRPr>
            </a:p>
          </p:txBody>
        </p:sp>
        <p:grpSp>
          <p:nvGrpSpPr>
            <p:cNvPr id="8" name="Group 7">
              <a:extLst>
                <a:ext uri="{FF2B5EF4-FFF2-40B4-BE49-F238E27FC236}">
                  <a16:creationId xmlns:a16="http://schemas.microsoft.com/office/drawing/2014/main" id="{2D45882B-50E1-0808-8932-E53007CF2571}"/>
                </a:ext>
              </a:extLst>
            </p:cNvPr>
            <p:cNvGrpSpPr/>
            <p:nvPr/>
          </p:nvGrpSpPr>
          <p:grpSpPr>
            <a:xfrm>
              <a:off x="458001" y="3070725"/>
              <a:ext cx="1380609" cy="1142162"/>
              <a:chOff x="458001" y="3042010"/>
              <a:chExt cx="1380609" cy="1142162"/>
            </a:xfrm>
          </p:grpSpPr>
          <p:sp>
            <p:nvSpPr>
              <p:cNvPr id="6" name="TextBox 5">
                <a:extLst>
                  <a:ext uri="{FF2B5EF4-FFF2-40B4-BE49-F238E27FC236}">
                    <a16:creationId xmlns:a16="http://schemas.microsoft.com/office/drawing/2014/main" id="{BAD416FE-0A22-32B9-EEAC-4F80D75B2A95}"/>
                  </a:ext>
                </a:extLst>
              </p:cNvPr>
              <p:cNvSpPr txBox="1"/>
              <p:nvPr/>
            </p:nvSpPr>
            <p:spPr>
              <a:xfrm>
                <a:off x="458001" y="3399342"/>
                <a:ext cx="1380609" cy="784830"/>
              </a:xfrm>
              <a:prstGeom prst="rect">
                <a:avLst/>
              </a:prstGeom>
              <a:noFill/>
            </p:spPr>
            <p:txBody>
              <a:bodyPr wrap="square" lIns="91440" tIns="91440" rIns="91440" bIns="91440" rtlCol="0">
                <a:spAutoFit/>
              </a:bodyPr>
              <a:lstStyle/>
              <a:p>
                <a:pPr algn="ctr">
                  <a:spcBef>
                    <a:spcPts val="600"/>
                  </a:spcBef>
                </a:pPr>
                <a:r>
                  <a:rPr lang="en-US" sz="1300">
                    <a:solidFill>
                      <a:srgbClr val="FFFFFF"/>
                    </a:solidFill>
                    <a:latin typeface="+mj-lt"/>
                  </a:rPr>
                  <a:t>AI value</a:t>
                </a:r>
                <a:br>
                  <a:rPr lang="en-US" sz="1300">
                    <a:solidFill>
                      <a:srgbClr val="FFFFFF"/>
                    </a:solidFill>
                    <a:latin typeface="+mj-lt"/>
                  </a:rPr>
                </a:br>
                <a:r>
                  <a:rPr lang="en-US" sz="1300">
                    <a:solidFill>
                      <a:srgbClr val="FFFFFF"/>
                    </a:solidFill>
                    <a:latin typeface="+mj-lt"/>
                  </a:rPr>
                  <a:t>for the HR function</a:t>
                </a:r>
              </a:p>
            </p:txBody>
          </p:sp>
          <p:pic>
            <p:nvPicPr>
              <p:cNvPr id="4" name="Graphic 3">
                <a:extLst>
                  <a:ext uri="{FF2B5EF4-FFF2-40B4-BE49-F238E27FC236}">
                    <a16:creationId xmlns:a16="http://schemas.microsoft.com/office/drawing/2014/main" id="{AC350572-8EA7-5D76-80C3-498C3FDA9E4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0377" y="3042010"/>
                <a:ext cx="455858" cy="354555"/>
              </a:xfrm>
              <a:prstGeom prst="rect">
                <a:avLst/>
              </a:prstGeom>
            </p:spPr>
          </p:pic>
        </p:grpSp>
      </p:grpSp>
      <p:grpSp>
        <p:nvGrpSpPr>
          <p:cNvPr id="26" name="Group 25">
            <a:extLst>
              <a:ext uri="{FF2B5EF4-FFF2-40B4-BE49-F238E27FC236}">
                <a16:creationId xmlns:a16="http://schemas.microsoft.com/office/drawing/2014/main" id="{3968DA5B-509B-D525-622D-4236B7C5C77B}"/>
              </a:ext>
            </a:extLst>
          </p:cNvPr>
          <p:cNvGrpSpPr/>
          <p:nvPr/>
        </p:nvGrpSpPr>
        <p:grpSpPr>
          <a:xfrm>
            <a:off x="2610005" y="2010922"/>
            <a:ext cx="504864" cy="359162"/>
            <a:chOff x="2610005" y="2010922"/>
            <a:chExt cx="504864" cy="359162"/>
          </a:xfrm>
        </p:grpSpPr>
        <p:cxnSp>
          <p:nvCxnSpPr>
            <p:cNvPr id="18" name="Straight Connector 17">
              <a:extLst>
                <a:ext uri="{FF2B5EF4-FFF2-40B4-BE49-F238E27FC236}">
                  <a16:creationId xmlns:a16="http://schemas.microsoft.com/office/drawing/2014/main" id="{CCE102EC-FC07-3A17-F5C9-A4A2A10C5526}"/>
                </a:ext>
              </a:extLst>
            </p:cNvPr>
            <p:cNvCxnSpPr>
              <a:cxnSpLocks/>
            </p:cNvCxnSpPr>
            <p:nvPr/>
          </p:nvCxnSpPr>
          <p:spPr>
            <a:xfrm>
              <a:off x="2619530" y="2010922"/>
              <a:ext cx="0" cy="359162"/>
            </a:xfrm>
            <a:prstGeom prst="line">
              <a:avLst/>
            </a:prstGeom>
            <a:ln w="19050">
              <a:solidFill>
                <a:srgbClr val="707996"/>
              </a:solidFill>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5F884FC-DC1D-D1F5-056E-21D7B614A0F3}"/>
                </a:ext>
              </a:extLst>
            </p:cNvPr>
            <p:cNvCxnSpPr>
              <a:cxnSpLocks/>
            </p:cNvCxnSpPr>
            <p:nvPr/>
          </p:nvCxnSpPr>
          <p:spPr>
            <a:xfrm flipH="1">
              <a:off x="2610005" y="2370084"/>
              <a:ext cx="504864" cy="0"/>
            </a:xfrm>
            <a:prstGeom prst="line">
              <a:avLst/>
            </a:prstGeom>
            <a:ln w="19050">
              <a:solidFill>
                <a:srgbClr val="707996"/>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grpSp>
      <p:grpSp>
        <p:nvGrpSpPr>
          <p:cNvPr id="50" name="Group 49">
            <a:extLst>
              <a:ext uri="{FF2B5EF4-FFF2-40B4-BE49-F238E27FC236}">
                <a16:creationId xmlns:a16="http://schemas.microsoft.com/office/drawing/2014/main" id="{D785A518-C1D4-1DD2-8580-AC1F963A4BDA}"/>
              </a:ext>
            </a:extLst>
          </p:cNvPr>
          <p:cNvGrpSpPr/>
          <p:nvPr/>
        </p:nvGrpSpPr>
        <p:grpSpPr>
          <a:xfrm>
            <a:off x="1924593" y="973101"/>
            <a:ext cx="9819732" cy="292347"/>
            <a:chOff x="2024874" y="1175154"/>
            <a:chExt cx="9713101" cy="292347"/>
          </a:xfrm>
        </p:grpSpPr>
        <p:cxnSp>
          <p:nvCxnSpPr>
            <p:cNvPr id="51" name="Google Shape;320;p3">
              <a:extLst>
                <a:ext uri="{FF2B5EF4-FFF2-40B4-BE49-F238E27FC236}">
                  <a16:creationId xmlns:a16="http://schemas.microsoft.com/office/drawing/2014/main" id="{8B67ED08-E2E4-F8F0-BD74-0E3FD02E5D68}"/>
                </a:ext>
              </a:extLst>
            </p:cNvPr>
            <p:cNvCxnSpPr>
              <a:cxnSpLocks/>
            </p:cNvCxnSpPr>
            <p:nvPr/>
          </p:nvCxnSpPr>
          <p:spPr>
            <a:xfrm>
              <a:off x="2024874" y="1321328"/>
              <a:ext cx="9713101" cy="0"/>
            </a:xfrm>
            <a:prstGeom prst="straightConnector1">
              <a:avLst/>
            </a:prstGeom>
            <a:noFill/>
            <a:ln w="19050" cap="flat" cmpd="sng">
              <a:solidFill>
                <a:srgbClr val="707996"/>
              </a:solidFill>
              <a:prstDash val="solid"/>
              <a:round/>
              <a:headEnd type="none" w="sm" len="sm"/>
              <a:tailEnd type="none" w="sm" len="sm"/>
            </a:ln>
          </p:spPr>
        </p:cxnSp>
        <p:sp>
          <p:nvSpPr>
            <p:cNvPr id="52" name="Google Shape;321;p3">
              <a:extLst>
                <a:ext uri="{FF2B5EF4-FFF2-40B4-BE49-F238E27FC236}">
                  <a16:creationId xmlns:a16="http://schemas.microsoft.com/office/drawing/2014/main" id="{2D58B0CA-936D-E439-6BF5-C483C2A20CAF}"/>
                </a:ext>
              </a:extLst>
            </p:cNvPr>
            <p:cNvSpPr txBox="1"/>
            <p:nvPr/>
          </p:nvSpPr>
          <p:spPr>
            <a:xfrm>
              <a:off x="2152860" y="1175154"/>
              <a:ext cx="1399564" cy="292347"/>
            </a:xfrm>
            <a:prstGeom prst="rect">
              <a:avLst/>
            </a:prstGeom>
            <a:solidFill>
              <a:schemeClr val="lt1"/>
            </a:solidFill>
            <a:ln>
              <a:noFill/>
            </a:ln>
          </p:spPr>
          <p:txBody>
            <a:bodyPr spcFirstLastPara="1" wrap="square" lIns="0" tIns="45700" rIns="0"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300" b="1" i="0" u="none" strike="noStrike" cap="none">
                  <a:solidFill>
                    <a:srgbClr val="000000"/>
                  </a:solidFill>
                  <a:latin typeface="+mj-lt"/>
                  <a:ea typeface="Arial"/>
                  <a:cs typeface="Arial"/>
                  <a:sym typeface="Arial"/>
                </a:rPr>
                <a:t>Initial activities</a:t>
              </a:r>
              <a:endParaRPr lang="en-US" sz="1300">
                <a:latin typeface="+mj-lt"/>
              </a:endParaRPr>
            </a:p>
          </p:txBody>
        </p:sp>
        <p:sp>
          <p:nvSpPr>
            <p:cNvPr id="53" name="Google Shape;322;p3">
              <a:extLst>
                <a:ext uri="{FF2B5EF4-FFF2-40B4-BE49-F238E27FC236}">
                  <a16:creationId xmlns:a16="http://schemas.microsoft.com/office/drawing/2014/main" id="{FBD8AC2F-F91F-EC15-70E8-CEFED007281D}"/>
                </a:ext>
              </a:extLst>
            </p:cNvPr>
            <p:cNvSpPr txBox="1"/>
            <p:nvPr/>
          </p:nvSpPr>
          <p:spPr>
            <a:xfrm>
              <a:off x="9804759" y="1175154"/>
              <a:ext cx="1796256" cy="292347"/>
            </a:xfrm>
            <a:prstGeom prst="rect">
              <a:avLst/>
            </a:prstGeom>
            <a:solidFill>
              <a:schemeClr val="lt1"/>
            </a:solid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i="0" u="none" strike="noStrike" cap="none">
                  <a:solidFill>
                    <a:srgbClr val="000000"/>
                  </a:solidFill>
                  <a:latin typeface="+mj-lt"/>
                  <a:ea typeface="Arial"/>
                  <a:cs typeface="Arial"/>
                  <a:sym typeface="Arial"/>
                </a:rPr>
                <a:t>Advanced </a:t>
              </a:r>
              <a:r>
                <a:rPr lang="en-US" sz="1300" b="1">
                  <a:solidFill>
                    <a:srgbClr val="000000"/>
                  </a:solidFill>
                  <a:latin typeface="+mj-lt"/>
                  <a:ea typeface="Arial"/>
                  <a:cs typeface="Arial"/>
                  <a:sym typeface="Arial"/>
                </a:rPr>
                <a:t>activities</a:t>
              </a:r>
              <a:endParaRPr lang="en-US" sz="1300" b="1" i="0" u="none" strike="noStrike" cap="none">
                <a:solidFill>
                  <a:srgbClr val="000000"/>
                </a:solidFill>
                <a:latin typeface="+mj-lt"/>
                <a:ea typeface="Arial"/>
                <a:cs typeface="Arial"/>
                <a:sym typeface="Arial"/>
              </a:endParaRPr>
            </a:p>
          </p:txBody>
        </p:sp>
      </p:grpSp>
      <p:grpSp>
        <p:nvGrpSpPr>
          <p:cNvPr id="34" name="Group 33">
            <a:extLst>
              <a:ext uri="{FF2B5EF4-FFF2-40B4-BE49-F238E27FC236}">
                <a16:creationId xmlns:a16="http://schemas.microsoft.com/office/drawing/2014/main" id="{099EA43D-C466-27F6-029B-9EFD4215FD88}"/>
              </a:ext>
            </a:extLst>
          </p:cNvPr>
          <p:cNvGrpSpPr/>
          <p:nvPr/>
        </p:nvGrpSpPr>
        <p:grpSpPr>
          <a:xfrm>
            <a:off x="3666277" y="2639211"/>
            <a:ext cx="504864" cy="359162"/>
            <a:chOff x="3666277" y="2664611"/>
            <a:chExt cx="504864" cy="359162"/>
          </a:xfrm>
        </p:grpSpPr>
        <p:cxnSp>
          <p:nvCxnSpPr>
            <p:cNvPr id="30" name="Straight Connector 29">
              <a:extLst>
                <a:ext uri="{FF2B5EF4-FFF2-40B4-BE49-F238E27FC236}">
                  <a16:creationId xmlns:a16="http://schemas.microsoft.com/office/drawing/2014/main" id="{7C2FD677-5F92-C892-1E13-EEAD3572C586}"/>
                </a:ext>
              </a:extLst>
            </p:cNvPr>
            <p:cNvCxnSpPr>
              <a:cxnSpLocks/>
            </p:cNvCxnSpPr>
            <p:nvPr/>
          </p:nvCxnSpPr>
          <p:spPr>
            <a:xfrm>
              <a:off x="3675285" y="2664611"/>
              <a:ext cx="0" cy="359162"/>
            </a:xfrm>
            <a:prstGeom prst="line">
              <a:avLst/>
            </a:prstGeom>
            <a:ln w="19050">
              <a:solidFill>
                <a:srgbClr val="707996"/>
              </a:solidFill>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E57438AE-068D-DBB8-D1F0-CBCA43CF9525}"/>
                </a:ext>
              </a:extLst>
            </p:cNvPr>
            <p:cNvCxnSpPr>
              <a:cxnSpLocks/>
            </p:cNvCxnSpPr>
            <p:nvPr/>
          </p:nvCxnSpPr>
          <p:spPr>
            <a:xfrm flipH="1">
              <a:off x="3666277" y="3023773"/>
              <a:ext cx="504864" cy="0"/>
            </a:xfrm>
            <a:prstGeom prst="line">
              <a:avLst/>
            </a:prstGeom>
            <a:ln w="19050">
              <a:solidFill>
                <a:srgbClr val="707996"/>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730A6FCC-07B6-7D5E-0E32-31E7A70970EC}"/>
              </a:ext>
            </a:extLst>
          </p:cNvPr>
          <p:cNvGrpSpPr/>
          <p:nvPr/>
        </p:nvGrpSpPr>
        <p:grpSpPr>
          <a:xfrm>
            <a:off x="4726333" y="3293444"/>
            <a:ext cx="504864" cy="359162"/>
            <a:chOff x="4726333" y="3293444"/>
            <a:chExt cx="504864" cy="359162"/>
          </a:xfrm>
        </p:grpSpPr>
        <p:cxnSp>
          <p:nvCxnSpPr>
            <p:cNvPr id="37" name="Straight Connector 36">
              <a:extLst>
                <a:ext uri="{FF2B5EF4-FFF2-40B4-BE49-F238E27FC236}">
                  <a16:creationId xmlns:a16="http://schemas.microsoft.com/office/drawing/2014/main" id="{05D0A16C-60A3-47B4-89DD-F8CF6B6A546E}"/>
                </a:ext>
              </a:extLst>
            </p:cNvPr>
            <p:cNvCxnSpPr>
              <a:cxnSpLocks/>
            </p:cNvCxnSpPr>
            <p:nvPr/>
          </p:nvCxnSpPr>
          <p:spPr>
            <a:xfrm>
              <a:off x="4733162" y="3293444"/>
              <a:ext cx="0" cy="359162"/>
            </a:xfrm>
            <a:prstGeom prst="line">
              <a:avLst/>
            </a:prstGeom>
            <a:ln w="19050">
              <a:solidFill>
                <a:srgbClr val="707996"/>
              </a:solidFill>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EC84B312-B957-F163-FCBB-1E7DFFC8F279}"/>
                </a:ext>
              </a:extLst>
            </p:cNvPr>
            <p:cNvCxnSpPr>
              <a:cxnSpLocks/>
            </p:cNvCxnSpPr>
            <p:nvPr/>
          </p:nvCxnSpPr>
          <p:spPr>
            <a:xfrm flipH="1">
              <a:off x="4726333" y="3649235"/>
              <a:ext cx="504864" cy="0"/>
            </a:xfrm>
            <a:prstGeom prst="line">
              <a:avLst/>
            </a:prstGeom>
            <a:ln w="19050">
              <a:solidFill>
                <a:srgbClr val="707996"/>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grpSp>
      <p:grpSp>
        <p:nvGrpSpPr>
          <p:cNvPr id="47" name="Group 46">
            <a:extLst>
              <a:ext uri="{FF2B5EF4-FFF2-40B4-BE49-F238E27FC236}">
                <a16:creationId xmlns:a16="http://schemas.microsoft.com/office/drawing/2014/main" id="{4A71A5A0-767A-A5DE-BE79-1D8BEFD004BD}"/>
              </a:ext>
            </a:extLst>
          </p:cNvPr>
          <p:cNvGrpSpPr/>
          <p:nvPr/>
        </p:nvGrpSpPr>
        <p:grpSpPr>
          <a:xfrm>
            <a:off x="5785130" y="3940110"/>
            <a:ext cx="504864" cy="359162"/>
            <a:chOff x="5785130" y="3940110"/>
            <a:chExt cx="504864" cy="359162"/>
          </a:xfrm>
        </p:grpSpPr>
        <p:cxnSp>
          <p:nvCxnSpPr>
            <p:cNvPr id="45" name="Straight Connector 44">
              <a:extLst>
                <a:ext uri="{FF2B5EF4-FFF2-40B4-BE49-F238E27FC236}">
                  <a16:creationId xmlns:a16="http://schemas.microsoft.com/office/drawing/2014/main" id="{27EFF7D6-7EE4-CEF9-EB70-825B250BD2E1}"/>
                </a:ext>
              </a:extLst>
            </p:cNvPr>
            <p:cNvCxnSpPr>
              <a:cxnSpLocks/>
            </p:cNvCxnSpPr>
            <p:nvPr/>
          </p:nvCxnSpPr>
          <p:spPr>
            <a:xfrm>
              <a:off x="5792827" y="3940110"/>
              <a:ext cx="0" cy="359162"/>
            </a:xfrm>
            <a:prstGeom prst="line">
              <a:avLst/>
            </a:prstGeom>
            <a:ln w="19050">
              <a:solidFill>
                <a:srgbClr val="707996"/>
              </a:solidFill>
              <a:tailEnd type="none" w="lg"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D545F898-5B38-6870-3F98-302BCCE67D99}"/>
                </a:ext>
              </a:extLst>
            </p:cNvPr>
            <p:cNvCxnSpPr>
              <a:cxnSpLocks/>
            </p:cNvCxnSpPr>
            <p:nvPr/>
          </p:nvCxnSpPr>
          <p:spPr>
            <a:xfrm flipH="1">
              <a:off x="5785130" y="4292418"/>
              <a:ext cx="504864" cy="0"/>
            </a:xfrm>
            <a:prstGeom prst="line">
              <a:avLst/>
            </a:prstGeom>
            <a:ln w="19050">
              <a:solidFill>
                <a:srgbClr val="707996"/>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grpSp>
      <p:grpSp>
        <p:nvGrpSpPr>
          <p:cNvPr id="62" name="Group 61">
            <a:extLst>
              <a:ext uri="{FF2B5EF4-FFF2-40B4-BE49-F238E27FC236}">
                <a16:creationId xmlns:a16="http://schemas.microsoft.com/office/drawing/2014/main" id="{7C2E70A6-4CBA-04A1-95B5-CA23B176299F}"/>
              </a:ext>
            </a:extLst>
          </p:cNvPr>
          <p:cNvGrpSpPr/>
          <p:nvPr/>
        </p:nvGrpSpPr>
        <p:grpSpPr>
          <a:xfrm>
            <a:off x="6841149" y="4562302"/>
            <a:ext cx="504864" cy="361661"/>
            <a:chOff x="6841149" y="4562302"/>
            <a:chExt cx="504864" cy="361661"/>
          </a:xfrm>
        </p:grpSpPr>
        <p:cxnSp>
          <p:nvCxnSpPr>
            <p:cNvPr id="54" name="Straight Connector 53">
              <a:extLst>
                <a:ext uri="{FF2B5EF4-FFF2-40B4-BE49-F238E27FC236}">
                  <a16:creationId xmlns:a16="http://schemas.microsoft.com/office/drawing/2014/main" id="{E3F115EF-1A89-8847-64A1-766A283C207F}"/>
                </a:ext>
              </a:extLst>
            </p:cNvPr>
            <p:cNvCxnSpPr>
              <a:cxnSpLocks/>
            </p:cNvCxnSpPr>
            <p:nvPr/>
          </p:nvCxnSpPr>
          <p:spPr>
            <a:xfrm>
              <a:off x="6849790" y="4562302"/>
              <a:ext cx="0" cy="359162"/>
            </a:xfrm>
            <a:prstGeom prst="line">
              <a:avLst/>
            </a:prstGeom>
            <a:ln w="19050">
              <a:solidFill>
                <a:srgbClr val="707996"/>
              </a:solidFill>
              <a:tailEnd type="none" w="lg"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D10E166E-C83F-A39E-9C76-42E4BBA8D238}"/>
                </a:ext>
              </a:extLst>
            </p:cNvPr>
            <p:cNvCxnSpPr>
              <a:cxnSpLocks/>
            </p:cNvCxnSpPr>
            <p:nvPr/>
          </p:nvCxnSpPr>
          <p:spPr>
            <a:xfrm flipH="1">
              <a:off x="6841149" y="4923963"/>
              <a:ext cx="504864" cy="0"/>
            </a:xfrm>
            <a:prstGeom prst="line">
              <a:avLst/>
            </a:prstGeom>
            <a:ln w="19050">
              <a:solidFill>
                <a:srgbClr val="707996"/>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grpSp>
      <p:grpSp>
        <p:nvGrpSpPr>
          <p:cNvPr id="68" name="Group 67">
            <a:extLst>
              <a:ext uri="{FF2B5EF4-FFF2-40B4-BE49-F238E27FC236}">
                <a16:creationId xmlns:a16="http://schemas.microsoft.com/office/drawing/2014/main" id="{9F4BD7AD-D134-4EAC-0FDA-C61E9647DAE8}"/>
              </a:ext>
            </a:extLst>
          </p:cNvPr>
          <p:cNvGrpSpPr/>
          <p:nvPr/>
        </p:nvGrpSpPr>
        <p:grpSpPr>
          <a:xfrm>
            <a:off x="7898697" y="5175250"/>
            <a:ext cx="504864" cy="388668"/>
            <a:chOff x="7898697" y="5175250"/>
            <a:chExt cx="504864" cy="388668"/>
          </a:xfrm>
        </p:grpSpPr>
        <p:cxnSp>
          <p:nvCxnSpPr>
            <p:cNvPr id="65" name="Straight Connector 64">
              <a:extLst>
                <a:ext uri="{FF2B5EF4-FFF2-40B4-BE49-F238E27FC236}">
                  <a16:creationId xmlns:a16="http://schemas.microsoft.com/office/drawing/2014/main" id="{608D655C-3235-C3A1-1581-75E912A2148B}"/>
                </a:ext>
              </a:extLst>
            </p:cNvPr>
            <p:cNvCxnSpPr>
              <a:cxnSpLocks/>
            </p:cNvCxnSpPr>
            <p:nvPr/>
          </p:nvCxnSpPr>
          <p:spPr>
            <a:xfrm>
              <a:off x="7907338" y="5175250"/>
              <a:ext cx="0" cy="388668"/>
            </a:xfrm>
            <a:prstGeom prst="line">
              <a:avLst/>
            </a:prstGeom>
            <a:ln w="19050">
              <a:solidFill>
                <a:srgbClr val="707996"/>
              </a:solidFill>
              <a:tailEnd type="none" w="lg" len="me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3E173D3A-844F-98AE-6C75-F96FD5347A7B}"/>
                </a:ext>
              </a:extLst>
            </p:cNvPr>
            <p:cNvCxnSpPr>
              <a:cxnSpLocks/>
            </p:cNvCxnSpPr>
            <p:nvPr/>
          </p:nvCxnSpPr>
          <p:spPr>
            <a:xfrm flipH="1">
              <a:off x="7898697" y="5557721"/>
              <a:ext cx="504864" cy="0"/>
            </a:xfrm>
            <a:prstGeom prst="line">
              <a:avLst/>
            </a:prstGeom>
            <a:ln w="19050">
              <a:solidFill>
                <a:srgbClr val="707996"/>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55" name="Google Shape;266;p3">
            <a:extLst>
              <a:ext uri="{FF2B5EF4-FFF2-40B4-BE49-F238E27FC236}">
                <a16:creationId xmlns:a16="http://schemas.microsoft.com/office/drawing/2014/main" id="{63BEC8B7-D06E-87C6-3B2D-01FBCB1E0AC5}"/>
              </a:ext>
            </a:extLst>
          </p:cNvPr>
          <p:cNvSpPr/>
          <p:nvPr/>
        </p:nvSpPr>
        <p:spPr>
          <a:xfrm>
            <a:off x="2100281" y="1461735"/>
            <a:ext cx="2863959" cy="549187"/>
          </a:xfrm>
          <a:prstGeom prst="rect">
            <a:avLst/>
          </a:prstGeom>
          <a:solidFill>
            <a:srgbClr val="FFFFFF"/>
          </a:solidFill>
          <a:ln w="19050">
            <a:solidFill>
              <a:srgbClr val="0057AF"/>
            </a:solidFill>
          </a:ln>
        </p:spPr>
        <p:txBody>
          <a:bodyPr spcFirstLastPara="1" wrap="square" lIns="91425" tIns="91440" rIns="91425" bIns="91440" anchor="ctr" anchorCtr="0">
            <a:spAutoFit/>
          </a:bodyPr>
          <a:lstStyle/>
          <a:p>
            <a:pPr lvl="0" algn="ctr">
              <a:lnSpc>
                <a:spcPct val="90000"/>
              </a:lnSpc>
            </a:pPr>
            <a:r>
              <a:rPr lang="en-US" sz="1300" dirty="0">
                <a:solidFill>
                  <a:schemeClr val="dk1"/>
                </a:solidFill>
                <a:ea typeface="Arial"/>
                <a:cs typeface="Arial"/>
                <a:sym typeface="Arial"/>
              </a:rPr>
              <a:t>Source and prioritize </a:t>
            </a:r>
            <a:endParaRPr lang="en-US" sz="1300" dirty="0"/>
          </a:p>
          <a:p>
            <a:pPr lvl="0" algn="ctr">
              <a:lnSpc>
                <a:spcPct val="90000"/>
              </a:lnSpc>
            </a:pPr>
            <a:r>
              <a:rPr lang="en-US" sz="1300" dirty="0">
                <a:solidFill>
                  <a:schemeClr val="dk1"/>
                </a:solidFill>
                <a:ea typeface="Arial"/>
                <a:cs typeface="Arial"/>
                <a:sym typeface="Arial"/>
              </a:rPr>
              <a:t>AI use cases</a:t>
            </a:r>
            <a:endParaRPr lang="en-US" sz="1300" dirty="0"/>
          </a:p>
        </p:txBody>
      </p:sp>
      <p:sp>
        <p:nvSpPr>
          <p:cNvPr id="10" name="Google Shape;269;p3">
            <a:extLst>
              <a:ext uri="{FF2B5EF4-FFF2-40B4-BE49-F238E27FC236}">
                <a16:creationId xmlns:a16="http://schemas.microsoft.com/office/drawing/2014/main" id="{C17C1343-5940-8A8E-58B1-2EB927CC3F7C}"/>
              </a:ext>
            </a:extLst>
          </p:cNvPr>
          <p:cNvSpPr/>
          <p:nvPr/>
        </p:nvSpPr>
        <p:spPr>
          <a:xfrm>
            <a:off x="8445801" y="5283128"/>
            <a:ext cx="2863959" cy="549187"/>
          </a:xfrm>
          <a:prstGeom prst="rect">
            <a:avLst/>
          </a:prstGeom>
          <a:solidFill>
            <a:srgbClr val="FFFFFF"/>
          </a:solidFill>
          <a:ln w="19050">
            <a:solidFill>
              <a:srgbClr val="0057AF"/>
            </a:solidFill>
          </a:ln>
        </p:spPr>
        <p:txBody>
          <a:bodyPr spcFirstLastPara="1" wrap="square" lIns="91425" tIns="91440" rIns="91425" bIns="91440" anchor="ctr" anchorCtr="0">
            <a:spAutoFit/>
          </a:bodyPr>
          <a:lstStyle/>
          <a:p>
            <a:pPr marL="0" marR="0" lvl="0" indent="0" algn="ctr" rtl="0">
              <a:lnSpc>
                <a:spcPct val="90000"/>
              </a:lnSpc>
              <a:spcBef>
                <a:spcPts val="0"/>
              </a:spcBef>
              <a:spcAft>
                <a:spcPts val="0"/>
              </a:spcAft>
              <a:buNone/>
            </a:pPr>
            <a:r>
              <a:rPr lang="en-IN" sz="1300">
                <a:solidFill>
                  <a:srgbClr val="00002D"/>
                </a:solidFill>
              </a:rPr>
              <a:t>Continuously  identify and optimize the portfolio, and lead innovation</a:t>
            </a:r>
          </a:p>
        </p:txBody>
      </p:sp>
      <p:sp>
        <p:nvSpPr>
          <p:cNvPr id="56" name="Google Shape;267;p3">
            <a:extLst>
              <a:ext uri="{FF2B5EF4-FFF2-40B4-BE49-F238E27FC236}">
                <a16:creationId xmlns:a16="http://schemas.microsoft.com/office/drawing/2014/main" id="{DA07E421-A319-CD2F-5350-86A0B15B865C}"/>
              </a:ext>
            </a:extLst>
          </p:cNvPr>
          <p:cNvSpPr/>
          <p:nvPr/>
        </p:nvSpPr>
        <p:spPr>
          <a:xfrm>
            <a:off x="4213475" y="2738481"/>
            <a:ext cx="2863959" cy="549187"/>
          </a:xfrm>
          <a:prstGeom prst="rect">
            <a:avLst/>
          </a:prstGeom>
          <a:solidFill>
            <a:srgbClr val="FFFFFF"/>
          </a:solidFill>
          <a:ln w="19050">
            <a:solidFill>
              <a:srgbClr val="0057AF"/>
            </a:solidFill>
          </a:ln>
        </p:spPr>
        <p:txBody>
          <a:bodyPr spcFirstLastPara="1" wrap="square" lIns="91425" tIns="91440" rIns="91425" bIns="91440" anchor="ctr" anchorCtr="0">
            <a:spAutoFit/>
          </a:bodyPr>
          <a:lstStyle/>
          <a:p>
            <a:pPr marL="0" marR="0" lvl="0" indent="0" algn="ctr" rtl="0">
              <a:lnSpc>
                <a:spcPct val="90000"/>
              </a:lnSpc>
              <a:spcBef>
                <a:spcPts val="0"/>
              </a:spcBef>
              <a:spcAft>
                <a:spcPts val="0"/>
              </a:spcAft>
              <a:buNone/>
            </a:pPr>
            <a:r>
              <a:rPr lang="en-IN" sz="1300" i="0" u="none" strike="noStrike" cap="none">
                <a:solidFill>
                  <a:srgbClr val="00002D"/>
                </a:solidFill>
                <a:ea typeface="Arial"/>
                <a:cs typeface="Arial"/>
                <a:sym typeface="Arial"/>
              </a:rPr>
              <a:t>Develop the AI business case </a:t>
            </a:r>
          </a:p>
          <a:p>
            <a:pPr marL="0" marR="0" lvl="0" indent="0" algn="ctr" rtl="0">
              <a:lnSpc>
                <a:spcPct val="90000"/>
              </a:lnSpc>
              <a:spcBef>
                <a:spcPts val="0"/>
              </a:spcBef>
              <a:spcAft>
                <a:spcPts val="0"/>
              </a:spcAft>
              <a:buNone/>
            </a:pPr>
            <a:r>
              <a:rPr lang="en-IN" sz="1300">
                <a:solidFill>
                  <a:srgbClr val="00002D"/>
                </a:solidFill>
                <a:ea typeface="Arial"/>
                <a:cs typeface="Arial"/>
                <a:sym typeface="Arial"/>
              </a:rPr>
              <a:t>a</a:t>
            </a:r>
            <a:r>
              <a:rPr lang="en-IN" sz="1300" i="0" u="none" strike="noStrike" cap="none">
                <a:solidFill>
                  <a:srgbClr val="00002D"/>
                </a:solidFill>
                <a:ea typeface="Arial"/>
                <a:cs typeface="Arial"/>
                <a:sym typeface="Arial"/>
              </a:rPr>
              <a:t>nd manage funding</a:t>
            </a:r>
          </a:p>
        </p:txBody>
      </p:sp>
      <p:sp>
        <p:nvSpPr>
          <p:cNvPr id="59" name="Google Shape;270;p3">
            <a:extLst>
              <a:ext uri="{FF2B5EF4-FFF2-40B4-BE49-F238E27FC236}">
                <a16:creationId xmlns:a16="http://schemas.microsoft.com/office/drawing/2014/main" id="{237AF66F-AF62-50DC-9D92-7B0AD107D85B}"/>
              </a:ext>
            </a:extLst>
          </p:cNvPr>
          <p:cNvSpPr/>
          <p:nvPr/>
        </p:nvSpPr>
        <p:spPr>
          <a:xfrm>
            <a:off x="6328611" y="4010805"/>
            <a:ext cx="2863959" cy="544765"/>
          </a:xfrm>
          <a:prstGeom prst="rect">
            <a:avLst/>
          </a:prstGeom>
          <a:solidFill>
            <a:srgbClr val="FFFFFF"/>
          </a:solidFill>
          <a:ln w="19050">
            <a:solidFill>
              <a:srgbClr val="0057AF"/>
            </a:solidFill>
          </a:ln>
        </p:spPr>
        <p:txBody>
          <a:bodyPr spcFirstLastPara="1" wrap="square" lIns="91425" tIns="91440" rIns="91425" bIns="91440" anchor="ctr" anchorCtr="0">
            <a:spAutoFit/>
          </a:bodyPr>
          <a:lstStyle/>
          <a:p>
            <a:pPr lvl="0" algn="ctr">
              <a:lnSpc>
                <a:spcPct val="90000"/>
              </a:lnSpc>
            </a:pPr>
            <a:r>
              <a:rPr lang="en-US" sz="1300">
                <a:solidFill>
                  <a:schemeClr val="dk1"/>
                </a:solidFill>
                <a:ea typeface="Arial"/>
                <a:cs typeface="Arial"/>
                <a:sym typeface="Arial"/>
              </a:rPr>
              <a:t>Measure value</a:t>
            </a:r>
            <a:br>
              <a:rPr lang="en-US" sz="1300">
                <a:solidFill>
                  <a:schemeClr val="dk1"/>
                </a:solidFill>
                <a:ea typeface="Arial"/>
                <a:cs typeface="Arial"/>
                <a:sym typeface="Arial"/>
              </a:rPr>
            </a:br>
            <a:r>
              <a:rPr lang="en-US" sz="1300">
                <a:solidFill>
                  <a:schemeClr val="dk1"/>
                </a:solidFill>
                <a:ea typeface="Arial"/>
                <a:cs typeface="Arial"/>
                <a:sym typeface="Arial"/>
              </a:rPr>
              <a:t>and realize benefits</a:t>
            </a:r>
            <a:endParaRPr lang="en-US" sz="1300"/>
          </a:p>
        </p:txBody>
      </p:sp>
      <p:sp>
        <p:nvSpPr>
          <p:cNvPr id="58" name="Google Shape;269;p3">
            <a:extLst>
              <a:ext uri="{FF2B5EF4-FFF2-40B4-BE49-F238E27FC236}">
                <a16:creationId xmlns:a16="http://schemas.microsoft.com/office/drawing/2014/main" id="{DFB4BD0C-A285-3F73-6796-CB5C17DF4936}"/>
              </a:ext>
            </a:extLst>
          </p:cNvPr>
          <p:cNvSpPr/>
          <p:nvPr/>
        </p:nvSpPr>
        <p:spPr>
          <a:xfrm>
            <a:off x="7388347" y="4644756"/>
            <a:ext cx="2863959" cy="549187"/>
          </a:xfrm>
          <a:prstGeom prst="rect">
            <a:avLst/>
          </a:prstGeom>
          <a:solidFill>
            <a:srgbClr val="FFFFFF"/>
          </a:solidFill>
          <a:ln w="19050">
            <a:solidFill>
              <a:srgbClr val="0057AF"/>
            </a:solidFill>
          </a:ln>
        </p:spPr>
        <p:txBody>
          <a:bodyPr spcFirstLastPara="1" wrap="square" lIns="91425" tIns="91440" rIns="91425" bIns="91440" anchor="ctr" anchorCtr="0">
            <a:spAutoFit/>
          </a:bodyPr>
          <a:lstStyle/>
          <a:p>
            <a:pPr marL="0" marR="0" lvl="0" indent="0" algn="ctr" rtl="0">
              <a:lnSpc>
                <a:spcPct val="90000"/>
              </a:lnSpc>
              <a:spcBef>
                <a:spcPts val="0"/>
              </a:spcBef>
              <a:spcAft>
                <a:spcPts val="0"/>
              </a:spcAft>
              <a:buNone/>
            </a:pPr>
            <a:r>
              <a:rPr lang="en-IN" sz="1300">
                <a:solidFill>
                  <a:srgbClr val="00002D"/>
                </a:solidFill>
              </a:rPr>
              <a:t>Standardize practices and share lessons on AI value realization</a:t>
            </a:r>
          </a:p>
        </p:txBody>
      </p:sp>
      <p:sp>
        <p:nvSpPr>
          <p:cNvPr id="11" name="Google Shape;267;p3">
            <a:extLst>
              <a:ext uri="{FF2B5EF4-FFF2-40B4-BE49-F238E27FC236}">
                <a16:creationId xmlns:a16="http://schemas.microsoft.com/office/drawing/2014/main" id="{7FD65BBB-9E29-1B94-EF4B-9E4537257B16}"/>
              </a:ext>
            </a:extLst>
          </p:cNvPr>
          <p:cNvSpPr/>
          <p:nvPr/>
        </p:nvSpPr>
        <p:spPr>
          <a:xfrm>
            <a:off x="5273578" y="3376854"/>
            <a:ext cx="2863959" cy="544765"/>
          </a:xfrm>
          <a:prstGeom prst="rect">
            <a:avLst/>
          </a:prstGeom>
          <a:solidFill>
            <a:srgbClr val="FFFFFF"/>
          </a:solidFill>
          <a:ln w="19050">
            <a:solidFill>
              <a:srgbClr val="0057AF"/>
            </a:solidFill>
          </a:ln>
        </p:spPr>
        <p:txBody>
          <a:bodyPr spcFirstLastPara="1" wrap="square" lIns="91425" tIns="91440" rIns="91425" bIns="91440" anchor="ctr" anchorCtr="0">
            <a:spAutoFit/>
          </a:bodyPr>
          <a:lstStyle/>
          <a:p>
            <a:pPr algn="ctr">
              <a:lnSpc>
                <a:spcPct val="90000"/>
              </a:lnSpc>
            </a:pPr>
            <a:r>
              <a:rPr lang="en-US" sz="1300" kern="0">
                <a:solidFill>
                  <a:prstClr val="black"/>
                </a:solidFill>
                <a:latin typeface="Gartner Sans" panose="020B0504030402040204" pitchFamily="34" charset="0"/>
                <a:cs typeface="Arial" panose="020B0604020202020204" pitchFamily="34" charset="0"/>
                <a:sym typeface="Arial"/>
              </a:rPr>
              <a:t>Manage AI portfolio and interdependencies</a:t>
            </a:r>
          </a:p>
        </p:txBody>
      </p:sp>
      <p:sp>
        <p:nvSpPr>
          <p:cNvPr id="57" name="Google Shape;268;p3">
            <a:extLst>
              <a:ext uri="{FF2B5EF4-FFF2-40B4-BE49-F238E27FC236}">
                <a16:creationId xmlns:a16="http://schemas.microsoft.com/office/drawing/2014/main" id="{49268024-5FCF-6AAB-93F0-EAC82368B362}"/>
              </a:ext>
            </a:extLst>
          </p:cNvPr>
          <p:cNvSpPr/>
          <p:nvPr/>
        </p:nvSpPr>
        <p:spPr>
          <a:xfrm>
            <a:off x="3157829" y="2100108"/>
            <a:ext cx="2863959" cy="549187"/>
          </a:xfrm>
          <a:prstGeom prst="rect">
            <a:avLst/>
          </a:prstGeom>
          <a:solidFill>
            <a:srgbClr val="FFFFFF"/>
          </a:solidFill>
          <a:ln w="19050">
            <a:solidFill>
              <a:srgbClr val="0057AF"/>
            </a:solidFill>
          </a:ln>
        </p:spPr>
        <p:txBody>
          <a:bodyPr spcFirstLastPara="1" wrap="square" lIns="91425" tIns="91440" rIns="91425" bIns="91440" anchor="ctr" anchorCtr="0">
            <a:spAutoFit/>
          </a:bodyPr>
          <a:lstStyle/>
          <a:p>
            <a:pPr lvl="0" algn="ctr">
              <a:lnSpc>
                <a:spcPct val="90000"/>
              </a:lnSpc>
            </a:pPr>
            <a:r>
              <a:rPr lang="en-US" sz="1300">
                <a:solidFill>
                  <a:schemeClr val="dk1"/>
                </a:solidFill>
                <a:ea typeface="Arial"/>
                <a:cs typeface="Arial"/>
                <a:sym typeface="Arial"/>
              </a:rPr>
              <a:t>Define and align the </a:t>
            </a:r>
            <a:endParaRPr lang="en-US" sz="1300"/>
          </a:p>
          <a:p>
            <a:pPr lvl="0" algn="ctr">
              <a:lnSpc>
                <a:spcPct val="90000"/>
              </a:lnSpc>
            </a:pPr>
            <a:r>
              <a:rPr lang="en-US" sz="1300">
                <a:solidFill>
                  <a:schemeClr val="dk1"/>
                </a:solidFill>
                <a:ea typeface="Arial"/>
                <a:cs typeface="Arial"/>
                <a:sym typeface="Arial"/>
              </a:rPr>
              <a:t>AI roadmap for HR</a:t>
            </a:r>
            <a:endParaRPr lang="en-US" sz="1300">
              <a:solidFill>
                <a:srgbClr val="00002D"/>
              </a:solidFill>
            </a:endParaRPr>
          </a:p>
        </p:txBody>
      </p:sp>
      <p:pic>
        <p:nvPicPr>
          <p:cNvPr id="67" name="Graphic 66">
            <a:hlinkClick r:id="rId4" action="ppaction://hlinksldjump"/>
            <a:extLst>
              <a:ext uri="{FF2B5EF4-FFF2-40B4-BE49-F238E27FC236}">
                <a16:creationId xmlns:a16="http://schemas.microsoft.com/office/drawing/2014/main" id="{E7AC3FBA-4A0D-275A-1AA0-F239646360D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291401" y="391876"/>
            <a:ext cx="503201" cy="391379"/>
          </a:xfrm>
          <a:prstGeom prst="rect">
            <a:avLst/>
          </a:prstGeom>
        </p:spPr>
      </p:pic>
    </p:spTree>
    <p:extLst>
      <p:ext uri="{BB962C8B-B14F-4D97-AF65-F5344CB8AC3E}">
        <p14:creationId xmlns:p14="http://schemas.microsoft.com/office/powerpoint/2010/main" val="33156944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0333F-376F-2790-38E2-2F8E9D3F05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9D5755-E5D4-6AF6-C2D2-251DAAEE10AD}"/>
              </a:ext>
            </a:extLst>
          </p:cNvPr>
          <p:cNvSpPr>
            <a:spLocks noGrp="1"/>
          </p:cNvSpPr>
          <p:nvPr>
            <p:ph type="title"/>
          </p:nvPr>
        </p:nvSpPr>
        <p:spPr/>
        <p:txBody>
          <a:bodyPr/>
          <a:lstStyle/>
          <a:p>
            <a:r>
              <a:rPr lang="en-US"/>
              <a:t>AI Impact on Work in the HR Function Roadmap Activities</a:t>
            </a:r>
          </a:p>
        </p:txBody>
      </p:sp>
      <p:sp>
        <p:nvSpPr>
          <p:cNvPr id="61" name="Rectangle 60">
            <a:extLst>
              <a:ext uri="{FF2B5EF4-FFF2-40B4-BE49-F238E27FC236}">
                <a16:creationId xmlns:a16="http://schemas.microsoft.com/office/drawing/2014/main" id="{BE7CFFBF-E875-2C70-7FFD-9DB6FE604E1D}"/>
              </a:ext>
            </a:extLst>
          </p:cNvPr>
          <p:cNvSpPr/>
          <p:nvPr/>
        </p:nvSpPr>
        <p:spPr>
          <a:xfrm>
            <a:off x="1924593" y="1293975"/>
            <a:ext cx="9819732" cy="4695663"/>
          </a:xfrm>
          <a:prstGeom prst="rect">
            <a:avLst/>
          </a:prstGeom>
          <a:solidFill>
            <a:srgbClr val="E0F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900">
              <a:solidFill>
                <a:schemeClr val="bg1"/>
              </a:solidFill>
            </a:endParaRPr>
          </a:p>
        </p:txBody>
      </p:sp>
      <p:sp>
        <p:nvSpPr>
          <p:cNvPr id="5" name="Google Shape;352;p4">
            <a:extLst>
              <a:ext uri="{FF2B5EF4-FFF2-40B4-BE49-F238E27FC236}">
                <a16:creationId xmlns:a16="http://schemas.microsoft.com/office/drawing/2014/main" id="{C8197CBA-896A-6AD4-A35A-6715177673FD}"/>
              </a:ext>
            </a:extLst>
          </p:cNvPr>
          <p:cNvSpPr txBox="1"/>
          <p:nvPr/>
        </p:nvSpPr>
        <p:spPr>
          <a:xfrm>
            <a:off x="371475" y="5995191"/>
            <a:ext cx="6096000" cy="276979"/>
          </a:xfrm>
          <a:prstGeom prst="rect">
            <a:avLst/>
          </a:prstGeom>
          <a:noFill/>
          <a:ln>
            <a:noFill/>
          </a:ln>
        </p:spPr>
        <p:txBody>
          <a:bodyPr spcFirstLastPara="1" wrap="square" lIns="91440" tIns="91440" rIns="91440"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IN" sz="900"/>
              <a:t>See Appendix for detailed descriptions </a:t>
            </a:r>
            <a:r>
              <a:rPr lang="en-IN" sz="900">
                <a:latin typeface="+mj-lt"/>
                <a:hlinkClick r:id="rId2" action="ppaction://hlinksldjump"/>
              </a:rPr>
              <a:t>(click here)</a:t>
            </a:r>
            <a:endParaRPr lang="en-IN" sz="900">
              <a:latin typeface="+mj-lt"/>
            </a:endParaRPr>
          </a:p>
        </p:txBody>
      </p:sp>
      <p:sp>
        <p:nvSpPr>
          <p:cNvPr id="3" name="Google Shape;265;p3">
            <a:extLst>
              <a:ext uri="{FF2B5EF4-FFF2-40B4-BE49-F238E27FC236}">
                <a16:creationId xmlns:a16="http://schemas.microsoft.com/office/drawing/2014/main" id="{B9359D13-A58F-09B5-CA3D-03A1C84E1BA4}"/>
              </a:ext>
            </a:extLst>
          </p:cNvPr>
          <p:cNvSpPr/>
          <p:nvPr/>
        </p:nvSpPr>
        <p:spPr>
          <a:xfrm>
            <a:off x="458801" y="1293974"/>
            <a:ext cx="1379008" cy="4695664"/>
          </a:xfrm>
          <a:prstGeom prst="rect">
            <a:avLst/>
          </a:prstGeom>
          <a:solidFill>
            <a:srgbClr val="1F96FF"/>
          </a:solidFill>
          <a:ln>
            <a:noFill/>
          </a:ln>
        </p:spPr>
        <p:txBody>
          <a:bodyPr spcFirstLastPara="1" wrap="square" lIns="91440" tIns="91440" rIns="91440" bIns="91440" anchor="ctr" anchorCtr="0">
            <a:noAutofit/>
          </a:bodyPr>
          <a:lstStyle/>
          <a:p>
            <a:pPr lvl="0" algn="ctr">
              <a:lnSpc>
                <a:spcPct val="90000"/>
              </a:lnSpc>
              <a:buClr>
                <a:srgbClr val="000000"/>
              </a:buClr>
              <a:buSzPts val="1000"/>
            </a:pPr>
            <a:endParaRPr lang="en-US" sz="1400">
              <a:solidFill>
                <a:srgbClr val="FFFFFF"/>
              </a:solidFill>
              <a:latin typeface="+mj-lt"/>
            </a:endParaRPr>
          </a:p>
        </p:txBody>
      </p:sp>
      <p:grpSp>
        <p:nvGrpSpPr>
          <p:cNvPr id="11" name="Group 10">
            <a:extLst>
              <a:ext uri="{FF2B5EF4-FFF2-40B4-BE49-F238E27FC236}">
                <a16:creationId xmlns:a16="http://schemas.microsoft.com/office/drawing/2014/main" id="{3CD9CF1A-05AC-5F5E-A336-EF096E674E50}"/>
              </a:ext>
            </a:extLst>
          </p:cNvPr>
          <p:cNvGrpSpPr/>
          <p:nvPr/>
        </p:nvGrpSpPr>
        <p:grpSpPr>
          <a:xfrm>
            <a:off x="458001" y="3067688"/>
            <a:ext cx="1380609" cy="1148237"/>
            <a:chOff x="458001" y="3051091"/>
            <a:chExt cx="1380609" cy="1148237"/>
          </a:xfrm>
        </p:grpSpPr>
        <p:sp>
          <p:nvSpPr>
            <p:cNvPr id="6" name="TextBox 5">
              <a:extLst>
                <a:ext uri="{FF2B5EF4-FFF2-40B4-BE49-F238E27FC236}">
                  <a16:creationId xmlns:a16="http://schemas.microsoft.com/office/drawing/2014/main" id="{2CA008B9-8CAA-F1FB-2E91-E5557ABE0DB7}"/>
                </a:ext>
              </a:extLst>
            </p:cNvPr>
            <p:cNvSpPr txBox="1"/>
            <p:nvPr/>
          </p:nvSpPr>
          <p:spPr>
            <a:xfrm>
              <a:off x="458001" y="3414498"/>
              <a:ext cx="1380609" cy="784830"/>
            </a:xfrm>
            <a:prstGeom prst="rect">
              <a:avLst/>
            </a:prstGeom>
            <a:noFill/>
          </p:spPr>
          <p:txBody>
            <a:bodyPr wrap="square" lIns="91440" tIns="91440" rIns="91440" bIns="91440" rtlCol="0">
              <a:spAutoFit/>
            </a:bodyPr>
            <a:lstStyle/>
            <a:p>
              <a:pPr algn="ctr">
                <a:spcBef>
                  <a:spcPts val="600"/>
                </a:spcBef>
              </a:pPr>
              <a:r>
                <a:rPr lang="en-US" sz="1300">
                  <a:solidFill>
                    <a:srgbClr val="FFFFFF"/>
                  </a:solidFill>
                  <a:latin typeface="+mj-lt"/>
                </a:rPr>
                <a:t>AI impact on work in the HR function</a:t>
              </a:r>
            </a:p>
          </p:txBody>
        </p:sp>
        <p:pic>
          <p:nvPicPr>
            <p:cNvPr id="7" name="Graphic 6">
              <a:extLst>
                <a:ext uri="{FF2B5EF4-FFF2-40B4-BE49-F238E27FC236}">
                  <a16:creationId xmlns:a16="http://schemas.microsoft.com/office/drawing/2014/main" id="{FEA4E4FB-6D56-5E20-7ADF-040C511776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00655" y="3051091"/>
              <a:ext cx="495300" cy="385233"/>
            </a:xfrm>
            <a:prstGeom prst="rect">
              <a:avLst/>
            </a:prstGeom>
          </p:spPr>
        </p:pic>
      </p:grpSp>
      <p:grpSp>
        <p:nvGrpSpPr>
          <p:cNvPr id="81" name="Group 80">
            <a:extLst>
              <a:ext uri="{FF2B5EF4-FFF2-40B4-BE49-F238E27FC236}">
                <a16:creationId xmlns:a16="http://schemas.microsoft.com/office/drawing/2014/main" id="{670BF7E5-F602-93D7-8EC4-734A64E0AF6C}"/>
              </a:ext>
            </a:extLst>
          </p:cNvPr>
          <p:cNvGrpSpPr/>
          <p:nvPr/>
        </p:nvGrpSpPr>
        <p:grpSpPr>
          <a:xfrm>
            <a:off x="6994167" y="2984250"/>
            <a:ext cx="4595914" cy="2845853"/>
            <a:chOff x="6994167" y="2984250"/>
            <a:chExt cx="4595914" cy="2845853"/>
          </a:xfrm>
        </p:grpSpPr>
        <p:sp>
          <p:nvSpPr>
            <p:cNvPr id="10" name="Google Shape;269;p3">
              <a:extLst>
                <a:ext uri="{FF2B5EF4-FFF2-40B4-BE49-F238E27FC236}">
                  <a16:creationId xmlns:a16="http://schemas.microsoft.com/office/drawing/2014/main" id="{9BADE3D1-D844-2C59-66C2-58CAEE524B93}"/>
                </a:ext>
              </a:extLst>
            </p:cNvPr>
            <p:cNvSpPr/>
            <p:nvPr/>
          </p:nvSpPr>
          <p:spPr>
            <a:xfrm>
              <a:off x="8283844" y="5285338"/>
              <a:ext cx="3306237" cy="544765"/>
            </a:xfrm>
            <a:prstGeom prst="rect">
              <a:avLst/>
            </a:prstGeom>
            <a:solidFill>
              <a:srgbClr val="FFFFFF"/>
            </a:solidFill>
            <a:ln w="19050">
              <a:solidFill>
                <a:srgbClr val="1F96FF"/>
              </a:solidFill>
            </a:ln>
          </p:spPr>
          <p:txBody>
            <a:bodyPr spcFirstLastPara="1" wrap="square" lIns="91425" tIns="91440" rIns="91425" bIns="91440" anchor="ctr" anchorCtr="0">
              <a:spAutoFit/>
            </a:bodyPr>
            <a:lstStyle/>
            <a:p>
              <a:pPr marL="0" marR="0" lvl="0" indent="0" algn="ctr" rtl="0">
                <a:lnSpc>
                  <a:spcPct val="90000"/>
                </a:lnSpc>
                <a:spcBef>
                  <a:spcPts val="0"/>
                </a:spcBef>
                <a:spcAft>
                  <a:spcPts val="0"/>
                </a:spcAft>
                <a:buNone/>
              </a:pPr>
              <a:r>
                <a:rPr lang="en-IN" sz="1300">
                  <a:solidFill>
                    <a:srgbClr val="00002D"/>
                  </a:solidFill>
                </a:rPr>
                <a:t>Develop new HR products/services beyond the boundaries of the HR function</a:t>
              </a:r>
            </a:p>
          </p:txBody>
        </p:sp>
        <p:grpSp>
          <p:nvGrpSpPr>
            <p:cNvPr id="72" name="Group 71">
              <a:extLst>
                <a:ext uri="{FF2B5EF4-FFF2-40B4-BE49-F238E27FC236}">
                  <a16:creationId xmlns:a16="http://schemas.microsoft.com/office/drawing/2014/main" id="{2A749792-08E2-26FD-06AF-DD10B18ACB38}"/>
                </a:ext>
              </a:extLst>
            </p:cNvPr>
            <p:cNvGrpSpPr/>
            <p:nvPr/>
          </p:nvGrpSpPr>
          <p:grpSpPr>
            <a:xfrm>
              <a:off x="7130115" y="3499417"/>
              <a:ext cx="246718" cy="533769"/>
              <a:chOff x="7130115" y="3499417"/>
              <a:chExt cx="246718" cy="533769"/>
            </a:xfrm>
          </p:grpSpPr>
          <p:cxnSp>
            <p:nvCxnSpPr>
              <p:cNvPr id="70" name="Straight Connector 69">
                <a:extLst>
                  <a:ext uri="{FF2B5EF4-FFF2-40B4-BE49-F238E27FC236}">
                    <a16:creationId xmlns:a16="http://schemas.microsoft.com/office/drawing/2014/main" id="{8A32C157-B591-716E-A930-506BF1509DCA}"/>
                  </a:ext>
                </a:extLst>
              </p:cNvPr>
              <p:cNvCxnSpPr/>
              <p:nvPr/>
            </p:nvCxnSpPr>
            <p:spPr>
              <a:xfrm>
                <a:off x="7130875" y="3499417"/>
                <a:ext cx="0" cy="533769"/>
              </a:xfrm>
              <a:prstGeom prst="line">
                <a:avLst/>
              </a:prstGeom>
              <a:ln w="19050">
                <a:solidFill>
                  <a:srgbClr val="707996"/>
                </a:solidFill>
                <a:tailEnd type="none" w="lg" len="med"/>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5D7B97E4-2277-87CE-9AFA-80E95D3C9B10}"/>
                  </a:ext>
                </a:extLst>
              </p:cNvPr>
              <p:cNvCxnSpPr>
                <a:cxnSpLocks/>
              </p:cNvCxnSpPr>
              <p:nvPr/>
            </p:nvCxnSpPr>
            <p:spPr>
              <a:xfrm flipH="1">
                <a:off x="7130115" y="4023662"/>
                <a:ext cx="246718" cy="0"/>
              </a:xfrm>
              <a:prstGeom prst="line">
                <a:avLst/>
              </a:prstGeom>
              <a:ln w="19050">
                <a:solidFill>
                  <a:srgbClr val="707996"/>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48" name="Google Shape;269;p3">
              <a:extLst>
                <a:ext uri="{FF2B5EF4-FFF2-40B4-BE49-F238E27FC236}">
                  <a16:creationId xmlns:a16="http://schemas.microsoft.com/office/drawing/2014/main" id="{3355977D-5769-81DF-0B2A-FA415AAC65DC}"/>
                </a:ext>
              </a:extLst>
            </p:cNvPr>
            <p:cNvSpPr/>
            <p:nvPr/>
          </p:nvSpPr>
          <p:spPr>
            <a:xfrm>
              <a:off x="6994167" y="2984250"/>
              <a:ext cx="3306235" cy="544765"/>
            </a:xfrm>
            <a:prstGeom prst="rect">
              <a:avLst/>
            </a:prstGeom>
            <a:solidFill>
              <a:srgbClr val="FFFFFF"/>
            </a:solidFill>
            <a:ln w="19050">
              <a:solidFill>
                <a:srgbClr val="1F96FF"/>
              </a:solidFill>
            </a:ln>
          </p:spPr>
          <p:txBody>
            <a:bodyPr spcFirstLastPara="1" wrap="square" lIns="91425" tIns="91440" rIns="91425" bIns="91440" anchor="ctr" anchorCtr="0">
              <a:spAutoFit/>
            </a:bodyPr>
            <a:lstStyle/>
            <a:p>
              <a:pPr marL="0" marR="0" lvl="0" indent="0" algn="ctr" rtl="0">
                <a:lnSpc>
                  <a:spcPct val="90000"/>
                </a:lnSpc>
                <a:spcBef>
                  <a:spcPts val="0"/>
                </a:spcBef>
                <a:spcAft>
                  <a:spcPts val="0"/>
                </a:spcAft>
                <a:buNone/>
              </a:pPr>
              <a:r>
                <a:rPr lang="en-IN" sz="1300">
                  <a:solidFill>
                    <a:srgbClr val="00002D"/>
                  </a:solidFill>
                </a:rPr>
                <a:t>Redesign HR jobs and teams for</a:t>
              </a:r>
              <a:br>
                <a:rPr lang="en-IN" sz="1300">
                  <a:solidFill>
                    <a:srgbClr val="00002D"/>
                  </a:solidFill>
                </a:rPr>
              </a:br>
              <a:r>
                <a:rPr lang="en-IN" sz="1300">
                  <a:solidFill>
                    <a:srgbClr val="00002D"/>
                  </a:solidFill>
                </a:rPr>
                <a:t>new AI-enabled value streams</a:t>
              </a:r>
            </a:p>
          </p:txBody>
        </p:sp>
        <p:grpSp>
          <p:nvGrpSpPr>
            <p:cNvPr id="76" name="Group 75">
              <a:extLst>
                <a:ext uri="{FF2B5EF4-FFF2-40B4-BE49-F238E27FC236}">
                  <a16:creationId xmlns:a16="http://schemas.microsoft.com/office/drawing/2014/main" id="{111E85C3-3F33-C642-F7BB-2C401071B373}"/>
                </a:ext>
              </a:extLst>
            </p:cNvPr>
            <p:cNvGrpSpPr/>
            <p:nvPr/>
          </p:nvGrpSpPr>
          <p:grpSpPr>
            <a:xfrm>
              <a:off x="7556132" y="4267469"/>
              <a:ext cx="246718" cy="533769"/>
              <a:chOff x="7556132" y="4267469"/>
              <a:chExt cx="246718" cy="533769"/>
            </a:xfrm>
          </p:grpSpPr>
          <p:cxnSp>
            <p:nvCxnSpPr>
              <p:cNvPr id="74" name="Straight Connector 73">
                <a:extLst>
                  <a:ext uri="{FF2B5EF4-FFF2-40B4-BE49-F238E27FC236}">
                    <a16:creationId xmlns:a16="http://schemas.microsoft.com/office/drawing/2014/main" id="{4669B0DE-439E-12F5-F31A-FADCCB989BD0}"/>
                  </a:ext>
                </a:extLst>
              </p:cNvPr>
              <p:cNvCxnSpPr/>
              <p:nvPr/>
            </p:nvCxnSpPr>
            <p:spPr>
              <a:xfrm>
                <a:off x="7556892" y="4267469"/>
                <a:ext cx="0" cy="533769"/>
              </a:xfrm>
              <a:prstGeom prst="line">
                <a:avLst/>
              </a:prstGeom>
              <a:ln w="19050">
                <a:solidFill>
                  <a:srgbClr val="707996"/>
                </a:solidFill>
                <a:tailEnd type="none" w="lg" len="med"/>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02FF7EB0-8EA5-BF93-C12F-81DD5F5EDCA2}"/>
                  </a:ext>
                </a:extLst>
              </p:cNvPr>
              <p:cNvCxnSpPr>
                <a:cxnSpLocks/>
              </p:cNvCxnSpPr>
              <p:nvPr/>
            </p:nvCxnSpPr>
            <p:spPr>
              <a:xfrm flipH="1">
                <a:off x="7556132" y="4790691"/>
                <a:ext cx="246718" cy="0"/>
              </a:xfrm>
              <a:prstGeom prst="line">
                <a:avLst/>
              </a:prstGeom>
              <a:ln w="19050">
                <a:solidFill>
                  <a:srgbClr val="707996"/>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50" name="Google Shape;269;p3">
              <a:extLst>
                <a:ext uri="{FF2B5EF4-FFF2-40B4-BE49-F238E27FC236}">
                  <a16:creationId xmlns:a16="http://schemas.microsoft.com/office/drawing/2014/main" id="{28DFD928-9F8C-49EA-2625-ECC074404879}"/>
                </a:ext>
              </a:extLst>
            </p:cNvPr>
            <p:cNvSpPr/>
            <p:nvPr/>
          </p:nvSpPr>
          <p:spPr>
            <a:xfrm>
              <a:off x="7423400" y="3751279"/>
              <a:ext cx="3306237" cy="544765"/>
            </a:xfrm>
            <a:prstGeom prst="rect">
              <a:avLst/>
            </a:prstGeom>
            <a:solidFill>
              <a:srgbClr val="FFFFFF"/>
            </a:solidFill>
            <a:ln w="19050">
              <a:solidFill>
                <a:srgbClr val="1F96FF"/>
              </a:solidFill>
            </a:ln>
          </p:spPr>
          <p:txBody>
            <a:bodyPr spcFirstLastPara="1" wrap="square" lIns="91425" tIns="91440" rIns="91425" bIns="91440" anchor="ctr" anchorCtr="0">
              <a:spAutoFit/>
            </a:bodyPr>
            <a:lstStyle/>
            <a:p>
              <a:pPr lvl="0" algn="ctr">
                <a:lnSpc>
                  <a:spcPct val="90000"/>
                </a:lnSpc>
                <a:defRPr/>
              </a:pPr>
              <a:r>
                <a:rPr lang="en-US" sz="1300">
                  <a:solidFill>
                    <a:srgbClr val="000000"/>
                  </a:solidFill>
                </a:rPr>
                <a:t>Adopt a dynamic work redesign</a:t>
              </a:r>
              <a:br>
                <a:rPr lang="en-US" sz="1300">
                  <a:solidFill>
                    <a:srgbClr val="000000"/>
                  </a:solidFill>
                </a:rPr>
              </a:br>
              <a:r>
                <a:rPr lang="en-US" sz="1300">
                  <a:solidFill>
                    <a:srgbClr val="000000"/>
                  </a:solidFill>
                </a:rPr>
                <a:t>to capture emerging value</a:t>
              </a:r>
            </a:p>
          </p:txBody>
        </p:sp>
        <p:grpSp>
          <p:nvGrpSpPr>
            <p:cNvPr id="80" name="Group 79">
              <a:extLst>
                <a:ext uri="{FF2B5EF4-FFF2-40B4-BE49-F238E27FC236}">
                  <a16:creationId xmlns:a16="http://schemas.microsoft.com/office/drawing/2014/main" id="{D430D5C7-2CF3-CD04-0C58-4AB3146F9F6D}"/>
                </a:ext>
              </a:extLst>
            </p:cNvPr>
            <p:cNvGrpSpPr/>
            <p:nvPr/>
          </p:nvGrpSpPr>
          <p:grpSpPr>
            <a:xfrm>
              <a:off x="7990559" y="5034113"/>
              <a:ext cx="246718" cy="533769"/>
              <a:chOff x="7993734" y="5034113"/>
              <a:chExt cx="246718" cy="533769"/>
            </a:xfrm>
          </p:grpSpPr>
          <p:cxnSp>
            <p:nvCxnSpPr>
              <p:cNvPr id="78" name="Straight Connector 77">
                <a:extLst>
                  <a:ext uri="{FF2B5EF4-FFF2-40B4-BE49-F238E27FC236}">
                    <a16:creationId xmlns:a16="http://schemas.microsoft.com/office/drawing/2014/main" id="{BB5ABBC7-FE29-A651-72ED-E76B79DA985E}"/>
                  </a:ext>
                </a:extLst>
              </p:cNvPr>
              <p:cNvCxnSpPr/>
              <p:nvPr/>
            </p:nvCxnSpPr>
            <p:spPr>
              <a:xfrm>
                <a:off x="7994494" y="5034113"/>
                <a:ext cx="0" cy="533769"/>
              </a:xfrm>
              <a:prstGeom prst="line">
                <a:avLst/>
              </a:prstGeom>
              <a:ln w="19050">
                <a:solidFill>
                  <a:srgbClr val="707996"/>
                </a:solidFill>
                <a:tailEnd type="none" w="lg"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478B41A-25F0-D934-74FD-C94B055077C0}"/>
                  </a:ext>
                </a:extLst>
              </p:cNvPr>
              <p:cNvCxnSpPr>
                <a:cxnSpLocks/>
              </p:cNvCxnSpPr>
              <p:nvPr/>
            </p:nvCxnSpPr>
            <p:spPr>
              <a:xfrm flipH="1">
                <a:off x="7993734" y="5557720"/>
                <a:ext cx="246718" cy="0"/>
              </a:xfrm>
              <a:prstGeom prst="line">
                <a:avLst/>
              </a:prstGeom>
              <a:ln w="19050">
                <a:solidFill>
                  <a:srgbClr val="707996"/>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51" name="Google Shape;269;p3">
              <a:extLst>
                <a:ext uri="{FF2B5EF4-FFF2-40B4-BE49-F238E27FC236}">
                  <a16:creationId xmlns:a16="http://schemas.microsoft.com/office/drawing/2014/main" id="{D567BC63-5479-735A-D512-318D4E7A04E7}"/>
                </a:ext>
              </a:extLst>
            </p:cNvPr>
            <p:cNvSpPr/>
            <p:nvPr/>
          </p:nvSpPr>
          <p:spPr>
            <a:xfrm>
              <a:off x="7853168" y="4518308"/>
              <a:ext cx="3306237" cy="544765"/>
            </a:xfrm>
            <a:prstGeom prst="rect">
              <a:avLst/>
            </a:prstGeom>
            <a:solidFill>
              <a:srgbClr val="FFFFFF"/>
            </a:solidFill>
            <a:ln w="19050">
              <a:solidFill>
                <a:srgbClr val="1F96FF"/>
              </a:solidFill>
            </a:ln>
          </p:spPr>
          <p:txBody>
            <a:bodyPr spcFirstLastPara="1" wrap="square" lIns="91425" tIns="91440" rIns="91425" bIns="91440" anchor="ctr" anchorCtr="0">
              <a:spAutoFit/>
            </a:bodyPr>
            <a:lstStyle/>
            <a:p>
              <a:pPr lvl="0" algn="ctr">
                <a:lnSpc>
                  <a:spcPct val="90000"/>
                </a:lnSpc>
                <a:defRPr/>
              </a:pPr>
              <a:r>
                <a:rPr lang="en-US" sz="1300">
                  <a:solidFill>
                    <a:srgbClr val="000000"/>
                  </a:solidFill>
                  <a:ea typeface="Arial"/>
                  <a:cs typeface="Arial"/>
                  <a:sym typeface="Arial"/>
                </a:rPr>
                <a:t>Transform the HR operating model</a:t>
              </a:r>
              <a:br>
                <a:rPr lang="en-US" sz="1300">
                  <a:solidFill>
                    <a:srgbClr val="000000"/>
                  </a:solidFill>
                  <a:ea typeface="Arial"/>
                  <a:cs typeface="Arial"/>
                  <a:sym typeface="Arial"/>
                </a:rPr>
              </a:br>
              <a:r>
                <a:rPr lang="en-US" sz="1300">
                  <a:solidFill>
                    <a:srgbClr val="000000"/>
                  </a:solidFill>
                  <a:ea typeface="Arial"/>
                  <a:cs typeface="Arial"/>
                  <a:sym typeface="Arial"/>
                </a:rPr>
                <a:t>by deploying the latest AI solutions</a:t>
              </a:r>
            </a:p>
          </p:txBody>
        </p:sp>
      </p:grpSp>
      <p:grpSp>
        <p:nvGrpSpPr>
          <p:cNvPr id="83" name="Group 82">
            <a:extLst>
              <a:ext uri="{FF2B5EF4-FFF2-40B4-BE49-F238E27FC236}">
                <a16:creationId xmlns:a16="http://schemas.microsoft.com/office/drawing/2014/main" id="{16C9F534-6D56-B2FC-1194-2D94AE3A8D49}"/>
              </a:ext>
            </a:extLst>
          </p:cNvPr>
          <p:cNvGrpSpPr/>
          <p:nvPr/>
        </p:nvGrpSpPr>
        <p:grpSpPr>
          <a:xfrm>
            <a:off x="1924593" y="973101"/>
            <a:ext cx="9819732" cy="292347"/>
            <a:chOff x="2024874" y="1175154"/>
            <a:chExt cx="9713101" cy="292347"/>
          </a:xfrm>
        </p:grpSpPr>
        <p:cxnSp>
          <p:nvCxnSpPr>
            <p:cNvPr id="84" name="Google Shape;320;p3">
              <a:extLst>
                <a:ext uri="{FF2B5EF4-FFF2-40B4-BE49-F238E27FC236}">
                  <a16:creationId xmlns:a16="http://schemas.microsoft.com/office/drawing/2014/main" id="{CA615C08-D7CD-3819-02B3-283971BA8EA9}"/>
                </a:ext>
              </a:extLst>
            </p:cNvPr>
            <p:cNvCxnSpPr>
              <a:cxnSpLocks/>
            </p:cNvCxnSpPr>
            <p:nvPr/>
          </p:nvCxnSpPr>
          <p:spPr>
            <a:xfrm>
              <a:off x="2024874" y="1321328"/>
              <a:ext cx="9713101" cy="0"/>
            </a:xfrm>
            <a:prstGeom prst="straightConnector1">
              <a:avLst/>
            </a:prstGeom>
            <a:noFill/>
            <a:ln w="19050" cap="flat" cmpd="sng">
              <a:solidFill>
                <a:srgbClr val="707996"/>
              </a:solidFill>
              <a:prstDash val="solid"/>
              <a:round/>
              <a:headEnd type="none" w="sm" len="sm"/>
              <a:tailEnd type="none" w="sm" len="sm"/>
            </a:ln>
          </p:spPr>
        </p:cxnSp>
        <p:sp>
          <p:nvSpPr>
            <p:cNvPr id="85" name="Google Shape;321;p3">
              <a:extLst>
                <a:ext uri="{FF2B5EF4-FFF2-40B4-BE49-F238E27FC236}">
                  <a16:creationId xmlns:a16="http://schemas.microsoft.com/office/drawing/2014/main" id="{9E0F555E-1997-A000-CAF4-76EF1F3E82BE}"/>
                </a:ext>
              </a:extLst>
            </p:cNvPr>
            <p:cNvSpPr txBox="1"/>
            <p:nvPr/>
          </p:nvSpPr>
          <p:spPr>
            <a:xfrm>
              <a:off x="2152860" y="1175154"/>
              <a:ext cx="1399564" cy="292347"/>
            </a:xfrm>
            <a:prstGeom prst="rect">
              <a:avLst/>
            </a:prstGeom>
            <a:solidFill>
              <a:schemeClr val="lt1"/>
            </a:solidFill>
            <a:ln>
              <a:noFill/>
            </a:ln>
          </p:spPr>
          <p:txBody>
            <a:bodyPr spcFirstLastPara="1" wrap="square" lIns="0" tIns="45700" rIns="0"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300" b="1" i="0" u="none" strike="noStrike" cap="none">
                  <a:solidFill>
                    <a:srgbClr val="000000"/>
                  </a:solidFill>
                  <a:latin typeface="+mj-lt"/>
                  <a:ea typeface="Arial"/>
                  <a:cs typeface="Arial"/>
                  <a:sym typeface="Arial"/>
                </a:rPr>
                <a:t>Initial activities</a:t>
              </a:r>
              <a:endParaRPr lang="en-US" sz="1300">
                <a:latin typeface="+mj-lt"/>
              </a:endParaRPr>
            </a:p>
          </p:txBody>
        </p:sp>
        <p:sp>
          <p:nvSpPr>
            <p:cNvPr id="86" name="Google Shape;322;p3">
              <a:extLst>
                <a:ext uri="{FF2B5EF4-FFF2-40B4-BE49-F238E27FC236}">
                  <a16:creationId xmlns:a16="http://schemas.microsoft.com/office/drawing/2014/main" id="{58A823A3-C7C1-800F-73AF-F925F0C8C692}"/>
                </a:ext>
              </a:extLst>
            </p:cNvPr>
            <p:cNvSpPr txBox="1"/>
            <p:nvPr/>
          </p:nvSpPr>
          <p:spPr>
            <a:xfrm>
              <a:off x="9804759" y="1175154"/>
              <a:ext cx="1796256" cy="292347"/>
            </a:xfrm>
            <a:prstGeom prst="rect">
              <a:avLst/>
            </a:prstGeom>
            <a:solidFill>
              <a:schemeClr val="lt1"/>
            </a:solid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i="0" u="none" strike="noStrike" cap="none">
                  <a:solidFill>
                    <a:srgbClr val="000000"/>
                  </a:solidFill>
                  <a:latin typeface="+mj-lt"/>
                  <a:ea typeface="Arial"/>
                  <a:cs typeface="Arial"/>
                  <a:sym typeface="Arial"/>
                </a:rPr>
                <a:t>Advanced </a:t>
              </a:r>
              <a:r>
                <a:rPr lang="en-US" sz="1300" b="1">
                  <a:solidFill>
                    <a:srgbClr val="000000"/>
                  </a:solidFill>
                  <a:latin typeface="+mj-lt"/>
                  <a:ea typeface="Arial"/>
                  <a:cs typeface="Arial"/>
                  <a:sym typeface="Arial"/>
                </a:rPr>
                <a:t>activities</a:t>
              </a:r>
              <a:endParaRPr lang="en-US" sz="1300" b="1" i="0" u="none" strike="noStrike" cap="none">
                <a:solidFill>
                  <a:srgbClr val="000000"/>
                </a:solidFill>
                <a:latin typeface="+mj-lt"/>
                <a:ea typeface="Arial"/>
                <a:cs typeface="Arial"/>
                <a:sym typeface="Arial"/>
              </a:endParaRPr>
            </a:p>
          </p:txBody>
        </p:sp>
      </p:grpSp>
      <p:sp>
        <p:nvSpPr>
          <p:cNvPr id="14" name="Google Shape;268;p3">
            <a:extLst>
              <a:ext uri="{FF2B5EF4-FFF2-40B4-BE49-F238E27FC236}">
                <a16:creationId xmlns:a16="http://schemas.microsoft.com/office/drawing/2014/main" id="{F13A35E8-7084-2C57-730A-A6CC4D49BC9F}"/>
              </a:ext>
            </a:extLst>
          </p:cNvPr>
          <p:cNvSpPr/>
          <p:nvPr/>
        </p:nvSpPr>
        <p:spPr>
          <a:xfrm>
            <a:off x="3390989" y="3751279"/>
            <a:ext cx="2651244" cy="544765"/>
          </a:xfrm>
          <a:prstGeom prst="rect">
            <a:avLst/>
          </a:prstGeom>
          <a:solidFill>
            <a:srgbClr val="FFFFFF"/>
          </a:solidFill>
          <a:ln w="19050">
            <a:solidFill>
              <a:srgbClr val="1F96FF"/>
            </a:solidFill>
          </a:ln>
        </p:spPr>
        <p:txBody>
          <a:bodyPr spcFirstLastPara="1" wrap="square" lIns="91425" tIns="91440" rIns="91425" bIns="91440" anchor="ctr" anchorCtr="0">
            <a:spAutoFit/>
          </a:bodyPr>
          <a:lstStyle/>
          <a:p>
            <a:pPr algn="ctr">
              <a:lnSpc>
                <a:spcPct val="90000"/>
              </a:lnSpc>
            </a:pPr>
            <a:r>
              <a:rPr lang="en-US" sz="1300"/>
              <a:t>Plan and document workflows for human effort and dependency</a:t>
            </a:r>
          </a:p>
        </p:txBody>
      </p:sp>
      <p:sp>
        <p:nvSpPr>
          <p:cNvPr id="23" name="Google Shape;268;p3">
            <a:extLst>
              <a:ext uri="{FF2B5EF4-FFF2-40B4-BE49-F238E27FC236}">
                <a16:creationId xmlns:a16="http://schemas.microsoft.com/office/drawing/2014/main" id="{AF971836-DF60-37CF-2D1D-89D984EDD99F}"/>
              </a:ext>
            </a:extLst>
          </p:cNvPr>
          <p:cNvSpPr/>
          <p:nvPr/>
        </p:nvSpPr>
        <p:spPr>
          <a:xfrm>
            <a:off x="3390989" y="4518308"/>
            <a:ext cx="2651244" cy="544765"/>
          </a:xfrm>
          <a:prstGeom prst="rect">
            <a:avLst/>
          </a:prstGeom>
          <a:solidFill>
            <a:srgbClr val="FFFFFF"/>
          </a:solidFill>
          <a:ln w="19050">
            <a:solidFill>
              <a:srgbClr val="1F96FF"/>
            </a:solidFill>
          </a:ln>
        </p:spPr>
        <p:txBody>
          <a:bodyPr spcFirstLastPara="1" wrap="square" lIns="91425" tIns="91440" rIns="91425" bIns="91440" anchor="ctr" anchorCtr="0">
            <a:spAutoFit/>
          </a:bodyPr>
          <a:lstStyle/>
          <a:p>
            <a:pPr algn="ctr">
              <a:lnSpc>
                <a:spcPct val="90000"/>
              </a:lnSpc>
            </a:pPr>
            <a:r>
              <a:rPr lang="en-US" sz="1300"/>
              <a:t>Preserve human interactions</a:t>
            </a:r>
            <a:br>
              <a:rPr lang="en-US" sz="1300"/>
            </a:br>
            <a:r>
              <a:rPr lang="en-US" sz="1300"/>
              <a:t>for high-impact moments</a:t>
            </a:r>
          </a:p>
        </p:txBody>
      </p:sp>
      <p:cxnSp>
        <p:nvCxnSpPr>
          <p:cNvPr id="30" name="Straight Connector 29">
            <a:extLst>
              <a:ext uri="{FF2B5EF4-FFF2-40B4-BE49-F238E27FC236}">
                <a16:creationId xmlns:a16="http://schemas.microsoft.com/office/drawing/2014/main" id="{617F823D-77BD-0D39-53BB-AD7D3193CBCB}"/>
              </a:ext>
            </a:extLst>
          </p:cNvPr>
          <p:cNvCxnSpPr>
            <a:cxnSpLocks/>
          </p:cNvCxnSpPr>
          <p:nvPr/>
        </p:nvCxnSpPr>
        <p:spPr>
          <a:xfrm flipH="1">
            <a:off x="3631078" y="3246314"/>
            <a:ext cx="447396" cy="0"/>
          </a:xfrm>
          <a:prstGeom prst="line">
            <a:avLst/>
          </a:prstGeom>
          <a:ln w="19050">
            <a:solidFill>
              <a:srgbClr val="707996"/>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63671554-0AAC-35FF-65D1-692CE8B81B1F}"/>
              </a:ext>
            </a:extLst>
          </p:cNvPr>
          <p:cNvGrpSpPr/>
          <p:nvPr/>
        </p:nvGrpSpPr>
        <p:grpSpPr>
          <a:xfrm>
            <a:off x="2529154" y="2224097"/>
            <a:ext cx="2651244" cy="715741"/>
            <a:chOff x="2529154" y="2224097"/>
            <a:chExt cx="2651244" cy="715741"/>
          </a:xfrm>
        </p:grpSpPr>
        <p:cxnSp>
          <p:nvCxnSpPr>
            <p:cNvPr id="29" name="Straight Connector 28">
              <a:extLst>
                <a:ext uri="{FF2B5EF4-FFF2-40B4-BE49-F238E27FC236}">
                  <a16:creationId xmlns:a16="http://schemas.microsoft.com/office/drawing/2014/main" id="{014F6989-CB9B-41BC-FE1B-F5F4432CAB73}"/>
                </a:ext>
              </a:extLst>
            </p:cNvPr>
            <p:cNvCxnSpPr>
              <a:cxnSpLocks/>
            </p:cNvCxnSpPr>
            <p:nvPr/>
          </p:nvCxnSpPr>
          <p:spPr>
            <a:xfrm>
              <a:off x="3854776" y="2747088"/>
              <a:ext cx="0" cy="192750"/>
            </a:xfrm>
            <a:prstGeom prst="line">
              <a:avLst/>
            </a:prstGeom>
            <a:ln w="19050">
              <a:solidFill>
                <a:srgbClr val="707996"/>
              </a:solidFill>
              <a:tailEnd type="arrow" w="lg" len="med"/>
            </a:ln>
          </p:spPr>
          <p:style>
            <a:lnRef idx="1">
              <a:schemeClr val="accent1"/>
            </a:lnRef>
            <a:fillRef idx="0">
              <a:schemeClr val="accent1"/>
            </a:fillRef>
            <a:effectRef idx="0">
              <a:schemeClr val="accent1"/>
            </a:effectRef>
            <a:fontRef idx="minor">
              <a:schemeClr val="tx1"/>
            </a:fontRef>
          </p:style>
        </p:cxnSp>
        <p:sp>
          <p:nvSpPr>
            <p:cNvPr id="57" name="Google Shape;268;p3">
              <a:extLst>
                <a:ext uri="{FF2B5EF4-FFF2-40B4-BE49-F238E27FC236}">
                  <a16:creationId xmlns:a16="http://schemas.microsoft.com/office/drawing/2014/main" id="{BA7C4729-C57C-034F-9491-05BA349A869B}"/>
                </a:ext>
              </a:extLst>
            </p:cNvPr>
            <p:cNvSpPr/>
            <p:nvPr/>
          </p:nvSpPr>
          <p:spPr>
            <a:xfrm>
              <a:off x="2529154" y="2224097"/>
              <a:ext cx="2651244" cy="544765"/>
            </a:xfrm>
            <a:prstGeom prst="rect">
              <a:avLst/>
            </a:prstGeom>
            <a:solidFill>
              <a:srgbClr val="FFFFFF"/>
            </a:solidFill>
            <a:ln w="19050">
              <a:solidFill>
                <a:srgbClr val="1F96FF"/>
              </a:solidFill>
            </a:ln>
          </p:spPr>
          <p:txBody>
            <a:bodyPr spcFirstLastPara="1" wrap="square" lIns="91425" tIns="91440" rIns="91425" bIns="91440" anchor="ctr" anchorCtr="0">
              <a:spAutoFit/>
            </a:bodyPr>
            <a:lstStyle/>
            <a:p>
              <a:pPr lvl="0" algn="ctr">
                <a:lnSpc>
                  <a:spcPct val="90000"/>
                </a:lnSpc>
              </a:pPr>
              <a:r>
                <a:rPr lang="en-US" sz="1300">
                  <a:solidFill>
                    <a:srgbClr val="00002D"/>
                  </a:solidFill>
                </a:rPr>
                <a:t>Augment existing ways</a:t>
              </a:r>
              <a:br>
                <a:rPr lang="en-US" sz="1300">
                  <a:solidFill>
                    <a:srgbClr val="00002D"/>
                  </a:solidFill>
                </a:rPr>
              </a:br>
              <a:r>
                <a:rPr lang="en-US" sz="1300">
                  <a:solidFill>
                    <a:srgbClr val="00002D"/>
                  </a:solidFill>
                </a:rPr>
                <a:t>of working with AI</a:t>
              </a:r>
            </a:p>
          </p:txBody>
        </p:sp>
      </p:grpSp>
      <p:cxnSp>
        <p:nvCxnSpPr>
          <p:cNvPr id="34" name="Straight Connector 33">
            <a:extLst>
              <a:ext uri="{FF2B5EF4-FFF2-40B4-BE49-F238E27FC236}">
                <a16:creationId xmlns:a16="http://schemas.microsoft.com/office/drawing/2014/main" id="{478E4E1C-51D6-2763-0160-A84A2FAE3AFC}"/>
              </a:ext>
            </a:extLst>
          </p:cNvPr>
          <p:cNvCxnSpPr>
            <a:cxnSpLocks/>
          </p:cNvCxnSpPr>
          <p:nvPr/>
        </p:nvCxnSpPr>
        <p:spPr>
          <a:xfrm>
            <a:off x="3084492" y="3535319"/>
            <a:ext cx="0" cy="1265776"/>
          </a:xfrm>
          <a:prstGeom prst="line">
            <a:avLst/>
          </a:prstGeom>
          <a:ln w="19050">
            <a:solidFill>
              <a:srgbClr val="707996"/>
            </a:solidFill>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EEB1877-65F5-EA07-72D2-50C035604EE0}"/>
              </a:ext>
            </a:extLst>
          </p:cNvPr>
          <p:cNvCxnSpPr>
            <a:cxnSpLocks/>
          </p:cNvCxnSpPr>
          <p:nvPr/>
        </p:nvCxnSpPr>
        <p:spPr>
          <a:xfrm flipH="1">
            <a:off x="3082528" y="4023662"/>
            <a:ext cx="257522" cy="0"/>
          </a:xfrm>
          <a:prstGeom prst="line">
            <a:avLst/>
          </a:prstGeom>
          <a:ln w="19050">
            <a:solidFill>
              <a:srgbClr val="707996"/>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5B7B7BE-66AD-4843-8245-32C08E5C29E7}"/>
              </a:ext>
            </a:extLst>
          </p:cNvPr>
          <p:cNvCxnSpPr>
            <a:cxnSpLocks/>
          </p:cNvCxnSpPr>
          <p:nvPr/>
        </p:nvCxnSpPr>
        <p:spPr>
          <a:xfrm flipH="1">
            <a:off x="3082528" y="4790691"/>
            <a:ext cx="257522" cy="0"/>
          </a:xfrm>
          <a:prstGeom prst="line">
            <a:avLst/>
          </a:prstGeom>
          <a:ln w="19050">
            <a:solidFill>
              <a:srgbClr val="707996"/>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0B1A2FDD-E4AD-0435-8409-F128AC0BA4BB}"/>
              </a:ext>
            </a:extLst>
          </p:cNvPr>
          <p:cNvGrpSpPr/>
          <p:nvPr/>
        </p:nvGrpSpPr>
        <p:grpSpPr>
          <a:xfrm>
            <a:off x="2297443" y="1968000"/>
            <a:ext cx="194412" cy="533769"/>
            <a:chOff x="2297443" y="1968000"/>
            <a:chExt cx="194412" cy="533769"/>
          </a:xfrm>
        </p:grpSpPr>
        <p:cxnSp>
          <p:nvCxnSpPr>
            <p:cNvPr id="60" name="Straight Connector 59">
              <a:extLst>
                <a:ext uri="{FF2B5EF4-FFF2-40B4-BE49-F238E27FC236}">
                  <a16:creationId xmlns:a16="http://schemas.microsoft.com/office/drawing/2014/main" id="{A2754CC5-4776-B460-6636-7DC7A0A8164E}"/>
                </a:ext>
              </a:extLst>
            </p:cNvPr>
            <p:cNvCxnSpPr>
              <a:cxnSpLocks/>
            </p:cNvCxnSpPr>
            <p:nvPr/>
          </p:nvCxnSpPr>
          <p:spPr>
            <a:xfrm>
              <a:off x="2306968" y="1968000"/>
              <a:ext cx="0" cy="533769"/>
            </a:xfrm>
            <a:prstGeom prst="line">
              <a:avLst/>
            </a:prstGeom>
            <a:ln w="19050">
              <a:solidFill>
                <a:srgbClr val="707996"/>
              </a:solidFill>
              <a:tailEnd type="none" w="lg"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950E71D-F165-216B-1AAB-4EFE68B77A10}"/>
                </a:ext>
              </a:extLst>
            </p:cNvPr>
            <p:cNvCxnSpPr>
              <a:cxnSpLocks/>
            </p:cNvCxnSpPr>
            <p:nvPr/>
          </p:nvCxnSpPr>
          <p:spPr>
            <a:xfrm flipH="1">
              <a:off x="2297443" y="2496479"/>
              <a:ext cx="194412" cy="0"/>
            </a:xfrm>
            <a:prstGeom prst="line">
              <a:avLst/>
            </a:prstGeom>
            <a:ln w="19050">
              <a:solidFill>
                <a:srgbClr val="707996"/>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55" name="Google Shape;266;p3">
            <a:extLst>
              <a:ext uri="{FF2B5EF4-FFF2-40B4-BE49-F238E27FC236}">
                <a16:creationId xmlns:a16="http://schemas.microsoft.com/office/drawing/2014/main" id="{FD44E119-D447-304C-4A47-B44CC1FC00F0}"/>
              </a:ext>
            </a:extLst>
          </p:cNvPr>
          <p:cNvSpPr/>
          <p:nvPr/>
        </p:nvSpPr>
        <p:spPr>
          <a:xfrm>
            <a:off x="2100282" y="1463945"/>
            <a:ext cx="2651244" cy="544765"/>
          </a:xfrm>
          <a:prstGeom prst="rect">
            <a:avLst/>
          </a:prstGeom>
          <a:solidFill>
            <a:srgbClr val="FFFFFF"/>
          </a:solidFill>
          <a:ln w="19050">
            <a:solidFill>
              <a:srgbClr val="1F96FF"/>
            </a:solidFill>
          </a:ln>
        </p:spPr>
        <p:txBody>
          <a:bodyPr spcFirstLastPara="1" wrap="square" lIns="91425" tIns="91440" rIns="91425" bIns="91440" anchor="ctr" anchorCtr="0">
            <a:spAutoFit/>
          </a:bodyPr>
          <a:lstStyle/>
          <a:p>
            <a:pPr lvl="0" algn="ctr">
              <a:lnSpc>
                <a:spcPct val="90000"/>
              </a:lnSpc>
            </a:pPr>
            <a:r>
              <a:rPr lang="en-US" sz="1300"/>
              <a:t>Promote new AI use cases</a:t>
            </a:r>
          </a:p>
          <a:p>
            <a:pPr lvl="0" algn="ctr">
              <a:lnSpc>
                <a:spcPct val="90000"/>
              </a:lnSpc>
            </a:pPr>
            <a:r>
              <a:rPr lang="en-US" sz="1300"/>
              <a:t>in HR workflows</a:t>
            </a:r>
          </a:p>
        </p:txBody>
      </p:sp>
      <p:cxnSp>
        <p:nvCxnSpPr>
          <p:cNvPr id="12" name="Straight Connector 11">
            <a:extLst>
              <a:ext uri="{FF2B5EF4-FFF2-40B4-BE49-F238E27FC236}">
                <a16:creationId xmlns:a16="http://schemas.microsoft.com/office/drawing/2014/main" id="{171C3BD9-7FDB-9AD4-359C-23E3D4D3944E}"/>
              </a:ext>
            </a:extLst>
          </p:cNvPr>
          <p:cNvCxnSpPr>
            <a:cxnSpLocks/>
          </p:cNvCxnSpPr>
          <p:nvPr/>
        </p:nvCxnSpPr>
        <p:spPr>
          <a:xfrm flipH="1">
            <a:off x="5610745" y="3256633"/>
            <a:ext cx="1337600" cy="0"/>
          </a:xfrm>
          <a:prstGeom prst="line">
            <a:avLst/>
          </a:prstGeom>
          <a:ln w="19050">
            <a:solidFill>
              <a:srgbClr val="707996"/>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sp>
        <p:nvSpPr>
          <p:cNvPr id="13" name="Google Shape;268;p3">
            <a:extLst>
              <a:ext uri="{FF2B5EF4-FFF2-40B4-BE49-F238E27FC236}">
                <a16:creationId xmlns:a16="http://schemas.microsoft.com/office/drawing/2014/main" id="{89B7D2A4-072B-2E29-E659-F7F195C6DFEC}"/>
              </a:ext>
            </a:extLst>
          </p:cNvPr>
          <p:cNvSpPr/>
          <p:nvPr/>
        </p:nvSpPr>
        <p:spPr>
          <a:xfrm>
            <a:off x="2959501" y="2984250"/>
            <a:ext cx="2651244" cy="544765"/>
          </a:xfrm>
          <a:prstGeom prst="rect">
            <a:avLst/>
          </a:prstGeom>
          <a:solidFill>
            <a:srgbClr val="FFFFFF"/>
          </a:solidFill>
          <a:ln w="19050">
            <a:solidFill>
              <a:srgbClr val="1F96FF"/>
            </a:solidFill>
          </a:ln>
        </p:spPr>
        <p:txBody>
          <a:bodyPr spcFirstLastPara="1" wrap="square" lIns="91425" tIns="91440" rIns="91425" bIns="91440" anchor="ctr" anchorCtr="0">
            <a:spAutoFit/>
          </a:bodyPr>
          <a:lstStyle/>
          <a:p>
            <a:pPr algn="ctr">
              <a:lnSpc>
                <a:spcPct val="90000"/>
              </a:lnSpc>
            </a:pPr>
            <a:r>
              <a:rPr lang="en-US" sz="1300" dirty="0">
                <a:solidFill>
                  <a:srgbClr val="000000"/>
                </a:solidFill>
                <a:ea typeface="Arial"/>
                <a:cs typeface="Arial"/>
                <a:sym typeface="Arial"/>
              </a:rPr>
              <a:t>Define the role of humans and AI</a:t>
            </a:r>
            <a:br>
              <a:rPr lang="en-US" sz="1300" dirty="0">
                <a:solidFill>
                  <a:srgbClr val="000000"/>
                </a:solidFill>
                <a:ea typeface="Arial"/>
                <a:cs typeface="Arial"/>
                <a:sym typeface="Arial"/>
              </a:rPr>
            </a:br>
            <a:r>
              <a:rPr lang="en-US" sz="1300" dirty="0">
                <a:solidFill>
                  <a:srgbClr val="000000"/>
                </a:solidFill>
                <a:ea typeface="Arial"/>
                <a:cs typeface="Arial"/>
                <a:sym typeface="Arial"/>
              </a:rPr>
              <a:t>in HR value streams</a:t>
            </a:r>
            <a:endParaRPr lang="en-US" sz="1300" dirty="0"/>
          </a:p>
        </p:txBody>
      </p:sp>
      <p:pic>
        <p:nvPicPr>
          <p:cNvPr id="33" name="Graphic 32">
            <a:hlinkClick r:id="rId4" action="ppaction://hlinksldjump"/>
            <a:extLst>
              <a:ext uri="{FF2B5EF4-FFF2-40B4-BE49-F238E27FC236}">
                <a16:creationId xmlns:a16="http://schemas.microsoft.com/office/drawing/2014/main" id="{5FEF79A9-0391-E493-25AF-2CEF6CA8970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291401" y="391876"/>
            <a:ext cx="503201" cy="391379"/>
          </a:xfrm>
          <a:prstGeom prst="rect">
            <a:avLst/>
          </a:prstGeom>
        </p:spPr>
      </p:pic>
    </p:spTree>
    <p:extLst>
      <p:ext uri="{BB962C8B-B14F-4D97-AF65-F5344CB8AC3E}">
        <p14:creationId xmlns:p14="http://schemas.microsoft.com/office/powerpoint/2010/main" val="11502174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F322B-7C8A-B8AA-0A40-350FFF254377}"/>
            </a:ext>
          </a:extLst>
        </p:cNvPr>
        <p:cNvGrpSpPr/>
        <p:nvPr/>
      </p:nvGrpSpPr>
      <p:grpSpPr>
        <a:xfrm>
          <a:off x="0" y="0"/>
          <a:ext cx="0" cy="0"/>
          <a:chOff x="0" y="0"/>
          <a:chExt cx="0" cy="0"/>
        </a:xfrm>
      </p:grpSpPr>
      <p:sp>
        <p:nvSpPr>
          <p:cNvPr id="61" name="Rectangle 60">
            <a:extLst>
              <a:ext uri="{FF2B5EF4-FFF2-40B4-BE49-F238E27FC236}">
                <a16:creationId xmlns:a16="http://schemas.microsoft.com/office/drawing/2014/main" id="{BBCB000E-83B1-2626-4CEB-2517E3E55D6E}"/>
              </a:ext>
            </a:extLst>
          </p:cNvPr>
          <p:cNvSpPr/>
          <p:nvPr/>
        </p:nvSpPr>
        <p:spPr>
          <a:xfrm>
            <a:off x="1924593" y="1296751"/>
            <a:ext cx="9819732" cy="4695663"/>
          </a:xfrm>
          <a:prstGeom prst="rect">
            <a:avLst/>
          </a:prstGeom>
          <a:solidFill>
            <a:srgbClr val="E0F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900" err="1">
              <a:solidFill>
                <a:schemeClr val="bg1"/>
              </a:solidFill>
            </a:endParaRPr>
          </a:p>
        </p:txBody>
      </p:sp>
      <p:sp>
        <p:nvSpPr>
          <p:cNvPr id="2" name="Title 1">
            <a:extLst>
              <a:ext uri="{FF2B5EF4-FFF2-40B4-BE49-F238E27FC236}">
                <a16:creationId xmlns:a16="http://schemas.microsoft.com/office/drawing/2014/main" id="{99E08073-261C-7DD8-0441-1324FFA3215D}"/>
              </a:ext>
            </a:extLst>
          </p:cNvPr>
          <p:cNvSpPr>
            <a:spLocks noGrp="1"/>
          </p:cNvSpPr>
          <p:nvPr>
            <p:ph type="title"/>
          </p:nvPr>
        </p:nvSpPr>
        <p:spPr/>
        <p:txBody>
          <a:bodyPr/>
          <a:lstStyle/>
          <a:p>
            <a:r>
              <a:rPr lang="en-US"/>
              <a:t>AI People and Culture for the HR Function Roadmap Activities</a:t>
            </a:r>
          </a:p>
        </p:txBody>
      </p:sp>
      <p:grpSp>
        <p:nvGrpSpPr>
          <p:cNvPr id="54" name="Group 53">
            <a:extLst>
              <a:ext uri="{FF2B5EF4-FFF2-40B4-BE49-F238E27FC236}">
                <a16:creationId xmlns:a16="http://schemas.microsoft.com/office/drawing/2014/main" id="{58F652C2-3D15-E5B9-732E-15CA663F06F0}"/>
              </a:ext>
            </a:extLst>
          </p:cNvPr>
          <p:cNvGrpSpPr/>
          <p:nvPr/>
        </p:nvGrpSpPr>
        <p:grpSpPr>
          <a:xfrm>
            <a:off x="1924593" y="973101"/>
            <a:ext cx="9819732" cy="292347"/>
            <a:chOff x="2024874" y="1175154"/>
            <a:chExt cx="9713101" cy="292347"/>
          </a:xfrm>
        </p:grpSpPr>
        <p:cxnSp>
          <p:nvCxnSpPr>
            <p:cNvPr id="43" name="Google Shape;320;p3">
              <a:extLst>
                <a:ext uri="{FF2B5EF4-FFF2-40B4-BE49-F238E27FC236}">
                  <a16:creationId xmlns:a16="http://schemas.microsoft.com/office/drawing/2014/main" id="{A4A05DDC-CC65-F983-CA67-7B2BAC63CE0C}"/>
                </a:ext>
              </a:extLst>
            </p:cNvPr>
            <p:cNvCxnSpPr>
              <a:cxnSpLocks/>
            </p:cNvCxnSpPr>
            <p:nvPr/>
          </p:nvCxnSpPr>
          <p:spPr>
            <a:xfrm>
              <a:off x="2024874" y="1321328"/>
              <a:ext cx="9713101" cy="0"/>
            </a:xfrm>
            <a:prstGeom prst="straightConnector1">
              <a:avLst/>
            </a:prstGeom>
            <a:noFill/>
            <a:ln w="19050" cap="flat" cmpd="sng">
              <a:solidFill>
                <a:srgbClr val="707996"/>
              </a:solidFill>
              <a:prstDash val="solid"/>
              <a:round/>
              <a:headEnd type="none" w="sm" len="sm"/>
              <a:tailEnd type="none" w="sm" len="sm"/>
            </a:ln>
          </p:spPr>
        </p:cxnSp>
        <p:sp>
          <p:nvSpPr>
            <p:cNvPr id="44" name="Google Shape;321;p3">
              <a:extLst>
                <a:ext uri="{FF2B5EF4-FFF2-40B4-BE49-F238E27FC236}">
                  <a16:creationId xmlns:a16="http://schemas.microsoft.com/office/drawing/2014/main" id="{5F6240F0-E876-3FEC-863E-01574EA1A397}"/>
                </a:ext>
              </a:extLst>
            </p:cNvPr>
            <p:cNvSpPr txBox="1"/>
            <p:nvPr/>
          </p:nvSpPr>
          <p:spPr>
            <a:xfrm>
              <a:off x="2152860" y="1175154"/>
              <a:ext cx="1399564" cy="292347"/>
            </a:xfrm>
            <a:prstGeom prst="rect">
              <a:avLst/>
            </a:prstGeom>
            <a:solidFill>
              <a:schemeClr val="lt1"/>
            </a:solidFill>
            <a:ln>
              <a:noFill/>
            </a:ln>
          </p:spPr>
          <p:txBody>
            <a:bodyPr spcFirstLastPara="1" wrap="square" lIns="0" tIns="45700" rIns="0"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300" b="1" i="0" u="none" strike="noStrike" cap="none">
                  <a:solidFill>
                    <a:srgbClr val="000000"/>
                  </a:solidFill>
                  <a:latin typeface="+mj-lt"/>
                  <a:ea typeface="Arial"/>
                  <a:cs typeface="Arial"/>
                  <a:sym typeface="Arial"/>
                </a:rPr>
                <a:t>Initial activities</a:t>
              </a:r>
              <a:endParaRPr lang="en-US" sz="1300">
                <a:latin typeface="+mj-lt"/>
              </a:endParaRPr>
            </a:p>
          </p:txBody>
        </p:sp>
        <p:sp>
          <p:nvSpPr>
            <p:cNvPr id="45" name="Google Shape;322;p3">
              <a:extLst>
                <a:ext uri="{FF2B5EF4-FFF2-40B4-BE49-F238E27FC236}">
                  <a16:creationId xmlns:a16="http://schemas.microsoft.com/office/drawing/2014/main" id="{ACBAF2EC-1CC2-B78D-AC55-E6812B7DA616}"/>
                </a:ext>
              </a:extLst>
            </p:cNvPr>
            <p:cNvSpPr txBox="1"/>
            <p:nvPr/>
          </p:nvSpPr>
          <p:spPr>
            <a:xfrm>
              <a:off x="9804759" y="1175154"/>
              <a:ext cx="1796256" cy="292347"/>
            </a:xfrm>
            <a:prstGeom prst="rect">
              <a:avLst/>
            </a:prstGeom>
            <a:solidFill>
              <a:schemeClr val="lt1"/>
            </a:solid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i="0" u="none" strike="noStrike" cap="none">
                  <a:solidFill>
                    <a:srgbClr val="000000"/>
                  </a:solidFill>
                  <a:latin typeface="+mj-lt"/>
                  <a:ea typeface="Arial"/>
                  <a:cs typeface="Arial"/>
                  <a:sym typeface="Arial"/>
                </a:rPr>
                <a:t>Advanced </a:t>
              </a:r>
              <a:r>
                <a:rPr lang="en-US" sz="1300" b="1">
                  <a:solidFill>
                    <a:srgbClr val="000000"/>
                  </a:solidFill>
                  <a:latin typeface="+mj-lt"/>
                  <a:ea typeface="Arial"/>
                  <a:cs typeface="Arial"/>
                  <a:sym typeface="Arial"/>
                </a:rPr>
                <a:t>activities</a:t>
              </a:r>
              <a:endParaRPr lang="en-US" sz="1300" b="1" i="0" u="none" strike="noStrike" cap="none">
                <a:solidFill>
                  <a:srgbClr val="000000"/>
                </a:solidFill>
                <a:latin typeface="+mj-lt"/>
                <a:ea typeface="Arial"/>
                <a:cs typeface="Arial"/>
                <a:sym typeface="Arial"/>
              </a:endParaRPr>
            </a:p>
          </p:txBody>
        </p:sp>
      </p:grpSp>
      <p:sp>
        <p:nvSpPr>
          <p:cNvPr id="5" name="Google Shape;352;p4">
            <a:extLst>
              <a:ext uri="{FF2B5EF4-FFF2-40B4-BE49-F238E27FC236}">
                <a16:creationId xmlns:a16="http://schemas.microsoft.com/office/drawing/2014/main" id="{7332BF32-7107-E634-C1D4-D5C2A4166FF6}"/>
              </a:ext>
            </a:extLst>
          </p:cNvPr>
          <p:cNvSpPr txBox="1"/>
          <p:nvPr/>
        </p:nvSpPr>
        <p:spPr>
          <a:xfrm>
            <a:off x="371475" y="5995191"/>
            <a:ext cx="6096000" cy="276979"/>
          </a:xfrm>
          <a:prstGeom prst="rect">
            <a:avLst/>
          </a:prstGeom>
          <a:noFill/>
          <a:ln>
            <a:noFill/>
          </a:ln>
        </p:spPr>
        <p:txBody>
          <a:bodyPr spcFirstLastPara="1" wrap="square" lIns="91440" tIns="91440" rIns="91440"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IN" sz="900"/>
              <a:t>See Appendix for detailed descriptions </a:t>
            </a:r>
            <a:r>
              <a:rPr lang="en-IN" sz="900">
                <a:latin typeface="+mj-lt"/>
                <a:hlinkClick r:id="rId2" action="ppaction://hlinksldjump"/>
              </a:rPr>
              <a:t>(click here)</a:t>
            </a:r>
            <a:endParaRPr lang="en-IN" sz="900">
              <a:latin typeface="+mj-lt"/>
            </a:endParaRPr>
          </a:p>
        </p:txBody>
      </p:sp>
      <p:sp>
        <p:nvSpPr>
          <p:cNvPr id="3" name="Google Shape;265;p3">
            <a:extLst>
              <a:ext uri="{FF2B5EF4-FFF2-40B4-BE49-F238E27FC236}">
                <a16:creationId xmlns:a16="http://schemas.microsoft.com/office/drawing/2014/main" id="{1714AB01-DDD6-E8B9-7F8C-91D41E0C1111}"/>
              </a:ext>
            </a:extLst>
          </p:cNvPr>
          <p:cNvSpPr/>
          <p:nvPr/>
        </p:nvSpPr>
        <p:spPr>
          <a:xfrm>
            <a:off x="458801" y="1293974"/>
            <a:ext cx="1379008" cy="4695664"/>
          </a:xfrm>
          <a:prstGeom prst="rect">
            <a:avLst/>
          </a:prstGeom>
          <a:solidFill>
            <a:srgbClr val="9673BE"/>
          </a:solidFill>
          <a:ln>
            <a:noFill/>
          </a:ln>
        </p:spPr>
        <p:txBody>
          <a:bodyPr spcFirstLastPara="1" wrap="square" lIns="91440" tIns="91440" rIns="91440" bIns="91440" anchor="ctr" anchorCtr="0">
            <a:noAutofit/>
          </a:bodyPr>
          <a:lstStyle/>
          <a:p>
            <a:pPr lvl="0" algn="ctr">
              <a:lnSpc>
                <a:spcPct val="90000"/>
              </a:lnSpc>
              <a:buClr>
                <a:srgbClr val="000000"/>
              </a:buClr>
              <a:buSzPts val="1000"/>
            </a:pPr>
            <a:endParaRPr lang="en-US" sz="1400">
              <a:solidFill>
                <a:srgbClr val="FFFFFF"/>
              </a:solidFill>
              <a:latin typeface="+mj-lt"/>
            </a:endParaRPr>
          </a:p>
        </p:txBody>
      </p:sp>
      <p:grpSp>
        <p:nvGrpSpPr>
          <p:cNvPr id="8" name="Group 7">
            <a:extLst>
              <a:ext uri="{FF2B5EF4-FFF2-40B4-BE49-F238E27FC236}">
                <a16:creationId xmlns:a16="http://schemas.microsoft.com/office/drawing/2014/main" id="{EB24ED7F-6F56-D4EE-04F6-54056613DA15}"/>
              </a:ext>
            </a:extLst>
          </p:cNvPr>
          <p:cNvGrpSpPr/>
          <p:nvPr/>
        </p:nvGrpSpPr>
        <p:grpSpPr>
          <a:xfrm>
            <a:off x="467251" y="2967982"/>
            <a:ext cx="1380609" cy="1347647"/>
            <a:chOff x="467251" y="3068333"/>
            <a:chExt cx="1380609" cy="1347647"/>
          </a:xfrm>
        </p:grpSpPr>
        <p:sp>
          <p:nvSpPr>
            <p:cNvPr id="6" name="TextBox 5">
              <a:extLst>
                <a:ext uri="{FF2B5EF4-FFF2-40B4-BE49-F238E27FC236}">
                  <a16:creationId xmlns:a16="http://schemas.microsoft.com/office/drawing/2014/main" id="{A40E092A-688A-18E5-1D60-4B968F4E23A9}"/>
                </a:ext>
              </a:extLst>
            </p:cNvPr>
            <p:cNvSpPr txBox="1"/>
            <p:nvPr/>
          </p:nvSpPr>
          <p:spPr>
            <a:xfrm>
              <a:off x="467251" y="3431095"/>
              <a:ext cx="1380609" cy="984885"/>
            </a:xfrm>
            <a:prstGeom prst="rect">
              <a:avLst/>
            </a:prstGeom>
            <a:noFill/>
          </p:spPr>
          <p:txBody>
            <a:bodyPr wrap="square" lIns="91440" tIns="91440" rIns="91440" bIns="91440" rtlCol="0">
              <a:spAutoFit/>
            </a:bodyPr>
            <a:lstStyle/>
            <a:p>
              <a:pPr algn="ctr">
                <a:spcBef>
                  <a:spcPts val="600"/>
                </a:spcBef>
              </a:pPr>
              <a:r>
                <a:rPr lang="en-US" sz="1300">
                  <a:solidFill>
                    <a:srgbClr val="FFFFFF"/>
                  </a:solidFill>
                  <a:latin typeface="+mj-lt"/>
                </a:rPr>
                <a:t>AI people</a:t>
              </a:r>
              <a:br>
                <a:rPr lang="en-US" sz="1300">
                  <a:solidFill>
                    <a:srgbClr val="FFFFFF"/>
                  </a:solidFill>
                  <a:latin typeface="+mj-lt"/>
                </a:rPr>
              </a:br>
              <a:r>
                <a:rPr lang="en-US" sz="1300">
                  <a:solidFill>
                    <a:srgbClr val="FFFFFF"/>
                  </a:solidFill>
                  <a:latin typeface="+mj-lt"/>
                </a:rPr>
                <a:t>and culture</a:t>
              </a:r>
              <a:br>
                <a:rPr lang="en-US" sz="1300">
                  <a:solidFill>
                    <a:srgbClr val="FFFFFF"/>
                  </a:solidFill>
                  <a:latin typeface="+mj-lt"/>
                </a:rPr>
              </a:br>
              <a:r>
                <a:rPr lang="en-US" sz="1300">
                  <a:solidFill>
                    <a:srgbClr val="FFFFFF"/>
                  </a:solidFill>
                  <a:latin typeface="+mj-lt"/>
                </a:rPr>
                <a:t>for the HR function</a:t>
              </a:r>
            </a:p>
          </p:txBody>
        </p:sp>
        <p:pic>
          <p:nvPicPr>
            <p:cNvPr id="4" name="Graphic 3">
              <a:extLst>
                <a:ext uri="{FF2B5EF4-FFF2-40B4-BE49-F238E27FC236}">
                  <a16:creationId xmlns:a16="http://schemas.microsoft.com/office/drawing/2014/main" id="{DDC565EB-4013-CD74-97D8-0885340C4C4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09905" y="3068333"/>
              <a:ext cx="495300" cy="385234"/>
            </a:xfrm>
            <a:prstGeom prst="rect">
              <a:avLst/>
            </a:prstGeom>
          </p:spPr>
        </p:pic>
      </p:grpSp>
      <p:sp>
        <p:nvSpPr>
          <p:cNvPr id="14" name="Google Shape;268;p3">
            <a:extLst>
              <a:ext uri="{FF2B5EF4-FFF2-40B4-BE49-F238E27FC236}">
                <a16:creationId xmlns:a16="http://schemas.microsoft.com/office/drawing/2014/main" id="{7D005F80-76A0-7F0F-3EBB-DD10F64CE69F}"/>
              </a:ext>
            </a:extLst>
          </p:cNvPr>
          <p:cNvSpPr/>
          <p:nvPr/>
        </p:nvSpPr>
        <p:spPr>
          <a:xfrm>
            <a:off x="6094477" y="2988128"/>
            <a:ext cx="2643124" cy="544765"/>
          </a:xfrm>
          <a:prstGeom prst="rect">
            <a:avLst/>
          </a:prstGeom>
          <a:solidFill>
            <a:srgbClr val="FFFFFF"/>
          </a:solidFill>
          <a:ln w="19050">
            <a:solidFill>
              <a:srgbClr val="9673BE"/>
            </a:solidFill>
          </a:ln>
        </p:spPr>
        <p:txBody>
          <a:bodyPr spcFirstLastPara="1" wrap="square" lIns="91425" tIns="91440" rIns="91425" bIns="91440" anchor="ctr" anchorCtr="0">
            <a:spAutoFit/>
          </a:bodyPr>
          <a:lstStyle/>
          <a:p>
            <a:pPr algn="ctr">
              <a:lnSpc>
                <a:spcPct val="90000"/>
              </a:lnSpc>
            </a:pPr>
            <a:r>
              <a:rPr lang="en-US" sz="1300"/>
              <a:t>Integrate AI literacy into</a:t>
            </a:r>
            <a:br>
              <a:rPr lang="en-US" sz="1300"/>
            </a:br>
            <a:r>
              <a:rPr lang="en-US" sz="1300"/>
              <a:t>broader L&amp;D programs</a:t>
            </a:r>
          </a:p>
        </p:txBody>
      </p:sp>
      <p:sp>
        <p:nvSpPr>
          <p:cNvPr id="23" name="Google Shape;268;p3">
            <a:extLst>
              <a:ext uri="{FF2B5EF4-FFF2-40B4-BE49-F238E27FC236}">
                <a16:creationId xmlns:a16="http://schemas.microsoft.com/office/drawing/2014/main" id="{BFED1712-3259-02CC-8EA8-DDDE4F605941}"/>
              </a:ext>
            </a:extLst>
          </p:cNvPr>
          <p:cNvSpPr/>
          <p:nvPr/>
        </p:nvSpPr>
        <p:spPr>
          <a:xfrm>
            <a:off x="3416015" y="5287395"/>
            <a:ext cx="3187679" cy="544765"/>
          </a:xfrm>
          <a:prstGeom prst="rect">
            <a:avLst/>
          </a:prstGeom>
          <a:solidFill>
            <a:srgbClr val="FFFFFF"/>
          </a:solidFill>
          <a:ln w="19050">
            <a:solidFill>
              <a:srgbClr val="9673BE"/>
            </a:solidFill>
          </a:ln>
        </p:spPr>
        <p:txBody>
          <a:bodyPr spcFirstLastPara="1" wrap="square" lIns="91425" tIns="91440" rIns="91425" bIns="91440" anchor="ctr" anchorCtr="0">
            <a:spAutoFit/>
          </a:bodyPr>
          <a:lstStyle/>
          <a:p>
            <a:pPr algn="ctr">
              <a:lnSpc>
                <a:spcPct val="90000"/>
              </a:lnSpc>
            </a:pPr>
            <a:r>
              <a:rPr lang="en-US" sz="1300"/>
              <a:t>Design targeted interventions to</a:t>
            </a:r>
            <a:br>
              <a:rPr lang="en-US" sz="1300"/>
            </a:br>
            <a:r>
              <a:rPr lang="en-US" sz="1300"/>
              <a:t>future-proof the workforce for AI</a:t>
            </a:r>
          </a:p>
        </p:txBody>
      </p:sp>
      <p:cxnSp>
        <p:nvCxnSpPr>
          <p:cNvPr id="37" name="Straight Connector 36">
            <a:extLst>
              <a:ext uri="{FF2B5EF4-FFF2-40B4-BE49-F238E27FC236}">
                <a16:creationId xmlns:a16="http://schemas.microsoft.com/office/drawing/2014/main" id="{6439550D-046A-2C2C-100B-033825B3C0C9}"/>
              </a:ext>
            </a:extLst>
          </p:cNvPr>
          <p:cNvCxnSpPr>
            <a:cxnSpLocks/>
          </p:cNvCxnSpPr>
          <p:nvPr/>
        </p:nvCxnSpPr>
        <p:spPr>
          <a:xfrm flipH="1">
            <a:off x="2210991" y="5559777"/>
            <a:ext cx="1176734" cy="0"/>
          </a:xfrm>
          <a:prstGeom prst="line">
            <a:avLst/>
          </a:prstGeom>
          <a:ln w="19050">
            <a:solidFill>
              <a:srgbClr val="707996"/>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1E5A0B0B-0A19-0F5C-AB89-5C21AB57A1FD}"/>
              </a:ext>
            </a:extLst>
          </p:cNvPr>
          <p:cNvCxnSpPr>
            <a:cxnSpLocks/>
          </p:cNvCxnSpPr>
          <p:nvPr/>
        </p:nvCxnSpPr>
        <p:spPr>
          <a:xfrm>
            <a:off x="2213044" y="1929314"/>
            <a:ext cx="0" cy="3640180"/>
          </a:xfrm>
          <a:prstGeom prst="line">
            <a:avLst/>
          </a:prstGeom>
          <a:ln w="19050">
            <a:solidFill>
              <a:srgbClr val="707996"/>
            </a:solidFill>
            <a:tailEnd type="none" w="lg"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FFC7CB8-6B09-E2B2-9496-0F17732B3D92}"/>
              </a:ext>
            </a:extLst>
          </p:cNvPr>
          <p:cNvCxnSpPr>
            <a:cxnSpLocks/>
          </p:cNvCxnSpPr>
          <p:nvPr/>
        </p:nvCxnSpPr>
        <p:spPr>
          <a:xfrm flipH="1">
            <a:off x="2210991" y="2752449"/>
            <a:ext cx="286696" cy="0"/>
          </a:xfrm>
          <a:prstGeom prst="line">
            <a:avLst/>
          </a:prstGeom>
          <a:ln w="19050">
            <a:solidFill>
              <a:srgbClr val="707996"/>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sp>
        <p:nvSpPr>
          <p:cNvPr id="55" name="Google Shape;266;p3">
            <a:extLst>
              <a:ext uri="{FF2B5EF4-FFF2-40B4-BE49-F238E27FC236}">
                <a16:creationId xmlns:a16="http://schemas.microsoft.com/office/drawing/2014/main" id="{1FD7D3C8-D119-4D72-68D3-F4C2B96246CD}"/>
              </a:ext>
            </a:extLst>
          </p:cNvPr>
          <p:cNvSpPr/>
          <p:nvPr/>
        </p:nvSpPr>
        <p:spPr>
          <a:xfrm>
            <a:off x="2100282" y="1463945"/>
            <a:ext cx="4251658" cy="544761"/>
          </a:xfrm>
          <a:prstGeom prst="rect">
            <a:avLst/>
          </a:prstGeom>
          <a:solidFill>
            <a:srgbClr val="FFFFFF"/>
          </a:solidFill>
          <a:ln w="19050">
            <a:solidFill>
              <a:srgbClr val="9673BE"/>
            </a:solidFill>
          </a:ln>
        </p:spPr>
        <p:txBody>
          <a:bodyPr spcFirstLastPara="1" wrap="square" lIns="91425" tIns="91440" rIns="91425" bIns="91440" anchor="ctr" anchorCtr="0">
            <a:noAutofit/>
          </a:bodyPr>
          <a:lstStyle/>
          <a:p>
            <a:pPr algn="ctr">
              <a:lnSpc>
                <a:spcPct val="90000"/>
              </a:lnSpc>
            </a:pPr>
            <a:r>
              <a:rPr lang="en-US" sz="1300"/>
              <a:t>Conduct an HR workforce sentiment and readiness assessment, and assess the impact of AI on HR</a:t>
            </a:r>
          </a:p>
        </p:txBody>
      </p:sp>
      <p:sp>
        <p:nvSpPr>
          <p:cNvPr id="7" name="Google Shape;268;p3">
            <a:extLst>
              <a:ext uri="{FF2B5EF4-FFF2-40B4-BE49-F238E27FC236}">
                <a16:creationId xmlns:a16="http://schemas.microsoft.com/office/drawing/2014/main" id="{ED66EAFD-1B05-A351-D7FC-5D4FD6282C6C}"/>
              </a:ext>
            </a:extLst>
          </p:cNvPr>
          <p:cNvSpPr/>
          <p:nvPr/>
        </p:nvSpPr>
        <p:spPr>
          <a:xfrm>
            <a:off x="6094477" y="4161807"/>
            <a:ext cx="2643124" cy="548640"/>
          </a:xfrm>
          <a:prstGeom prst="rect">
            <a:avLst/>
          </a:prstGeom>
          <a:solidFill>
            <a:srgbClr val="FFFFFF"/>
          </a:solidFill>
          <a:ln w="19050">
            <a:solidFill>
              <a:srgbClr val="9673BE"/>
            </a:solidFill>
          </a:ln>
        </p:spPr>
        <p:txBody>
          <a:bodyPr spcFirstLastPara="1" wrap="square" lIns="91425" tIns="91440" rIns="91425" bIns="91440" anchor="ctr" anchorCtr="0">
            <a:spAutoFit/>
          </a:bodyPr>
          <a:lstStyle/>
          <a:p>
            <a:pPr lvl="0" algn="ctr">
              <a:lnSpc>
                <a:spcPct val="90000"/>
              </a:lnSpc>
              <a:defRPr/>
            </a:pPr>
            <a:r>
              <a:rPr lang="en-US" sz="1300">
                <a:solidFill>
                  <a:srgbClr val="000000"/>
                </a:solidFill>
                <a:ea typeface="Arial"/>
                <a:cs typeface="Arial"/>
                <a:sym typeface="Arial"/>
              </a:rPr>
              <a:t>Foster an innovation culture</a:t>
            </a:r>
          </a:p>
        </p:txBody>
      </p:sp>
      <p:sp>
        <p:nvSpPr>
          <p:cNvPr id="9" name="Google Shape;268;p3">
            <a:extLst>
              <a:ext uri="{FF2B5EF4-FFF2-40B4-BE49-F238E27FC236}">
                <a16:creationId xmlns:a16="http://schemas.microsoft.com/office/drawing/2014/main" id="{9634E29C-F12A-F6DB-59AF-A0B1C90E4638}"/>
              </a:ext>
            </a:extLst>
          </p:cNvPr>
          <p:cNvSpPr/>
          <p:nvPr/>
        </p:nvSpPr>
        <p:spPr>
          <a:xfrm>
            <a:off x="8950211" y="4683335"/>
            <a:ext cx="2643124" cy="544765"/>
          </a:xfrm>
          <a:prstGeom prst="rect">
            <a:avLst/>
          </a:prstGeom>
          <a:solidFill>
            <a:srgbClr val="FFFFFF"/>
          </a:solidFill>
          <a:ln w="19050">
            <a:solidFill>
              <a:srgbClr val="9673BE"/>
            </a:solidFill>
          </a:ln>
        </p:spPr>
        <p:txBody>
          <a:bodyPr spcFirstLastPara="1" wrap="square" lIns="91425" tIns="91440" rIns="91425" bIns="91440" anchor="ctr" anchorCtr="0">
            <a:spAutoFit/>
          </a:bodyPr>
          <a:lstStyle/>
          <a:p>
            <a:pPr lvl="0" algn="ctr">
              <a:lnSpc>
                <a:spcPct val="90000"/>
              </a:lnSpc>
              <a:buClr>
                <a:srgbClr val="000000"/>
              </a:buClr>
              <a:buSzPts val="1200"/>
            </a:pPr>
            <a:r>
              <a:rPr lang="en-US" sz="1300">
                <a:solidFill>
                  <a:srgbClr val="000000"/>
                </a:solidFill>
                <a:ea typeface="Arial"/>
                <a:cs typeface="Arial"/>
                <a:sym typeface="Arial"/>
              </a:rPr>
              <a:t>Recognize and reward </a:t>
            </a:r>
            <a:endParaRPr lang="en-US" sz="1300"/>
          </a:p>
          <a:p>
            <a:pPr lvl="0" algn="ctr">
              <a:lnSpc>
                <a:spcPct val="90000"/>
              </a:lnSpc>
              <a:buClr>
                <a:srgbClr val="000000"/>
              </a:buClr>
              <a:buSzPts val="1200"/>
            </a:pPr>
            <a:r>
              <a:rPr lang="en-US" sz="1300">
                <a:solidFill>
                  <a:srgbClr val="000000"/>
                </a:solidFill>
                <a:ea typeface="Arial"/>
                <a:cs typeface="Arial"/>
                <a:sym typeface="Arial"/>
              </a:rPr>
              <a:t>AI-driven innovation</a:t>
            </a:r>
          </a:p>
        </p:txBody>
      </p:sp>
      <p:cxnSp>
        <p:nvCxnSpPr>
          <p:cNvPr id="47" name="Straight Connector 46">
            <a:extLst>
              <a:ext uri="{FF2B5EF4-FFF2-40B4-BE49-F238E27FC236}">
                <a16:creationId xmlns:a16="http://schemas.microsoft.com/office/drawing/2014/main" id="{8A6A9A3C-6391-77C9-04AD-7C8284E49E89}"/>
              </a:ext>
            </a:extLst>
          </p:cNvPr>
          <p:cNvCxnSpPr>
            <a:cxnSpLocks/>
          </p:cNvCxnSpPr>
          <p:nvPr/>
        </p:nvCxnSpPr>
        <p:spPr>
          <a:xfrm>
            <a:off x="4122992" y="3002607"/>
            <a:ext cx="0" cy="1442665"/>
          </a:xfrm>
          <a:prstGeom prst="line">
            <a:avLst/>
          </a:prstGeom>
          <a:ln w="19050">
            <a:solidFill>
              <a:srgbClr val="707996"/>
            </a:solidFill>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DC6B075D-DF95-3588-F5AB-CB07206308E8}"/>
              </a:ext>
            </a:extLst>
          </p:cNvPr>
          <p:cNvCxnSpPr>
            <a:cxnSpLocks/>
          </p:cNvCxnSpPr>
          <p:nvPr/>
        </p:nvCxnSpPr>
        <p:spPr>
          <a:xfrm flipH="1">
            <a:off x="4122992" y="4436127"/>
            <a:ext cx="1942910" cy="0"/>
          </a:xfrm>
          <a:prstGeom prst="line">
            <a:avLst/>
          </a:prstGeom>
          <a:ln w="19050">
            <a:solidFill>
              <a:srgbClr val="707996"/>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sp>
        <p:nvSpPr>
          <p:cNvPr id="13" name="Google Shape;268;p3">
            <a:extLst>
              <a:ext uri="{FF2B5EF4-FFF2-40B4-BE49-F238E27FC236}">
                <a16:creationId xmlns:a16="http://schemas.microsoft.com/office/drawing/2014/main" id="{A6866934-A323-A1BE-54BE-790BD0D975DA}"/>
              </a:ext>
            </a:extLst>
          </p:cNvPr>
          <p:cNvSpPr/>
          <p:nvPr/>
        </p:nvSpPr>
        <p:spPr>
          <a:xfrm>
            <a:off x="2529153" y="3496190"/>
            <a:ext cx="3187679" cy="544765"/>
          </a:xfrm>
          <a:prstGeom prst="rect">
            <a:avLst/>
          </a:prstGeom>
          <a:solidFill>
            <a:srgbClr val="FFFFFF"/>
          </a:solidFill>
          <a:ln w="19050">
            <a:solidFill>
              <a:srgbClr val="9673BE"/>
            </a:solidFill>
          </a:ln>
        </p:spPr>
        <p:txBody>
          <a:bodyPr spcFirstLastPara="1" wrap="square" lIns="91425" tIns="91440" rIns="91425" bIns="91440" anchor="ctr" anchorCtr="0">
            <a:spAutoFit/>
          </a:bodyPr>
          <a:lstStyle/>
          <a:p>
            <a:pPr lvl="0" algn="ctr">
              <a:lnSpc>
                <a:spcPct val="90000"/>
              </a:lnSpc>
            </a:pPr>
            <a:r>
              <a:rPr lang="en-US" sz="1300">
                <a:solidFill>
                  <a:srgbClr val="00002D"/>
                </a:solidFill>
                <a:ea typeface="Arial"/>
                <a:cs typeface="Arial"/>
                <a:sym typeface="Arial"/>
              </a:rPr>
              <a:t>Foster knowledge-sharing and best practice communities</a:t>
            </a:r>
          </a:p>
        </p:txBody>
      </p:sp>
      <p:sp>
        <p:nvSpPr>
          <p:cNvPr id="57" name="Google Shape;268;p3">
            <a:extLst>
              <a:ext uri="{FF2B5EF4-FFF2-40B4-BE49-F238E27FC236}">
                <a16:creationId xmlns:a16="http://schemas.microsoft.com/office/drawing/2014/main" id="{26911D91-3485-E585-A5B6-AB8B5ED30D9A}"/>
              </a:ext>
            </a:extLst>
          </p:cNvPr>
          <p:cNvSpPr/>
          <p:nvPr/>
        </p:nvSpPr>
        <p:spPr>
          <a:xfrm>
            <a:off x="2529153" y="2480067"/>
            <a:ext cx="3187685" cy="544765"/>
          </a:xfrm>
          <a:prstGeom prst="rect">
            <a:avLst/>
          </a:prstGeom>
          <a:solidFill>
            <a:srgbClr val="FFFFFF"/>
          </a:solidFill>
          <a:ln w="19050">
            <a:solidFill>
              <a:srgbClr val="9673BE"/>
            </a:solidFill>
          </a:ln>
        </p:spPr>
        <p:txBody>
          <a:bodyPr spcFirstLastPara="1" wrap="square" lIns="91425" tIns="91440" rIns="91425" bIns="91440" anchor="ctr" anchorCtr="0">
            <a:spAutoFit/>
          </a:bodyPr>
          <a:lstStyle/>
          <a:p>
            <a:pPr lvl="0" algn="ctr">
              <a:lnSpc>
                <a:spcPct val="90000"/>
              </a:lnSpc>
            </a:pPr>
            <a:r>
              <a:rPr lang="en-US" sz="1300">
                <a:solidFill>
                  <a:srgbClr val="00002D"/>
                </a:solidFill>
              </a:rPr>
              <a:t>Implement AI literacy training and upskilling, and measure effectiveness</a:t>
            </a:r>
          </a:p>
        </p:txBody>
      </p:sp>
      <p:cxnSp>
        <p:nvCxnSpPr>
          <p:cNvPr id="58" name="Straight Connector 57">
            <a:extLst>
              <a:ext uri="{FF2B5EF4-FFF2-40B4-BE49-F238E27FC236}">
                <a16:creationId xmlns:a16="http://schemas.microsoft.com/office/drawing/2014/main" id="{9F0ECCE0-9323-BE9A-DCAD-D28292C3B0AC}"/>
              </a:ext>
            </a:extLst>
          </p:cNvPr>
          <p:cNvCxnSpPr>
            <a:cxnSpLocks/>
          </p:cNvCxnSpPr>
          <p:nvPr/>
        </p:nvCxnSpPr>
        <p:spPr>
          <a:xfrm flipH="1">
            <a:off x="4122992" y="3260511"/>
            <a:ext cx="1942910" cy="0"/>
          </a:xfrm>
          <a:prstGeom prst="line">
            <a:avLst/>
          </a:prstGeom>
          <a:ln w="19050">
            <a:solidFill>
              <a:srgbClr val="707996"/>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grpSp>
        <p:nvGrpSpPr>
          <p:cNvPr id="66" name="Group 65">
            <a:extLst>
              <a:ext uri="{FF2B5EF4-FFF2-40B4-BE49-F238E27FC236}">
                <a16:creationId xmlns:a16="http://schemas.microsoft.com/office/drawing/2014/main" id="{C260DAAA-EB67-82ED-8B2A-46E6DF81EED4}"/>
              </a:ext>
            </a:extLst>
          </p:cNvPr>
          <p:cNvGrpSpPr/>
          <p:nvPr/>
        </p:nvGrpSpPr>
        <p:grpSpPr>
          <a:xfrm>
            <a:off x="7416039" y="4719972"/>
            <a:ext cx="1500520" cy="245270"/>
            <a:chOff x="7416039" y="4719972"/>
            <a:chExt cx="1500520" cy="245270"/>
          </a:xfrm>
        </p:grpSpPr>
        <p:cxnSp>
          <p:nvCxnSpPr>
            <p:cNvPr id="59" name="Straight Connector 58">
              <a:extLst>
                <a:ext uri="{FF2B5EF4-FFF2-40B4-BE49-F238E27FC236}">
                  <a16:creationId xmlns:a16="http://schemas.microsoft.com/office/drawing/2014/main" id="{C82D6491-822F-CC55-C7CA-BAA6C53F9A0C}"/>
                </a:ext>
              </a:extLst>
            </p:cNvPr>
            <p:cNvCxnSpPr>
              <a:cxnSpLocks/>
            </p:cNvCxnSpPr>
            <p:nvPr/>
          </p:nvCxnSpPr>
          <p:spPr>
            <a:xfrm>
              <a:off x="7416039" y="4719972"/>
              <a:ext cx="0" cy="245270"/>
            </a:xfrm>
            <a:prstGeom prst="line">
              <a:avLst/>
            </a:prstGeom>
            <a:ln w="19050">
              <a:solidFill>
                <a:srgbClr val="707996"/>
              </a:solidFill>
              <a:tailEnd type="none" w="lg"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BED75E63-79B4-7D1F-4319-45F3B932EADC}"/>
                </a:ext>
              </a:extLst>
            </p:cNvPr>
            <p:cNvCxnSpPr>
              <a:cxnSpLocks/>
            </p:cNvCxnSpPr>
            <p:nvPr/>
          </p:nvCxnSpPr>
          <p:spPr>
            <a:xfrm flipH="1">
              <a:off x="7416039" y="4955717"/>
              <a:ext cx="1500520" cy="0"/>
            </a:xfrm>
            <a:prstGeom prst="line">
              <a:avLst/>
            </a:prstGeom>
            <a:ln w="19050">
              <a:solidFill>
                <a:srgbClr val="707996"/>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grpSp>
      <p:pic>
        <p:nvPicPr>
          <p:cNvPr id="68" name="Graphic 67">
            <a:hlinkClick r:id="rId4" action="ppaction://hlinksldjump"/>
            <a:extLst>
              <a:ext uri="{FF2B5EF4-FFF2-40B4-BE49-F238E27FC236}">
                <a16:creationId xmlns:a16="http://schemas.microsoft.com/office/drawing/2014/main" id="{331D5FDD-7735-A548-A5DB-67F9DB141E1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291401" y="391876"/>
            <a:ext cx="503201" cy="391379"/>
          </a:xfrm>
          <a:prstGeom prst="rect">
            <a:avLst/>
          </a:prstGeom>
        </p:spPr>
      </p:pic>
    </p:spTree>
    <p:extLst>
      <p:ext uri="{BB962C8B-B14F-4D97-AF65-F5344CB8AC3E}">
        <p14:creationId xmlns:p14="http://schemas.microsoft.com/office/powerpoint/2010/main" val="14797852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43181-9EB4-95F6-8E46-00887F54DE2E}"/>
            </a:ext>
          </a:extLst>
        </p:cNvPr>
        <p:cNvGrpSpPr/>
        <p:nvPr/>
      </p:nvGrpSpPr>
      <p:grpSpPr>
        <a:xfrm>
          <a:off x="0" y="0"/>
          <a:ext cx="0" cy="0"/>
          <a:chOff x="0" y="0"/>
          <a:chExt cx="0" cy="0"/>
        </a:xfrm>
      </p:grpSpPr>
      <p:sp>
        <p:nvSpPr>
          <p:cNvPr id="61" name="Rectangle 60">
            <a:extLst>
              <a:ext uri="{FF2B5EF4-FFF2-40B4-BE49-F238E27FC236}">
                <a16:creationId xmlns:a16="http://schemas.microsoft.com/office/drawing/2014/main" id="{3AF77CB1-AD3E-4694-1512-0EA608872CA8}"/>
              </a:ext>
            </a:extLst>
          </p:cNvPr>
          <p:cNvSpPr/>
          <p:nvPr/>
        </p:nvSpPr>
        <p:spPr>
          <a:xfrm>
            <a:off x="1924593" y="1296751"/>
            <a:ext cx="9819732" cy="4695663"/>
          </a:xfrm>
          <a:prstGeom prst="rect">
            <a:avLst/>
          </a:prstGeom>
          <a:solidFill>
            <a:srgbClr val="E0F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900" err="1">
              <a:solidFill>
                <a:schemeClr val="bg1"/>
              </a:solidFill>
            </a:endParaRPr>
          </a:p>
        </p:txBody>
      </p:sp>
      <p:sp>
        <p:nvSpPr>
          <p:cNvPr id="2" name="Title 1">
            <a:extLst>
              <a:ext uri="{FF2B5EF4-FFF2-40B4-BE49-F238E27FC236}">
                <a16:creationId xmlns:a16="http://schemas.microsoft.com/office/drawing/2014/main" id="{A2E926F1-2640-9FAB-716F-04DE71CD66EC}"/>
              </a:ext>
            </a:extLst>
          </p:cNvPr>
          <p:cNvSpPr>
            <a:spLocks noGrp="1"/>
          </p:cNvSpPr>
          <p:nvPr>
            <p:ph type="title"/>
          </p:nvPr>
        </p:nvSpPr>
        <p:spPr/>
        <p:txBody>
          <a:bodyPr/>
          <a:lstStyle/>
          <a:p>
            <a:r>
              <a:rPr lang="en-US"/>
              <a:t>AI Governance for the HR Function Roadmap Activities</a:t>
            </a:r>
          </a:p>
        </p:txBody>
      </p:sp>
      <p:grpSp>
        <p:nvGrpSpPr>
          <p:cNvPr id="54" name="Group 53">
            <a:extLst>
              <a:ext uri="{FF2B5EF4-FFF2-40B4-BE49-F238E27FC236}">
                <a16:creationId xmlns:a16="http://schemas.microsoft.com/office/drawing/2014/main" id="{D64388C3-A3E0-28EC-D328-238288D593CE}"/>
              </a:ext>
            </a:extLst>
          </p:cNvPr>
          <p:cNvGrpSpPr/>
          <p:nvPr/>
        </p:nvGrpSpPr>
        <p:grpSpPr>
          <a:xfrm>
            <a:off x="1924593" y="973101"/>
            <a:ext cx="9819732" cy="292347"/>
            <a:chOff x="2024874" y="1175154"/>
            <a:chExt cx="9713101" cy="292347"/>
          </a:xfrm>
        </p:grpSpPr>
        <p:cxnSp>
          <p:nvCxnSpPr>
            <p:cNvPr id="43" name="Google Shape;320;p3">
              <a:extLst>
                <a:ext uri="{FF2B5EF4-FFF2-40B4-BE49-F238E27FC236}">
                  <a16:creationId xmlns:a16="http://schemas.microsoft.com/office/drawing/2014/main" id="{56E999AA-8947-6CF0-5EBF-2F2EBE3AC9BC}"/>
                </a:ext>
              </a:extLst>
            </p:cNvPr>
            <p:cNvCxnSpPr>
              <a:cxnSpLocks/>
            </p:cNvCxnSpPr>
            <p:nvPr/>
          </p:nvCxnSpPr>
          <p:spPr>
            <a:xfrm>
              <a:off x="2024874" y="1321328"/>
              <a:ext cx="9713101" cy="0"/>
            </a:xfrm>
            <a:prstGeom prst="straightConnector1">
              <a:avLst/>
            </a:prstGeom>
            <a:noFill/>
            <a:ln w="19050" cap="flat" cmpd="sng">
              <a:solidFill>
                <a:srgbClr val="707996"/>
              </a:solidFill>
              <a:prstDash val="solid"/>
              <a:round/>
              <a:headEnd type="none" w="sm" len="sm"/>
              <a:tailEnd type="none" w="sm" len="sm"/>
            </a:ln>
          </p:spPr>
        </p:cxnSp>
        <p:sp>
          <p:nvSpPr>
            <p:cNvPr id="44" name="Google Shape;321;p3">
              <a:extLst>
                <a:ext uri="{FF2B5EF4-FFF2-40B4-BE49-F238E27FC236}">
                  <a16:creationId xmlns:a16="http://schemas.microsoft.com/office/drawing/2014/main" id="{B0DCEB1D-335A-8171-1C62-FC341B51FB5A}"/>
                </a:ext>
              </a:extLst>
            </p:cNvPr>
            <p:cNvSpPr txBox="1"/>
            <p:nvPr/>
          </p:nvSpPr>
          <p:spPr>
            <a:xfrm>
              <a:off x="2152860" y="1175154"/>
              <a:ext cx="1399564" cy="292347"/>
            </a:xfrm>
            <a:prstGeom prst="rect">
              <a:avLst/>
            </a:prstGeom>
            <a:solidFill>
              <a:schemeClr val="lt1"/>
            </a:solidFill>
            <a:ln>
              <a:noFill/>
            </a:ln>
          </p:spPr>
          <p:txBody>
            <a:bodyPr spcFirstLastPara="1" wrap="square" lIns="0" tIns="45700" rIns="0"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300" b="1" i="0" u="none" strike="noStrike" cap="none">
                  <a:solidFill>
                    <a:srgbClr val="000000"/>
                  </a:solidFill>
                  <a:latin typeface="+mj-lt"/>
                  <a:ea typeface="Arial"/>
                  <a:cs typeface="Arial"/>
                  <a:sym typeface="Arial"/>
                </a:rPr>
                <a:t>Initial activities</a:t>
              </a:r>
              <a:endParaRPr lang="en-US" sz="1300">
                <a:latin typeface="+mj-lt"/>
              </a:endParaRPr>
            </a:p>
          </p:txBody>
        </p:sp>
        <p:sp>
          <p:nvSpPr>
            <p:cNvPr id="45" name="Google Shape;322;p3">
              <a:extLst>
                <a:ext uri="{FF2B5EF4-FFF2-40B4-BE49-F238E27FC236}">
                  <a16:creationId xmlns:a16="http://schemas.microsoft.com/office/drawing/2014/main" id="{0B336C44-175F-F8A3-5902-DB0D3CE4B353}"/>
                </a:ext>
              </a:extLst>
            </p:cNvPr>
            <p:cNvSpPr txBox="1"/>
            <p:nvPr/>
          </p:nvSpPr>
          <p:spPr>
            <a:xfrm>
              <a:off x="9804759" y="1175154"/>
              <a:ext cx="1796256" cy="292347"/>
            </a:xfrm>
            <a:prstGeom prst="rect">
              <a:avLst/>
            </a:prstGeom>
            <a:solidFill>
              <a:schemeClr val="lt1"/>
            </a:solid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i="0" u="none" strike="noStrike" cap="none">
                  <a:solidFill>
                    <a:srgbClr val="000000"/>
                  </a:solidFill>
                  <a:latin typeface="+mj-lt"/>
                  <a:ea typeface="Arial"/>
                  <a:cs typeface="Arial"/>
                  <a:sym typeface="Arial"/>
                </a:rPr>
                <a:t>Advanced </a:t>
              </a:r>
              <a:r>
                <a:rPr lang="en-US" sz="1300" b="1">
                  <a:solidFill>
                    <a:srgbClr val="000000"/>
                  </a:solidFill>
                  <a:latin typeface="+mj-lt"/>
                  <a:ea typeface="Arial"/>
                  <a:cs typeface="Arial"/>
                  <a:sym typeface="Arial"/>
                </a:rPr>
                <a:t>activities</a:t>
              </a:r>
              <a:endParaRPr lang="en-US" sz="1300" b="1" i="0" u="none" strike="noStrike" cap="none">
                <a:solidFill>
                  <a:srgbClr val="000000"/>
                </a:solidFill>
                <a:latin typeface="+mj-lt"/>
                <a:ea typeface="Arial"/>
                <a:cs typeface="Arial"/>
                <a:sym typeface="Arial"/>
              </a:endParaRPr>
            </a:p>
          </p:txBody>
        </p:sp>
      </p:grpSp>
      <p:sp>
        <p:nvSpPr>
          <p:cNvPr id="5" name="Google Shape;352;p4">
            <a:extLst>
              <a:ext uri="{FF2B5EF4-FFF2-40B4-BE49-F238E27FC236}">
                <a16:creationId xmlns:a16="http://schemas.microsoft.com/office/drawing/2014/main" id="{8DB0035C-8105-3E0F-5017-18B5B9F80ED0}"/>
              </a:ext>
            </a:extLst>
          </p:cNvPr>
          <p:cNvSpPr txBox="1"/>
          <p:nvPr/>
        </p:nvSpPr>
        <p:spPr>
          <a:xfrm>
            <a:off x="371475" y="5995191"/>
            <a:ext cx="6096000" cy="276979"/>
          </a:xfrm>
          <a:prstGeom prst="rect">
            <a:avLst/>
          </a:prstGeom>
          <a:noFill/>
          <a:ln>
            <a:noFill/>
          </a:ln>
        </p:spPr>
        <p:txBody>
          <a:bodyPr spcFirstLastPara="1" wrap="square" lIns="91440" tIns="91440" rIns="91440"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IN" sz="900"/>
              <a:t>See Appendix for detailed descriptions </a:t>
            </a:r>
            <a:r>
              <a:rPr lang="en-IN" sz="900">
                <a:latin typeface="+mj-lt"/>
                <a:hlinkClick r:id="rId2" action="ppaction://hlinksldjump"/>
              </a:rPr>
              <a:t>(click here)</a:t>
            </a:r>
            <a:endParaRPr lang="en-IN" sz="900">
              <a:latin typeface="+mj-lt"/>
            </a:endParaRPr>
          </a:p>
        </p:txBody>
      </p:sp>
      <p:sp>
        <p:nvSpPr>
          <p:cNvPr id="3" name="Google Shape;265;p3">
            <a:extLst>
              <a:ext uri="{FF2B5EF4-FFF2-40B4-BE49-F238E27FC236}">
                <a16:creationId xmlns:a16="http://schemas.microsoft.com/office/drawing/2014/main" id="{99706265-6444-6C22-D9B2-4657387589AE}"/>
              </a:ext>
            </a:extLst>
          </p:cNvPr>
          <p:cNvSpPr/>
          <p:nvPr/>
        </p:nvSpPr>
        <p:spPr>
          <a:xfrm>
            <a:off x="460078" y="1293974"/>
            <a:ext cx="1379008" cy="4695664"/>
          </a:xfrm>
          <a:prstGeom prst="rect">
            <a:avLst/>
          </a:prstGeom>
          <a:solidFill>
            <a:srgbClr val="6872B6"/>
          </a:solidFill>
          <a:ln>
            <a:noFill/>
          </a:ln>
        </p:spPr>
        <p:txBody>
          <a:bodyPr spcFirstLastPara="1" wrap="square" lIns="91440" tIns="91440" rIns="91440" bIns="91440" anchor="ctr" anchorCtr="0">
            <a:noAutofit/>
          </a:bodyPr>
          <a:lstStyle/>
          <a:p>
            <a:pPr lvl="0" algn="ctr">
              <a:lnSpc>
                <a:spcPct val="90000"/>
              </a:lnSpc>
              <a:buClr>
                <a:srgbClr val="000000"/>
              </a:buClr>
              <a:buSzPts val="1000"/>
            </a:pPr>
            <a:endParaRPr lang="en-US" sz="1400">
              <a:solidFill>
                <a:srgbClr val="FFFFFF"/>
              </a:solidFill>
              <a:latin typeface="+mj-lt"/>
            </a:endParaRPr>
          </a:p>
        </p:txBody>
      </p:sp>
      <p:grpSp>
        <p:nvGrpSpPr>
          <p:cNvPr id="11" name="Group 10">
            <a:extLst>
              <a:ext uri="{FF2B5EF4-FFF2-40B4-BE49-F238E27FC236}">
                <a16:creationId xmlns:a16="http://schemas.microsoft.com/office/drawing/2014/main" id="{D70C3CF1-F0BA-C25D-9B2F-7528CB2DBF1D}"/>
              </a:ext>
            </a:extLst>
          </p:cNvPr>
          <p:cNvGrpSpPr/>
          <p:nvPr/>
        </p:nvGrpSpPr>
        <p:grpSpPr>
          <a:xfrm>
            <a:off x="459278" y="3093065"/>
            <a:ext cx="1380609" cy="1097483"/>
            <a:chOff x="467251" y="2976863"/>
            <a:chExt cx="1380609" cy="1097483"/>
          </a:xfrm>
        </p:grpSpPr>
        <p:sp>
          <p:nvSpPr>
            <p:cNvPr id="6" name="TextBox 5">
              <a:extLst>
                <a:ext uri="{FF2B5EF4-FFF2-40B4-BE49-F238E27FC236}">
                  <a16:creationId xmlns:a16="http://schemas.microsoft.com/office/drawing/2014/main" id="{0E33CD73-8EC6-8464-3C3D-FC14BBB8603B}"/>
                </a:ext>
              </a:extLst>
            </p:cNvPr>
            <p:cNvSpPr txBox="1"/>
            <p:nvPr/>
          </p:nvSpPr>
          <p:spPr>
            <a:xfrm>
              <a:off x="467251" y="3289516"/>
              <a:ext cx="1380609" cy="784830"/>
            </a:xfrm>
            <a:prstGeom prst="rect">
              <a:avLst/>
            </a:prstGeom>
            <a:noFill/>
          </p:spPr>
          <p:txBody>
            <a:bodyPr wrap="square" lIns="91440" tIns="91440" rIns="91440" bIns="91440" rtlCol="0">
              <a:spAutoFit/>
            </a:bodyPr>
            <a:lstStyle/>
            <a:p>
              <a:pPr algn="ctr">
                <a:spcBef>
                  <a:spcPts val="600"/>
                </a:spcBef>
              </a:pPr>
              <a:r>
                <a:rPr lang="en-US" sz="1300">
                  <a:solidFill>
                    <a:srgbClr val="FFFFFF"/>
                  </a:solidFill>
                  <a:latin typeface="+mj-lt"/>
                </a:rPr>
                <a:t>AI governance for the HR function</a:t>
              </a:r>
            </a:p>
          </p:txBody>
        </p:sp>
        <p:pic>
          <p:nvPicPr>
            <p:cNvPr id="10" name="Graphic 9">
              <a:extLst>
                <a:ext uri="{FF2B5EF4-FFF2-40B4-BE49-F238E27FC236}">
                  <a16:creationId xmlns:a16="http://schemas.microsoft.com/office/drawing/2014/main" id="{26C51540-5771-BF92-C426-2F24DF49FE6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44158" y="2976863"/>
              <a:ext cx="426794" cy="331952"/>
            </a:xfrm>
            <a:prstGeom prst="rect">
              <a:avLst/>
            </a:prstGeom>
          </p:spPr>
        </p:pic>
      </p:grpSp>
      <p:grpSp>
        <p:nvGrpSpPr>
          <p:cNvPr id="71" name="Group 70">
            <a:extLst>
              <a:ext uri="{FF2B5EF4-FFF2-40B4-BE49-F238E27FC236}">
                <a16:creationId xmlns:a16="http://schemas.microsoft.com/office/drawing/2014/main" id="{ABDB257A-DFF9-18EA-1A10-A9BC849C7729}"/>
              </a:ext>
            </a:extLst>
          </p:cNvPr>
          <p:cNvGrpSpPr/>
          <p:nvPr/>
        </p:nvGrpSpPr>
        <p:grpSpPr>
          <a:xfrm>
            <a:off x="2100282" y="1463943"/>
            <a:ext cx="9500793" cy="4368215"/>
            <a:chOff x="2100282" y="1463943"/>
            <a:chExt cx="9500793" cy="4368215"/>
          </a:xfrm>
        </p:grpSpPr>
        <p:sp>
          <p:nvSpPr>
            <p:cNvPr id="14" name="Google Shape;268;p3">
              <a:extLst>
                <a:ext uri="{FF2B5EF4-FFF2-40B4-BE49-F238E27FC236}">
                  <a16:creationId xmlns:a16="http://schemas.microsoft.com/office/drawing/2014/main" id="{DC16359C-1C17-4C6D-915D-ED030BE4BF64}"/>
                </a:ext>
              </a:extLst>
            </p:cNvPr>
            <p:cNvSpPr/>
            <p:nvPr/>
          </p:nvSpPr>
          <p:spPr>
            <a:xfrm>
              <a:off x="8307342" y="4012910"/>
              <a:ext cx="2862072" cy="576072"/>
            </a:xfrm>
            <a:prstGeom prst="rect">
              <a:avLst/>
            </a:prstGeom>
            <a:solidFill>
              <a:srgbClr val="FFFFFF"/>
            </a:solidFill>
            <a:ln w="19050">
              <a:solidFill>
                <a:srgbClr val="6872B6"/>
              </a:solidFill>
            </a:ln>
          </p:spPr>
          <p:txBody>
            <a:bodyPr spcFirstLastPara="1" wrap="square" lIns="91425" tIns="91440" rIns="91425" bIns="91440" anchor="ctr" anchorCtr="0">
              <a:spAutoFit/>
            </a:bodyPr>
            <a:lstStyle/>
            <a:p>
              <a:pPr algn="ctr">
                <a:lnSpc>
                  <a:spcPct val="90000"/>
                </a:lnSpc>
              </a:pPr>
              <a:r>
                <a:rPr lang="en-US" sz="1300">
                  <a:solidFill>
                    <a:srgbClr val="000000"/>
                  </a:solidFill>
                  <a:ea typeface="Arial"/>
                  <a:cs typeface="Arial"/>
                  <a:sym typeface="Arial"/>
                </a:rPr>
                <a:t>Handle exceptions and escalations</a:t>
              </a:r>
            </a:p>
          </p:txBody>
        </p:sp>
        <p:sp>
          <p:nvSpPr>
            <p:cNvPr id="23" name="Google Shape;268;p3">
              <a:extLst>
                <a:ext uri="{FF2B5EF4-FFF2-40B4-BE49-F238E27FC236}">
                  <a16:creationId xmlns:a16="http://schemas.microsoft.com/office/drawing/2014/main" id="{B5F3A354-7504-C9DD-93A5-303C0AA72515}"/>
                </a:ext>
              </a:extLst>
            </p:cNvPr>
            <p:cNvSpPr/>
            <p:nvPr/>
          </p:nvSpPr>
          <p:spPr>
            <a:xfrm>
              <a:off x="4246034" y="4650153"/>
              <a:ext cx="3296441" cy="544765"/>
            </a:xfrm>
            <a:prstGeom prst="rect">
              <a:avLst/>
            </a:prstGeom>
            <a:solidFill>
              <a:srgbClr val="FFFFFF"/>
            </a:solidFill>
            <a:ln w="19050">
              <a:solidFill>
                <a:srgbClr val="6872B6"/>
              </a:solidFill>
            </a:ln>
          </p:spPr>
          <p:txBody>
            <a:bodyPr spcFirstLastPara="1" wrap="square" lIns="91425" tIns="91440" rIns="91425" bIns="91440" anchor="ctr" anchorCtr="0">
              <a:spAutoFit/>
            </a:bodyPr>
            <a:lstStyle/>
            <a:p>
              <a:pPr algn="ctr">
                <a:lnSpc>
                  <a:spcPct val="90000"/>
                </a:lnSpc>
              </a:pPr>
              <a:r>
                <a:rPr lang="en-US" sz="1300"/>
                <a:t>Communicate and train HR staff on AI governance mandate within HR</a:t>
              </a:r>
            </a:p>
          </p:txBody>
        </p:sp>
        <p:sp>
          <p:nvSpPr>
            <p:cNvPr id="7" name="Google Shape;268;p3">
              <a:extLst>
                <a:ext uri="{FF2B5EF4-FFF2-40B4-BE49-F238E27FC236}">
                  <a16:creationId xmlns:a16="http://schemas.microsoft.com/office/drawing/2014/main" id="{7D2887D2-B4C4-D305-EBBE-E1D756193672}"/>
                </a:ext>
              </a:extLst>
            </p:cNvPr>
            <p:cNvSpPr/>
            <p:nvPr/>
          </p:nvSpPr>
          <p:spPr>
            <a:xfrm>
              <a:off x="3390741" y="3375669"/>
              <a:ext cx="3296441" cy="544765"/>
            </a:xfrm>
            <a:prstGeom prst="rect">
              <a:avLst/>
            </a:prstGeom>
            <a:solidFill>
              <a:srgbClr val="FFFFFF"/>
            </a:solidFill>
            <a:ln w="19050">
              <a:solidFill>
                <a:srgbClr val="6872B6"/>
              </a:solidFill>
            </a:ln>
          </p:spPr>
          <p:txBody>
            <a:bodyPr spcFirstLastPara="1" wrap="square" lIns="91425" tIns="91440" rIns="91425" bIns="91440" anchor="ctr" anchorCtr="0">
              <a:spAutoFit/>
            </a:bodyPr>
            <a:lstStyle/>
            <a:p>
              <a:pPr algn="ctr">
                <a:lnSpc>
                  <a:spcPct val="90000"/>
                </a:lnSpc>
              </a:pPr>
              <a:r>
                <a:rPr lang="en-US" sz="1300"/>
                <a:t>Define governance decision rights</a:t>
              </a:r>
              <a:br>
                <a:rPr lang="en-US" sz="1300"/>
              </a:br>
              <a:r>
                <a:rPr lang="en-US" sz="1300"/>
                <a:t>and stakeholders in HR</a:t>
              </a:r>
            </a:p>
          </p:txBody>
        </p:sp>
        <p:sp>
          <p:nvSpPr>
            <p:cNvPr id="9" name="Google Shape;268;p3">
              <a:extLst>
                <a:ext uri="{FF2B5EF4-FFF2-40B4-BE49-F238E27FC236}">
                  <a16:creationId xmlns:a16="http://schemas.microsoft.com/office/drawing/2014/main" id="{7A674977-4297-06AF-D9BC-585A3C879006}"/>
                </a:ext>
              </a:extLst>
            </p:cNvPr>
            <p:cNvSpPr/>
            <p:nvPr/>
          </p:nvSpPr>
          <p:spPr>
            <a:xfrm>
              <a:off x="3817670" y="4012911"/>
              <a:ext cx="3296441" cy="544765"/>
            </a:xfrm>
            <a:prstGeom prst="rect">
              <a:avLst/>
            </a:prstGeom>
            <a:solidFill>
              <a:srgbClr val="FFFFFF"/>
            </a:solidFill>
            <a:ln w="19050">
              <a:solidFill>
                <a:srgbClr val="6872B6"/>
              </a:solidFill>
            </a:ln>
          </p:spPr>
          <p:txBody>
            <a:bodyPr spcFirstLastPara="1" wrap="square" lIns="91425" tIns="91440" rIns="91425" bIns="91440" anchor="ctr" anchorCtr="0">
              <a:spAutoFit/>
            </a:bodyPr>
            <a:lstStyle/>
            <a:p>
              <a:pPr lvl="0" algn="ctr">
                <a:lnSpc>
                  <a:spcPct val="90000"/>
                </a:lnSpc>
                <a:defRPr/>
              </a:pPr>
              <a:r>
                <a:rPr lang="en-US" sz="1300">
                  <a:solidFill>
                    <a:srgbClr val="000000"/>
                  </a:solidFill>
                </a:rPr>
                <a:t>Implement legal and regulatory frameworks and policies for HR</a:t>
              </a:r>
            </a:p>
          </p:txBody>
        </p:sp>
        <p:sp>
          <p:nvSpPr>
            <p:cNvPr id="13" name="Google Shape;268;p3">
              <a:extLst>
                <a:ext uri="{FF2B5EF4-FFF2-40B4-BE49-F238E27FC236}">
                  <a16:creationId xmlns:a16="http://schemas.microsoft.com/office/drawing/2014/main" id="{CDCF289A-B8DF-06B2-EF5D-A73EDCE2DC77}"/>
                </a:ext>
              </a:extLst>
            </p:cNvPr>
            <p:cNvSpPr/>
            <p:nvPr/>
          </p:nvSpPr>
          <p:spPr>
            <a:xfrm>
              <a:off x="2959993" y="2738427"/>
              <a:ext cx="3181399" cy="544765"/>
            </a:xfrm>
            <a:prstGeom prst="rect">
              <a:avLst/>
            </a:prstGeom>
            <a:solidFill>
              <a:srgbClr val="FFFFFF"/>
            </a:solidFill>
            <a:ln w="19050">
              <a:solidFill>
                <a:srgbClr val="6872B6"/>
              </a:solidFill>
            </a:ln>
          </p:spPr>
          <p:txBody>
            <a:bodyPr spcFirstLastPara="1" wrap="square" lIns="91425" tIns="91440" rIns="91425" bIns="91440" anchor="ctr" anchorCtr="0">
              <a:spAutoFit/>
            </a:bodyPr>
            <a:lstStyle/>
            <a:p>
              <a:pPr lvl="0" algn="ctr">
                <a:lnSpc>
                  <a:spcPct val="90000"/>
                </a:lnSpc>
              </a:pPr>
              <a:r>
                <a:rPr lang="en-IN" sz="1300"/>
                <a:t>Customize enterprise AI ethics, risk,</a:t>
              </a:r>
              <a:br>
                <a:rPr lang="en-IN" sz="1300"/>
              </a:br>
              <a:r>
                <a:rPr lang="en-IN" sz="1300"/>
                <a:t>security, and safety for HR</a:t>
              </a:r>
              <a:endParaRPr lang="en-US" sz="1300">
                <a:solidFill>
                  <a:srgbClr val="00002D"/>
                </a:solidFill>
                <a:ea typeface="Arial"/>
                <a:cs typeface="Arial"/>
                <a:sym typeface="Arial"/>
              </a:endParaRPr>
            </a:p>
          </p:txBody>
        </p:sp>
        <p:sp>
          <p:nvSpPr>
            <p:cNvPr id="57" name="Google Shape;268;p3">
              <a:extLst>
                <a:ext uri="{FF2B5EF4-FFF2-40B4-BE49-F238E27FC236}">
                  <a16:creationId xmlns:a16="http://schemas.microsoft.com/office/drawing/2014/main" id="{BD4D2A6E-7CBF-33B7-5DC4-51F5F5FB4D66}"/>
                </a:ext>
              </a:extLst>
            </p:cNvPr>
            <p:cNvSpPr/>
            <p:nvPr/>
          </p:nvSpPr>
          <p:spPr>
            <a:xfrm>
              <a:off x="2529399" y="2101185"/>
              <a:ext cx="2212848" cy="544765"/>
            </a:xfrm>
            <a:prstGeom prst="rect">
              <a:avLst/>
            </a:prstGeom>
            <a:solidFill>
              <a:srgbClr val="FFFFFF"/>
            </a:solidFill>
            <a:ln w="19050">
              <a:solidFill>
                <a:srgbClr val="6872B6"/>
              </a:solidFill>
            </a:ln>
          </p:spPr>
          <p:txBody>
            <a:bodyPr spcFirstLastPara="1" wrap="square" lIns="91425" tIns="91440" rIns="91425" bIns="91440" anchor="ctr" anchorCtr="0">
              <a:spAutoFit/>
            </a:bodyPr>
            <a:lstStyle/>
            <a:p>
              <a:pPr lvl="0" algn="ctr">
                <a:lnSpc>
                  <a:spcPct val="90000"/>
                </a:lnSpc>
              </a:pPr>
              <a:r>
                <a:rPr lang="en-US" sz="1300" dirty="0">
                  <a:solidFill>
                    <a:srgbClr val="00002D"/>
                  </a:solidFill>
                </a:rPr>
                <a:t>Participate in the enterprise</a:t>
              </a:r>
              <a:br>
                <a:rPr lang="en-US" sz="1300" dirty="0">
                  <a:solidFill>
                    <a:srgbClr val="00002D"/>
                  </a:solidFill>
                </a:rPr>
              </a:br>
              <a:r>
                <a:rPr lang="en-US" sz="1300" dirty="0">
                  <a:solidFill>
                    <a:srgbClr val="00002D"/>
                  </a:solidFill>
                </a:rPr>
                <a:t>AI governance council</a:t>
              </a:r>
            </a:p>
          </p:txBody>
        </p:sp>
        <p:sp>
          <p:nvSpPr>
            <p:cNvPr id="12" name="Google Shape;268;p3">
              <a:extLst>
                <a:ext uri="{FF2B5EF4-FFF2-40B4-BE49-F238E27FC236}">
                  <a16:creationId xmlns:a16="http://schemas.microsoft.com/office/drawing/2014/main" id="{F518FDC4-4F74-7422-8837-9ED5E311E45D}"/>
                </a:ext>
              </a:extLst>
            </p:cNvPr>
            <p:cNvSpPr/>
            <p:nvPr/>
          </p:nvSpPr>
          <p:spPr>
            <a:xfrm>
              <a:off x="8737601" y="5287393"/>
              <a:ext cx="2863474" cy="544765"/>
            </a:xfrm>
            <a:prstGeom prst="rect">
              <a:avLst/>
            </a:prstGeom>
            <a:solidFill>
              <a:srgbClr val="FFFFFF"/>
            </a:solidFill>
            <a:ln w="19050">
              <a:solidFill>
                <a:srgbClr val="6872B6"/>
              </a:solidFill>
            </a:ln>
          </p:spPr>
          <p:txBody>
            <a:bodyPr spcFirstLastPara="1" wrap="square" lIns="91425" tIns="91440" rIns="91425" bIns="91440" anchor="ctr" anchorCtr="0">
              <a:spAutoFit/>
            </a:bodyPr>
            <a:lstStyle/>
            <a:p>
              <a:pPr algn="ctr">
                <a:lnSpc>
                  <a:spcPct val="90000"/>
                </a:lnSpc>
              </a:pPr>
              <a:r>
                <a:rPr lang="en-US" sz="1300"/>
                <a:t>Create employee and</a:t>
              </a:r>
              <a:br>
                <a:rPr lang="en-US" sz="1300"/>
              </a:br>
              <a:r>
                <a:rPr lang="en-US" sz="1300"/>
                <a:t>candidate transparency </a:t>
              </a:r>
            </a:p>
          </p:txBody>
        </p:sp>
        <p:cxnSp>
          <p:nvCxnSpPr>
            <p:cNvPr id="19" name="Straight Connector 18">
              <a:extLst>
                <a:ext uri="{FF2B5EF4-FFF2-40B4-BE49-F238E27FC236}">
                  <a16:creationId xmlns:a16="http://schemas.microsoft.com/office/drawing/2014/main" id="{392D566A-C717-7DE2-461A-561FAD18FBEE}"/>
                </a:ext>
              </a:extLst>
            </p:cNvPr>
            <p:cNvCxnSpPr>
              <a:cxnSpLocks/>
            </p:cNvCxnSpPr>
            <p:nvPr/>
          </p:nvCxnSpPr>
          <p:spPr>
            <a:xfrm flipH="1">
              <a:off x="2209338" y="2373567"/>
              <a:ext cx="286696" cy="0"/>
            </a:xfrm>
            <a:prstGeom prst="line">
              <a:avLst/>
            </a:prstGeom>
            <a:ln w="19050">
              <a:solidFill>
                <a:srgbClr val="707996"/>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C2D1E0A-0ABC-A8F5-F7ED-469A8D2408EE}"/>
                </a:ext>
              </a:extLst>
            </p:cNvPr>
            <p:cNvCxnSpPr>
              <a:cxnSpLocks/>
            </p:cNvCxnSpPr>
            <p:nvPr/>
          </p:nvCxnSpPr>
          <p:spPr>
            <a:xfrm flipH="1">
              <a:off x="2209338" y="3010809"/>
              <a:ext cx="715321" cy="0"/>
            </a:xfrm>
            <a:prstGeom prst="line">
              <a:avLst/>
            </a:prstGeom>
            <a:ln w="19050">
              <a:solidFill>
                <a:srgbClr val="707996"/>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B1A3BD5-2D32-DDB7-5458-0D84FB20CFD3}"/>
                </a:ext>
              </a:extLst>
            </p:cNvPr>
            <p:cNvCxnSpPr>
              <a:cxnSpLocks/>
            </p:cNvCxnSpPr>
            <p:nvPr/>
          </p:nvCxnSpPr>
          <p:spPr>
            <a:xfrm>
              <a:off x="2213044" y="1935683"/>
              <a:ext cx="0" cy="1084357"/>
            </a:xfrm>
            <a:prstGeom prst="line">
              <a:avLst/>
            </a:prstGeom>
            <a:ln w="19050">
              <a:solidFill>
                <a:srgbClr val="707996"/>
              </a:solidFill>
              <a:tailEnd type="none" w="lg" len="med"/>
            </a:ln>
          </p:spPr>
          <p:style>
            <a:lnRef idx="1">
              <a:schemeClr val="accent1"/>
            </a:lnRef>
            <a:fillRef idx="0">
              <a:schemeClr val="accent1"/>
            </a:fillRef>
            <a:effectRef idx="0">
              <a:schemeClr val="accent1"/>
            </a:effectRef>
            <a:fontRef idx="minor">
              <a:schemeClr val="tx1"/>
            </a:fontRef>
          </p:style>
        </p:cxnSp>
        <p:sp>
          <p:nvSpPr>
            <p:cNvPr id="55" name="Google Shape;266;p3">
              <a:extLst>
                <a:ext uri="{FF2B5EF4-FFF2-40B4-BE49-F238E27FC236}">
                  <a16:creationId xmlns:a16="http://schemas.microsoft.com/office/drawing/2014/main" id="{DE5922E6-F41C-8052-53AE-A601338F7042}"/>
                </a:ext>
              </a:extLst>
            </p:cNvPr>
            <p:cNvSpPr/>
            <p:nvPr/>
          </p:nvSpPr>
          <p:spPr>
            <a:xfrm>
              <a:off x="2100282" y="1463943"/>
              <a:ext cx="2212848" cy="544765"/>
            </a:xfrm>
            <a:prstGeom prst="rect">
              <a:avLst/>
            </a:prstGeom>
            <a:solidFill>
              <a:srgbClr val="FFFFFF"/>
            </a:solidFill>
            <a:ln w="19050">
              <a:solidFill>
                <a:srgbClr val="6872B6"/>
              </a:solidFill>
            </a:ln>
          </p:spPr>
          <p:txBody>
            <a:bodyPr spcFirstLastPara="1" wrap="square" lIns="91425" tIns="91440" rIns="91425" bIns="91440" anchor="ctr" anchorCtr="0">
              <a:spAutoFit/>
            </a:bodyPr>
            <a:lstStyle/>
            <a:p>
              <a:pPr lvl="0" algn="ctr">
                <a:lnSpc>
                  <a:spcPct val="90000"/>
                </a:lnSpc>
                <a:defRPr/>
              </a:pPr>
              <a:r>
                <a:rPr lang="en-US" sz="1300">
                  <a:solidFill>
                    <a:srgbClr val="000000"/>
                  </a:solidFill>
                </a:rPr>
                <a:t>Form an HR AI</a:t>
              </a:r>
              <a:br>
                <a:rPr lang="en-US" sz="1300">
                  <a:solidFill>
                    <a:srgbClr val="000000"/>
                  </a:solidFill>
                </a:rPr>
              </a:br>
              <a:r>
                <a:rPr lang="en-US" sz="1300">
                  <a:solidFill>
                    <a:srgbClr val="000000"/>
                  </a:solidFill>
                </a:rPr>
                <a:t>governance team</a:t>
              </a:r>
            </a:p>
          </p:txBody>
        </p:sp>
        <p:grpSp>
          <p:nvGrpSpPr>
            <p:cNvPr id="36" name="Group 35">
              <a:extLst>
                <a:ext uri="{FF2B5EF4-FFF2-40B4-BE49-F238E27FC236}">
                  <a16:creationId xmlns:a16="http://schemas.microsoft.com/office/drawing/2014/main" id="{443E75E2-161F-F2A8-2339-2A389CB82DDB}"/>
                </a:ext>
              </a:extLst>
            </p:cNvPr>
            <p:cNvGrpSpPr/>
            <p:nvPr/>
          </p:nvGrpSpPr>
          <p:grpSpPr>
            <a:xfrm>
              <a:off x="3077963" y="3291248"/>
              <a:ext cx="1138494" cy="1639343"/>
              <a:chOff x="3077963" y="3291248"/>
              <a:chExt cx="1138494" cy="1639343"/>
            </a:xfrm>
          </p:grpSpPr>
          <p:cxnSp>
            <p:nvCxnSpPr>
              <p:cNvPr id="26" name="Straight Connector 25">
                <a:extLst>
                  <a:ext uri="{FF2B5EF4-FFF2-40B4-BE49-F238E27FC236}">
                    <a16:creationId xmlns:a16="http://schemas.microsoft.com/office/drawing/2014/main" id="{A8E1CB49-6F3B-CEE8-F57A-4575C2C5F9F4}"/>
                  </a:ext>
                </a:extLst>
              </p:cNvPr>
              <p:cNvCxnSpPr>
                <a:cxnSpLocks/>
              </p:cNvCxnSpPr>
              <p:nvPr/>
            </p:nvCxnSpPr>
            <p:spPr>
              <a:xfrm>
                <a:off x="3077963" y="3291248"/>
                <a:ext cx="0" cy="1639343"/>
              </a:xfrm>
              <a:prstGeom prst="line">
                <a:avLst/>
              </a:prstGeom>
              <a:ln w="19050">
                <a:solidFill>
                  <a:srgbClr val="707996"/>
                </a:solidFill>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4D924E8-1E12-6196-FEA3-E6837442CEB6}"/>
                  </a:ext>
                </a:extLst>
              </p:cNvPr>
              <p:cNvCxnSpPr>
                <a:cxnSpLocks/>
              </p:cNvCxnSpPr>
              <p:nvPr/>
            </p:nvCxnSpPr>
            <p:spPr>
              <a:xfrm flipH="1">
                <a:off x="3081991" y="4922535"/>
                <a:ext cx="1134466" cy="0"/>
              </a:xfrm>
              <a:prstGeom prst="line">
                <a:avLst/>
              </a:prstGeom>
              <a:ln w="19050">
                <a:solidFill>
                  <a:srgbClr val="707996"/>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670AEA1-B09E-7EA4-B8BD-3FE75A4578C5}"/>
                  </a:ext>
                </a:extLst>
              </p:cNvPr>
              <p:cNvCxnSpPr>
                <a:cxnSpLocks/>
              </p:cNvCxnSpPr>
              <p:nvPr/>
            </p:nvCxnSpPr>
            <p:spPr>
              <a:xfrm flipH="1">
                <a:off x="3081991" y="4285293"/>
                <a:ext cx="702778" cy="0"/>
              </a:xfrm>
              <a:prstGeom prst="line">
                <a:avLst/>
              </a:prstGeom>
              <a:ln w="19050">
                <a:solidFill>
                  <a:srgbClr val="707996"/>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63B5424-E8BF-D2ED-5F07-82E0A789FA6B}"/>
                  </a:ext>
                </a:extLst>
              </p:cNvPr>
              <p:cNvCxnSpPr>
                <a:cxnSpLocks/>
              </p:cNvCxnSpPr>
              <p:nvPr/>
            </p:nvCxnSpPr>
            <p:spPr>
              <a:xfrm flipH="1">
                <a:off x="3077963" y="3648051"/>
                <a:ext cx="287202" cy="0"/>
              </a:xfrm>
              <a:prstGeom prst="line">
                <a:avLst/>
              </a:prstGeom>
              <a:ln w="19050">
                <a:solidFill>
                  <a:srgbClr val="707996"/>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grpSp>
        <p:grpSp>
          <p:nvGrpSpPr>
            <p:cNvPr id="52" name="Group 51">
              <a:extLst>
                <a:ext uri="{FF2B5EF4-FFF2-40B4-BE49-F238E27FC236}">
                  <a16:creationId xmlns:a16="http://schemas.microsoft.com/office/drawing/2014/main" id="{5626241D-FF2B-51D1-7828-1E62C2EDBA2A}"/>
                </a:ext>
              </a:extLst>
            </p:cNvPr>
            <p:cNvGrpSpPr/>
            <p:nvPr/>
          </p:nvGrpSpPr>
          <p:grpSpPr>
            <a:xfrm>
              <a:off x="5894254" y="5204443"/>
              <a:ext cx="2816416" cy="364857"/>
              <a:chOff x="5894254" y="5204443"/>
              <a:chExt cx="2816416" cy="364857"/>
            </a:xfrm>
          </p:grpSpPr>
          <p:cxnSp>
            <p:nvCxnSpPr>
              <p:cNvPr id="39" name="Straight Connector 38">
                <a:extLst>
                  <a:ext uri="{FF2B5EF4-FFF2-40B4-BE49-F238E27FC236}">
                    <a16:creationId xmlns:a16="http://schemas.microsoft.com/office/drawing/2014/main" id="{7F89AA0D-9CA6-35A8-2663-3D1291E1176B}"/>
                  </a:ext>
                </a:extLst>
              </p:cNvPr>
              <p:cNvCxnSpPr>
                <a:cxnSpLocks/>
              </p:cNvCxnSpPr>
              <p:nvPr/>
            </p:nvCxnSpPr>
            <p:spPr>
              <a:xfrm>
                <a:off x="5894254" y="5204443"/>
                <a:ext cx="0" cy="364857"/>
              </a:xfrm>
              <a:prstGeom prst="line">
                <a:avLst/>
              </a:prstGeom>
              <a:ln w="19050">
                <a:solidFill>
                  <a:srgbClr val="707996"/>
                </a:solidFill>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2AFBA6E-FB35-7870-C94D-5FC3ECDCA523}"/>
                  </a:ext>
                </a:extLst>
              </p:cNvPr>
              <p:cNvCxnSpPr>
                <a:cxnSpLocks/>
              </p:cNvCxnSpPr>
              <p:nvPr/>
            </p:nvCxnSpPr>
            <p:spPr>
              <a:xfrm flipH="1">
                <a:off x="5894254" y="5559775"/>
                <a:ext cx="2816416" cy="0"/>
              </a:xfrm>
              <a:prstGeom prst="line">
                <a:avLst/>
              </a:prstGeom>
              <a:ln w="19050">
                <a:solidFill>
                  <a:srgbClr val="707996"/>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grpSp>
        <p:grpSp>
          <p:nvGrpSpPr>
            <p:cNvPr id="56" name="Group 55">
              <a:extLst>
                <a:ext uri="{FF2B5EF4-FFF2-40B4-BE49-F238E27FC236}">
                  <a16:creationId xmlns:a16="http://schemas.microsoft.com/office/drawing/2014/main" id="{564BBC53-E800-83DA-EE68-CEAA01C13796}"/>
                </a:ext>
              </a:extLst>
            </p:cNvPr>
            <p:cNvGrpSpPr/>
            <p:nvPr/>
          </p:nvGrpSpPr>
          <p:grpSpPr>
            <a:xfrm>
              <a:off x="7992939" y="3887207"/>
              <a:ext cx="287202" cy="423486"/>
              <a:chOff x="7992939" y="3887207"/>
              <a:chExt cx="287202" cy="423486"/>
            </a:xfrm>
          </p:grpSpPr>
          <p:cxnSp>
            <p:nvCxnSpPr>
              <p:cNvPr id="42" name="Straight Connector 41">
                <a:extLst>
                  <a:ext uri="{FF2B5EF4-FFF2-40B4-BE49-F238E27FC236}">
                    <a16:creationId xmlns:a16="http://schemas.microsoft.com/office/drawing/2014/main" id="{5E5DC0AB-882B-8367-9630-05B948E98202}"/>
                  </a:ext>
                </a:extLst>
              </p:cNvPr>
              <p:cNvCxnSpPr>
                <a:cxnSpLocks/>
              </p:cNvCxnSpPr>
              <p:nvPr/>
            </p:nvCxnSpPr>
            <p:spPr>
              <a:xfrm flipH="1">
                <a:off x="7992939" y="4300946"/>
                <a:ext cx="287202" cy="0"/>
              </a:xfrm>
              <a:prstGeom prst="line">
                <a:avLst/>
              </a:prstGeom>
              <a:ln w="19050">
                <a:solidFill>
                  <a:srgbClr val="707996"/>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BAAD59BE-6CF5-357F-6A0B-26B3EB88E546}"/>
                  </a:ext>
                </a:extLst>
              </p:cNvPr>
              <p:cNvCxnSpPr>
                <a:cxnSpLocks/>
              </p:cNvCxnSpPr>
              <p:nvPr/>
            </p:nvCxnSpPr>
            <p:spPr>
              <a:xfrm>
                <a:off x="7992939" y="3887207"/>
                <a:ext cx="0" cy="423486"/>
              </a:xfrm>
              <a:prstGeom prst="line">
                <a:avLst/>
              </a:prstGeom>
              <a:ln w="19050">
                <a:solidFill>
                  <a:srgbClr val="707996"/>
                </a:solidFill>
                <a:tailEnd type="none" w="lg" len="med"/>
              </a:ln>
            </p:spPr>
            <p:style>
              <a:lnRef idx="1">
                <a:schemeClr val="accent1"/>
              </a:lnRef>
              <a:fillRef idx="0">
                <a:schemeClr val="accent1"/>
              </a:fillRef>
              <a:effectRef idx="0">
                <a:schemeClr val="accent1"/>
              </a:effectRef>
              <a:fontRef idx="minor">
                <a:schemeClr val="tx1"/>
              </a:fontRef>
            </p:style>
          </p:cxnSp>
        </p:grpSp>
        <p:grpSp>
          <p:nvGrpSpPr>
            <p:cNvPr id="70" name="Group 69">
              <a:extLst>
                <a:ext uri="{FF2B5EF4-FFF2-40B4-BE49-F238E27FC236}">
                  <a16:creationId xmlns:a16="http://schemas.microsoft.com/office/drawing/2014/main" id="{53550EE9-C384-CB46-0CC9-F6622AE59CF2}"/>
                </a:ext>
              </a:extLst>
            </p:cNvPr>
            <p:cNvGrpSpPr/>
            <p:nvPr/>
          </p:nvGrpSpPr>
          <p:grpSpPr>
            <a:xfrm>
              <a:off x="6141392" y="3001283"/>
              <a:ext cx="3384383" cy="338328"/>
              <a:chOff x="6141392" y="3001283"/>
              <a:chExt cx="3384383" cy="338328"/>
            </a:xfrm>
          </p:grpSpPr>
          <p:cxnSp>
            <p:nvCxnSpPr>
              <p:cNvPr id="41" name="Straight Connector 40">
                <a:extLst>
                  <a:ext uri="{FF2B5EF4-FFF2-40B4-BE49-F238E27FC236}">
                    <a16:creationId xmlns:a16="http://schemas.microsoft.com/office/drawing/2014/main" id="{30BA1D76-9796-204A-581A-254B92338F7C}"/>
                  </a:ext>
                </a:extLst>
              </p:cNvPr>
              <p:cNvCxnSpPr>
                <a:cxnSpLocks/>
              </p:cNvCxnSpPr>
              <p:nvPr/>
            </p:nvCxnSpPr>
            <p:spPr>
              <a:xfrm flipV="1">
                <a:off x="9525775" y="3001283"/>
                <a:ext cx="0" cy="338328"/>
              </a:xfrm>
              <a:prstGeom prst="line">
                <a:avLst/>
              </a:prstGeom>
              <a:ln w="19050">
                <a:solidFill>
                  <a:srgbClr val="707996"/>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43BBF5A6-2B41-288A-A929-69862A1A949C}"/>
                  </a:ext>
                </a:extLst>
              </p:cNvPr>
              <p:cNvCxnSpPr>
                <a:cxnSpLocks/>
                <a:endCxn id="13" idx="3"/>
              </p:cNvCxnSpPr>
              <p:nvPr/>
            </p:nvCxnSpPr>
            <p:spPr>
              <a:xfrm flipH="1">
                <a:off x="6141392" y="3010809"/>
                <a:ext cx="3384383" cy="1"/>
              </a:xfrm>
              <a:prstGeom prst="line">
                <a:avLst/>
              </a:prstGeom>
              <a:ln w="19050">
                <a:solidFill>
                  <a:srgbClr val="707996"/>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15" name="Google Shape;268;p3">
              <a:extLst>
                <a:ext uri="{FF2B5EF4-FFF2-40B4-BE49-F238E27FC236}">
                  <a16:creationId xmlns:a16="http://schemas.microsoft.com/office/drawing/2014/main" id="{F5B8B4B9-82EF-D287-900D-5F0912FDEB03}"/>
                </a:ext>
              </a:extLst>
            </p:cNvPr>
            <p:cNvSpPr/>
            <p:nvPr/>
          </p:nvSpPr>
          <p:spPr>
            <a:xfrm>
              <a:off x="7877555" y="3375669"/>
              <a:ext cx="3296441" cy="544765"/>
            </a:xfrm>
            <a:prstGeom prst="rect">
              <a:avLst/>
            </a:prstGeom>
            <a:solidFill>
              <a:srgbClr val="FFFFFF"/>
            </a:solidFill>
            <a:ln w="19050">
              <a:solidFill>
                <a:srgbClr val="6872B6"/>
              </a:solidFill>
            </a:ln>
          </p:spPr>
          <p:txBody>
            <a:bodyPr spcFirstLastPara="1" wrap="square" lIns="91425" tIns="91440" rIns="91425" bIns="91440" anchor="ctr" anchorCtr="0">
              <a:spAutoFit/>
            </a:bodyPr>
            <a:lstStyle/>
            <a:p>
              <a:pPr lvl="0" algn="ctr">
                <a:lnSpc>
                  <a:spcPct val="90000"/>
                </a:lnSpc>
                <a:defRPr/>
              </a:pPr>
              <a:r>
                <a:rPr lang="en-US" sz="1300">
                  <a:solidFill>
                    <a:srgbClr val="000000"/>
                  </a:solidFill>
                </a:rPr>
                <a:t>Ensure AI governance adherence</a:t>
              </a:r>
              <a:br>
                <a:rPr lang="en-US" sz="1300">
                  <a:solidFill>
                    <a:srgbClr val="000000"/>
                  </a:solidFill>
                </a:rPr>
              </a:br>
              <a:r>
                <a:rPr lang="en-US" sz="1300">
                  <a:solidFill>
                    <a:srgbClr val="000000"/>
                  </a:solidFill>
                </a:rPr>
                <a:t>for HR and third-party vendors</a:t>
              </a:r>
            </a:p>
          </p:txBody>
        </p:sp>
      </p:grpSp>
      <p:pic>
        <p:nvPicPr>
          <p:cNvPr id="4" name="Graphic 3">
            <a:hlinkClick r:id="rId4" action="ppaction://hlinksldjump"/>
            <a:extLst>
              <a:ext uri="{FF2B5EF4-FFF2-40B4-BE49-F238E27FC236}">
                <a16:creationId xmlns:a16="http://schemas.microsoft.com/office/drawing/2014/main" id="{F9A592D6-D252-F340-A1FE-962B4A82804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291401" y="391876"/>
            <a:ext cx="503201" cy="391379"/>
          </a:xfrm>
          <a:prstGeom prst="rect">
            <a:avLst/>
          </a:prstGeom>
        </p:spPr>
      </p:pic>
    </p:spTree>
    <p:extLst>
      <p:ext uri="{BB962C8B-B14F-4D97-AF65-F5344CB8AC3E}">
        <p14:creationId xmlns:p14="http://schemas.microsoft.com/office/powerpoint/2010/main" val="38673307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A6326-E2BD-CEE2-AD02-CD4ED66227F6}"/>
            </a:ext>
          </a:extLst>
        </p:cNvPr>
        <p:cNvGrpSpPr/>
        <p:nvPr/>
      </p:nvGrpSpPr>
      <p:grpSpPr>
        <a:xfrm>
          <a:off x="0" y="0"/>
          <a:ext cx="0" cy="0"/>
          <a:chOff x="0" y="0"/>
          <a:chExt cx="0" cy="0"/>
        </a:xfrm>
      </p:grpSpPr>
      <p:sp>
        <p:nvSpPr>
          <p:cNvPr id="61" name="Rectangle 60">
            <a:extLst>
              <a:ext uri="{FF2B5EF4-FFF2-40B4-BE49-F238E27FC236}">
                <a16:creationId xmlns:a16="http://schemas.microsoft.com/office/drawing/2014/main" id="{E39D60F4-AF23-5DE9-AE6D-A91BEAAD89D8}"/>
              </a:ext>
            </a:extLst>
          </p:cNvPr>
          <p:cNvSpPr/>
          <p:nvPr/>
        </p:nvSpPr>
        <p:spPr>
          <a:xfrm>
            <a:off x="1924593" y="1296751"/>
            <a:ext cx="9819732" cy="4695663"/>
          </a:xfrm>
          <a:prstGeom prst="rect">
            <a:avLst/>
          </a:prstGeom>
          <a:solidFill>
            <a:srgbClr val="E0F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900" err="1">
              <a:solidFill>
                <a:schemeClr val="bg1"/>
              </a:solidFill>
            </a:endParaRPr>
          </a:p>
        </p:txBody>
      </p:sp>
      <p:sp>
        <p:nvSpPr>
          <p:cNvPr id="2" name="Title 1">
            <a:extLst>
              <a:ext uri="{FF2B5EF4-FFF2-40B4-BE49-F238E27FC236}">
                <a16:creationId xmlns:a16="http://schemas.microsoft.com/office/drawing/2014/main" id="{A92D4925-35A6-5D8D-9229-29D26FC79C6C}"/>
              </a:ext>
            </a:extLst>
          </p:cNvPr>
          <p:cNvSpPr>
            <a:spLocks noGrp="1"/>
          </p:cNvSpPr>
          <p:nvPr>
            <p:ph type="title"/>
          </p:nvPr>
        </p:nvSpPr>
        <p:spPr/>
        <p:txBody>
          <a:bodyPr/>
          <a:lstStyle/>
          <a:p>
            <a:r>
              <a:rPr lang="en-US"/>
              <a:t>AI Data and Systems for the HR Function Roadmap Activities</a:t>
            </a:r>
          </a:p>
        </p:txBody>
      </p:sp>
      <p:grpSp>
        <p:nvGrpSpPr>
          <p:cNvPr id="54" name="Group 53">
            <a:extLst>
              <a:ext uri="{FF2B5EF4-FFF2-40B4-BE49-F238E27FC236}">
                <a16:creationId xmlns:a16="http://schemas.microsoft.com/office/drawing/2014/main" id="{FFD51B9C-B813-3721-DA60-048866512905}"/>
              </a:ext>
            </a:extLst>
          </p:cNvPr>
          <p:cNvGrpSpPr/>
          <p:nvPr/>
        </p:nvGrpSpPr>
        <p:grpSpPr>
          <a:xfrm>
            <a:off x="1924593" y="973101"/>
            <a:ext cx="9819732" cy="292347"/>
            <a:chOff x="2024874" y="1175154"/>
            <a:chExt cx="9713101" cy="292347"/>
          </a:xfrm>
        </p:grpSpPr>
        <p:cxnSp>
          <p:nvCxnSpPr>
            <p:cNvPr id="43" name="Google Shape;320;p3">
              <a:extLst>
                <a:ext uri="{FF2B5EF4-FFF2-40B4-BE49-F238E27FC236}">
                  <a16:creationId xmlns:a16="http://schemas.microsoft.com/office/drawing/2014/main" id="{B424DFD2-4EF8-1B6A-D36E-683004BCBF10}"/>
                </a:ext>
              </a:extLst>
            </p:cNvPr>
            <p:cNvCxnSpPr>
              <a:cxnSpLocks/>
            </p:cNvCxnSpPr>
            <p:nvPr/>
          </p:nvCxnSpPr>
          <p:spPr>
            <a:xfrm>
              <a:off x="2024874" y="1321328"/>
              <a:ext cx="9713101" cy="0"/>
            </a:xfrm>
            <a:prstGeom prst="straightConnector1">
              <a:avLst/>
            </a:prstGeom>
            <a:noFill/>
            <a:ln w="19050" cap="flat" cmpd="sng">
              <a:solidFill>
                <a:srgbClr val="707996"/>
              </a:solidFill>
              <a:prstDash val="solid"/>
              <a:round/>
              <a:headEnd type="none" w="sm" len="sm"/>
              <a:tailEnd type="none" w="sm" len="sm"/>
            </a:ln>
          </p:spPr>
        </p:cxnSp>
        <p:sp>
          <p:nvSpPr>
            <p:cNvPr id="44" name="Google Shape;321;p3">
              <a:extLst>
                <a:ext uri="{FF2B5EF4-FFF2-40B4-BE49-F238E27FC236}">
                  <a16:creationId xmlns:a16="http://schemas.microsoft.com/office/drawing/2014/main" id="{AD6A0532-F4E8-3CAF-4C32-161AC8926F68}"/>
                </a:ext>
              </a:extLst>
            </p:cNvPr>
            <p:cNvSpPr txBox="1"/>
            <p:nvPr/>
          </p:nvSpPr>
          <p:spPr>
            <a:xfrm>
              <a:off x="2152860" y="1175154"/>
              <a:ext cx="1399564" cy="292347"/>
            </a:xfrm>
            <a:prstGeom prst="rect">
              <a:avLst/>
            </a:prstGeom>
            <a:solidFill>
              <a:schemeClr val="lt1"/>
            </a:solidFill>
            <a:ln>
              <a:noFill/>
            </a:ln>
          </p:spPr>
          <p:txBody>
            <a:bodyPr spcFirstLastPara="1" wrap="square" lIns="0" tIns="45700" rIns="0"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300" b="1" i="0" u="none" strike="noStrike" cap="none">
                  <a:solidFill>
                    <a:srgbClr val="000000"/>
                  </a:solidFill>
                  <a:latin typeface="+mj-lt"/>
                  <a:ea typeface="Arial"/>
                  <a:cs typeface="Arial"/>
                  <a:sym typeface="Arial"/>
                </a:rPr>
                <a:t>Initial activities</a:t>
              </a:r>
              <a:endParaRPr lang="en-US" sz="1300">
                <a:latin typeface="+mj-lt"/>
              </a:endParaRPr>
            </a:p>
          </p:txBody>
        </p:sp>
        <p:sp>
          <p:nvSpPr>
            <p:cNvPr id="45" name="Google Shape;322;p3">
              <a:extLst>
                <a:ext uri="{FF2B5EF4-FFF2-40B4-BE49-F238E27FC236}">
                  <a16:creationId xmlns:a16="http://schemas.microsoft.com/office/drawing/2014/main" id="{6B8E3F8A-6BEA-8C26-4BC3-094A26573397}"/>
                </a:ext>
              </a:extLst>
            </p:cNvPr>
            <p:cNvSpPr txBox="1"/>
            <p:nvPr/>
          </p:nvSpPr>
          <p:spPr>
            <a:xfrm>
              <a:off x="9804759" y="1175154"/>
              <a:ext cx="1796256" cy="292347"/>
            </a:xfrm>
            <a:prstGeom prst="rect">
              <a:avLst/>
            </a:prstGeom>
            <a:solidFill>
              <a:schemeClr val="lt1"/>
            </a:solidFill>
            <a:ln>
              <a:noFill/>
            </a:ln>
          </p:spPr>
          <p:txBody>
            <a:bodyPr spcFirstLastPara="1" wrap="square" lIns="0" tIns="45700" rIns="0" bIns="45700" anchor="t" anchorCtr="0">
              <a:spAutoFit/>
            </a:bodyPr>
            <a:lstStyle/>
            <a:p>
              <a:pPr marL="0" marR="0" lvl="0" indent="0" algn="ctr" rtl="0">
                <a:spcBef>
                  <a:spcPts val="0"/>
                </a:spcBef>
                <a:spcAft>
                  <a:spcPts val="0"/>
                </a:spcAft>
                <a:buNone/>
              </a:pPr>
              <a:r>
                <a:rPr lang="en-US" sz="1300" b="1" i="0" u="none" strike="noStrike" cap="none">
                  <a:solidFill>
                    <a:srgbClr val="000000"/>
                  </a:solidFill>
                  <a:latin typeface="+mj-lt"/>
                  <a:ea typeface="Arial"/>
                  <a:cs typeface="Arial"/>
                  <a:sym typeface="Arial"/>
                </a:rPr>
                <a:t>Advanced </a:t>
              </a:r>
              <a:r>
                <a:rPr lang="en-US" sz="1300" b="1">
                  <a:solidFill>
                    <a:srgbClr val="000000"/>
                  </a:solidFill>
                  <a:latin typeface="+mj-lt"/>
                  <a:ea typeface="Arial"/>
                  <a:cs typeface="Arial"/>
                  <a:sym typeface="Arial"/>
                </a:rPr>
                <a:t>activities</a:t>
              </a:r>
              <a:endParaRPr lang="en-US" sz="1300" b="1" i="0" u="none" strike="noStrike" cap="none">
                <a:solidFill>
                  <a:srgbClr val="000000"/>
                </a:solidFill>
                <a:latin typeface="+mj-lt"/>
                <a:ea typeface="Arial"/>
                <a:cs typeface="Arial"/>
                <a:sym typeface="Arial"/>
              </a:endParaRPr>
            </a:p>
          </p:txBody>
        </p:sp>
      </p:grpSp>
      <p:sp>
        <p:nvSpPr>
          <p:cNvPr id="5" name="Google Shape;352;p4">
            <a:extLst>
              <a:ext uri="{FF2B5EF4-FFF2-40B4-BE49-F238E27FC236}">
                <a16:creationId xmlns:a16="http://schemas.microsoft.com/office/drawing/2014/main" id="{85BC5C82-4773-0CF6-4372-CF000F168AC8}"/>
              </a:ext>
            </a:extLst>
          </p:cNvPr>
          <p:cNvSpPr txBox="1"/>
          <p:nvPr/>
        </p:nvSpPr>
        <p:spPr>
          <a:xfrm>
            <a:off x="371475" y="5995191"/>
            <a:ext cx="6096000" cy="276979"/>
          </a:xfrm>
          <a:prstGeom prst="rect">
            <a:avLst/>
          </a:prstGeom>
          <a:noFill/>
          <a:ln>
            <a:noFill/>
          </a:ln>
        </p:spPr>
        <p:txBody>
          <a:bodyPr spcFirstLastPara="1" wrap="square" lIns="91440" tIns="91440" rIns="91440"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IN" sz="900"/>
              <a:t>See Appendix for detailed descriptions </a:t>
            </a:r>
            <a:r>
              <a:rPr lang="en-IN" sz="900">
                <a:latin typeface="+mj-lt"/>
                <a:hlinkClick r:id="rId2" action="ppaction://hlinksldjump"/>
              </a:rPr>
              <a:t>(click here)</a:t>
            </a:r>
            <a:endParaRPr lang="en-IN" sz="900">
              <a:latin typeface="+mj-lt"/>
            </a:endParaRPr>
          </a:p>
        </p:txBody>
      </p:sp>
      <p:sp>
        <p:nvSpPr>
          <p:cNvPr id="3" name="Google Shape;265;p3">
            <a:extLst>
              <a:ext uri="{FF2B5EF4-FFF2-40B4-BE49-F238E27FC236}">
                <a16:creationId xmlns:a16="http://schemas.microsoft.com/office/drawing/2014/main" id="{C821713E-285F-1052-8123-713FD3D4B4EA}"/>
              </a:ext>
            </a:extLst>
          </p:cNvPr>
          <p:cNvSpPr/>
          <p:nvPr/>
        </p:nvSpPr>
        <p:spPr>
          <a:xfrm>
            <a:off x="460078" y="1293974"/>
            <a:ext cx="1379008" cy="4695664"/>
          </a:xfrm>
          <a:prstGeom prst="rect">
            <a:avLst/>
          </a:prstGeom>
          <a:solidFill>
            <a:srgbClr val="3C92B5"/>
          </a:solidFill>
          <a:ln>
            <a:noFill/>
          </a:ln>
        </p:spPr>
        <p:txBody>
          <a:bodyPr spcFirstLastPara="1" wrap="square" lIns="91440" tIns="91440" rIns="91440" bIns="91440" anchor="ctr" anchorCtr="0">
            <a:noAutofit/>
          </a:bodyPr>
          <a:lstStyle/>
          <a:p>
            <a:pPr lvl="0" algn="ctr">
              <a:lnSpc>
                <a:spcPct val="90000"/>
              </a:lnSpc>
              <a:buClr>
                <a:srgbClr val="000000"/>
              </a:buClr>
              <a:buSzPts val="1000"/>
            </a:pPr>
            <a:endParaRPr lang="en-US" sz="1400">
              <a:solidFill>
                <a:srgbClr val="FFFFFF"/>
              </a:solidFill>
              <a:latin typeface="+mj-lt"/>
            </a:endParaRPr>
          </a:p>
        </p:txBody>
      </p:sp>
      <p:grpSp>
        <p:nvGrpSpPr>
          <p:cNvPr id="8" name="Group 7">
            <a:extLst>
              <a:ext uri="{FF2B5EF4-FFF2-40B4-BE49-F238E27FC236}">
                <a16:creationId xmlns:a16="http://schemas.microsoft.com/office/drawing/2014/main" id="{E8B6A6F8-74B5-88B6-C4FD-50A3F0E184A9}"/>
              </a:ext>
            </a:extLst>
          </p:cNvPr>
          <p:cNvGrpSpPr/>
          <p:nvPr/>
        </p:nvGrpSpPr>
        <p:grpSpPr>
          <a:xfrm>
            <a:off x="459278" y="3079584"/>
            <a:ext cx="1380609" cy="1124445"/>
            <a:chOff x="459278" y="3078571"/>
            <a:chExt cx="1380609" cy="1124445"/>
          </a:xfrm>
        </p:grpSpPr>
        <p:sp>
          <p:nvSpPr>
            <p:cNvPr id="6" name="TextBox 5">
              <a:extLst>
                <a:ext uri="{FF2B5EF4-FFF2-40B4-BE49-F238E27FC236}">
                  <a16:creationId xmlns:a16="http://schemas.microsoft.com/office/drawing/2014/main" id="{DBCEE8A4-5C94-FBA9-3EC1-D032CA5846C8}"/>
                </a:ext>
              </a:extLst>
            </p:cNvPr>
            <p:cNvSpPr txBox="1"/>
            <p:nvPr/>
          </p:nvSpPr>
          <p:spPr>
            <a:xfrm>
              <a:off x="459278" y="3418186"/>
              <a:ext cx="1380609" cy="784830"/>
            </a:xfrm>
            <a:prstGeom prst="rect">
              <a:avLst/>
            </a:prstGeom>
            <a:noFill/>
          </p:spPr>
          <p:txBody>
            <a:bodyPr wrap="square" lIns="91440" tIns="91440" rIns="91440" bIns="91440" rtlCol="0">
              <a:spAutoFit/>
            </a:bodyPr>
            <a:lstStyle/>
            <a:p>
              <a:pPr algn="ctr">
                <a:spcBef>
                  <a:spcPts val="600"/>
                </a:spcBef>
              </a:pPr>
              <a:r>
                <a:rPr lang="en-US" sz="1300">
                  <a:solidFill>
                    <a:srgbClr val="FFFFFF"/>
                  </a:solidFill>
                  <a:latin typeface="+mj-lt"/>
                </a:rPr>
                <a:t>AI data and systems for</a:t>
              </a:r>
              <a:br>
                <a:rPr lang="en-US" sz="1300">
                  <a:solidFill>
                    <a:srgbClr val="FFFFFF"/>
                  </a:solidFill>
                  <a:latin typeface="+mj-lt"/>
                </a:rPr>
              </a:br>
              <a:r>
                <a:rPr lang="en-US" sz="1300">
                  <a:solidFill>
                    <a:srgbClr val="FFFFFF"/>
                  </a:solidFill>
                  <a:latin typeface="+mj-lt"/>
                </a:rPr>
                <a:t>the HR function</a:t>
              </a:r>
            </a:p>
          </p:txBody>
        </p:sp>
        <p:pic>
          <p:nvPicPr>
            <p:cNvPr id="4" name="Graphic 3">
              <a:extLst>
                <a:ext uri="{FF2B5EF4-FFF2-40B4-BE49-F238E27FC236}">
                  <a16:creationId xmlns:a16="http://schemas.microsoft.com/office/drawing/2014/main" id="{B5E80C36-86CF-2E1F-2561-92736CBC65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9033" y="3078571"/>
              <a:ext cx="501098" cy="389743"/>
            </a:xfrm>
            <a:prstGeom prst="rect">
              <a:avLst/>
            </a:prstGeom>
          </p:spPr>
        </p:pic>
      </p:grpSp>
      <p:grpSp>
        <p:nvGrpSpPr>
          <p:cNvPr id="7" name="Group 6">
            <a:extLst>
              <a:ext uri="{FF2B5EF4-FFF2-40B4-BE49-F238E27FC236}">
                <a16:creationId xmlns:a16="http://schemas.microsoft.com/office/drawing/2014/main" id="{CA6C5921-1D90-148A-A0C2-FF45A639C46A}"/>
              </a:ext>
            </a:extLst>
          </p:cNvPr>
          <p:cNvGrpSpPr/>
          <p:nvPr/>
        </p:nvGrpSpPr>
        <p:grpSpPr>
          <a:xfrm>
            <a:off x="2100282" y="1460474"/>
            <a:ext cx="9505578" cy="4371684"/>
            <a:chOff x="2100282" y="1460474"/>
            <a:chExt cx="9505578" cy="4371684"/>
          </a:xfrm>
        </p:grpSpPr>
        <p:sp>
          <p:nvSpPr>
            <p:cNvPr id="57" name="Google Shape;268;p3">
              <a:extLst>
                <a:ext uri="{FF2B5EF4-FFF2-40B4-BE49-F238E27FC236}">
                  <a16:creationId xmlns:a16="http://schemas.microsoft.com/office/drawing/2014/main" id="{3A1AAAFD-40B0-529E-DA5A-4746DE9E0731}"/>
                </a:ext>
              </a:extLst>
            </p:cNvPr>
            <p:cNvSpPr/>
            <p:nvPr/>
          </p:nvSpPr>
          <p:spPr>
            <a:xfrm>
              <a:off x="2529398" y="2098294"/>
              <a:ext cx="2404551" cy="544765"/>
            </a:xfrm>
            <a:prstGeom prst="rect">
              <a:avLst/>
            </a:prstGeom>
            <a:solidFill>
              <a:srgbClr val="FFFFFF"/>
            </a:solidFill>
            <a:ln w="19050">
              <a:solidFill>
                <a:srgbClr val="3C92B5"/>
              </a:solidFill>
            </a:ln>
          </p:spPr>
          <p:txBody>
            <a:bodyPr spcFirstLastPara="1" wrap="square" lIns="91425" tIns="91440" rIns="91425" bIns="91440" anchor="ctr" anchorCtr="0">
              <a:spAutoFit/>
            </a:bodyPr>
            <a:lstStyle/>
            <a:p>
              <a:pPr lvl="0" algn="ctr">
                <a:lnSpc>
                  <a:spcPct val="90000"/>
                </a:lnSpc>
              </a:pPr>
              <a:r>
                <a:rPr lang="en-US" sz="1300">
                  <a:solidFill>
                    <a:srgbClr val="00002D"/>
                  </a:solidFill>
                </a:rPr>
                <a:t>Define AI’s role</a:t>
              </a:r>
              <a:br>
                <a:rPr lang="en-US" sz="1300">
                  <a:solidFill>
                    <a:srgbClr val="00002D"/>
                  </a:solidFill>
                </a:rPr>
              </a:br>
              <a:r>
                <a:rPr lang="en-US" sz="1300">
                  <a:solidFill>
                    <a:srgbClr val="00002D"/>
                  </a:solidFill>
                </a:rPr>
                <a:t>at the system level</a:t>
              </a:r>
            </a:p>
          </p:txBody>
        </p:sp>
        <p:sp>
          <p:nvSpPr>
            <p:cNvPr id="18" name="Google Shape;268;p3">
              <a:extLst>
                <a:ext uri="{FF2B5EF4-FFF2-40B4-BE49-F238E27FC236}">
                  <a16:creationId xmlns:a16="http://schemas.microsoft.com/office/drawing/2014/main" id="{A40189BD-8D7D-70F5-F6E8-E7A9DAE58984}"/>
                </a:ext>
              </a:extLst>
            </p:cNvPr>
            <p:cNvSpPr/>
            <p:nvPr/>
          </p:nvSpPr>
          <p:spPr>
            <a:xfrm>
              <a:off x="4668664" y="5287393"/>
              <a:ext cx="2404551" cy="544765"/>
            </a:xfrm>
            <a:prstGeom prst="rect">
              <a:avLst/>
            </a:prstGeom>
            <a:solidFill>
              <a:srgbClr val="FFFFFF"/>
            </a:solidFill>
            <a:ln w="19050">
              <a:solidFill>
                <a:srgbClr val="3C92B5"/>
              </a:solidFill>
            </a:ln>
          </p:spPr>
          <p:txBody>
            <a:bodyPr spcFirstLastPara="1" wrap="square" lIns="91425" tIns="91440" rIns="91425" bIns="91440" anchor="ctr" anchorCtr="0">
              <a:spAutoFit/>
            </a:bodyPr>
            <a:lstStyle/>
            <a:p>
              <a:pPr lvl="0" algn="ctr">
                <a:lnSpc>
                  <a:spcPct val="90000"/>
                </a:lnSpc>
              </a:pPr>
              <a:r>
                <a:rPr lang="en-US" sz="1300">
                  <a:solidFill>
                    <a:srgbClr val="00002D"/>
                  </a:solidFill>
                  <a:ea typeface="Arial"/>
                  <a:cs typeface="Arial"/>
                  <a:sym typeface="Arial"/>
                </a:rPr>
                <a:t>Configure AI with extensibility and platform controls</a:t>
              </a:r>
            </a:p>
          </p:txBody>
        </p:sp>
        <p:sp>
          <p:nvSpPr>
            <p:cNvPr id="29" name="Google Shape;266;p3">
              <a:extLst>
                <a:ext uri="{FF2B5EF4-FFF2-40B4-BE49-F238E27FC236}">
                  <a16:creationId xmlns:a16="http://schemas.microsoft.com/office/drawing/2014/main" id="{38FF801F-FCF9-DF26-D0BE-D914866569D3}"/>
                </a:ext>
              </a:extLst>
            </p:cNvPr>
            <p:cNvSpPr/>
            <p:nvPr/>
          </p:nvSpPr>
          <p:spPr>
            <a:xfrm>
              <a:off x="8929194" y="1460474"/>
              <a:ext cx="2489864" cy="724814"/>
            </a:xfrm>
            <a:prstGeom prst="rect">
              <a:avLst/>
            </a:prstGeom>
            <a:solidFill>
              <a:srgbClr val="FFFFFF"/>
            </a:solidFill>
            <a:ln w="19050">
              <a:solidFill>
                <a:srgbClr val="3C92B5"/>
              </a:solidFill>
            </a:ln>
          </p:spPr>
          <p:txBody>
            <a:bodyPr spcFirstLastPara="1" wrap="square" lIns="91425" tIns="91440" rIns="91425" bIns="91440" anchor="ctr" anchorCtr="0">
              <a:spAutoFit/>
            </a:bodyPr>
            <a:lstStyle/>
            <a:p>
              <a:pPr lvl="0" algn="ctr">
                <a:lnSpc>
                  <a:spcPct val="90000"/>
                </a:lnSpc>
              </a:pPr>
              <a:r>
                <a:rPr lang="en-US" sz="1300"/>
                <a:t>Develop and enforce HR data governance controls, policies and processes </a:t>
              </a:r>
            </a:p>
          </p:txBody>
        </p:sp>
        <p:sp>
          <p:nvSpPr>
            <p:cNvPr id="31" name="Google Shape;266;p3">
              <a:extLst>
                <a:ext uri="{FF2B5EF4-FFF2-40B4-BE49-F238E27FC236}">
                  <a16:creationId xmlns:a16="http://schemas.microsoft.com/office/drawing/2014/main" id="{B21FE373-6E36-DFA4-BE50-2C28DFBF7CD6}"/>
                </a:ext>
              </a:extLst>
            </p:cNvPr>
            <p:cNvSpPr/>
            <p:nvPr/>
          </p:nvSpPr>
          <p:spPr>
            <a:xfrm>
              <a:off x="5945445" y="2098294"/>
              <a:ext cx="2242405" cy="544765"/>
            </a:xfrm>
            <a:prstGeom prst="rect">
              <a:avLst/>
            </a:prstGeom>
            <a:solidFill>
              <a:srgbClr val="FFFFFF"/>
            </a:solidFill>
            <a:ln w="19050">
              <a:solidFill>
                <a:srgbClr val="3C92B5"/>
              </a:solidFill>
            </a:ln>
          </p:spPr>
          <p:txBody>
            <a:bodyPr spcFirstLastPara="1" wrap="square" lIns="91425" tIns="91440" rIns="91425" bIns="91440" anchor="ctr" anchorCtr="0">
              <a:spAutoFit/>
            </a:bodyPr>
            <a:lstStyle/>
            <a:p>
              <a:pPr lvl="0" algn="ctr">
                <a:lnSpc>
                  <a:spcPct val="90000"/>
                </a:lnSpc>
              </a:pPr>
              <a:r>
                <a:rPr lang="en-US" sz="1300"/>
                <a:t>Provide AI data provenance and traceability </a:t>
              </a:r>
            </a:p>
          </p:txBody>
        </p:sp>
        <p:sp>
          <p:nvSpPr>
            <p:cNvPr id="32" name="Google Shape;266;p3">
              <a:extLst>
                <a:ext uri="{FF2B5EF4-FFF2-40B4-BE49-F238E27FC236}">
                  <a16:creationId xmlns:a16="http://schemas.microsoft.com/office/drawing/2014/main" id="{958116ED-1780-E480-E203-7FBF1D4C770B}"/>
                </a:ext>
              </a:extLst>
            </p:cNvPr>
            <p:cNvSpPr/>
            <p:nvPr/>
          </p:nvSpPr>
          <p:spPr>
            <a:xfrm>
              <a:off x="5945445" y="2736114"/>
              <a:ext cx="2242405" cy="544765"/>
            </a:xfrm>
            <a:prstGeom prst="rect">
              <a:avLst/>
            </a:prstGeom>
            <a:solidFill>
              <a:srgbClr val="FFFFFF"/>
            </a:solidFill>
            <a:ln w="19050">
              <a:solidFill>
                <a:srgbClr val="3C92B5"/>
              </a:solidFill>
            </a:ln>
          </p:spPr>
          <p:txBody>
            <a:bodyPr spcFirstLastPara="1" wrap="square" lIns="91425" tIns="91440" rIns="91425" bIns="91440" anchor="ctr" anchorCtr="0">
              <a:spAutoFit/>
            </a:bodyPr>
            <a:lstStyle/>
            <a:p>
              <a:pPr lvl="0" algn="ctr">
                <a:lnSpc>
                  <a:spcPct val="90000"/>
                </a:lnSpc>
              </a:pPr>
              <a:r>
                <a:rPr lang="en-US" sz="1300"/>
                <a:t>Develop and</a:t>
              </a:r>
              <a:br>
                <a:rPr lang="en-US" sz="1300"/>
              </a:br>
              <a:r>
                <a:rPr lang="en-US" sz="1300"/>
                <a:t>provide metadata</a:t>
              </a:r>
            </a:p>
          </p:txBody>
        </p:sp>
        <p:sp>
          <p:nvSpPr>
            <p:cNvPr id="34" name="Google Shape;266;p3">
              <a:extLst>
                <a:ext uri="{FF2B5EF4-FFF2-40B4-BE49-F238E27FC236}">
                  <a16:creationId xmlns:a16="http://schemas.microsoft.com/office/drawing/2014/main" id="{84D08838-F053-B85C-74F9-A29407166FFC}"/>
                </a:ext>
              </a:extLst>
            </p:cNvPr>
            <p:cNvSpPr/>
            <p:nvPr/>
          </p:nvSpPr>
          <p:spPr>
            <a:xfrm>
              <a:off x="9363455" y="2279950"/>
              <a:ext cx="2242405" cy="544765"/>
            </a:xfrm>
            <a:prstGeom prst="rect">
              <a:avLst/>
            </a:prstGeom>
            <a:solidFill>
              <a:srgbClr val="FFFFFF"/>
            </a:solidFill>
            <a:ln w="19050">
              <a:solidFill>
                <a:srgbClr val="3C92B5"/>
              </a:solidFill>
            </a:ln>
          </p:spPr>
          <p:txBody>
            <a:bodyPr spcFirstLastPara="1" wrap="square" lIns="91425" tIns="91440" rIns="91425" bIns="91440" anchor="ctr" anchorCtr="0">
              <a:spAutoFit/>
            </a:bodyPr>
            <a:lstStyle/>
            <a:p>
              <a:pPr lvl="0" algn="ctr">
                <a:lnSpc>
                  <a:spcPct val="90000"/>
                </a:lnSpc>
                <a:defRPr/>
              </a:pPr>
              <a:r>
                <a:rPr lang="en-US" sz="1300">
                  <a:solidFill>
                    <a:srgbClr val="000000"/>
                  </a:solidFill>
                  <a:ea typeface="Arial"/>
                  <a:cs typeface="Arial"/>
                  <a:sym typeface="Arial"/>
                </a:rPr>
                <a:t>Assure security and</a:t>
              </a:r>
              <a:br>
                <a:rPr lang="en-US" sz="1300">
                  <a:solidFill>
                    <a:srgbClr val="000000"/>
                  </a:solidFill>
                  <a:ea typeface="Arial"/>
                  <a:cs typeface="Arial"/>
                  <a:sym typeface="Arial"/>
                </a:rPr>
              </a:br>
              <a:r>
                <a:rPr lang="en-US" sz="1300">
                  <a:solidFill>
                    <a:srgbClr val="000000"/>
                  </a:solidFill>
                  <a:ea typeface="Arial"/>
                  <a:cs typeface="Arial"/>
                  <a:sym typeface="Arial"/>
                </a:rPr>
                <a:t>privacy for HR data</a:t>
              </a:r>
            </a:p>
          </p:txBody>
        </p:sp>
        <p:sp>
          <p:nvSpPr>
            <p:cNvPr id="37" name="Google Shape;266;p3">
              <a:extLst>
                <a:ext uri="{FF2B5EF4-FFF2-40B4-BE49-F238E27FC236}">
                  <a16:creationId xmlns:a16="http://schemas.microsoft.com/office/drawing/2014/main" id="{DCC10A0B-1CF3-E0B6-2006-526B873962CC}"/>
                </a:ext>
              </a:extLst>
            </p:cNvPr>
            <p:cNvSpPr/>
            <p:nvPr/>
          </p:nvSpPr>
          <p:spPr>
            <a:xfrm>
              <a:off x="9363455" y="2919378"/>
              <a:ext cx="2242405" cy="544765"/>
            </a:xfrm>
            <a:prstGeom prst="rect">
              <a:avLst/>
            </a:prstGeom>
            <a:solidFill>
              <a:srgbClr val="FFFFFF"/>
            </a:solidFill>
            <a:ln w="19050">
              <a:solidFill>
                <a:srgbClr val="3C92B5"/>
              </a:solidFill>
            </a:ln>
          </p:spPr>
          <p:txBody>
            <a:bodyPr spcFirstLastPara="1" wrap="square" lIns="91425" tIns="91440" rIns="91425" bIns="91440" anchor="ctr" anchorCtr="0">
              <a:spAutoFit/>
            </a:bodyPr>
            <a:lstStyle/>
            <a:p>
              <a:pPr algn="ctr">
                <a:lnSpc>
                  <a:spcPct val="90000"/>
                </a:lnSpc>
              </a:pPr>
              <a:r>
                <a:rPr lang="en-IN" sz="1300"/>
                <a:t>Maintain HR AI data quality, integrity, and behavior</a:t>
              </a:r>
              <a:endParaRPr lang="en-US" sz="1300">
                <a:solidFill>
                  <a:srgbClr val="000000"/>
                </a:solidFill>
                <a:ea typeface="Arial"/>
                <a:cs typeface="Arial"/>
                <a:sym typeface="Arial"/>
              </a:endParaRPr>
            </a:p>
          </p:txBody>
        </p:sp>
        <p:sp>
          <p:nvSpPr>
            <p:cNvPr id="38" name="Google Shape;266;p3">
              <a:extLst>
                <a:ext uri="{FF2B5EF4-FFF2-40B4-BE49-F238E27FC236}">
                  <a16:creationId xmlns:a16="http://schemas.microsoft.com/office/drawing/2014/main" id="{3E4EE4A1-A2E5-7B37-20F0-2CD4FB63BB1F}"/>
                </a:ext>
              </a:extLst>
            </p:cNvPr>
            <p:cNvSpPr/>
            <p:nvPr/>
          </p:nvSpPr>
          <p:spPr>
            <a:xfrm>
              <a:off x="9363455" y="3558807"/>
              <a:ext cx="2242405" cy="544765"/>
            </a:xfrm>
            <a:prstGeom prst="rect">
              <a:avLst/>
            </a:prstGeom>
            <a:solidFill>
              <a:srgbClr val="FFFFFF"/>
            </a:solidFill>
            <a:ln w="19050">
              <a:solidFill>
                <a:srgbClr val="3C92B5"/>
              </a:solidFill>
            </a:ln>
          </p:spPr>
          <p:txBody>
            <a:bodyPr spcFirstLastPara="1" wrap="square" lIns="91425" tIns="91440" rIns="91425" bIns="91440" anchor="ctr" anchorCtr="0">
              <a:spAutoFit/>
            </a:bodyPr>
            <a:lstStyle/>
            <a:p>
              <a:pPr lvl="0" algn="ctr">
                <a:lnSpc>
                  <a:spcPct val="90000"/>
                </a:lnSpc>
              </a:pPr>
              <a:r>
                <a:rPr lang="en-US" sz="1300"/>
                <a:t>Measure effectiveness</a:t>
              </a:r>
              <a:br>
                <a:rPr lang="en-US" sz="1300"/>
              </a:br>
              <a:r>
                <a:rPr lang="en-US" sz="1300"/>
                <a:t>of data in HR AI use cases </a:t>
              </a:r>
            </a:p>
          </p:txBody>
        </p:sp>
        <p:grpSp>
          <p:nvGrpSpPr>
            <p:cNvPr id="58" name="Group 57">
              <a:extLst>
                <a:ext uri="{FF2B5EF4-FFF2-40B4-BE49-F238E27FC236}">
                  <a16:creationId xmlns:a16="http://schemas.microsoft.com/office/drawing/2014/main" id="{3BA724FA-5CEF-C252-8A00-CA72631FF5E6}"/>
                </a:ext>
              </a:extLst>
            </p:cNvPr>
            <p:cNvGrpSpPr/>
            <p:nvPr/>
          </p:nvGrpSpPr>
          <p:grpSpPr>
            <a:xfrm>
              <a:off x="2213044" y="2005971"/>
              <a:ext cx="712837" cy="1010894"/>
              <a:chOff x="2213044" y="2005971"/>
              <a:chExt cx="712837" cy="1010894"/>
            </a:xfrm>
          </p:grpSpPr>
          <p:cxnSp>
            <p:nvCxnSpPr>
              <p:cNvPr id="47" name="Straight Connector 46">
                <a:extLst>
                  <a:ext uri="{FF2B5EF4-FFF2-40B4-BE49-F238E27FC236}">
                    <a16:creationId xmlns:a16="http://schemas.microsoft.com/office/drawing/2014/main" id="{5B36F873-46EE-C387-6860-ED64571B76A7}"/>
                  </a:ext>
                </a:extLst>
              </p:cNvPr>
              <p:cNvCxnSpPr>
                <a:cxnSpLocks/>
              </p:cNvCxnSpPr>
              <p:nvPr/>
            </p:nvCxnSpPr>
            <p:spPr>
              <a:xfrm flipH="1">
                <a:off x="2213246" y="2370677"/>
                <a:ext cx="286696" cy="0"/>
              </a:xfrm>
              <a:prstGeom prst="line">
                <a:avLst/>
              </a:prstGeom>
              <a:ln w="19050">
                <a:solidFill>
                  <a:srgbClr val="707996"/>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1BED2299-90C4-8C2E-7985-395AAA4B13BB}"/>
                  </a:ext>
                </a:extLst>
              </p:cNvPr>
              <p:cNvCxnSpPr>
                <a:cxnSpLocks/>
              </p:cNvCxnSpPr>
              <p:nvPr/>
            </p:nvCxnSpPr>
            <p:spPr>
              <a:xfrm>
                <a:off x="2213044" y="2005971"/>
                <a:ext cx="0" cy="1010894"/>
              </a:xfrm>
              <a:prstGeom prst="line">
                <a:avLst/>
              </a:prstGeom>
              <a:ln w="19050">
                <a:solidFill>
                  <a:srgbClr val="707996"/>
                </a:solidFill>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93B38CB1-0A21-BFC9-12EE-AD10399E8698}"/>
                  </a:ext>
                </a:extLst>
              </p:cNvPr>
              <p:cNvCxnSpPr>
                <a:cxnSpLocks/>
              </p:cNvCxnSpPr>
              <p:nvPr/>
            </p:nvCxnSpPr>
            <p:spPr>
              <a:xfrm flipH="1">
                <a:off x="2213044" y="3008497"/>
                <a:ext cx="712837" cy="0"/>
              </a:xfrm>
              <a:prstGeom prst="line">
                <a:avLst/>
              </a:prstGeom>
              <a:ln w="19050">
                <a:solidFill>
                  <a:srgbClr val="707996"/>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grpSp>
        <p:grpSp>
          <p:nvGrpSpPr>
            <p:cNvPr id="78" name="Group 77">
              <a:extLst>
                <a:ext uri="{FF2B5EF4-FFF2-40B4-BE49-F238E27FC236}">
                  <a16:creationId xmlns:a16="http://schemas.microsoft.com/office/drawing/2014/main" id="{D6F8B4F0-6AFC-3FCE-95B3-11AAF3D2BD88}"/>
                </a:ext>
              </a:extLst>
            </p:cNvPr>
            <p:cNvGrpSpPr/>
            <p:nvPr/>
          </p:nvGrpSpPr>
          <p:grpSpPr>
            <a:xfrm>
              <a:off x="3064868" y="3290149"/>
              <a:ext cx="286696" cy="364706"/>
              <a:chOff x="3064868" y="3290149"/>
              <a:chExt cx="286696" cy="364706"/>
            </a:xfrm>
          </p:grpSpPr>
          <p:cxnSp>
            <p:nvCxnSpPr>
              <p:cNvPr id="60" name="Straight Connector 59">
                <a:extLst>
                  <a:ext uri="{FF2B5EF4-FFF2-40B4-BE49-F238E27FC236}">
                    <a16:creationId xmlns:a16="http://schemas.microsoft.com/office/drawing/2014/main" id="{B2032108-F644-84CA-24E0-92801B013288}"/>
                  </a:ext>
                </a:extLst>
              </p:cNvPr>
              <p:cNvCxnSpPr>
                <a:cxnSpLocks/>
              </p:cNvCxnSpPr>
              <p:nvPr/>
            </p:nvCxnSpPr>
            <p:spPr>
              <a:xfrm flipH="1">
                <a:off x="3064868" y="3646317"/>
                <a:ext cx="286696" cy="0"/>
              </a:xfrm>
              <a:prstGeom prst="line">
                <a:avLst/>
              </a:prstGeom>
              <a:ln w="19050">
                <a:solidFill>
                  <a:srgbClr val="707996"/>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9C79E2D3-1551-3AB5-6C42-138B6D5AE3A9}"/>
                  </a:ext>
                </a:extLst>
              </p:cNvPr>
              <p:cNvCxnSpPr>
                <a:cxnSpLocks/>
              </p:cNvCxnSpPr>
              <p:nvPr/>
            </p:nvCxnSpPr>
            <p:spPr>
              <a:xfrm>
                <a:off x="3067016" y="3290149"/>
                <a:ext cx="0" cy="364706"/>
              </a:xfrm>
              <a:prstGeom prst="line">
                <a:avLst/>
              </a:prstGeom>
              <a:ln w="19050">
                <a:solidFill>
                  <a:srgbClr val="707996"/>
                </a:solidFill>
                <a:tailEnd type="none" w="lg" len="med"/>
              </a:ln>
            </p:spPr>
            <p:style>
              <a:lnRef idx="1">
                <a:schemeClr val="accent1"/>
              </a:lnRef>
              <a:fillRef idx="0">
                <a:schemeClr val="accent1"/>
              </a:fillRef>
              <a:effectRef idx="0">
                <a:schemeClr val="accent1"/>
              </a:effectRef>
              <a:fontRef idx="minor">
                <a:schemeClr val="tx1"/>
              </a:fontRef>
            </p:style>
          </p:cxnSp>
        </p:grpSp>
        <p:grpSp>
          <p:nvGrpSpPr>
            <p:cNvPr id="77" name="Group 76">
              <a:extLst>
                <a:ext uri="{FF2B5EF4-FFF2-40B4-BE49-F238E27FC236}">
                  <a16:creationId xmlns:a16="http://schemas.microsoft.com/office/drawing/2014/main" id="{C8ADA417-38EE-9801-0AD1-FEABF8138A41}"/>
                </a:ext>
              </a:extLst>
            </p:cNvPr>
            <p:cNvGrpSpPr/>
            <p:nvPr/>
          </p:nvGrpSpPr>
          <p:grpSpPr>
            <a:xfrm>
              <a:off x="3493493" y="3913143"/>
              <a:ext cx="286696" cy="380518"/>
              <a:chOff x="3493493" y="3913143"/>
              <a:chExt cx="286696" cy="380518"/>
            </a:xfrm>
          </p:grpSpPr>
          <p:cxnSp>
            <p:nvCxnSpPr>
              <p:cNvPr id="66" name="Straight Connector 65">
                <a:extLst>
                  <a:ext uri="{FF2B5EF4-FFF2-40B4-BE49-F238E27FC236}">
                    <a16:creationId xmlns:a16="http://schemas.microsoft.com/office/drawing/2014/main" id="{7D2399CA-0F08-1E40-B475-2D362E5337F5}"/>
                  </a:ext>
                </a:extLst>
              </p:cNvPr>
              <p:cNvCxnSpPr>
                <a:cxnSpLocks/>
              </p:cNvCxnSpPr>
              <p:nvPr/>
            </p:nvCxnSpPr>
            <p:spPr>
              <a:xfrm flipH="1">
                <a:off x="3493493" y="4284137"/>
                <a:ext cx="286696" cy="0"/>
              </a:xfrm>
              <a:prstGeom prst="line">
                <a:avLst/>
              </a:prstGeom>
              <a:ln w="19050">
                <a:solidFill>
                  <a:srgbClr val="707996"/>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012EDFC2-E76B-F3C7-744D-A8CB6519B879}"/>
                  </a:ext>
                </a:extLst>
              </p:cNvPr>
              <p:cNvCxnSpPr>
                <a:cxnSpLocks/>
              </p:cNvCxnSpPr>
              <p:nvPr/>
            </p:nvCxnSpPr>
            <p:spPr>
              <a:xfrm>
                <a:off x="3496634" y="3913143"/>
                <a:ext cx="0" cy="380518"/>
              </a:xfrm>
              <a:prstGeom prst="line">
                <a:avLst/>
              </a:prstGeom>
              <a:ln w="19050">
                <a:solidFill>
                  <a:srgbClr val="707996"/>
                </a:solidFill>
                <a:tailEnd type="none" w="lg" len="med"/>
              </a:ln>
            </p:spPr>
            <p:style>
              <a:lnRef idx="1">
                <a:schemeClr val="accent1"/>
              </a:lnRef>
              <a:fillRef idx="0">
                <a:schemeClr val="accent1"/>
              </a:fillRef>
              <a:effectRef idx="0">
                <a:schemeClr val="accent1"/>
              </a:effectRef>
              <a:fontRef idx="minor">
                <a:schemeClr val="tx1"/>
              </a:fontRef>
            </p:style>
          </p:cxnSp>
        </p:grpSp>
        <p:grpSp>
          <p:nvGrpSpPr>
            <p:cNvPr id="76" name="Group 75">
              <a:extLst>
                <a:ext uri="{FF2B5EF4-FFF2-40B4-BE49-F238E27FC236}">
                  <a16:creationId xmlns:a16="http://schemas.microsoft.com/office/drawing/2014/main" id="{DC1497C7-771E-F493-3F89-1A2B4A8C0109}"/>
                </a:ext>
              </a:extLst>
            </p:cNvPr>
            <p:cNvGrpSpPr/>
            <p:nvPr/>
          </p:nvGrpSpPr>
          <p:grpSpPr>
            <a:xfrm>
              <a:off x="3915768" y="4546994"/>
              <a:ext cx="286696" cy="380518"/>
              <a:chOff x="3915768" y="4546994"/>
              <a:chExt cx="286696" cy="380518"/>
            </a:xfrm>
          </p:grpSpPr>
          <p:cxnSp>
            <p:nvCxnSpPr>
              <p:cNvPr id="67" name="Straight Connector 66">
                <a:extLst>
                  <a:ext uri="{FF2B5EF4-FFF2-40B4-BE49-F238E27FC236}">
                    <a16:creationId xmlns:a16="http://schemas.microsoft.com/office/drawing/2014/main" id="{5196AD2B-C78D-12CB-4458-39507BD41956}"/>
                  </a:ext>
                </a:extLst>
              </p:cNvPr>
              <p:cNvCxnSpPr>
                <a:cxnSpLocks/>
              </p:cNvCxnSpPr>
              <p:nvPr/>
            </p:nvCxnSpPr>
            <p:spPr>
              <a:xfrm flipH="1">
                <a:off x="3915768" y="4921957"/>
                <a:ext cx="286696" cy="0"/>
              </a:xfrm>
              <a:prstGeom prst="line">
                <a:avLst/>
              </a:prstGeom>
              <a:ln w="19050">
                <a:solidFill>
                  <a:srgbClr val="707996"/>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3696275E-3603-67C8-0E65-3E27BE09F156}"/>
                  </a:ext>
                </a:extLst>
              </p:cNvPr>
              <p:cNvCxnSpPr>
                <a:cxnSpLocks/>
              </p:cNvCxnSpPr>
              <p:nvPr/>
            </p:nvCxnSpPr>
            <p:spPr>
              <a:xfrm>
                <a:off x="3923077" y="4546994"/>
                <a:ext cx="0" cy="380518"/>
              </a:xfrm>
              <a:prstGeom prst="line">
                <a:avLst/>
              </a:prstGeom>
              <a:ln w="19050">
                <a:solidFill>
                  <a:srgbClr val="707996"/>
                </a:solidFill>
                <a:tailEnd type="none" w="lg" len="med"/>
              </a:ln>
            </p:spPr>
            <p:style>
              <a:lnRef idx="1">
                <a:schemeClr val="accent1"/>
              </a:lnRef>
              <a:fillRef idx="0">
                <a:schemeClr val="accent1"/>
              </a:fillRef>
              <a:effectRef idx="0">
                <a:schemeClr val="accent1"/>
              </a:effectRef>
              <a:fontRef idx="minor">
                <a:schemeClr val="tx1"/>
              </a:fontRef>
            </p:style>
          </p:cxnSp>
        </p:grpSp>
        <p:grpSp>
          <p:nvGrpSpPr>
            <p:cNvPr id="75" name="Group 74">
              <a:extLst>
                <a:ext uri="{FF2B5EF4-FFF2-40B4-BE49-F238E27FC236}">
                  <a16:creationId xmlns:a16="http://schemas.microsoft.com/office/drawing/2014/main" id="{BEE938CC-EAF7-DE68-30EC-ACCBFA64A087}"/>
                </a:ext>
              </a:extLst>
            </p:cNvPr>
            <p:cNvGrpSpPr/>
            <p:nvPr/>
          </p:nvGrpSpPr>
          <p:grpSpPr>
            <a:xfrm>
              <a:off x="4350743" y="5179257"/>
              <a:ext cx="286696" cy="380519"/>
              <a:chOff x="4350743" y="5179257"/>
              <a:chExt cx="286696" cy="380519"/>
            </a:xfrm>
          </p:grpSpPr>
          <p:cxnSp>
            <p:nvCxnSpPr>
              <p:cNvPr id="68" name="Straight Connector 67">
                <a:extLst>
                  <a:ext uri="{FF2B5EF4-FFF2-40B4-BE49-F238E27FC236}">
                    <a16:creationId xmlns:a16="http://schemas.microsoft.com/office/drawing/2014/main" id="{48D0BECE-E646-BF30-E96A-E2AFA6EFA6DA}"/>
                  </a:ext>
                </a:extLst>
              </p:cNvPr>
              <p:cNvCxnSpPr>
                <a:cxnSpLocks/>
              </p:cNvCxnSpPr>
              <p:nvPr/>
            </p:nvCxnSpPr>
            <p:spPr>
              <a:xfrm flipH="1">
                <a:off x="4350743" y="5559776"/>
                <a:ext cx="286696" cy="0"/>
              </a:xfrm>
              <a:prstGeom prst="line">
                <a:avLst/>
              </a:prstGeom>
              <a:ln w="19050">
                <a:solidFill>
                  <a:srgbClr val="707996"/>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36F06A93-9621-0636-D65F-7ED6990A91B7}"/>
                  </a:ext>
                </a:extLst>
              </p:cNvPr>
              <p:cNvCxnSpPr>
                <a:cxnSpLocks/>
              </p:cNvCxnSpPr>
              <p:nvPr/>
            </p:nvCxnSpPr>
            <p:spPr>
              <a:xfrm>
                <a:off x="4362220" y="5179257"/>
                <a:ext cx="0" cy="380518"/>
              </a:xfrm>
              <a:prstGeom prst="line">
                <a:avLst/>
              </a:prstGeom>
              <a:ln w="19050">
                <a:solidFill>
                  <a:srgbClr val="707996"/>
                </a:solidFill>
                <a:tailEnd type="none" w="lg" len="med"/>
              </a:ln>
            </p:spPr>
            <p:style>
              <a:lnRef idx="1">
                <a:schemeClr val="accent1"/>
              </a:lnRef>
              <a:fillRef idx="0">
                <a:schemeClr val="accent1"/>
              </a:fillRef>
              <a:effectRef idx="0">
                <a:schemeClr val="accent1"/>
              </a:effectRef>
              <a:fontRef idx="minor">
                <a:schemeClr val="tx1"/>
              </a:fontRef>
            </p:style>
          </p:cxnSp>
        </p:grpSp>
        <p:sp>
          <p:nvSpPr>
            <p:cNvPr id="13" name="Google Shape;268;p3">
              <a:extLst>
                <a:ext uri="{FF2B5EF4-FFF2-40B4-BE49-F238E27FC236}">
                  <a16:creationId xmlns:a16="http://schemas.microsoft.com/office/drawing/2014/main" id="{713999E8-E082-515C-0DE1-C91143BCBBE2}"/>
                </a:ext>
              </a:extLst>
            </p:cNvPr>
            <p:cNvSpPr/>
            <p:nvPr/>
          </p:nvSpPr>
          <p:spPr>
            <a:xfrm>
              <a:off x="2957908" y="2736114"/>
              <a:ext cx="2404551" cy="544765"/>
            </a:xfrm>
            <a:prstGeom prst="rect">
              <a:avLst/>
            </a:prstGeom>
            <a:solidFill>
              <a:srgbClr val="FFFFFF"/>
            </a:solidFill>
            <a:ln w="19050">
              <a:solidFill>
                <a:srgbClr val="3C92B5"/>
              </a:solidFill>
            </a:ln>
          </p:spPr>
          <p:txBody>
            <a:bodyPr spcFirstLastPara="1" wrap="square" lIns="91425" tIns="91440" rIns="91425" bIns="91440" anchor="ctr" anchorCtr="0">
              <a:spAutoFit/>
            </a:bodyPr>
            <a:lstStyle/>
            <a:p>
              <a:pPr lvl="0" algn="ctr">
                <a:lnSpc>
                  <a:spcPct val="90000"/>
                </a:lnSpc>
              </a:pPr>
              <a:r>
                <a:rPr lang="en-US" sz="1300">
                  <a:solidFill>
                    <a:srgbClr val="00002D"/>
                  </a:solidFill>
                  <a:ea typeface="Arial"/>
                  <a:cs typeface="Arial"/>
                  <a:sym typeface="Arial"/>
                </a:rPr>
                <a:t>Separate workflows</a:t>
              </a:r>
              <a:br>
                <a:rPr lang="en-US" sz="1300">
                  <a:solidFill>
                    <a:srgbClr val="00002D"/>
                  </a:solidFill>
                  <a:ea typeface="Arial"/>
                  <a:cs typeface="Arial"/>
                  <a:sym typeface="Arial"/>
                </a:rPr>
              </a:br>
              <a:r>
                <a:rPr lang="en-US" sz="1300">
                  <a:solidFill>
                    <a:srgbClr val="00002D"/>
                  </a:solidFill>
                  <a:ea typeface="Arial"/>
                  <a:cs typeface="Arial"/>
                  <a:sym typeface="Arial"/>
                </a:rPr>
                <a:t>from tools</a:t>
              </a:r>
            </a:p>
          </p:txBody>
        </p:sp>
        <p:sp>
          <p:nvSpPr>
            <p:cNvPr id="16" name="Google Shape;268;p3">
              <a:extLst>
                <a:ext uri="{FF2B5EF4-FFF2-40B4-BE49-F238E27FC236}">
                  <a16:creationId xmlns:a16="http://schemas.microsoft.com/office/drawing/2014/main" id="{D3F181F5-0CD9-A54B-7D3D-6C89928740D8}"/>
                </a:ext>
              </a:extLst>
            </p:cNvPr>
            <p:cNvSpPr/>
            <p:nvPr/>
          </p:nvSpPr>
          <p:spPr>
            <a:xfrm>
              <a:off x="3814258" y="4011754"/>
              <a:ext cx="2404551" cy="544765"/>
            </a:xfrm>
            <a:prstGeom prst="rect">
              <a:avLst/>
            </a:prstGeom>
            <a:solidFill>
              <a:srgbClr val="FFFFFF"/>
            </a:solidFill>
            <a:ln w="19050">
              <a:solidFill>
                <a:srgbClr val="3C92B5"/>
              </a:solidFill>
            </a:ln>
          </p:spPr>
          <p:txBody>
            <a:bodyPr spcFirstLastPara="1" wrap="square" lIns="91425" tIns="91440" rIns="91425" bIns="91440" anchor="ctr" anchorCtr="0">
              <a:spAutoFit/>
            </a:bodyPr>
            <a:lstStyle/>
            <a:p>
              <a:pPr lvl="0" algn="ctr">
                <a:lnSpc>
                  <a:spcPct val="90000"/>
                </a:lnSpc>
              </a:pPr>
              <a:r>
                <a:rPr lang="en-US" sz="1300">
                  <a:solidFill>
                    <a:srgbClr val="00002D"/>
                  </a:solidFill>
                  <a:ea typeface="Arial"/>
                  <a:cs typeface="Arial"/>
                  <a:sym typeface="Arial"/>
                </a:rPr>
                <a:t>Define AI architecture, integrations, and controls</a:t>
              </a:r>
            </a:p>
          </p:txBody>
        </p:sp>
        <p:sp>
          <p:nvSpPr>
            <p:cNvPr id="17" name="Google Shape;268;p3">
              <a:extLst>
                <a:ext uri="{FF2B5EF4-FFF2-40B4-BE49-F238E27FC236}">
                  <a16:creationId xmlns:a16="http://schemas.microsoft.com/office/drawing/2014/main" id="{C6F9137C-4319-DC7E-7A32-4D8A984AAB93}"/>
                </a:ext>
              </a:extLst>
            </p:cNvPr>
            <p:cNvSpPr/>
            <p:nvPr/>
          </p:nvSpPr>
          <p:spPr>
            <a:xfrm>
              <a:off x="3383474" y="3373934"/>
              <a:ext cx="2404551" cy="544765"/>
            </a:xfrm>
            <a:prstGeom prst="rect">
              <a:avLst/>
            </a:prstGeom>
            <a:solidFill>
              <a:srgbClr val="FFFFFF"/>
            </a:solidFill>
            <a:ln w="19050">
              <a:solidFill>
                <a:srgbClr val="3C92B5"/>
              </a:solidFill>
            </a:ln>
          </p:spPr>
          <p:txBody>
            <a:bodyPr spcFirstLastPara="1" wrap="square" lIns="91425" tIns="91440" rIns="91425" bIns="91440" anchor="ctr" anchorCtr="0">
              <a:spAutoFit/>
            </a:bodyPr>
            <a:lstStyle/>
            <a:p>
              <a:pPr lvl="0" algn="ctr">
                <a:lnSpc>
                  <a:spcPct val="90000"/>
                </a:lnSpc>
              </a:pPr>
              <a:r>
                <a:rPr lang="en-US" sz="1300">
                  <a:solidFill>
                    <a:srgbClr val="00002D"/>
                  </a:solidFill>
                </a:rPr>
                <a:t>Manage AI features</a:t>
              </a:r>
              <a:br>
                <a:rPr lang="en-US" sz="1300">
                  <a:solidFill>
                    <a:srgbClr val="00002D"/>
                  </a:solidFill>
                </a:rPr>
              </a:br>
              <a:r>
                <a:rPr lang="en-US" sz="1300">
                  <a:solidFill>
                    <a:srgbClr val="00002D"/>
                  </a:solidFill>
                </a:rPr>
                <a:t>in technology portfolio </a:t>
              </a:r>
            </a:p>
          </p:txBody>
        </p:sp>
        <p:sp>
          <p:nvSpPr>
            <p:cNvPr id="22" name="Google Shape;268;p3">
              <a:extLst>
                <a:ext uri="{FF2B5EF4-FFF2-40B4-BE49-F238E27FC236}">
                  <a16:creationId xmlns:a16="http://schemas.microsoft.com/office/drawing/2014/main" id="{E2394BA7-C834-E584-D115-2BF703C7B577}"/>
                </a:ext>
              </a:extLst>
            </p:cNvPr>
            <p:cNvSpPr/>
            <p:nvPr/>
          </p:nvSpPr>
          <p:spPr>
            <a:xfrm>
              <a:off x="4239548" y="4649574"/>
              <a:ext cx="2404551" cy="544765"/>
            </a:xfrm>
            <a:prstGeom prst="rect">
              <a:avLst/>
            </a:prstGeom>
            <a:solidFill>
              <a:srgbClr val="FFFFFF"/>
            </a:solidFill>
            <a:ln w="19050">
              <a:solidFill>
                <a:srgbClr val="3C92B5"/>
              </a:solidFill>
            </a:ln>
          </p:spPr>
          <p:txBody>
            <a:bodyPr spcFirstLastPara="1" wrap="square" lIns="91425" tIns="91440" rIns="91425" bIns="91440" anchor="ctr" anchorCtr="0">
              <a:spAutoFit/>
            </a:bodyPr>
            <a:lstStyle/>
            <a:p>
              <a:pPr lvl="0" algn="ctr">
                <a:lnSpc>
                  <a:spcPct val="90000"/>
                </a:lnSpc>
                <a:defRPr/>
              </a:pPr>
              <a:r>
                <a:rPr lang="en-US" sz="1300">
                  <a:solidFill>
                    <a:srgbClr val="000000"/>
                  </a:solidFill>
                  <a:ea typeface="Arial"/>
                  <a:cs typeface="Arial"/>
                  <a:sym typeface="Arial"/>
                </a:rPr>
                <a:t>Create an AI runtime and execution environment</a:t>
              </a:r>
            </a:p>
          </p:txBody>
        </p:sp>
        <p:cxnSp>
          <p:nvCxnSpPr>
            <p:cNvPr id="80" name="Straight Connector 79">
              <a:extLst>
                <a:ext uri="{FF2B5EF4-FFF2-40B4-BE49-F238E27FC236}">
                  <a16:creationId xmlns:a16="http://schemas.microsoft.com/office/drawing/2014/main" id="{A6231156-E298-1093-290A-9446CF7BD6C3}"/>
                </a:ext>
              </a:extLst>
            </p:cNvPr>
            <p:cNvCxnSpPr>
              <a:cxnSpLocks/>
            </p:cNvCxnSpPr>
            <p:nvPr/>
          </p:nvCxnSpPr>
          <p:spPr>
            <a:xfrm flipH="1">
              <a:off x="5616231" y="2370677"/>
              <a:ext cx="286696" cy="0"/>
            </a:xfrm>
            <a:prstGeom prst="line">
              <a:avLst/>
            </a:prstGeom>
            <a:ln w="19050">
              <a:solidFill>
                <a:srgbClr val="707996"/>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6F074929-8852-DEC8-FD52-876ACB85A178}"/>
                </a:ext>
              </a:extLst>
            </p:cNvPr>
            <p:cNvCxnSpPr>
              <a:cxnSpLocks/>
            </p:cNvCxnSpPr>
            <p:nvPr/>
          </p:nvCxnSpPr>
          <p:spPr>
            <a:xfrm>
              <a:off x="5616029" y="2005971"/>
              <a:ext cx="0" cy="1010894"/>
            </a:xfrm>
            <a:prstGeom prst="line">
              <a:avLst/>
            </a:prstGeom>
            <a:ln w="19050">
              <a:solidFill>
                <a:srgbClr val="707996"/>
              </a:solidFill>
              <a:tailEnd type="none" w="lg" len="med"/>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62BCBF52-59E8-6A6C-0DB7-347DF1B122EE}"/>
                </a:ext>
              </a:extLst>
            </p:cNvPr>
            <p:cNvCxnSpPr>
              <a:cxnSpLocks/>
            </p:cNvCxnSpPr>
            <p:nvPr/>
          </p:nvCxnSpPr>
          <p:spPr>
            <a:xfrm flipH="1">
              <a:off x="5616029" y="3008497"/>
              <a:ext cx="286898" cy="0"/>
            </a:xfrm>
            <a:prstGeom prst="line">
              <a:avLst/>
            </a:prstGeom>
            <a:ln w="19050">
              <a:solidFill>
                <a:srgbClr val="707996"/>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4FE4F192-1150-7E7E-7D7F-80313D585D13}"/>
                </a:ext>
              </a:extLst>
            </p:cNvPr>
            <p:cNvCxnSpPr>
              <a:cxnSpLocks/>
            </p:cNvCxnSpPr>
            <p:nvPr/>
          </p:nvCxnSpPr>
          <p:spPr>
            <a:xfrm flipH="1">
              <a:off x="9036046" y="2552333"/>
              <a:ext cx="286696" cy="0"/>
            </a:xfrm>
            <a:prstGeom prst="line">
              <a:avLst/>
            </a:prstGeom>
            <a:ln w="19050">
              <a:solidFill>
                <a:srgbClr val="707996"/>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8ACBADA9-4C9F-2931-5CF9-C3363C4FBF44}"/>
                </a:ext>
              </a:extLst>
            </p:cNvPr>
            <p:cNvCxnSpPr>
              <a:cxnSpLocks/>
            </p:cNvCxnSpPr>
            <p:nvPr/>
          </p:nvCxnSpPr>
          <p:spPr>
            <a:xfrm>
              <a:off x="9041069" y="2192971"/>
              <a:ext cx="0" cy="1643444"/>
            </a:xfrm>
            <a:prstGeom prst="line">
              <a:avLst/>
            </a:prstGeom>
            <a:ln w="19050">
              <a:solidFill>
                <a:srgbClr val="707996"/>
              </a:solidFill>
              <a:tailEnd type="none" w="lg" len="med"/>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B50716C3-5CFB-756F-1772-DA7E37E0A400}"/>
                </a:ext>
              </a:extLst>
            </p:cNvPr>
            <p:cNvCxnSpPr>
              <a:cxnSpLocks/>
            </p:cNvCxnSpPr>
            <p:nvPr/>
          </p:nvCxnSpPr>
          <p:spPr>
            <a:xfrm flipH="1">
              <a:off x="9035844" y="3191761"/>
              <a:ext cx="286898" cy="0"/>
            </a:xfrm>
            <a:prstGeom prst="line">
              <a:avLst/>
            </a:prstGeom>
            <a:ln w="19050">
              <a:solidFill>
                <a:srgbClr val="707996"/>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FF9ABDA-E94F-17A3-E5D2-1B4E4550FDEB}"/>
                </a:ext>
              </a:extLst>
            </p:cNvPr>
            <p:cNvCxnSpPr>
              <a:cxnSpLocks/>
            </p:cNvCxnSpPr>
            <p:nvPr/>
          </p:nvCxnSpPr>
          <p:spPr>
            <a:xfrm flipH="1">
              <a:off x="9035844" y="3831190"/>
              <a:ext cx="286898" cy="0"/>
            </a:xfrm>
            <a:prstGeom prst="line">
              <a:avLst/>
            </a:prstGeom>
            <a:ln w="19050">
              <a:solidFill>
                <a:srgbClr val="707996"/>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9884F49-1123-03FC-4978-BAF5749311AC}"/>
                </a:ext>
              </a:extLst>
            </p:cNvPr>
            <p:cNvCxnSpPr>
              <a:cxnSpLocks/>
            </p:cNvCxnSpPr>
            <p:nvPr/>
          </p:nvCxnSpPr>
          <p:spPr>
            <a:xfrm flipH="1">
              <a:off x="4585749" y="1732857"/>
              <a:ext cx="901449" cy="0"/>
            </a:xfrm>
            <a:prstGeom prst="line">
              <a:avLst/>
            </a:prstGeom>
            <a:ln w="19050">
              <a:solidFill>
                <a:srgbClr val="707996"/>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F0DAAF2E-9BF2-5A82-8308-FCDB00E9E482}"/>
                </a:ext>
              </a:extLst>
            </p:cNvPr>
            <p:cNvCxnSpPr>
              <a:cxnSpLocks/>
            </p:cNvCxnSpPr>
            <p:nvPr/>
          </p:nvCxnSpPr>
          <p:spPr>
            <a:xfrm flipH="1">
              <a:off x="8004602" y="1732857"/>
              <a:ext cx="901449" cy="0"/>
            </a:xfrm>
            <a:prstGeom prst="line">
              <a:avLst/>
            </a:prstGeom>
            <a:ln w="19050">
              <a:solidFill>
                <a:srgbClr val="707996"/>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sp>
          <p:nvSpPr>
            <p:cNvPr id="27" name="Google Shape;266;p3">
              <a:extLst>
                <a:ext uri="{FF2B5EF4-FFF2-40B4-BE49-F238E27FC236}">
                  <a16:creationId xmlns:a16="http://schemas.microsoft.com/office/drawing/2014/main" id="{0B6D3028-91CA-1C38-5E1E-BF1306B7E190}"/>
                </a:ext>
              </a:extLst>
            </p:cNvPr>
            <p:cNvSpPr/>
            <p:nvPr/>
          </p:nvSpPr>
          <p:spPr>
            <a:xfrm>
              <a:off x="5514738" y="1460474"/>
              <a:ext cx="2489864" cy="544765"/>
            </a:xfrm>
            <a:prstGeom prst="rect">
              <a:avLst/>
            </a:prstGeom>
            <a:solidFill>
              <a:srgbClr val="FFFFFF"/>
            </a:solidFill>
            <a:ln w="19050">
              <a:solidFill>
                <a:srgbClr val="3C92B5"/>
              </a:solidFill>
            </a:ln>
          </p:spPr>
          <p:txBody>
            <a:bodyPr spcFirstLastPara="1" wrap="square" lIns="91425" tIns="91440" rIns="91425" bIns="91440" anchor="ctr" anchorCtr="0">
              <a:spAutoFit/>
            </a:bodyPr>
            <a:lstStyle/>
            <a:p>
              <a:pPr lvl="0" algn="ctr">
                <a:lnSpc>
                  <a:spcPct val="90000"/>
                </a:lnSpc>
                <a:defRPr/>
              </a:pPr>
              <a:r>
                <a:rPr lang="en-US" sz="1300">
                  <a:solidFill>
                    <a:srgbClr val="000000"/>
                  </a:solidFill>
                  <a:ea typeface="Arial"/>
                  <a:cs typeface="Arial"/>
                  <a:sym typeface="Arial"/>
                </a:rPr>
                <a:t>Acquire, prepare, standardize and integrate HR data for AI</a:t>
              </a:r>
            </a:p>
          </p:txBody>
        </p:sp>
        <p:sp>
          <p:nvSpPr>
            <p:cNvPr id="55" name="Google Shape;266;p3">
              <a:extLst>
                <a:ext uri="{FF2B5EF4-FFF2-40B4-BE49-F238E27FC236}">
                  <a16:creationId xmlns:a16="http://schemas.microsoft.com/office/drawing/2014/main" id="{80D9021D-E9FF-1DA9-CC2E-A0C259B6DFD6}"/>
                </a:ext>
              </a:extLst>
            </p:cNvPr>
            <p:cNvSpPr/>
            <p:nvPr/>
          </p:nvSpPr>
          <p:spPr>
            <a:xfrm>
              <a:off x="2100282" y="1460474"/>
              <a:ext cx="2489864" cy="544765"/>
            </a:xfrm>
            <a:prstGeom prst="rect">
              <a:avLst/>
            </a:prstGeom>
            <a:solidFill>
              <a:srgbClr val="FFFFFF"/>
            </a:solidFill>
            <a:ln w="19050">
              <a:solidFill>
                <a:srgbClr val="3C92B5"/>
              </a:solidFill>
            </a:ln>
          </p:spPr>
          <p:txBody>
            <a:bodyPr spcFirstLastPara="1" wrap="square" lIns="91425" tIns="91440" rIns="91425" bIns="91440" anchor="ctr" anchorCtr="0">
              <a:spAutoFit/>
            </a:bodyPr>
            <a:lstStyle/>
            <a:p>
              <a:pPr lvl="0" algn="ctr">
                <a:lnSpc>
                  <a:spcPct val="90000"/>
                </a:lnSpc>
              </a:pPr>
              <a:r>
                <a:rPr lang="en-US" sz="1300"/>
                <a:t>Design AI solutions as part</a:t>
              </a:r>
              <a:br>
                <a:rPr lang="en-US" sz="1300"/>
              </a:br>
              <a:r>
                <a:rPr lang="en-US" sz="1300"/>
                <a:t>of HR technology strategy </a:t>
              </a:r>
            </a:p>
          </p:txBody>
        </p:sp>
      </p:grpSp>
      <p:pic>
        <p:nvPicPr>
          <p:cNvPr id="86" name="Graphic 85">
            <a:hlinkClick r:id="rId4" action="ppaction://hlinksldjump"/>
            <a:extLst>
              <a:ext uri="{FF2B5EF4-FFF2-40B4-BE49-F238E27FC236}">
                <a16:creationId xmlns:a16="http://schemas.microsoft.com/office/drawing/2014/main" id="{9409A13E-6931-1EA0-F129-BBF132D0051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291401" y="391876"/>
            <a:ext cx="503201" cy="391379"/>
          </a:xfrm>
          <a:prstGeom prst="rect">
            <a:avLst/>
          </a:prstGeom>
        </p:spPr>
      </p:pic>
    </p:spTree>
    <p:extLst>
      <p:ext uri="{BB962C8B-B14F-4D97-AF65-F5344CB8AC3E}">
        <p14:creationId xmlns:p14="http://schemas.microsoft.com/office/powerpoint/2010/main" val="4466729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731B3-F4E5-2070-4E52-CE3AE061279D}"/>
              </a:ext>
            </a:extLst>
          </p:cNvPr>
          <p:cNvSpPr>
            <a:spLocks noGrp="1"/>
          </p:cNvSpPr>
          <p:nvPr>
            <p:ph type="title"/>
          </p:nvPr>
        </p:nvSpPr>
        <p:spPr>
          <a:xfrm>
            <a:off x="1365814" y="1928932"/>
            <a:ext cx="5408210" cy="1354217"/>
          </a:xfrm>
        </p:spPr>
        <p:txBody>
          <a:bodyPr/>
          <a:lstStyle/>
          <a:p>
            <a:r>
              <a:rPr lang="en-US"/>
              <a:t>Appendix: Detailed Task Descriptions</a:t>
            </a:r>
          </a:p>
        </p:txBody>
      </p:sp>
    </p:spTree>
    <p:extLst>
      <p:ext uri="{BB962C8B-B14F-4D97-AF65-F5344CB8AC3E}">
        <p14:creationId xmlns:p14="http://schemas.microsoft.com/office/powerpoint/2010/main" val="16940194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4E7BC-97F1-373A-28D5-AB8486D6A7DC}"/>
              </a:ext>
            </a:extLst>
          </p:cNvPr>
          <p:cNvSpPr>
            <a:spLocks noGrp="1"/>
          </p:cNvSpPr>
          <p:nvPr>
            <p:ph type="title"/>
          </p:nvPr>
        </p:nvSpPr>
        <p:spPr/>
        <p:txBody>
          <a:bodyPr/>
          <a:lstStyle/>
          <a:p>
            <a:r>
              <a:rPr lang="en-US"/>
              <a:t>AI Strategy for HR Function: Detailed Activities</a:t>
            </a:r>
          </a:p>
        </p:txBody>
      </p:sp>
      <p:graphicFrame>
        <p:nvGraphicFramePr>
          <p:cNvPr id="3" name="Google Shape;513;p11">
            <a:extLst>
              <a:ext uri="{FF2B5EF4-FFF2-40B4-BE49-F238E27FC236}">
                <a16:creationId xmlns:a16="http://schemas.microsoft.com/office/drawing/2014/main" id="{A31714A8-AA65-A152-CDDB-74A70AEFB04C}"/>
              </a:ext>
            </a:extLst>
          </p:cNvPr>
          <p:cNvGraphicFramePr/>
          <p:nvPr>
            <p:extLst>
              <p:ext uri="{D42A27DB-BD31-4B8C-83A1-F6EECF244321}">
                <p14:modId xmlns:p14="http://schemas.microsoft.com/office/powerpoint/2010/main" val="125317479"/>
              </p:ext>
            </p:extLst>
          </p:nvPr>
        </p:nvGraphicFramePr>
        <p:xfrm>
          <a:off x="474896" y="947137"/>
          <a:ext cx="11256855" cy="5030914"/>
        </p:xfrm>
        <a:graphic>
          <a:graphicData uri="http://schemas.openxmlformats.org/drawingml/2006/table">
            <a:tbl>
              <a:tblPr>
                <a:noFill/>
              </a:tblPr>
              <a:tblGrid>
                <a:gridCol w="1143447">
                  <a:extLst>
                    <a:ext uri="{9D8B030D-6E8A-4147-A177-3AD203B41FA5}">
                      <a16:colId xmlns:a16="http://schemas.microsoft.com/office/drawing/2014/main" val="20000"/>
                    </a:ext>
                  </a:extLst>
                </a:gridCol>
                <a:gridCol w="7842180">
                  <a:extLst>
                    <a:ext uri="{9D8B030D-6E8A-4147-A177-3AD203B41FA5}">
                      <a16:colId xmlns:a16="http://schemas.microsoft.com/office/drawing/2014/main" val="20001"/>
                    </a:ext>
                  </a:extLst>
                </a:gridCol>
                <a:gridCol w="2271228">
                  <a:extLst>
                    <a:ext uri="{9D8B030D-6E8A-4147-A177-3AD203B41FA5}">
                      <a16:colId xmlns:a16="http://schemas.microsoft.com/office/drawing/2014/main" val="20002"/>
                    </a:ext>
                  </a:extLst>
                </a:gridCol>
              </a:tblGrid>
              <a:tr h="359918">
                <a:tc>
                  <a:txBody>
                    <a:bodyPr/>
                    <a:lstStyle/>
                    <a:p>
                      <a:pPr marL="0" marR="0" lvl="0" indent="0" algn="l" rtl="0">
                        <a:spcBef>
                          <a:spcPts val="0"/>
                        </a:spcBef>
                        <a:spcAft>
                          <a:spcPts val="0"/>
                        </a:spcAft>
                        <a:buNone/>
                      </a:pPr>
                      <a:r>
                        <a:rPr lang="en-US" sz="900" b="1" i="0" u="none" strike="noStrike" cap="none">
                          <a:solidFill>
                            <a:schemeClr val="lt2"/>
                          </a:solidFill>
                          <a:latin typeface="+mj-lt"/>
                          <a:ea typeface="Arial"/>
                          <a:cs typeface="Arial"/>
                          <a:sym typeface="Arial"/>
                        </a:rPr>
                        <a:t>Activity</a:t>
                      </a:r>
                      <a:endParaRPr sz="900" b="1" i="0">
                        <a:solidFill>
                          <a:schemeClr val="lt2"/>
                        </a:solidFill>
                        <a:latin typeface="+mj-lt"/>
                        <a:ea typeface="Arial"/>
                        <a:cs typeface="Arial"/>
                        <a:sym typeface="Arial"/>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28575"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chemeClr val="dk2"/>
                    </a:solidFill>
                  </a:tcPr>
                </a:tc>
                <a:tc>
                  <a:txBody>
                    <a:bodyPr/>
                    <a:lstStyle/>
                    <a:p>
                      <a:pPr marL="0" marR="0" lvl="0" indent="0" algn="l" rtl="0">
                        <a:spcBef>
                          <a:spcPts val="0"/>
                        </a:spcBef>
                        <a:spcAft>
                          <a:spcPts val="0"/>
                        </a:spcAft>
                        <a:buNone/>
                      </a:pPr>
                      <a:r>
                        <a:rPr lang="en-US" sz="900" b="1" i="0">
                          <a:solidFill>
                            <a:schemeClr val="lt2"/>
                          </a:solidFill>
                          <a:latin typeface="+mj-lt"/>
                          <a:ea typeface="Arial"/>
                          <a:cs typeface="Arial"/>
                          <a:sym typeface="Arial"/>
                        </a:rPr>
                        <a:t>Steps</a:t>
                      </a:r>
                      <a:endParaRPr sz="900" b="1" i="0">
                        <a:solidFill>
                          <a:schemeClr val="lt2"/>
                        </a:solidFill>
                        <a:latin typeface="+mj-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28575"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chemeClr val="dk2"/>
                    </a:solidFill>
                  </a:tcPr>
                </a:tc>
                <a:tc>
                  <a:txBody>
                    <a:bodyPr/>
                    <a:lstStyle/>
                    <a:p>
                      <a:pPr marL="0" marR="0" lvl="0" indent="0" algn="l" rtl="0">
                        <a:spcBef>
                          <a:spcPts val="0"/>
                        </a:spcBef>
                        <a:spcAft>
                          <a:spcPts val="0"/>
                        </a:spcAft>
                        <a:buNone/>
                      </a:pPr>
                      <a:r>
                        <a:rPr lang="en-US" sz="900" b="1" i="0">
                          <a:solidFill>
                            <a:schemeClr val="lt2"/>
                          </a:solidFill>
                          <a:latin typeface="+mj-lt"/>
                          <a:ea typeface="Arial"/>
                          <a:cs typeface="Arial"/>
                          <a:sym typeface="Arial"/>
                        </a:rPr>
                        <a:t>Supporting resources</a:t>
                      </a:r>
                      <a:endParaRPr sz="900" b="1" i="0">
                        <a:solidFill>
                          <a:schemeClr val="lt2"/>
                        </a:solidFill>
                        <a:latin typeface="+mj-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28575"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chemeClr val="dk2"/>
                    </a:solidFill>
                  </a:tcPr>
                </a:tc>
                <a:extLst>
                  <a:ext uri="{0D108BD9-81ED-4DB2-BD59-A6C34878D82A}">
                    <a16:rowId xmlns:a16="http://schemas.microsoft.com/office/drawing/2014/main" val="10000"/>
                  </a:ext>
                </a:extLst>
              </a:tr>
              <a:tr h="1004508">
                <a:tc>
                  <a:txBody>
                    <a:bodyPr/>
                    <a:lstStyle/>
                    <a:p>
                      <a:pPr marL="0" marR="0" lvl="0" indent="0" algn="l" rtl="0">
                        <a:spcBef>
                          <a:spcPts val="0"/>
                        </a:spcBef>
                        <a:spcAft>
                          <a:spcPts val="0"/>
                        </a:spcAft>
                        <a:buNone/>
                      </a:pPr>
                      <a:r>
                        <a:rPr lang="en-US" sz="900" b="0" i="0">
                          <a:solidFill>
                            <a:schemeClr val="dk1"/>
                          </a:solidFill>
                          <a:latin typeface="+mj-lt"/>
                          <a:ea typeface="Arial"/>
                          <a:cs typeface="Arial"/>
                          <a:sym typeface="Arial"/>
                        </a:rPr>
                        <a:t>Analyze current AI trends and impact on HR</a:t>
                      </a:r>
                      <a:endParaRPr lang="en-US" sz="900">
                        <a:latin typeface="+mj-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tc>
                  <a:txBody>
                    <a:bodyPr/>
                    <a:lstStyle/>
                    <a:p>
                      <a:pPr marL="173736" marR="0" lvl="0" indent="-173736" algn="l" rtl="0">
                        <a:lnSpc>
                          <a:spcPct val="90000"/>
                        </a:lnSpc>
                        <a:spcBef>
                          <a:spcPts val="300"/>
                        </a:spcBef>
                        <a:spcAft>
                          <a:spcPts val="0"/>
                        </a:spcAft>
                        <a:buClr>
                          <a:srgbClr val="000000"/>
                        </a:buClr>
                        <a:buSzPct val="100000"/>
                        <a:buFont typeface="+mj-lt"/>
                        <a:buAutoNum type="arabicPeriod"/>
                      </a:pPr>
                      <a:r>
                        <a:rPr lang="en-US" sz="900" dirty="0">
                          <a:solidFill>
                            <a:srgbClr val="000000"/>
                          </a:solidFill>
                          <a:latin typeface="+mn-lt"/>
                          <a:ea typeface="Arial"/>
                          <a:cs typeface="Arial"/>
                          <a:sym typeface="Arial"/>
                        </a:rPr>
                        <a:t>Assess AI trends and key developments to determine how they will impact HR’s ability to deliver services and organizational value.</a:t>
                      </a:r>
                      <a:endParaRPr sz="900" dirty="0">
                        <a:latin typeface="+mn-lt"/>
                      </a:endParaRPr>
                    </a:p>
                    <a:p>
                      <a:pPr marL="173736" marR="0" lvl="0" indent="-173736" algn="l" rtl="0">
                        <a:lnSpc>
                          <a:spcPct val="90000"/>
                        </a:lnSpc>
                        <a:spcBef>
                          <a:spcPts val="300"/>
                        </a:spcBef>
                        <a:spcAft>
                          <a:spcPts val="0"/>
                        </a:spcAft>
                        <a:buClr>
                          <a:srgbClr val="000000"/>
                        </a:buClr>
                        <a:buSzPct val="100000"/>
                        <a:buFont typeface="+mj-lt"/>
                        <a:buAutoNum type="arabicPeriod"/>
                      </a:pPr>
                      <a:r>
                        <a:rPr lang="en-US" sz="900" dirty="0">
                          <a:latin typeface="+mn-lt"/>
                        </a:rPr>
                        <a:t>Perform a strategic gap analysis to compare your HR function's current AI capabilities against those of your competitors.</a:t>
                      </a:r>
                      <a:endParaRPr sz="900" dirty="0">
                        <a:solidFill>
                          <a:srgbClr val="000000"/>
                        </a:solidFill>
                        <a:latin typeface="+mn-lt"/>
                        <a:ea typeface="Arial"/>
                        <a:cs typeface="Arial"/>
                        <a:sym typeface="Arial"/>
                      </a:endParaRPr>
                    </a:p>
                    <a:p>
                      <a:pPr marL="173736" marR="0" lvl="0" indent="-173736" algn="l" rtl="0">
                        <a:lnSpc>
                          <a:spcPct val="90000"/>
                        </a:lnSpc>
                        <a:spcBef>
                          <a:spcPts val="300"/>
                        </a:spcBef>
                        <a:spcAft>
                          <a:spcPts val="0"/>
                        </a:spcAft>
                        <a:buClr>
                          <a:srgbClr val="000000"/>
                        </a:buClr>
                        <a:buSzPct val="100000"/>
                        <a:buFont typeface="+mj-lt"/>
                        <a:buAutoNum type="arabicPeriod"/>
                      </a:pPr>
                      <a:r>
                        <a:rPr lang="en-US" sz="900" dirty="0">
                          <a:latin typeface="+mn-lt"/>
                        </a:rPr>
                        <a:t>Prioritize identified AI trends and categorize initiatives based on their strategic intent and differentiated impact across various HR processes.</a:t>
                      </a:r>
                      <a:endParaRPr sz="900" dirty="0">
                        <a:latin typeface="+mn-lt"/>
                      </a:endParaRPr>
                    </a:p>
                    <a:p>
                      <a:pPr marL="173736" marR="0" lvl="0" indent="-173736" algn="l" rtl="0">
                        <a:lnSpc>
                          <a:spcPct val="90000"/>
                        </a:lnSpc>
                        <a:spcBef>
                          <a:spcPts val="300"/>
                        </a:spcBef>
                        <a:spcAft>
                          <a:spcPts val="0"/>
                        </a:spcAft>
                        <a:buClr>
                          <a:srgbClr val="000000"/>
                        </a:buClr>
                        <a:buSzPct val="100000"/>
                        <a:buFont typeface="+mj-lt"/>
                        <a:buAutoNum type="arabicPeriod"/>
                      </a:pPr>
                      <a:r>
                        <a:rPr lang="en-US" sz="900" dirty="0">
                          <a:latin typeface="+mn-lt"/>
                        </a:rPr>
                        <a:t>Identify where AI can generate the greatest business value across the HR function.</a:t>
                      </a:r>
                      <a:endParaRPr sz="900" dirty="0">
                        <a:latin typeface="+mn-lt"/>
                      </a:endParaRPr>
                    </a:p>
                    <a:p>
                      <a:pPr marL="173736" marR="0" lvl="0" indent="-173736" algn="l" rtl="0">
                        <a:lnSpc>
                          <a:spcPct val="90000"/>
                        </a:lnSpc>
                        <a:spcBef>
                          <a:spcPts val="300"/>
                        </a:spcBef>
                        <a:spcAft>
                          <a:spcPts val="0"/>
                        </a:spcAft>
                        <a:buClr>
                          <a:srgbClr val="000000"/>
                        </a:buClr>
                        <a:buSzPct val="100000"/>
                        <a:buFont typeface="+mj-lt"/>
                        <a:buAutoNum type="arabicPeriod"/>
                      </a:pPr>
                      <a:r>
                        <a:rPr lang="en-US" sz="900" dirty="0">
                          <a:solidFill>
                            <a:srgbClr val="000000"/>
                          </a:solidFill>
                          <a:latin typeface="+mn-lt"/>
                          <a:ea typeface="Arial"/>
                          <a:cs typeface="Arial"/>
                          <a:sym typeface="Arial"/>
                        </a:rPr>
                        <a:t>Summarize the key trends and their potential impact in a short report.</a:t>
                      </a:r>
                      <a:endParaRPr sz="900" dirty="0">
                        <a:solidFill>
                          <a:srgbClr val="000000"/>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tc>
                  <a:txBody>
                    <a:bodyPr/>
                    <a:lstStyle/>
                    <a:p>
                      <a:pPr marL="0" marR="0" lvl="0" indent="0" algn="l" defTabSz="914400" rtl="0" eaLnBrk="1" latinLnBrk="0" hangingPunct="1">
                        <a:lnSpc>
                          <a:spcPct val="100000"/>
                        </a:lnSpc>
                        <a:spcBef>
                          <a:spcPts val="0"/>
                        </a:spcBef>
                        <a:spcAft>
                          <a:spcPts val="0"/>
                        </a:spcAft>
                        <a:buClr>
                          <a:srgbClr val="000000"/>
                        </a:buClr>
                        <a:buSzPts val="1050"/>
                        <a:buFont typeface="Arial"/>
                        <a:buNone/>
                      </a:pPr>
                      <a:r>
                        <a:rPr lang="en-US" sz="900" u="sng" kern="1200" dirty="0">
                          <a:solidFill>
                            <a:srgbClr val="000000"/>
                          </a:solidFill>
                          <a:latin typeface="+mn-lt"/>
                          <a:ea typeface="+mn-ea"/>
                          <a:cs typeface="+mn-cs"/>
                          <a:sym typeface="Arial"/>
                          <a:hlinkClick r:id="rId2">
                            <a:extLst>
                              <a:ext uri="{A12FA001-AC4F-418D-AE19-62706E023703}">
                                <ahyp:hlinkClr xmlns:ahyp="http://schemas.microsoft.com/office/drawing/2018/hyperlinkcolor" val="tx"/>
                              </a:ext>
                            </a:extLst>
                          </a:hlinkClick>
                        </a:rPr>
                        <a:t>Top Insights on AI for CHROs</a:t>
                      </a:r>
                      <a:r>
                        <a:rPr lang="en-US" sz="900" u="sng" kern="1200" dirty="0">
                          <a:solidFill>
                            <a:srgbClr val="000000"/>
                          </a:solidFill>
                          <a:latin typeface="+mn-lt"/>
                          <a:ea typeface="+mn-ea"/>
                          <a:cs typeface="+mn-cs"/>
                          <a:sym typeface="Arial"/>
                        </a:rPr>
                        <a:t>, </a:t>
                      </a:r>
                      <a:r>
                        <a:rPr lang="en-US" sz="900" u="sng" kern="1200" dirty="0">
                          <a:solidFill>
                            <a:srgbClr val="000000"/>
                          </a:solidFill>
                          <a:latin typeface="+mn-lt"/>
                          <a:ea typeface="+mn-ea"/>
                          <a:cs typeface="+mn-cs"/>
                          <a:sym typeface="Arial"/>
                          <a:hlinkClick r:id="rId3">
                            <a:extLst>
                              <a:ext uri="{A12FA001-AC4F-418D-AE19-62706E023703}">
                                <ahyp:hlinkClr xmlns:ahyp="http://schemas.microsoft.com/office/drawing/2018/hyperlinkcolor" val="tx"/>
                              </a:ext>
                            </a:extLst>
                          </a:hlinkClick>
                        </a:rPr>
                        <a:t>Hype Cycle for AI in Human Resources, 2025</a:t>
                      </a:r>
                      <a:r>
                        <a:rPr lang="en-US" sz="900" u="sng" kern="1200" dirty="0">
                          <a:solidFill>
                            <a:srgbClr val="000000"/>
                          </a:solidFill>
                          <a:latin typeface="+mn-lt"/>
                          <a:ea typeface="+mn-ea"/>
                          <a:cs typeface="+mn-cs"/>
                          <a:sym typeface="Arial"/>
                        </a:rPr>
                        <a:t>, </a:t>
                      </a:r>
                      <a:r>
                        <a:rPr lang="en-US" sz="900" u="sng" kern="1200" dirty="0">
                          <a:solidFill>
                            <a:srgbClr val="000000"/>
                          </a:solidFill>
                          <a:latin typeface="+mn-lt"/>
                          <a:ea typeface="+mn-ea"/>
                          <a:cs typeface="+mn-cs"/>
                          <a:hlinkClick r:id="rId4">
                            <a:extLst>
                              <a:ext uri="{A12FA001-AC4F-418D-AE19-62706E023703}">
                                <ahyp:hlinkClr xmlns:ahyp="http://schemas.microsoft.com/office/drawing/2018/hyperlinkcolor" val="tx"/>
                              </a:ext>
                            </a:extLst>
                          </a:hlinkClick>
                        </a:rPr>
                        <a:t>The Impact of AI on the HR Operating Model</a:t>
                      </a:r>
                      <a:r>
                        <a:rPr lang="en-US" sz="900" u="sng" kern="1200" dirty="0">
                          <a:solidFill>
                            <a:srgbClr val="000000"/>
                          </a:solidFill>
                          <a:latin typeface="+mn-lt"/>
                          <a:ea typeface="+mn-ea"/>
                          <a:cs typeface="+mn-cs"/>
                        </a:rPr>
                        <a:t>, </a:t>
                      </a:r>
                      <a:r>
                        <a:rPr lang="en-US" sz="900" u="sng" kern="1200" dirty="0">
                          <a:solidFill>
                            <a:srgbClr val="000000"/>
                          </a:solidFill>
                          <a:latin typeface="+mn-lt"/>
                          <a:ea typeface="+mn-ea"/>
                          <a:cs typeface="+mn-cs"/>
                          <a:hlinkClick r:id="rId5">
                            <a:extLst>
                              <a:ext uri="{A12FA001-AC4F-418D-AE19-62706E023703}">
                                <ahyp:hlinkClr xmlns:ahyp="http://schemas.microsoft.com/office/drawing/2018/hyperlinkcolor" val="tx"/>
                              </a:ext>
                            </a:extLst>
                          </a:hlinkClick>
                        </a:rPr>
                        <a:t>Tool: AI Impact-Value Navigator for HR Processes</a:t>
                      </a:r>
                      <a:endParaRPr sz="900" u="sng" kern="1200" dirty="0">
                        <a:solidFill>
                          <a:srgbClr val="000000"/>
                        </a:solidFill>
                        <a:latin typeface="+mn-lt"/>
                        <a:ea typeface="+mn-ea"/>
                        <a:cs typeface="+mn-cs"/>
                      </a:endParaRPr>
                    </a:p>
                    <a:p>
                      <a:pPr marL="0" marR="0" lvl="0" indent="0" algn="l" rtl="0">
                        <a:spcBef>
                          <a:spcPts val="0"/>
                        </a:spcBef>
                        <a:spcAft>
                          <a:spcPts val="0"/>
                        </a:spcAft>
                        <a:buNone/>
                      </a:pPr>
                      <a:endParaRPr sz="900" b="0" i="0" dirty="0">
                        <a:solidFill>
                          <a:schemeClr val="dk1"/>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extLst>
                  <a:ext uri="{0D108BD9-81ED-4DB2-BD59-A6C34878D82A}">
                    <a16:rowId xmlns:a16="http://schemas.microsoft.com/office/drawing/2014/main" val="10001"/>
                  </a:ext>
                </a:extLst>
              </a:tr>
              <a:tr h="1003808">
                <a:tc>
                  <a:txBody>
                    <a:bodyPr/>
                    <a:lstStyle/>
                    <a:p>
                      <a:pPr marL="0" marR="0" lvl="0" indent="0" algn="l" rtl="0">
                        <a:spcBef>
                          <a:spcPts val="0"/>
                        </a:spcBef>
                        <a:spcAft>
                          <a:spcPts val="0"/>
                        </a:spcAft>
                        <a:buNone/>
                      </a:pPr>
                      <a:r>
                        <a:rPr lang="en-US" sz="900" b="0" i="0">
                          <a:solidFill>
                            <a:schemeClr val="dk1"/>
                          </a:solidFill>
                          <a:latin typeface="+mj-lt"/>
                          <a:ea typeface="Arial"/>
                          <a:cs typeface="Arial"/>
                          <a:sym typeface="Arial"/>
                        </a:rPr>
                        <a:t>Set AI vision</a:t>
                      </a:r>
                      <a:br>
                        <a:rPr lang="en-US" sz="900" b="0" i="0">
                          <a:solidFill>
                            <a:schemeClr val="dk1"/>
                          </a:solidFill>
                          <a:latin typeface="+mj-lt"/>
                          <a:ea typeface="Arial"/>
                          <a:cs typeface="Arial"/>
                          <a:sym typeface="Arial"/>
                        </a:rPr>
                      </a:br>
                      <a:r>
                        <a:rPr lang="en-US" sz="900" b="0" i="0">
                          <a:solidFill>
                            <a:schemeClr val="dk1"/>
                          </a:solidFill>
                          <a:latin typeface="+mj-lt"/>
                          <a:ea typeface="Arial"/>
                          <a:cs typeface="Arial"/>
                          <a:sym typeface="Arial"/>
                        </a:rPr>
                        <a:t>and ambition</a:t>
                      </a:r>
                      <a:endParaRPr lang="en-US" sz="900">
                        <a:latin typeface="+mj-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tc>
                  <a:txBody>
                    <a:bodyPr/>
                    <a:lstStyle/>
                    <a:p>
                      <a:pPr marL="173736" marR="0" lvl="0" indent="-173736" algn="l" rtl="0">
                        <a:lnSpc>
                          <a:spcPct val="90000"/>
                        </a:lnSpc>
                        <a:spcBef>
                          <a:spcPts val="300"/>
                        </a:spcBef>
                        <a:spcAft>
                          <a:spcPts val="0"/>
                        </a:spcAft>
                        <a:buClr>
                          <a:srgbClr val="000000"/>
                        </a:buClr>
                        <a:buSzPct val="100000"/>
                        <a:buFont typeface="+mj-lt"/>
                        <a:buAutoNum type="arabicPeriod"/>
                      </a:pPr>
                      <a:r>
                        <a:rPr lang="en-US" sz="900" dirty="0">
                          <a:solidFill>
                            <a:srgbClr val="000000"/>
                          </a:solidFill>
                          <a:latin typeface="+mn-lt"/>
                        </a:rPr>
                        <a:t>Understand your organization’s goals, HR strategy and prioritized outcomes to tailor an appropriate vision. </a:t>
                      </a:r>
                      <a:endParaRPr sz="900" dirty="0">
                        <a:latin typeface="+mn-lt"/>
                      </a:endParaRPr>
                    </a:p>
                    <a:p>
                      <a:pPr marL="173736" marR="0" lvl="0" indent="-173736" algn="l" rtl="0">
                        <a:lnSpc>
                          <a:spcPct val="90000"/>
                        </a:lnSpc>
                        <a:spcBef>
                          <a:spcPts val="300"/>
                        </a:spcBef>
                        <a:spcAft>
                          <a:spcPts val="0"/>
                        </a:spcAft>
                        <a:buClr>
                          <a:srgbClr val="000000"/>
                        </a:buClr>
                        <a:buSzPct val="100000"/>
                        <a:buFont typeface="+mj-lt"/>
                        <a:buAutoNum type="arabicPeriod"/>
                      </a:pPr>
                      <a:r>
                        <a:rPr lang="en-US" sz="900" dirty="0">
                          <a:solidFill>
                            <a:srgbClr val="000000"/>
                          </a:solidFill>
                          <a:latin typeface="+mn-lt"/>
                        </a:rPr>
                        <a:t>Identify and formulate an AI vision that answers the question about the importance of AI to the HR function, given the above context. </a:t>
                      </a:r>
                      <a:endParaRPr sz="900" dirty="0">
                        <a:latin typeface="+mn-lt"/>
                      </a:endParaRPr>
                    </a:p>
                    <a:p>
                      <a:pPr marL="173736" marR="0" lvl="0" indent="-173736" algn="l" rtl="0">
                        <a:lnSpc>
                          <a:spcPct val="90000"/>
                        </a:lnSpc>
                        <a:spcBef>
                          <a:spcPts val="300"/>
                        </a:spcBef>
                        <a:spcAft>
                          <a:spcPts val="0"/>
                        </a:spcAft>
                        <a:buClr>
                          <a:srgbClr val="000000"/>
                        </a:buClr>
                        <a:buSzPct val="100000"/>
                        <a:buFont typeface="+mj-lt"/>
                        <a:buAutoNum type="arabicPeriod"/>
                      </a:pPr>
                      <a:r>
                        <a:rPr lang="en-US" sz="900" dirty="0">
                          <a:solidFill>
                            <a:srgbClr val="000000"/>
                          </a:solidFill>
                          <a:latin typeface="+mn-lt"/>
                        </a:rPr>
                        <a:t>Ensure that the vision is actionable and relatable across every role within your function.</a:t>
                      </a:r>
                      <a:endParaRPr sz="900" dirty="0">
                        <a:latin typeface="+mn-lt"/>
                      </a:endParaRPr>
                    </a:p>
                    <a:p>
                      <a:pPr marL="173736" marR="0" lvl="0" indent="-173736" algn="l" rtl="0">
                        <a:lnSpc>
                          <a:spcPct val="90000"/>
                        </a:lnSpc>
                        <a:spcBef>
                          <a:spcPts val="300"/>
                        </a:spcBef>
                        <a:spcAft>
                          <a:spcPts val="0"/>
                        </a:spcAft>
                        <a:buClr>
                          <a:srgbClr val="000000"/>
                        </a:buClr>
                        <a:buSzPct val="100000"/>
                        <a:buFont typeface="+mj-lt"/>
                        <a:buAutoNum type="arabicPeriod"/>
                      </a:pPr>
                      <a:r>
                        <a:rPr lang="en-US" sz="900" dirty="0">
                          <a:solidFill>
                            <a:srgbClr val="000000"/>
                          </a:solidFill>
                          <a:latin typeface="+mn-lt"/>
                        </a:rPr>
                        <a:t>Validate and calibrate this vision statement in a discussion with senior leadership.</a:t>
                      </a:r>
                      <a:endParaRPr sz="900" dirty="0">
                        <a:latin typeface="+mn-lt"/>
                      </a:endParaRPr>
                    </a:p>
                    <a:p>
                      <a:pPr marL="173736" marR="0" lvl="0" indent="-173736" algn="l" rtl="0">
                        <a:lnSpc>
                          <a:spcPct val="90000"/>
                        </a:lnSpc>
                        <a:spcBef>
                          <a:spcPts val="300"/>
                        </a:spcBef>
                        <a:spcAft>
                          <a:spcPts val="0"/>
                        </a:spcAft>
                        <a:buClr>
                          <a:srgbClr val="000000"/>
                        </a:buClr>
                        <a:buSzPct val="100000"/>
                        <a:buFont typeface="+mj-lt"/>
                        <a:buAutoNum type="arabicPeriod"/>
                      </a:pPr>
                      <a:r>
                        <a:rPr lang="en-US" sz="900" dirty="0">
                          <a:solidFill>
                            <a:srgbClr val="000000"/>
                          </a:solidFill>
                          <a:latin typeface="+mn-lt"/>
                        </a:rPr>
                        <a:t>Leverage the vision to define guiding principles that at a minimum address goals, value, risks, adoption and alignment.</a:t>
                      </a:r>
                      <a:endParaRPr sz="900" dirty="0">
                        <a:latin typeface="+mn-lt"/>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tc>
                  <a:txBody>
                    <a:bodyPr/>
                    <a:lstStyle/>
                    <a:p>
                      <a:pPr marL="0" marR="0" lvl="0" indent="0" algn="l" rtl="0">
                        <a:lnSpc>
                          <a:spcPct val="100000"/>
                        </a:lnSpc>
                        <a:spcBef>
                          <a:spcPts val="0"/>
                        </a:spcBef>
                        <a:spcAft>
                          <a:spcPts val="0"/>
                        </a:spcAft>
                        <a:buClr>
                          <a:srgbClr val="000000"/>
                        </a:buClr>
                        <a:buSzPts val="1050"/>
                        <a:buFont typeface="Arial"/>
                        <a:buNone/>
                      </a:pPr>
                      <a:r>
                        <a:rPr lang="en-US" sz="900" u="sng">
                          <a:solidFill>
                            <a:srgbClr val="000000"/>
                          </a:solidFill>
                          <a:latin typeface="+mn-lt"/>
                          <a:hlinkClick r:id="rId6">
                            <a:extLst>
                              <a:ext uri="{A12FA001-AC4F-418D-AE19-62706E023703}">
                                <ahyp:hlinkClr xmlns:ahyp="http://schemas.microsoft.com/office/drawing/2018/hyperlinkcolor" val="tx"/>
                              </a:ext>
                            </a:extLst>
                          </a:hlinkClick>
                        </a:rPr>
                        <a:t>Tool: Develop an HR-Focused AI Strategy</a:t>
                      </a:r>
                      <a:r>
                        <a:rPr lang="en-US" sz="900">
                          <a:solidFill>
                            <a:srgbClr val="000000"/>
                          </a:solidFill>
                          <a:latin typeface="+mn-lt"/>
                        </a:rPr>
                        <a:t> (Vision Section)</a:t>
                      </a:r>
                      <a:endParaRPr sz="900">
                        <a:latin typeface="+mn-lt"/>
                      </a:endParaRPr>
                    </a:p>
                    <a:p>
                      <a:pPr marL="0" marR="0" lvl="0" indent="0" algn="l" rtl="0">
                        <a:spcBef>
                          <a:spcPts val="0"/>
                        </a:spcBef>
                        <a:spcAft>
                          <a:spcPts val="0"/>
                        </a:spcAft>
                        <a:buNone/>
                      </a:pPr>
                      <a:endParaRPr sz="900" b="0" i="0">
                        <a:solidFill>
                          <a:schemeClr val="dk1"/>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extLst>
                  <a:ext uri="{0D108BD9-81ED-4DB2-BD59-A6C34878D82A}">
                    <a16:rowId xmlns:a16="http://schemas.microsoft.com/office/drawing/2014/main" val="10002"/>
                  </a:ext>
                </a:extLst>
              </a:tr>
              <a:tr h="852590">
                <a:tc>
                  <a:txBody>
                    <a:bodyPr/>
                    <a:lstStyle/>
                    <a:p>
                      <a:pPr marL="0" marR="0" lvl="0" indent="0" algn="l" rtl="0">
                        <a:spcBef>
                          <a:spcPts val="0"/>
                        </a:spcBef>
                        <a:spcAft>
                          <a:spcPts val="0"/>
                        </a:spcAft>
                        <a:buNone/>
                      </a:pPr>
                      <a:r>
                        <a:rPr lang="en-US" sz="900" b="0" i="0">
                          <a:solidFill>
                            <a:schemeClr val="dk1"/>
                          </a:solidFill>
                          <a:latin typeface="+mj-lt"/>
                          <a:ea typeface="Arial"/>
                          <a:cs typeface="Arial"/>
                          <a:sym typeface="Arial"/>
                        </a:rPr>
                        <a:t>Measure HR function readiness for AI</a:t>
                      </a:r>
                      <a:endParaRPr lang="en-US" sz="900">
                        <a:latin typeface="+mj-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tc>
                  <a:txBody>
                    <a:bodyPr/>
                    <a:lstStyle/>
                    <a:p>
                      <a:pPr marL="173736" marR="0" lvl="0" indent="-173736" algn="l" rtl="0">
                        <a:lnSpc>
                          <a:spcPct val="90000"/>
                        </a:lnSpc>
                        <a:spcBef>
                          <a:spcPts val="300"/>
                        </a:spcBef>
                        <a:spcAft>
                          <a:spcPts val="0"/>
                        </a:spcAft>
                        <a:buClr>
                          <a:srgbClr val="000000"/>
                        </a:buClr>
                        <a:buSzPct val="100000"/>
                        <a:buFont typeface="+mj-lt"/>
                        <a:buAutoNum type="arabicPeriod"/>
                      </a:pPr>
                      <a:r>
                        <a:rPr lang="en-US" sz="900" dirty="0">
                          <a:solidFill>
                            <a:srgbClr val="000000"/>
                          </a:solidFill>
                          <a:latin typeface="+mn-lt"/>
                          <a:ea typeface="Arial"/>
                          <a:cs typeface="Arial"/>
                          <a:sym typeface="Arial"/>
                        </a:rPr>
                        <a:t>Utilize Gartner’s framework to measure the HR function’s AI maturity.</a:t>
                      </a:r>
                      <a:endParaRPr sz="900" dirty="0">
                        <a:latin typeface="+mn-lt"/>
                      </a:endParaRPr>
                    </a:p>
                    <a:p>
                      <a:pPr marL="173736" marR="0" lvl="0" indent="-173736" algn="l" rtl="0">
                        <a:lnSpc>
                          <a:spcPct val="90000"/>
                        </a:lnSpc>
                        <a:spcBef>
                          <a:spcPts val="300"/>
                        </a:spcBef>
                        <a:spcAft>
                          <a:spcPts val="0"/>
                        </a:spcAft>
                        <a:buClr>
                          <a:srgbClr val="000000"/>
                        </a:buClr>
                        <a:buSzPct val="100000"/>
                        <a:buFont typeface="+mj-lt"/>
                        <a:buAutoNum type="arabicPeriod"/>
                      </a:pPr>
                      <a:r>
                        <a:rPr lang="en-US" sz="900" dirty="0">
                          <a:solidFill>
                            <a:srgbClr val="000000"/>
                          </a:solidFill>
                          <a:latin typeface="+mn-lt"/>
                          <a:ea typeface="Arial"/>
                          <a:cs typeface="Arial"/>
                          <a:sym typeface="Arial"/>
                        </a:rPr>
                        <a:t>Run a baseline assessment to identify gaps between current and target state. If possible, benchmark this against similar organizations.</a:t>
                      </a:r>
                      <a:endParaRPr sz="900" dirty="0">
                        <a:latin typeface="+mn-lt"/>
                      </a:endParaRPr>
                    </a:p>
                    <a:p>
                      <a:pPr marL="173736" marR="0" lvl="0" indent="-173736" algn="l" rtl="0">
                        <a:lnSpc>
                          <a:spcPct val="90000"/>
                        </a:lnSpc>
                        <a:spcBef>
                          <a:spcPts val="300"/>
                        </a:spcBef>
                        <a:spcAft>
                          <a:spcPts val="0"/>
                        </a:spcAft>
                        <a:buClr>
                          <a:srgbClr val="000000"/>
                        </a:buClr>
                        <a:buSzPct val="100000"/>
                        <a:buFont typeface="+mj-lt"/>
                        <a:buAutoNum type="arabicPeriod"/>
                      </a:pPr>
                      <a:r>
                        <a:rPr lang="en-US" sz="900" dirty="0">
                          <a:solidFill>
                            <a:srgbClr val="000000"/>
                          </a:solidFill>
                          <a:latin typeface="+mn-lt"/>
                          <a:ea typeface="Arial"/>
                          <a:cs typeface="Arial"/>
                          <a:sym typeface="Arial"/>
                        </a:rPr>
                        <a:t>Gather feedback from a diverse set of stakeholders around the current state of AI within the function.</a:t>
                      </a:r>
                      <a:endParaRPr sz="900" dirty="0">
                        <a:latin typeface="+mn-lt"/>
                      </a:endParaRPr>
                    </a:p>
                    <a:p>
                      <a:pPr marL="173736" marR="0" lvl="0" indent="-173736" algn="l" rtl="0">
                        <a:lnSpc>
                          <a:spcPct val="90000"/>
                        </a:lnSpc>
                        <a:spcBef>
                          <a:spcPts val="300"/>
                        </a:spcBef>
                        <a:spcAft>
                          <a:spcPts val="0"/>
                        </a:spcAft>
                        <a:buClr>
                          <a:srgbClr val="000000"/>
                        </a:buClr>
                        <a:buSzPct val="100000"/>
                        <a:buFont typeface="+mj-lt"/>
                        <a:buAutoNum type="arabicPeriod"/>
                      </a:pPr>
                      <a:r>
                        <a:rPr lang="en-US" sz="900" dirty="0">
                          <a:solidFill>
                            <a:srgbClr val="000000"/>
                          </a:solidFill>
                          <a:latin typeface="+mn-lt"/>
                          <a:ea typeface="Arial"/>
                          <a:cs typeface="Arial"/>
                          <a:sym typeface="Arial"/>
                        </a:rPr>
                        <a:t>Identify priority capability gaps for being able to achieve the AI vision (this will inform the rest of the roadmap).</a:t>
                      </a:r>
                      <a:endParaRPr sz="900" dirty="0">
                        <a:latin typeface="+mn-lt"/>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tc>
                  <a:txBody>
                    <a:bodyPr/>
                    <a:lstStyle/>
                    <a:p>
                      <a:pPr marL="0" marR="0" lvl="0" indent="0" algn="l" defTabSz="914400" rtl="0" eaLnBrk="1" latinLnBrk="0" hangingPunct="1">
                        <a:lnSpc>
                          <a:spcPct val="100000"/>
                        </a:lnSpc>
                        <a:spcBef>
                          <a:spcPts val="0"/>
                        </a:spcBef>
                        <a:spcAft>
                          <a:spcPts val="0"/>
                        </a:spcAft>
                        <a:buClr>
                          <a:srgbClr val="000000"/>
                        </a:buClr>
                        <a:buSzPts val="1050"/>
                        <a:buFont typeface="Arial"/>
                        <a:buNone/>
                      </a:pPr>
                      <a:r>
                        <a:rPr lang="en-US" sz="900" u="sng" kern="1200" dirty="0">
                          <a:solidFill>
                            <a:srgbClr val="000000"/>
                          </a:solidFill>
                          <a:latin typeface="+mn-lt"/>
                          <a:ea typeface="+mn-ea"/>
                          <a:cs typeface="+mn-cs"/>
                          <a:sym typeface="Arial"/>
                          <a:hlinkClick r:id="rId7">
                            <a:extLst>
                              <a:ext uri="{A12FA001-AC4F-418D-AE19-62706E023703}">
                                <ahyp:hlinkClr xmlns:ahyp="http://schemas.microsoft.com/office/drawing/2018/hyperlinkcolor" val="tx"/>
                              </a:ext>
                            </a:extLst>
                          </a:hlinkClick>
                        </a:rPr>
                        <a:t>AI Maturity Assessment for the HR Function</a:t>
                      </a:r>
                      <a:endParaRPr sz="900" u="sng" kern="1200" dirty="0">
                        <a:solidFill>
                          <a:srgbClr val="000000"/>
                        </a:solidFill>
                        <a:latin typeface="+mn-lt"/>
                        <a:ea typeface="+mn-ea"/>
                        <a:cs typeface="+mn-cs"/>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extLst>
                  <a:ext uri="{0D108BD9-81ED-4DB2-BD59-A6C34878D82A}">
                    <a16:rowId xmlns:a16="http://schemas.microsoft.com/office/drawing/2014/main" val="10003"/>
                  </a:ext>
                </a:extLst>
              </a:tr>
              <a:tr h="1099957">
                <a:tc>
                  <a:txBody>
                    <a:bodyPr/>
                    <a:lstStyle/>
                    <a:p>
                      <a:pPr marL="0" marR="0" lvl="0" indent="0" algn="l" rtl="0">
                        <a:spcBef>
                          <a:spcPts val="0"/>
                        </a:spcBef>
                        <a:spcAft>
                          <a:spcPts val="0"/>
                        </a:spcAft>
                        <a:buNone/>
                      </a:pPr>
                      <a:r>
                        <a:rPr lang="en-US" sz="900" b="0" i="0">
                          <a:solidFill>
                            <a:schemeClr val="dk1"/>
                          </a:solidFill>
                          <a:latin typeface="+mj-lt"/>
                          <a:ea typeface="Arial"/>
                          <a:cs typeface="Arial"/>
                          <a:sym typeface="Arial"/>
                        </a:rPr>
                        <a:t>Develop and</a:t>
                      </a:r>
                      <a:br>
                        <a:rPr lang="en-US" sz="900" b="0" i="0">
                          <a:solidFill>
                            <a:schemeClr val="dk1"/>
                          </a:solidFill>
                          <a:latin typeface="+mj-lt"/>
                          <a:ea typeface="Arial"/>
                          <a:cs typeface="Arial"/>
                          <a:sym typeface="Arial"/>
                        </a:rPr>
                      </a:br>
                      <a:r>
                        <a:rPr lang="en-US" sz="900" b="0" i="0">
                          <a:solidFill>
                            <a:schemeClr val="dk1"/>
                          </a:solidFill>
                          <a:latin typeface="+mj-lt"/>
                          <a:ea typeface="Arial"/>
                          <a:cs typeface="Arial"/>
                          <a:sym typeface="Arial"/>
                        </a:rPr>
                        <a:t>align the AI strategy document</a:t>
                      </a:r>
                      <a:endParaRPr lang="en-US" sz="900">
                        <a:latin typeface="+mj-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tc>
                  <a:txBody>
                    <a:bodyPr/>
                    <a:lstStyle/>
                    <a:p>
                      <a:pPr marL="173736" marR="0" lvl="0" indent="-173736" algn="l" rtl="0">
                        <a:lnSpc>
                          <a:spcPct val="90000"/>
                        </a:lnSpc>
                        <a:spcBef>
                          <a:spcPts val="300"/>
                        </a:spcBef>
                        <a:spcAft>
                          <a:spcPts val="0"/>
                        </a:spcAft>
                        <a:buClr>
                          <a:srgbClr val="000000"/>
                        </a:buClr>
                        <a:buSzPct val="100000"/>
                        <a:buFont typeface="+mj-lt"/>
                        <a:buAutoNum type="arabicPeriod"/>
                      </a:pPr>
                      <a:r>
                        <a:rPr lang="en-US" sz="900" dirty="0">
                          <a:solidFill>
                            <a:srgbClr val="000000"/>
                          </a:solidFill>
                          <a:latin typeface="+mn-lt"/>
                          <a:ea typeface="Arial"/>
                          <a:cs typeface="Arial"/>
                          <a:sym typeface="Arial"/>
                        </a:rPr>
                        <a:t>Engaging with HRLT and other relevant stakeholders (e.g., IT) collect and review the organization’s overall AI strategy and long-term ambition.</a:t>
                      </a:r>
                      <a:endParaRPr sz="900" dirty="0">
                        <a:latin typeface="+mn-lt"/>
                      </a:endParaRPr>
                    </a:p>
                    <a:p>
                      <a:pPr marL="173736" marR="0" lvl="0" indent="-173736" algn="l" rtl="0">
                        <a:lnSpc>
                          <a:spcPct val="90000"/>
                        </a:lnSpc>
                        <a:spcBef>
                          <a:spcPts val="300"/>
                        </a:spcBef>
                        <a:spcAft>
                          <a:spcPts val="0"/>
                        </a:spcAft>
                        <a:buClr>
                          <a:srgbClr val="000000"/>
                        </a:buClr>
                        <a:buSzPct val="100000"/>
                        <a:buFont typeface="+mj-lt"/>
                        <a:buAutoNum type="arabicPeriod"/>
                      </a:pPr>
                      <a:r>
                        <a:rPr lang="en-US" sz="900" dirty="0">
                          <a:solidFill>
                            <a:srgbClr val="000000"/>
                          </a:solidFill>
                          <a:latin typeface="+mn-lt"/>
                          <a:ea typeface="Arial"/>
                          <a:cs typeface="Arial"/>
                          <a:sym typeface="Arial"/>
                        </a:rPr>
                        <a:t>Collaborate with HR, IT and AI teams to align on shared goals, clarify roles and ensure buy-in.</a:t>
                      </a:r>
                      <a:endParaRPr sz="900" dirty="0">
                        <a:latin typeface="+mn-lt"/>
                      </a:endParaRPr>
                    </a:p>
                    <a:p>
                      <a:pPr marL="173736" marR="0" lvl="0" indent="-173736" algn="l" rtl="0">
                        <a:lnSpc>
                          <a:spcPct val="90000"/>
                        </a:lnSpc>
                        <a:spcBef>
                          <a:spcPts val="300"/>
                        </a:spcBef>
                        <a:spcAft>
                          <a:spcPts val="0"/>
                        </a:spcAft>
                        <a:buClr>
                          <a:srgbClr val="000000"/>
                        </a:buClr>
                        <a:buSzPct val="100000"/>
                        <a:buFont typeface="+mj-lt"/>
                        <a:buAutoNum type="arabicPeriod"/>
                      </a:pPr>
                      <a:r>
                        <a:rPr lang="en-US" sz="900" dirty="0">
                          <a:solidFill>
                            <a:srgbClr val="000000"/>
                          </a:solidFill>
                          <a:latin typeface="+mn-lt"/>
                          <a:ea typeface="Arial"/>
                          <a:cs typeface="Arial"/>
                          <a:sym typeface="Arial"/>
                        </a:rPr>
                        <a:t>Formulate a risk assessment and adoption plan for the implementation of AI in the HR function </a:t>
                      </a:r>
                      <a:r>
                        <a:rPr lang="en-US" sz="900" dirty="0">
                          <a:latin typeface="+mn-lt"/>
                        </a:rPr>
                        <a:t>while outlining a high-level investment approach (deciding whether to leverage existing technology, buy, or build).</a:t>
                      </a:r>
                      <a:endParaRPr sz="900" dirty="0">
                        <a:solidFill>
                          <a:srgbClr val="000000"/>
                        </a:solidFill>
                        <a:latin typeface="+mn-lt"/>
                        <a:ea typeface="Arial"/>
                        <a:cs typeface="Arial"/>
                        <a:sym typeface="Arial"/>
                      </a:endParaRPr>
                    </a:p>
                    <a:p>
                      <a:pPr marL="173736" marR="0" lvl="0" indent="-173736" algn="l" rtl="0">
                        <a:lnSpc>
                          <a:spcPct val="90000"/>
                        </a:lnSpc>
                        <a:spcBef>
                          <a:spcPts val="300"/>
                        </a:spcBef>
                        <a:spcAft>
                          <a:spcPts val="0"/>
                        </a:spcAft>
                        <a:buClr>
                          <a:srgbClr val="000000"/>
                        </a:buClr>
                        <a:buSzPct val="100000"/>
                        <a:buFont typeface="+mj-lt"/>
                        <a:buAutoNum type="arabicPeriod"/>
                      </a:pPr>
                      <a:r>
                        <a:rPr lang="en-US" sz="900" dirty="0">
                          <a:solidFill>
                            <a:srgbClr val="000000"/>
                          </a:solidFill>
                          <a:latin typeface="+mn-lt"/>
                          <a:ea typeface="Arial"/>
                          <a:cs typeface="Arial"/>
                          <a:sym typeface="Arial"/>
                        </a:rPr>
                        <a:t>Develop a comprehensive presentation for executive approval and to gain funding.</a:t>
                      </a:r>
                      <a:endParaRPr sz="900" dirty="0">
                        <a:latin typeface="+mn-lt"/>
                      </a:endParaRPr>
                    </a:p>
                    <a:p>
                      <a:pPr marL="173736" marR="0" lvl="0" indent="-173736" algn="l" rtl="0">
                        <a:lnSpc>
                          <a:spcPct val="90000"/>
                        </a:lnSpc>
                        <a:spcBef>
                          <a:spcPts val="300"/>
                        </a:spcBef>
                        <a:spcAft>
                          <a:spcPts val="0"/>
                        </a:spcAft>
                        <a:buClr>
                          <a:srgbClr val="000000"/>
                        </a:buClr>
                        <a:buSzPct val="100000"/>
                        <a:buFont typeface="+mj-lt"/>
                        <a:buAutoNum type="arabicPeriod"/>
                      </a:pPr>
                      <a:r>
                        <a:rPr lang="en-US" sz="900" dirty="0">
                          <a:solidFill>
                            <a:srgbClr val="000000"/>
                          </a:solidFill>
                          <a:latin typeface="+mn-lt"/>
                          <a:ea typeface="Arial"/>
                          <a:cs typeface="Arial"/>
                          <a:sym typeface="Arial"/>
                        </a:rPr>
                        <a:t>Ensure alignment is bi-directional as changes in business strategy and AI trends shift.</a:t>
                      </a:r>
                      <a:endParaRPr sz="900" dirty="0">
                        <a:latin typeface="+mn-lt"/>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tc>
                  <a:txBody>
                    <a:bodyPr/>
                    <a:lstStyle/>
                    <a:p>
                      <a:pPr marL="0" marR="0" lvl="0" indent="0" algn="l" rtl="0">
                        <a:lnSpc>
                          <a:spcPct val="100000"/>
                        </a:lnSpc>
                        <a:spcBef>
                          <a:spcPts val="0"/>
                        </a:spcBef>
                        <a:spcAft>
                          <a:spcPts val="0"/>
                        </a:spcAft>
                        <a:buClr>
                          <a:srgbClr val="000000"/>
                        </a:buClr>
                        <a:buSzPts val="1050"/>
                        <a:buFont typeface="Arial"/>
                        <a:buNone/>
                      </a:pPr>
                      <a:r>
                        <a:rPr lang="en-US" sz="900" u="sng" dirty="0">
                          <a:solidFill>
                            <a:srgbClr val="000000"/>
                          </a:solidFill>
                          <a:latin typeface="+mn-lt"/>
                          <a:hlinkClick r:id="rId6">
                            <a:extLst>
                              <a:ext uri="{A12FA001-AC4F-418D-AE19-62706E023703}">
                                <ahyp:hlinkClr xmlns:ahyp="http://schemas.microsoft.com/office/drawing/2018/hyperlinkcolor" val="tx"/>
                              </a:ext>
                            </a:extLst>
                          </a:hlinkClick>
                        </a:rPr>
                        <a:t>Tool: Develop an HR-Focused AI Strategy</a:t>
                      </a:r>
                      <a:endParaRPr sz="900" b="0" i="0" dirty="0">
                        <a:solidFill>
                          <a:schemeClr val="dk1"/>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extLst>
                  <a:ext uri="{0D108BD9-81ED-4DB2-BD59-A6C34878D82A}">
                    <a16:rowId xmlns:a16="http://schemas.microsoft.com/office/drawing/2014/main" val="10004"/>
                  </a:ext>
                </a:extLst>
              </a:tr>
              <a:tr h="710133">
                <a:tc>
                  <a:txBody>
                    <a:bodyPr/>
                    <a:lstStyle/>
                    <a:p>
                      <a:pPr marL="0" marR="0" lvl="0" indent="0" algn="l" rtl="0">
                        <a:spcBef>
                          <a:spcPts val="0"/>
                        </a:spcBef>
                        <a:spcAft>
                          <a:spcPts val="0"/>
                        </a:spcAft>
                        <a:buNone/>
                      </a:pPr>
                      <a:r>
                        <a:rPr lang="en-US" sz="900" b="0" i="0">
                          <a:solidFill>
                            <a:schemeClr val="dk1"/>
                          </a:solidFill>
                          <a:latin typeface="+mj-lt"/>
                          <a:ea typeface="Arial"/>
                          <a:cs typeface="Arial"/>
                          <a:sym typeface="Arial"/>
                        </a:rPr>
                        <a:t>Continually evolve the AI strategy</a:t>
                      </a:r>
                      <a:endParaRPr lang="en-US" sz="900">
                        <a:latin typeface="+mj-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28575" cap="flat" cmpd="sng" algn="ctr">
                      <a:solidFill>
                        <a:srgbClr val="707996"/>
                      </a:solidFill>
                      <a:prstDash val="solid"/>
                      <a:round/>
                      <a:headEnd type="none" w="med" len="med"/>
                      <a:tailEnd type="none" w="med" len="med"/>
                    </a:lnB>
                  </a:tcPr>
                </a:tc>
                <a:tc>
                  <a:txBody>
                    <a:bodyPr/>
                    <a:lstStyle/>
                    <a:p>
                      <a:pPr marL="173736" marR="0" lvl="0" indent="-173736" algn="l" rtl="0">
                        <a:lnSpc>
                          <a:spcPct val="90000"/>
                        </a:lnSpc>
                        <a:spcBef>
                          <a:spcPts val="300"/>
                        </a:spcBef>
                        <a:spcAft>
                          <a:spcPts val="0"/>
                        </a:spcAft>
                        <a:buClr>
                          <a:srgbClr val="000000"/>
                        </a:buClr>
                        <a:buSzPct val="100000"/>
                        <a:buFont typeface="+mj-lt"/>
                        <a:buAutoNum type="arabicPeriod"/>
                      </a:pPr>
                      <a:r>
                        <a:rPr lang="en-US" sz="900">
                          <a:solidFill>
                            <a:srgbClr val="000000"/>
                          </a:solidFill>
                          <a:latin typeface="+mn-lt"/>
                          <a:ea typeface="Arial"/>
                          <a:cs typeface="Arial"/>
                          <a:sym typeface="Arial"/>
                        </a:rPr>
                        <a:t>Set up a process that triggers a revision to the HR-AI strategy when HR/technology/industry trends change significantly or the business strategy shifts. This can include a periodic annual refresh independent of changes.</a:t>
                      </a:r>
                      <a:endParaRPr sz="900">
                        <a:latin typeface="+mn-lt"/>
                      </a:endParaRPr>
                    </a:p>
                    <a:p>
                      <a:pPr marL="173736" marR="0" lvl="0" indent="-173736" algn="l" rtl="0">
                        <a:lnSpc>
                          <a:spcPct val="90000"/>
                        </a:lnSpc>
                        <a:spcBef>
                          <a:spcPts val="300"/>
                        </a:spcBef>
                        <a:spcAft>
                          <a:spcPts val="0"/>
                        </a:spcAft>
                        <a:buClr>
                          <a:srgbClr val="000000"/>
                        </a:buClr>
                        <a:buSzPct val="100000"/>
                        <a:buFont typeface="+mj-lt"/>
                        <a:buAutoNum type="arabicPeriod"/>
                      </a:pPr>
                      <a:r>
                        <a:rPr lang="en-US" sz="900">
                          <a:solidFill>
                            <a:srgbClr val="000000"/>
                          </a:solidFill>
                          <a:latin typeface="+mn-lt"/>
                          <a:ea typeface="Arial"/>
                          <a:cs typeface="Arial"/>
                          <a:sym typeface="Arial"/>
                        </a:rPr>
                        <a:t>Define a plan to refresh, including the analysis required (e.g., external trend analysis, maturity assessment), stakeholders to be involved and the key activities to update the strategy.</a:t>
                      </a:r>
                      <a:endParaRPr sz="900">
                        <a:latin typeface="+mn-lt"/>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28575" cap="flat" cmpd="sng" algn="ctr">
                      <a:solidFill>
                        <a:srgbClr val="707996"/>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050"/>
                        <a:buFont typeface="Arial"/>
                        <a:buNone/>
                      </a:pPr>
                      <a:r>
                        <a:rPr lang="en-US" sz="900" u="sng" dirty="0">
                          <a:solidFill>
                            <a:srgbClr val="000000"/>
                          </a:solidFill>
                          <a:latin typeface="+mn-lt"/>
                          <a:hlinkClick r:id="rId6">
                            <a:extLst>
                              <a:ext uri="{A12FA001-AC4F-418D-AE19-62706E023703}">
                                <ahyp:hlinkClr xmlns:ahyp="http://schemas.microsoft.com/office/drawing/2018/hyperlinkcolor" val="tx"/>
                              </a:ext>
                            </a:extLst>
                          </a:hlinkClick>
                        </a:rPr>
                        <a:t>Tool: Develop an HR-Focused AI Strategy</a:t>
                      </a:r>
                      <a:endParaRPr sz="900" b="0" i="0" dirty="0">
                        <a:solidFill>
                          <a:schemeClr val="dk1"/>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28575" cap="flat" cmpd="sng" algn="ctr">
                      <a:solidFill>
                        <a:srgbClr val="70799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0839357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54927-EDFE-C48D-B425-D20B858ED7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F618D5-D123-37BC-CDAA-6B169E7F268C}"/>
              </a:ext>
            </a:extLst>
          </p:cNvPr>
          <p:cNvSpPr>
            <a:spLocks noGrp="1"/>
          </p:cNvSpPr>
          <p:nvPr>
            <p:ph type="title"/>
          </p:nvPr>
        </p:nvSpPr>
        <p:spPr/>
        <p:txBody>
          <a:bodyPr/>
          <a:lstStyle/>
          <a:p>
            <a:r>
              <a:rPr lang="en-US"/>
              <a:t>AI Value for HR Function: Detailed Activities</a:t>
            </a:r>
          </a:p>
        </p:txBody>
      </p:sp>
      <p:graphicFrame>
        <p:nvGraphicFramePr>
          <p:cNvPr id="3" name="Google Shape;513;p11">
            <a:extLst>
              <a:ext uri="{FF2B5EF4-FFF2-40B4-BE49-F238E27FC236}">
                <a16:creationId xmlns:a16="http://schemas.microsoft.com/office/drawing/2014/main" id="{B9058EC9-74CC-ACFB-AEDC-E34122A6D877}"/>
              </a:ext>
            </a:extLst>
          </p:cNvPr>
          <p:cNvGraphicFramePr/>
          <p:nvPr>
            <p:extLst>
              <p:ext uri="{D42A27DB-BD31-4B8C-83A1-F6EECF244321}">
                <p14:modId xmlns:p14="http://schemas.microsoft.com/office/powerpoint/2010/main" val="249363569"/>
              </p:ext>
            </p:extLst>
          </p:nvPr>
        </p:nvGraphicFramePr>
        <p:xfrm>
          <a:off x="474896" y="947137"/>
          <a:ext cx="11256855" cy="5168342"/>
        </p:xfrm>
        <a:graphic>
          <a:graphicData uri="http://schemas.openxmlformats.org/drawingml/2006/table">
            <a:tbl>
              <a:tblPr>
                <a:noFill/>
              </a:tblPr>
              <a:tblGrid>
                <a:gridCol w="1722499">
                  <a:extLst>
                    <a:ext uri="{9D8B030D-6E8A-4147-A177-3AD203B41FA5}">
                      <a16:colId xmlns:a16="http://schemas.microsoft.com/office/drawing/2014/main" val="20000"/>
                    </a:ext>
                  </a:extLst>
                </a:gridCol>
                <a:gridCol w="7263128">
                  <a:extLst>
                    <a:ext uri="{9D8B030D-6E8A-4147-A177-3AD203B41FA5}">
                      <a16:colId xmlns:a16="http://schemas.microsoft.com/office/drawing/2014/main" val="20001"/>
                    </a:ext>
                  </a:extLst>
                </a:gridCol>
                <a:gridCol w="2271228">
                  <a:extLst>
                    <a:ext uri="{9D8B030D-6E8A-4147-A177-3AD203B41FA5}">
                      <a16:colId xmlns:a16="http://schemas.microsoft.com/office/drawing/2014/main" val="20002"/>
                    </a:ext>
                  </a:extLst>
                </a:gridCol>
              </a:tblGrid>
              <a:tr h="359726">
                <a:tc>
                  <a:txBody>
                    <a:bodyPr/>
                    <a:lstStyle/>
                    <a:p>
                      <a:pPr marL="0" marR="0" lvl="0" indent="0" algn="l" rtl="0">
                        <a:spcBef>
                          <a:spcPts val="0"/>
                        </a:spcBef>
                        <a:spcAft>
                          <a:spcPts val="0"/>
                        </a:spcAft>
                        <a:buNone/>
                      </a:pPr>
                      <a:r>
                        <a:rPr lang="en-US" sz="900" b="1" i="0" u="none" strike="noStrike" cap="none">
                          <a:solidFill>
                            <a:schemeClr val="lt2"/>
                          </a:solidFill>
                          <a:latin typeface="+mj-lt"/>
                          <a:ea typeface="Arial"/>
                          <a:cs typeface="Arial"/>
                          <a:sym typeface="Arial"/>
                        </a:rPr>
                        <a:t>Activity</a:t>
                      </a:r>
                      <a:endParaRPr sz="900" b="1" i="0">
                        <a:solidFill>
                          <a:schemeClr val="lt2"/>
                        </a:solidFill>
                        <a:latin typeface="+mj-lt"/>
                        <a:ea typeface="Arial"/>
                        <a:cs typeface="Arial"/>
                        <a:sym typeface="Arial"/>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28575"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0057AF"/>
                    </a:solidFill>
                  </a:tcPr>
                </a:tc>
                <a:tc>
                  <a:txBody>
                    <a:bodyPr/>
                    <a:lstStyle/>
                    <a:p>
                      <a:pPr marL="0" marR="0" lvl="0" indent="0" algn="l" rtl="0">
                        <a:spcBef>
                          <a:spcPts val="0"/>
                        </a:spcBef>
                        <a:spcAft>
                          <a:spcPts val="0"/>
                        </a:spcAft>
                        <a:buNone/>
                      </a:pPr>
                      <a:r>
                        <a:rPr lang="en-US" sz="900" b="1" i="0">
                          <a:solidFill>
                            <a:schemeClr val="lt2"/>
                          </a:solidFill>
                          <a:latin typeface="+mj-lt"/>
                          <a:ea typeface="Arial"/>
                          <a:cs typeface="Arial"/>
                          <a:sym typeface="Arial"/>
                        </a:rPr>
                        <a:t>Steps</a:t>
                      </a:r>
                      <a:endParaRPr sz="900" b="1" i="0">
                        <a:solidFill>
                          <a:schemeClr val="lt2"/>
                        </a:solidFill>
                        <a:latin typeface="+mj-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28575"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0057AF"/>
                    </a:solidFill>
                  </a:tcPr>
                </a:tc>
                <a:tc>
                  <a:txBody>
                    <a:bodyPr/>
                    <a:lstStyle/>
                    <a:p>
                      <a:pPr marL="0" marR="0" lvl="0" indent="0" algn="l" rtl="0">
                        <a:spcBef>
                          <a:spcPts val="0"/>
                        </a:spcBef>
                        <a:spcAft>
                          <a:spcPts val="0"/>
                        </a:spcAft>
                        <a:buNone/>
                      </a:pPr>
                      <a:r>
                        <a:rPr lang="en-US" sz="900" b="1" i="0">
                          <a:solidFill>
                            <a:schemeClr val="lt2"/>
                          </a:solidFill>
                          <a:latin typeface="+mj-lt"/>
                          <a:ea typeface="Arial"/>
                          <a:cs typeface="Arial"/>
                          <a:sym typeface="Arial"/>
                        </a:rPr>
                        <a:t>Supporting resources</a:t>
                      </a:r>
                      <a:endParaRPr sz="900" b="1" i="0">
                        <a:solidFill>
                          <a:schemeClr val="lt2"/>
                        </a:solidFill>
                        <a:latin typeface="+mj-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28575"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0057AF"/>
                    </a:solidFill>
                  </a:tcPr>
                </a:tc>
                <a:extLst>
                  <a:ext uri="{0D108BD9-81ED-4DB2-BD59-A6C34878D82A}">
                    <a16:rowId xmlns:a16="http://schemas.microsoft.com/office/drawing/2014/main" val="10000"/>
                  </a:ext>
                </a:extLst>
              </a:tr>
              <a:tr h="877559">
                <a:tc>
                  <a:txBody>
                    <a:bodyPr/>
                    <a:lstStyle/>
                    <a:p>
                      <a:pPr marL="0" marR="0" lvl="0" indent="0" algn="l" rtl="0">
                        <a:spcBef>
                          <a:spcPts val="0"/>
                        </a:spcBef>
                        <a:spcAft>
                          <a:spcPts val="0"/>
                        </a:spcAft>
                        <a:buNone/>
                      </a:pPr>
                      <a:r>
                        <a:rPr lang="en-US" sz="900" b="0" i="0">
                          <a:solidFill>
                            <a:schemeClr val="dk1"/>
                          </a:solidFill>
                          <a:latin typeface="+mj-lt"/>
                          <a:ea typeface="Arial"/>
                          <a:cs typeface="Arial"/>
                          <a:sym typeface="Arial"/>
                        </a:rPr>
                        <a:t>Source and prioritize AI</a:t>
                      </a:r>
                      <a:br>
                        <a:rPr lang="en-US" sz="900" b="0" i="0">
                          <a:solidFill>
                            <a:schemeClr val="dk1"/>
                          </a:solidFill>
                          <a:latin typeface="+mj-lt"/>
                          <a:ea typeface="Arial"/>
                          <a:cs typeface="Arial"/>
                          <a:sym typeface="Arial"/>
                        </a:rPr>
                      </a:br>
                      <a:r>
                        <a:rPr lang="en-US" sz="900" b="0" i="0">
                          <a:solidFill>
                            <a:schemeClr val="dk1"/>
                          </a:solidFill>
                          <a:latin typeface="+mj-lt"/>
                          <a:ea typeface="Arial"/>
                          <a:cs typeface="Arial"/>
                          <a:sym typeface="Arial"/>
                        </a:rPr>
                        <a:t>use cases</a:t>
                      </a:r>
                      <a:endParaRPr lang="en-US" sz="900">
                        <a:latin typeface="+mj-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tc>
                  <a:txBody>
                    <a:bodyPr/>
                    <a:lstStyle/>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Gather AI ideas via HR forums, leader interviews, employee inputs, and vendor demos.</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Document user needs, data sources, process pain points, and constraints.</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Use an intake form; review with IT, and business stakeholders.</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Score value, risk, feasibility, effort, complexity, and time-to-impact with IT and legal input.</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Revisit and adjust scoring in quarterly business reviews.</a:t>
                      </a:r>
                      <a:endParaRPr sz="900" dirty="0">
                        <a:latin typeface="+mn-lt"/>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050"/>
                        <a:buFont typeface="Arial"/>
                        <a:buNone/>
                      </a:pPr>
                      <a:r>
                        <a:rPr lang="en-US" sz="900" u="sng">
                          <a:solidFill>
                            <a:srgbClr val="000000"/>
                          </a:solidFill>
                          <a:latin typeface="+mn-lt"/>
                          <a:ea typeface="Arial"/>
                          <a:cs typeface="Arial"/>
                          <a:sym typeface="Arial"/>
                          <a:hlinkClick r:id="rId2">
                            <a:extLst>
                              <a:ext uri="{A12FA001-AC4F-418D-AE19-62706E023703}">
                                <ahyp:hlinkClr xmlns:ahyp="http://schemas.microsoft.com/office/drawing/2018/hyperlinkcolor" val="tx"/>
                              </a:ext>
                            </a:extLst>
                          </a:hlinkClick>
                        </a:rPr>
                        <a:t>AI Use Case Insights</a:t>
                      </a:r>
                      <a:endParaRPr sz="900">
                        <a:solidFill>
                          <a:srgbClr val="000000"/>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extLst>
                  <a:ext uri="{0D108BD9-81ED-4DB2-BD59-A6C34878D82A}">
                    <a16:rowId xmlns:a16="http://schemas.microsoft.com/office/drawing/2014/main" val="10001"/>
                  </a:ext>
                </a:extLst>
              </a:tr>
              <a:tr h="1042998">
                <a:tc>
                  <a:txBody>
                    <a:bodyPr/>
                    <a:lstStyle/>
                    <a:p>
                      <a:pPr marL="0" marR="0" lvl="0" indent="0" algn="l" rtl="0">
                        <a:spcBef>
                          <a:spcPts val="0"/>
                        </a:spcBef>
                        <a:spcAft>
                          <a:spcPts val="0"/>
                        </a:spcAft>
                        <a:buNone/>
                      </a:pPr>
                      <a:r>
                        <a:rPr lang="en-US" sz="900" b="0" i="0">
                          <a:solidFill>
                            <a:schemeClr val="dk1"/>
                          </a:solidFill>
                          <a:latin typeface="+mj-lt"/>
                          <a:ea typeface="Arial"/>
                          <a:cs typeface="Arial"/>
                          <a:sym typeface="Arial"/>
                        </a:rPr>
                        <a:t>Define and align the AI roadmap for HR</a:t>
                      </a: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tc>
                  <a:txBody>
                    <a:bodyPr/>
                    <a:lstStyle/>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Set quick wins and long-term goals as an HR leadership team.</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Map skills, processes, and tech gaps, and governance needs in collaboration with IT.</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Build a phased roadmap; validate with PMO and business.</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Present roadmap to IT, finance, and business sponsors.</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Identify cross-team dependencies in workshops.</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Gain sign-off on priorities, roles, and timelines.</a:t>
                      </a:r>
                      <a:endParaRPr sz="900" dirty="0">
                        <a:solidFill>
                          <a:srgbClr val="000000"/>
                        </a:solidFill>
                        <a:latin typeface="+mn-lt"/>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tc>
                  <a:txBody>
                    <a:bodyPr/>
                    <a:lstStyle/>
                    <a:p>
                      <a:pPr marL="0" marR="0" lvl="0" indent="0" algn="l" rtl="0">
                        <a:lnSpc>
                          <a:spcPct val="100000"/>
                        </a:lnSpc>
                        <a:spcBef>
                          <a:spcPts val="0"/>
                        </a:spcBef>
                        <a:spcAft>
                          <a:spcPts val="0"/>
                        </a:spcAft>
                        <a:buClr>
                          <a:srgbClr val="000000"/>
                        </a:buClr>
                        <a:buSzPts val="1050"/>
                        <a:buFont typeface="Arial"/>
                        <a:buNone/>
                      </a:pPr>
                      <a:r>
                        <a:rPr lang="en-US" sz="900" u="sng">
                          <a:solidFill>
                            <a:srgbClr val="000000"/>
                          </a:solidFill>
                          <a:latin typeface="+mn-lt"/>
                          <a:ea typeface="Arial"/>
                          <a:cs typeface="Arial"/>
                          <a:sym typeface="Arial"/>
                          <a:hlinkClick r:id="rId3">
                            <a:extLst>
                              <a:ext uri="{A12FA001-AC4F-418D-AE19-62706E023703}">
                                <ahyp:hlinkClr xmlns:ahyp="http://schemas.microsoft.com/office/drawing/2018/hyperlinkcolor" val="tx"/>
                              </a:ext>
                            </a:extLst>
                          </a:hlinkClick>
                        </a:rPr>
                        <a:t>Toolkit: Measure and Communicate the ROI of AI in HR</a:t>
                      </a:r>
                      <a:endParaRPr sz="900">
                        <a:solidFill>
                          <a:srgbClr val="000000"/>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extLst>
                  <a:ext uri="{0D108BD9-81ED-4DB2-BD59-A6C34878D82A}">
                    <a16:rowId xmlns:a16="http://schemas.microsoft.com/office/drawing/2014/main" val="939464923"/>
                  </a:ext>
                </a:extLst>
              </a:tr>
              <a:tr h="546679">
                <a:tc>
                  <a:txBody>
                    <a:bodyPr/>
                    <a:lstStyle/>
                    <a:p>
                      <a:pPr marL="0" marR="0" lvl="0" indent="0" algn="l" rtl="0">
                        <a:spcBef>
                          <a:spcPts val="0"/>
                        </a:spcBef>
                        <a:spcAft>
                          <a:spcPts val="0"/>
                        </a:spcAft>
                        <a:buNone/>
                      </a:pPr>
                      <a:r>
                        <a:rPr lang="en-US" sz="900" b="0" i="0">
                          <a:solidFill>
                            <a:schemeClr val="dk1"/>
                          </a:solidFill>
                          <a:latin typeface="+mj-lt"/>
                          <a:ea typeface="Arial"/>
                          <a:cs typeface="Arial"/>
                          <a:sym typeface="Arial"/>
                        </a:rPr>
                        <a:t>Develop the AI business case and manage funding</a:t>
                      </a:r>
                      <a:endParaRPr lang="en-US" sz="900">
                        <a:latin typeface="+mj-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tc>
                  <a:txBody>
                    <a:bodyPr/>
                    <a:lstStyle/>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Quantify costs, benefits and risks in collaboration with finance and procurement.</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Define adoption plans and funding needs for each project.</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Track spend and ROI; adjust with finance and project leads.</a:t>
                      </a:r>
                      <a:endParaRPr sz="900" dirty="0">
                        <a:latin typeface="+mn-lt"/>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050"/>
                        <a:buFont typeface="Arial"/>
                        <a:buNone/>
                      </a:pPr>
                      <a:r>
                        <a:rPr lang="en-US" sz="900" u="sng">
                          <a:solidFill>
                            <a:srgbClr val="000000"/>
                          </a:solidFill>
                          <a:latin typeface="+mn-lt"/>
                          <a:ea typeface="Arial"/>
                          <a:cs typeface="Arial"/>
                          <a:sym typeface="Arial"/>
                          <a:hlinkClick r:id="rId3">
                            <a:extLst>
                              <a:ext uri="{A12FA001-AC4F-418D-AE19-62706E023703}">
                                <ahyp:hlinkClr xmlns:ahyp="http://schemas.microsoft.com/office/drawing/2018/hyperlinkcolor" val="tx"/>
                              </a:ext>
                            </a:extLst>
                          </a:hlinkClick>
                        </a:rPr>
                        <a:t>Toolkit: Measure and Communicate the ROI of AI in HR</a:t>
                      </a:r>
                      <a:endParaRPr sz="900">
                        <a:solidFill>
                          <a:srgbClr val="000000"/>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extLst>
                  <a:ext uri="{0D108BD9-81ED-4DB2-BD59-A6C34878D82A}">
                    <a16:rowId xmlns:a16="http://schemas.microsoft.com/office/drawing/2014/main" val="208485627"/>
                  </a:ext>
                </a:extLst>
              </a:tr>
              <a:tr h="546679">
                <a:tc>
                  <a:txBody>
                    <a:bodyPr/>
                    <a:lstStyle/>
                    <a:p>
                      <a:pPr marL="0" marR="0" lvl="0" indent="0" algn="l" rtl="0">
                        <a:spcBef>
                          <a:spcPts val="0"/>
                        </a:spcBef>
                        <a:spcAft>
                          <a:spcPts val="0"/>
                        </a:spcAft>
                        <a:buNone/>
                      </a:pPr>
                      <a:r>
                        <a:rPr lang="en-US" sz="900" b="0" i="0">
                          <a:solidFill>
                            <a:schemeClr val="dk1"/>
                          </a:solidFill>
                          <a:latin typeface="+mj-lt"/>
                          <a:ea typeface="Arial"/>
                          <a:cs typeface="Arial"/>
                          <a:sym typeface="Arial"/>
                        </a:rPr>
                        <a:t>Manage AI portfolio and interdependencies</a:t>
                      </a:r>
                      <a:endParaRPr lang="en-US" sz="900">
                        <a:latin typeface="+mj-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tc>
                  <a:txBody>
                    <a:bodyPr/>
                    <a:lstStyle/>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Review project status, resource needs, and dependencies in monthly PMO meetings.</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Align integration plans and release plans with IT architects and vendors.</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Govern with a cross-functional steering committee.</a:t>
                      </a:r>
                      <a:endParaRPr sz="900" dirty="0">
                        <a:latin typeface="+mn-lt"/>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tc>
                  <a:txBody>
                    <a:bodyPr/>
                    <a:lstStyle/>
                    <a:p>
                      <a:pPr marL="0" marR="0" lvl="0" indent="0" algn="l" rtl="0">
                        <a:lnSpc>
                          <a:spcPct val="100000"/>
                        </a:lnSpc>
                        <a:spcBef>
                          <a:spcPts val="0"/>
                        </a:spcBef>
                        <a:spcAft>
                          <a:spcPts val="0"/>
                        </a:spcAft>
                        <a:buClr>
                          <a:srgbClr val="000000"/>
                        </a:buClr>
                        <a:buSzPts val="1050"/>
                        <a:buFont typeface="Arial"/>
                        <a:buNone/>
                      </a:pPr>
                      <a:r>
                        <a:rPr lang="en-US" sz="900" u="sng">
                          <a:solidFill>
                            <a:srgbClr val="000000"/>
                          </a:solidFill>
                          <a:latin typeface="+mn-lt"/>
                          <a:ea typeface="Arial"/>
                          <a:cs typeface="Arial"/>
                          <a:sym typeface="Arial"/>
                          <a:hlinkClick r:id="rId4">
                            <a:extLst>
                              <a:ext uri="{A12FA001-AC4F-418D-AE19-62706E023703}">
                                <ahyp:hlinkClr xmlns:ahyp="http://schemas.microsoft.com/office/drawing/2018/hyperlinkcolor" val="tx"/>
                              </a:ext>
                            </a:extLst>
                          </a:hlinkClick>
                        </a:rPr>
                        <a:t>Design an AI Portfolio to Achieve Valued Outcomes</a:t>
                      </a:r>
                      <a:endParaRPr sz="900">
                        <a:solidFill>
                          <a:srgbClr val="000000"/>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extLst>
                  <a:ext uri="{0D108BD9-81ED-4DB2-BD59-A6C34878D82A}">
                    <a16:rowId xmlns:a16="http://schemas.microsoft.com/office/drawing/2014/main" val="10002"/>
                  </a:ext>
                </a:extLst>
              </a:tr>
              <a:tr h="546679">
                <a:tc>
                  <a:txBody>
                    <a:bodyPr/>
                    <a:lstStyle/>
                    <a:p>
                      <a:pPr marL="0" marR="0" lvl="0" indent="0" algn="l" rtl="0">
                        <a:spcBef>
                          <a:spcPts val="0"/>
                        </a:spcBef>
                        <a:spcAft>
                          <a:spcPts val="0"/>
                        </a:spcAft>
                        <a:buNone/>
                      </a:pPr>
                      <a:r>
                        <a:rPr lang="en-US" sz="900" b="0" i="0">
                          <a:solidFill>
                            <a:schemeClr val="dk1"/>
                          </a:solidFill>
                          <a:latin typeface="+mj-lt"/>
                          <a:ea typeface="Arial"/>
                          <a:cs typeface="Arial"/>
                          <a:sym typeface="Arial"/>
                        </a:rPr>
                        <a:t>Measure value and</a:t>
                      </a:r>
                      <a:br>
                        <a:rPr lang="en-US" sz="900" b="0" i="0">
                          <a:solidFill>
                            <a:schemeClr val="dk1"/>
                          </a:solidFill>
                          <a:latin typeface="+mj-lt"/>
                          <a:ea typeface="Arial"/>
                          <a:cs typeface="Arial"/>
                          <a:sym typeface="Arial"/>
                        </a:rPr>
                      </a:br>
                      <a:r>
                        <a:rPr lang="en-US" sz="900" b="0" i="0">
                          <a:solidFill>
                            <a:schemeClr val="dk1"/>
                          </a:solidFill>
                          <a:latin typeface="+mj-lt"/>
                          <a:ea typeface="Arial"/>
                          <a:cs typeface="Arial"/>
                          <a:sym typeface="Arial"/>
                        </a:rPr>
                        <a:t>realize benefits</a:t>
                      </a:r>
                      <a:endParaRPr lang="en-US" sz="900">
                        <a:latin typeface="+mj-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tc>
                  <a:txBody>
                    <a:bodyPr/>
                    <a:lstStyle/>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Define metrics with IT and business stakeholders.</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Monitor KPIs on high-priority use cases (e.g., hiring, retention, and productivity) monthly.</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Review outcomes postlaunch; actively manage benefits and adjust as needed.</a:t>
                      </a:r>
                      <a:endParaRPr sz="900" dirty="0">
                        <a:latin typeface="+mn-lt"/>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050"/>
                        <a:buFont typeface="Arial"/>
                        <a:buNone/>
                      </a:pPr>
                      <a:r>
                        <a:rPr lang="en-US" sz="900" u="sng">
                          <a:solidFill>
                            <a:srgbClr val="000000"/>
                          </a:solidFill>
                          <a:latin typeface="+mn-lt"/>
                          <a:ea typeface="Arial"/>
                          <a:cs typeface="Arial"/>
                          <a:sym typeface="Arial"/>
                          <a:hlinkClick r:id="rId3">
                            <a:extLst>
                              <a:ext uri="{A12FA001-AC4F-418D-AE19-62706E023703}">
                                <ahyp:hlinkClr xmlns:ahyp="http://schemas.microsoft.com/office/drawing/2018/hyperlinkcolor" val="tx"/>
                              </a:ext>
                            </a:extLst>
                          </a:hlinkClick>
                        </a:rPr>
                        <a:t>Toolkit: Measure and Communicate the ROI of AI in HR</a:t>
                      </a:r>
                      <a:endParaRPr sz="900">
                        <a:solidFill>
                          <a:srgbClr val="000000"/>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extLst>
                  <a:ext uri="{0D108BD9-81ED-4DB2-BD59-A6C34878D82A}">
                    <a16:rowId xmlns:a16="http://schemas.microsoft.com/office/drawing/2014/main" val="10003"/>
                  </a:ext>
                </a:extLst>
              </a:tr>
              <a:tr h="624011">
                <a:tc>
                  <a:txBody>
                    <a:bodyPr/>
                    <a:lstStyle/>
                    <a:p>
                      <a:pPr marL="0" marR="0" lvl="0" indent="0" algn="l" rtl="0">
                        <a:spcBef>
                          <a:spcPts val="0"/>
                        </a:spcBef>
                        <a:spcAft>
                          <a:spcPts val="0"/>
                        </a:spcAft>
                        <a:buNone/>
                      </a:pPr>
                      <a:r>
                        <a:rPr lang="en-US" sz="900" b="0" i="0">
                          <a:solidFill>
                            <a:schemeClr val="dk1"/>
                          </a:solidFill>
                          <a:latin typeface="+mj-lt"/>
                          <a:ea typeface="Arial"/>
                          <a:cs typeface="Arial"/>
                          <a:sym typeface="Arial"/>
                        </a:rPr>
                        <a:t>Standardize practices and share lessons on AI value realization</a:t>
                      </a:r>
                      <a:endParaRPr lang="en-US" sz="900">
                        <a:latin typeface="+mj-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tc>
                  <a:txBody>
                    <a:bodyPr/>
                    <a:lstStyle/>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Create guides and templates on AI use with IT.</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Build reusable docs and prompt libraries for teams.</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Share insights on best practices in HR all-hands and exec briefings.</a:t>
                      </a:r>
                      <a:endParaRPr sz="900" dirty="0">
                        <a:latin typeface="+mn-lt"/>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tc>
                  <a:txBody>
                    <a:bodyPr/>
                    <a:lstStyle/>
                    <a:p>
                      <a:pPr marL="0" marR="0" lvl="0" indent="0" algn="l" rtl="0">
                        <a:lnSpc>
                          <a:spcPct val="100000"/>
                        </a:lnSpc>
                        <a:spcBef>
                          <a:spcPts val="0"/>
                        </a:spcBef>
                        <a:spcAft>
                          <a:spcPts val="0"/>
                        </a:spcAft>
                        <a:buClr>
                          <a:srgbClr val="000000"/>
                        </a:buClr>
                        <a:buSzPts val="1050"/>
                        <a:buFont typeface="Arial"/>
                        <a:buNone/>
                      </a:pPr>
                      <a:r>
                        <a:rPr lang="en-US" sz="900" u="sng">
                          <a:solidFill>
                            <a:srgbClr val="000000"/>
                          </a:solidFill>
                          <a:latin typeface="+mn-lt"/>
                          <a:ea typeface="Arial"/>
                          <a:cs typeface="Arial"/>
                          <a:sym typeface="Arial"/>
                          <a:hlinkClick r:id="rId3">
                            <a:extLst>
                              <a:ext uri="{A12FA001-AC4F-418D-AE19-62706E023703}">
                                <ahyp:hlinkClr xmlns:ahyp="http://schemas.microsoft.com/office/drawing/2018/hyperlinkcolor" val="tx"/>
                              </a:ext>
                            </a:extLst>
                          </a:hlinkClick>
                        </a:rPr>
                        <a:t>Toolkit: Measure and Communicate the ROI of AI in HR</a:t>
                      </a:r>
                      <a:endParaRPr sz="900">
                        <a:solidFill>
                          <a:srgbClr val="000000"/>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extLst>
                  <a:ext uri="{0D108BD9-81ED-4DB2-BD59-A6C34878D82A}">
                    <a16:rowId xmlns:a16="http://schemas.microsoft.com/office/drawing/2014/main" val="10004"/>
                  </a:ext>
                </a:extLst>
              </a:tr>
              <a:tr h="624011">
                <a:tc>
                  <a:txBody>
                    <a:bodyPr/>
                    <a:lstStyle/>
                    <a:p>
                      <a:pPr marL="0" marR="0" lvl="0" indent="0" algn="l" rtl="0">
                        <a:spcBef>
                          <a:spcPts val="0"/>
                        </a:spcBef>
                        <a:spcAft>
                          <a:spcPts val="0"/>
                        </a:spcAft>
                        <a:buNone/>
                      </a:pPr>
                      <a:r>
                        <a:rPr lang="en-US" sz="900" b="0" i="0">
                          <a:solidFill>
                            <a:schemeClr val="dk1"/>
                          </a:solidFill>
                          <a:latin typeface="+mj-lt"/>
                          <a:ea typeface="Arial"/>
                          <a:cs typeface="Arial"/>
                          <a:sym typeface="Arial"/>
                        </a:rPr>
                        <a:t>Continuously identify and optimize the portfolio, and lead innovation</a:t>
                      </a:r>
                      <a:endParaRPr lang="en-US" sz="900">
                        <a:latin typeface="+mj-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28575" cap="flat" cmpd="sng" algn="ctr">
                      <a:solidFill>
                        <a:srgbClr val="707996"/>
                      </a:solidFill>
                      <a:prstDash val="solid"/>
                      <a:round/>
                      <a:headEnd type="none" w="med" len="med"/>
                      <a:tailEnd type="none" w="med" len="med"/>
                    </a:lnB>
                  </a:tcPr>
                </a:tc>
                <a:tc>
                  <a:txBody>
                    <a:bodyPr/>
                    <a:lstStyle/>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Hold quarterly reviews to reprioritize or sunset projects.</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Use dashboards to track adoption and value delivery.</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Run innovation labs to test and scale new AI ideas, positioning HR as an innovation leader.</a:t>
                      </a:r>
                      <a:endParaRPr sz="900" dirty="0">
                        <a:latin typeface="+mn-lt"/>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28575" cap="flat" cmpd="sng" algn="ctr">
                      <a:solidFill>
                        <a:srgbClr val="707996"/>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050"/>
                        <a:buFont typeface="Arial"/>
                        <a:buNone/>
                      </a:pPr>
                      <a:r>
                        <a:rPr lang="en-US" sz="900" u="sng" dirty="0">
                          <a:solidFill>
                            <a:srgbClr val="000000"/>
                          </a:solidFill>
                          <a:latin typeface="+mn-lt"/>
                          <a:ea typeface="Arial"/>
                          <a:cs typeface="Arial"/>
                          <a:sym typeface="Arial"/>
                          <a:hlinkClick r:id="rId3">
                            <a:extLst>
                              <a:ext uri="{A12FA001-AC4F-418D-AE19-62706E023703}">
                                <ahyp:hlinkClr xmlns:ahyp="http://schemas.microsoft.com/office/drawing/2018/hyperlinkcolor" val="tx"/>
                              </a:ext>
                            </a:extLst>
                          </a:hlinkClick>
                        </a:rPr>
                        <a:t>Toolkit: Measure and Communicate the ROI of AI in HR</a:t>
                      </a:r>
                      <a:endParaRPr sz="900" dirty="0">
                        <a:solidFill>
                          <a:srgbClr val="000000"/>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28575" cap="flat" cmpd="sng" algn="ctr">
                      <a:solidFill>
                        <a:srgbClr val="70799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6805731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AB183-447C-FBDE-6782-7F1BF2AC50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C8158D-438D-88A9-6BD5-4045F6952D11}"/>
              </a:ext>
            </a:extLst>
          </p:cNvPr>
          <p:cNvSpPr>
            <a:spLocks noGrp="1"/>
          </p:cNvSpPr>
          <p:nvPr>
            <p:ph type="title"/>
          </p:nvPr>
        </p:nvSpPr>
        <p:spPr/>
        <p:txBody>
          <a:bodyPr/>
          <a:lstStyle/>
          <a:p>
            <a:r>
              <a:rPr lang="en-US"/>
              <a:t>AI Impact on Work for HR Function: Detailed Activities (1 of 2)</a:t>
            </a:r>
          </a:p>
        </p:txBody>
      </p:sp>
      <p:graphicFrame>
        <p:nvGraphicFramePr>
          <p:cNvPr id="3" name="Google Shape;513;p11">
            <a:extLst>
              <a:ext uri="{FF2B5EF4-FFF2-40B4-BE49-F238E27FC236}">
                <a16:creationId xmlns:a16="http://schemas.microsoft.com/office/drawing/2014/main" id="{B4F65DBB-6F12-3631-C404-F8CA5979B990}"/>
              </a:ext>
            </a:extLst>
          </p:cNvPr>
          <p:cNvGraphicFramePr/>
          <p:nvPr>
            <p:extLst>
              <p:ext uri="{D42A27DB-BD31-4B8C-83A1-F6EECF244321}">
                <p14:modId xmlns:p14="http://schemas.microsoft.com/office/powerpoint/2010/main" val="3292400521"/>
              </p:ext>
            </p:extLst>
          </p:nvPr>
        </p:nvGraphicFramePr>
        <p:xfrm>
          <a:off x="474896" y="947137"/>
          <a:ext cx="11256855" cy="5119525"/>
        </p:xfrm>
        <a:graphic>
          <a:graphicData uri="http://schemas.openxmlformats.org/drawingml/2006/table">
            <a:tbl>
              <a:tblPr>
                <a:noFill/>
              </a:tblPr>
              <a:tblGrid>
                <a:gridCol w="1722499">
                  <a:extLst>
                    <a:ext uri="{9D8B030D-6E8A-4147-A177-3AD203B41FA5}">
                      <a16:colId xmlns:a16="http://schemas.microsoft.com/office/drawing/2014/main" val="20000"/>
                    </a:ext>
                  </a:extLst>
                </a:gridCol>
                <a:gridCol w="7263128">
                  <a:extLst>
                    <a:ext uri="{9D8B030D-6E8A-4147-A177-3AD203B41FA5}">
                      <a16:colId xmlns:a16="http://schemas.microsoft.com/office/drawing/2014/main" val="20001"/>
                    </a:ext>
                  </a:extLst>
                </a:gridCol>
                <a:gridCol w="2271228">
                  <a:extLst>
                    <a:ext uri="{9D8B030D-6E8A-4147-A177-3AD203B41FA5}">
                      <a16:colId xmlns:a16="http://schemas.microsoft.com/office/drawing/2014/main" val="20002"/>
                    </a:ext>
                  </a:extLst>
                </a:gridCol>
              </a:tblGrid>
              <a:tr h="359726">
                <a:tc>
                  <a:txBody>
                    <a:bodyPr/>
                    <a:lstStyle/>
                    <a:p>
                      <a:pPr marL="0" marR="0" lvl="0" indent="0" algn="l" rtl="0">
                        <a:spcBef>
                          <a:spcPts val="0"/>
                        </a:spcBef>
                        <a:spcAft>
                          <a:spcPts val="0"/>
                        </a:spcAft>
                        <a:buNone/>
                      </a:pPr>
                      <a:r>
                        <a:rPr lang="en-US" sz="900" b="1" i="0" u="none" strike="noStrike" cap="none">
                          <a:solidFill>
                            <a:schemeClr val="lt2"/>
                          </a:solidFill>
                          <a:latin typeface="+mj-lt"/>
                          <a:ea typeface="Arial"/>
                          <a:cs typeface="Arial"/>
                          <a:sym typeface="Arial"/>
                        </a:rPr>
                        <a:t>Activity</a:t>
                      </a:r>
                      <a:endParaRPr sz="900" b="1" i="0">
                        <a:solidFill>
                          <a:schemeClr val="lt2"/>
                        </a:solidFill>
                        <a:latin typeface="+mj-lt"/>
                        <a:ea typeface="Arial"/>
                        <a:cs typeface="Arial"/>
                        <a:sym typeface="Arial"/>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28575"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1F96FF"/>
                    </a:solidFill>
                  </a:tcPr>
                </a:tc>
                <a:tc>
                  <a:txBody>
                    <a:bodyPr/>
                    <a:lstStyle/>
                    <a:p>
                      <a:pPr marL="0" marR="0" lvl="0" indent="0" algn="l" rtl="0">
                        <a:spcBef>
                          <a:spcPts val="0"/>
                        </a:spcBef>
                        <a:spcAft>
                          <a:spcPts val="0"/>
                        </a:spcAft>
                        <a:buNone/>
                      </a:pPr>
                      <a:r>
                        <a:rPr lang="en-US" sz="900" b="1" i="0">
                          <a:solidFill>
                            <a:schemeClr val="lt2"/>
                          </a:solidFill>
                          <a:latin typeface="+mj-lt"/>
                          <a:ea typeface="Arial"/>
                          <a:cs typeface="Arial"/>
                          <a:sym typeface="Arial"/>
                        </a:rPr>
                        <a:t>Steps</a:t>
                      </a:r>
                      <a:endParaRPr sz="900" b="1" i="0">
                        <a:solidFill>
                          <a:schemeClr val="lt2"/>
                        </a:solidFill>
                        <a:latin typeface="+mj-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28575"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1F96FF"/>
                    </a:solidFill>
                  </a:tcPr>
                </a:tc>
                <a:tc>
                  <a:txBody>
                    <a:bodyPr/>
                    <a:lstStyle/>
                    <a:p>
                      <a:pPr marL="0" marR="0" lvl="0" indent="0" algn="l" rtl="0">
                        <a:spcBef>
                          <a:spcPts val="0"/>
                        </a:spcBef>
                        <a:spcAft>
                          <a:spcPts val="0"/>
                        </a:spcAft>
                        <a:buNone/>
                      </a:pPr>
                      <a:r>
                        <a:rPr lang="en-US" sz="900" b="1" i="0">
                          <a:solidFill>
                            <a:schemeClr val="lt2"/>
                          </a:solidFill>
                          <a:latin typeface="+mj-lt"/>
                          <a:ea typeface="Arial"/>
                          <a:cs typeface="Arial"/>
                          <a:sym typeface="Arial"/>
                        </a:rPr>
                        <a:t>Supporting resources</a:t>
                      </a:r>
                      <a:endParaRPr sz="900" b="1" i="0">
                        <a:solidFill>
                          <a:schemeClr val="lt2"/>
                        </a:solidFill>
                        <a:latin typeface="+mj-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28575"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1F96FF"/>
                    </a:solidFill>
                  </a:tcPr>
                </a:tc>
                <a:extLst>
                  <a:ext uri="{0D108BD9-81ED-4DB2-BD59-A6C34878D82A}">
                    <a16:rowId xmlns:a16="http://schemas.microsoft.com/office/drawing/2014/main" val="10000"/>
                  </a:ext>
                </a:extLst>
              </a:tr>
              <a:tr h="877559">
                <a:tc>
                  <a:txBody>
                    <a:bodyPr/>
                    <a:lstStyle/>
                    <a:p>
                      <a:pPr marL="0" marR="0" lvl="0" indent="0" algn="l" rtl="0">
                        <a:spcBef>
                          <a:spcPts val="0"/>
                        </a:spcBef>
                        <a:spcAft>
                          <a:spcPts val="0"/>
                        </a:spcAft>
                        <a:buNone/>
                      </a:pPr>
                      <a:r>
                        <a:rPr lang="en-US" sz="900" b="1" i="0">
                          <a:solidFill>
                            <a:schemeClr val="dk1"/>
                          </a:solidFill>
                          <a:latin typeface="+mn-lt"/>
                          <a:ea typeface="Arial"/>
                          <a:cs typeface="Arial"/>
                          <a:sym typeface="Arial"/>
                        </a:rPr>
                        <a:t>Promote new AI use</a:t>
                      </a:r>
                      <a:br>
                        <a:rPr lang="en-US" sz="900" b="1" i="0">
                          <a:solidFill>
                            <a:schemeClr val="dk1"/>
                          </a:solidFill>
                          <a:latin typeface="+mn-lt"/>
                          <a:ea typeface="Arial"/>
                          <a:cs typeface="Arial"/>
                          <a:sym typeface="Arial"/>
                        </a:rPr>
                      </a:br>
                      <a:r>
                        <a:rPr lang="en-US" sz="900" b="1" i="0">
                          <a:solidFill>
                            <a:schemeClr val="dk1"/>
                          </a:solidFill>
                          <a:latin typeface="+mn-lt"/>
                          <a:ea typeface="Arial"/>
                          <a:cs typeface="Arial"/>
                          <a:sym typeface="Arial"/>
                        </a:rPr>
                        <a:t>cases in HR workflows</a:t>
                      </a:r>
                      <a:endParaRPr lang="en-US" sz="900" b="1">
                        <a:latin typeface="+mn-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tc>
                  <a:txBody>
                    <a:bodyPr/>
                    <a:lstStyle/>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Identify “likely-win” AI use cases that are feasible, with high potential value.</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Communicate prioritized use cases and set expectations that HR teams should experiment.</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Design an inclusive AI skills training based on different levels of employee AI maturity.  </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Set expectations of how much time employee should spend experimenting.</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Share success stories to promote more widespread adoption.</a:t>
                      </a:r>
                      <a:endParaRPr sz="900" dirty="0">
                        <a:latin typeface="+mn-lt"/>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050"/>
                        <a:buFont typeface="Arial"/>
                        <a:buNone/>
                      </a:pPr>
                      <a:r>
                        <a:rPr lang="en-US" sz="900" u="sng">
                          <a:solidFill>
                            <a:srgbClr val="000000"/>
                          </a:solidFill>
                          <a:latin typeface="+mn-lt"/>
                          <a:ea typeface="Arial"/>
                          <a:cs typeface="Arial"/>
                          <a:sym typeface="Arial"/>
                          <a:hlinkClick r:id="rId2">
                            <a:extLst>
                              <a:ext uri="{A12FA001-AC4F-418D-AE19-62706E023703}">
                                <ahyp:hlinkClr xmlns:ahyp="http://schemas.microsoft.com/office/drawing/2018/hyperlinkcolor" val="tx"/>
                              </a:ext>
                            </a:extLst>
                          </a:hlinkClick>
                        </a:rPr>
                        <a:t>Tool: Prioritize HR Processes for AI Transformation</a:t>
                      </a:r>
                      <a:r>
                        <a:rPr lang="en-US" sz="900">
                          <a:solidFill>
                            <a:srgbClr val="000000"/>
                          </a:solidFill>
                          <a:latin typeface="+mn-lt"/>
                          <a:ea typeface="Arial"/>
                          <a:cs typeface="Arial"/>
                          <a:sym typeface="Arial"/>
                        </a:rPr>
                        <a:t>, </a:t>
                      </a:r>
                      <a:r>
                        <a:rPr lang="en-US" sz="900" u="sng">
                          <a:solidFill>
                            <a:srgbClr val="000000"/>
                          </a:solidFill>
                          <a:latin typeface="+mn-lt"/>
                          <a:ea typeface="Arial"/>
                          <a:cs typeface="Arial"/>
                          <a:sym typeface="Arial"/>
                          <a:hlinkClick r:id="rId3">
                            <a:extLst>
                              <a:ext uri="{A12FA001-AC4F-418D-AE19-62706E023703}">
                                <ahyp:hlinkClr xmlns:ahyp="http://schemas.microsoft.com/office/drawing/2018/hyperlinkcolor" val="tx"/>
                              </a:ext>
                            </a:extLst>
                          </a:hlinkClick>
                        </a:rPr>
                        <a:t>Case Study: Building an AI-Ready Enterprise Workforce</a:t>
                      </a:r>
                      <a:endParaRPr sz="900">
                        <a:solidFill>
                          <a:srgbClr val="000000"/>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extLst>
                  <a:ext uri="{0D108BD9-81ED-4DB2-BD59-A6C34878D82A}">
                    <a16:rowId xmlns:a16="http://schemas.microsoft.com/office/drawing/2014/main" val="10001"/>
                  </a:ext>
                </a:extLst>
              </a:tr>
              <a:tr h="1042998">
                <a:tc>
                  <a:txBody>
                    <a:bodyPr/>
                    <a:lstStyle/>
                    <a:p>
                      <a:pPr marL="0" marR="0" lvl="0" indent="0" algn="l" rtl="0">
                        <a:spcBef>
                          <a:spcPts val="0"/>
                        </a:spcBef>
                        <a:spcAft>
                          <a:spcPts val="0"/>
                        </a:spcAft>
                        <a:buNone/>
                      </a:pPr>
                      <a:r>
                        <a:rPr lang="en-US" sz="900" b="1" i="0">
                          <a:solidFill>
                            <a:schemeClr val="dk1"/>
                          </a:solidFill>
                          <a:latin typeface="+mn-lt"/>
                          <a:ea typeface="Arial"/>
                          <a:cs typeface="Arial"/>
                          <a:sym typeface="Arial"/>
                        </a:rPr>
                        <a:t>Augment existing ways</a:t>
                      </a:r>
                      <a:br>
                        <a:rPr lang="en-US" sz="900" b="1" i="0">
                          <a:solidFill>
                            <a:schemeClr val="dk1"/>
                          </a:solidFill>
                          <a:latin typeface="+mn-lt"/>
                          <a:ea typeface="Arial"/>
                          <a:cs typeface="Arial"/>
                          <a:sym typeface="Arial"/>
                        </a:rPr>
                      </a:br>
                      <a:r>
                        <a:rPr lang="en-US" sz="900" b="1" i="0">
                          <a:solidFill>
                            <a:schemeClr val="dk1"/>
                          </a:solidFill>
                          <a:latin typeface="+mn-lt"/>
                          <a:ea typeface="Arial"/>
                          <a:cs typeface="Arial"/>
                          <a:sym typeface="Arial"/>
                        </a:rPr>
                        <a:t>of working with AI</a:t>
                      </a:r>
                      <a:endParaRPr lang="en-US" sz="900" b="1">
                        <a:latin typeface="+mn-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tc>
                  <a:txBody>
                    <a:bodyPr/>
                    <a:lstStyle/>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Stand up an HR work redesign team.</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Build communications and language that describe AI as a tool, not a teammate, to create an abundance mindset (not a scarcity minded).</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Design and lead team-based AI experimentation built around solving for work friction in existing processes.</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Give teams explicit guidance on how they should use freed up time.</a:t>
                      </a:r>
                      <a:endParaRPr sz="900" dirty="0">
                        <a:solidFill>
                          <a:srgbClr val="000000"/>
                        </a:solidFill>
                        <a:latin typeface="+mn-lt"/>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tc>
                  <a:txBody>
                    <a:bodyPr/>
                    <a:lstStyle/>
                    <a:p>
                      <a:pPr marL="0" marR="0" lvl="0" indent="0" algn="l" rtl="0">
                        <a:lnSpc>
                          <a:spcPct val="100000"/>
                        </a:lnSpc>
                        <a:spcBef>
                          <a:spcPts val="0"/>
                        </a:spcBef>
                        <a:spcAft>
                          <a:spcPts val="0"/>
                        </a:spcAft>
                        <a:buClr>
                          <a:srgbClr val="000000"/>
                        </a:buClr>
                        <a:buSzPts val="1050"/>
                        <a:buFont typeface="Arial"/>
                        <a:buNone/>
                      </a:pPr>
                      <a:r>
                        <a:rPr lang="en-US" sz="900" u="sng">
                          <a:solidFill>
                            <a:srgbClr val="000000"/>
                          </a:solidFill>
                          <a:latin typeface="+mn-lt"/>
                          <a:ea typeface="Arial"/>
                          <a:cs typeface="Arial"/>
                          <a:sym typeface="Arial"/>
                          <a:hlinkClick r:id="rId4">
                            <a:extLst>
                              <a:ext uri="{A12FA001-AC4F-418D-AE19-62706E023703}">
                                <ahyp:hlinkClr xmlns:ahyp="http://schemas.microsoft.com/office/drawing/2018/hyperlinkcolor" val="tx"/>
                              </a:ext>
                            </a:extLst>
                          </a:hlinkClick>
                        </a:rPr>
                        <a:t>Case Study: Enable Effective AI Use Through Work-Based Learning</a:t>
                      </a:r>
                      <a:r>
                        <a:rPr lang="en-US" sz="900">
                          <a:solidFill>
                            <a:srgbClr val="000000"/>
                          </a:solidFill>
                          <a:latin typeface="+mn-lt"/>
                          <a:ea typeface="Arial"/>
                          <a:cs typeface="Arial"/>
                          <a:sym typeface="Arial"/>
                        </a:rPr>
                        <a:t>, </a:t>
                      </a:r>
                      <a:r>
                        <a:rPr lang="en-US" sz="900" u="sng">
                          <a:solidFill>
                            <a:srgbClr val="000000"/>
                          </a:solidFill>
                          <a:latin typeface="+mn-lt"/>
                          <a:ea typeface="Arial"/>
                          <a:cs typeface="Arial"/>
                          <a:sym typeface="Arial"/>
                          <a:hlinkClick r:id="rId5">
                            <a:extLst>
                              <a:ext uri="{A12FA001-AC4F-418D-AE19-62706E023703}">
                                <ahyp:hlinkClr xmlns:ahyp="http://schemas.microsoft.com/office/drawing/2018/hyperlinkcolor" val="tx"/>
                              </a:ext>
                            </a:extLst>
                          </a:hlinkClick>
                        </a:rPr>
                        <a:t>Case Study: AI Time Save and Use Framework to Drive Growth</a:t>
                      </a:r>
                      <a:endParaRPr sz="900">
                        <a:solidFill>
                          <a:srgbClr val="000000"/>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extLst>
                  <a:ext uri="{0D108BD9-81ED-4DB2-BD59-A6C34878D82A}">
                    <a16:rowId xmlns:a16="http://schemas.microsoft.com/office/drawing/2014/main" val="939464923"/>
                  </a:ext>
                </a:extLst>
              </a:tr>
              <a:tr h="546679">
                <a:tc>
                  <a:txBody>
                    <a:bodyPr/>
                    <a:lstStyle/>
                    <a:p>
                      <a:pPr marL="0" marR="0" lvl="0" indent="0" algn="l" rtl="0">
                        <a:spcBef>
                          <a:spcPts val="0"/>
                        </a:spcBef>
                        <a:spcAft>
                          <a:spcPts val="0"/>
                        </a:spcAft>
                        <a:buNone/>
                      </a:pPr>
                      <a:r>
                        <a:rPr lang="en-US" sz="900" b="1" i="0">
                          <a:solidFill>
                            <a:schemeClr val="dk1"/>
                          </a:solidFill>
                          <a:latin typeface="+mn-lt"/>
                          <a:ea typeface="Arial"/>
                          <a:cs typeface="Arial"/>
                          <a:sym typeface="Arial"/>
                        </a:rPr>
                        <a:t>Define the role of human</a:t>
                      </a:r>
                      <a:br>
                        <a:rPr lang="en-US" sz="900" b="1" i="0">
                          <a:solidFill>
                            <a:schemeClr val="dk1"/>
                          </a:solidFill>
                          <a:latin typeface="+mn-lt"/>
                          <a:ea typeface="Arial"/>
                          <a:cs typeface="Arial"/>
                          <a:sym typeface="Arial"/>
                        </a:rPr>
                      </a:br>
                      <a:r>
                        <a:rPr lang="en-US" sz="900" b="1" i="0">
                          <a:solidFill>
                            <a:schemeClr val="dk1"/>
                          </a:solidFill>
                          <a:latin typeface="+mn-lt"/>
                          <a:ea typeface="Arial"/>
                          <a:cs typeface="Arial"/>
                          <a:sym typeface="Arial"/>
                        </a:rPr>
                        <a:t>and AI in HR value streams</a:t>
                      </a:r>
                      <a:endParaRPr lang="en-US" sz="900" b="1">
                        <a:latin typeface="+mn-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tc>
                  <a:txBody>
                    <a:bodyPr/>
                    <a:lstStyle/>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Define the </a:t>
                      </a:r>
                      <a:r>
                        <a:rPr lang="en-US" sz="900" i="1" dirty="0">
                          <a:solidFill>
                            <a:srgbClr val="000000"/>
                          </a:solidFill>
                          <a:latin typeface="+mn-lt"/>
                          <a:ea typeface="Arial"/>
                          <a:cs typeface="Arial"/>
                          <a:sym typeface="Arial"/>
                        </a:rPr>
                        <a:t>products </a:t>
                      </a:r>
                      <a:r>
                        <a:rPr lang="en-US" sz="900" dirty="0">
                          <a:solidFill>
                            <a:srgbClr val="000000"/>
                          </a:solidFill>
                          <a:latin typeface="+mn-lt"/>
                          <a:ea typeface="Arial"/>
                          <a:cs typeface="Arial"/>
                          <a:sym typeface="Arial"/>
                        </a:rPr>
                        <a:t>HR deliver the enterprise based on </a:t>
                      </a:r>
                      <a:r>
                        <a:rPr lang="en-US" sz="900" i="1" dirty="0">
                          <a:solidFill>
                            <a:srgbClr val="000000"/>
                          </a:solidFill>
                          <a:latin typeface="+mn-lt"/>
                          <a:ea typeface="Arial"/>
                          <a:cs typeface="Arial"/>
                          <a:sym typeface="Arial"/>
                        </a:rPr>
                        <a:t>outcomes </a:t>
                      </a:r>
                      <a:r>
                        <a:rPr lang="en-US" sz="900" dirty="0">
                          <a:solidFill>
                            <a:srgbClr val="000000"/>
                          </a:solidFill>
                          <a:latin typeface="+mn-lt"/>
                          <a:ea typeface="Arial"/>
                          <a:cs typeface="Arial"/>
                          <a:sym typeface="Arial"/>
                        </a:rPr>
                        <a:t>they deliver (it is critical you don’t default to mapping HR’s</a:t>
                      </a:r>
                      <a:br>
                        <a:rPr lang="en-US" sz="900" dirty="0">
                          <a:solidFill>
                            <a:srgbClr val="000000"/>
                          </a:solidFill>
                          <a:latin typeface="+mn-lt"/>
                          <a:ea typeface="Arial"/>
                          <a:cs typeface="Arial"/>
                          <a:sym typeface="Arial"/>
                        </a:rPr>
                      </a:br>
                      <a:r>
                        <a:rPr lang="en-US" sz="900" dirty="0">
                          <a:solidFill>
                            <a:srgbClr val="000000"/>
                          </a:solidFill>
                          <a:latin typeface="+mn-lt"/>
                          <a:ea typeface="Arial"/>
                          <a:cs typeface="Arial"/>
                          <a:sym typeface="Arial"/>
                        </a:rPr>
                        <a:t>core processes). </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Lead value stream mapping workshops for each </a:t>
                      </a:r>
                      <a:r>
                        <a:rPr lang="en-US" sz="900" i="1" dirty="0">
                          <a:solidFill>
                            <a:srgbClr val="000000"/>
                          </a:solidFill>
                          <a:latin typeface="+mn-lt"/>
                          <a:ea typeface="Arial"/>
                          <a:cs typeface="Arial"/>
                          <a:sym typeface="Arial"/>
                        </a:rPr>
                        <a:t>product; </a:t>
                      </a:r>
                      <a:r>
                        <a:rPr lang="en-US" sz="900" i="0" dirty="0">
                          <a:solidFill>
                            <a:srgbClr val="000000"/>
                          </a:solidFill>
                          <a:latin typeface="+mn-lt"/>
                          <a:ea typeface="Arial"/>
                          <a:cs typeface="Arial"/>
                          <a:sym typeface="Arial"/>
                        </a:rPr>
                        <a:t>map</a:t>
                      </a:r>
                      <a:r>
                        <a:rPr lang="en-US" sz="900" dirty="0">
                          <a:solidFill>
                            <a:srgbClr val="000000"/>
                          </a:solidFill>
                          <a:latin typeface="+mn-lt"/>
                          <a:ea typeface="Arial"/>
                          <a:cs typeface="Arial"/>
                          <a:sym typeface="Arial"/>
                        </a:rPr>
                        <a:t> the key steps taken from start to value creation, focusing on </a:t>
                      </a:r>
                      <a:r>
                        <a:rPr lang="en-US" sz="900" i="1" dirty="0">
                          <a:solidFill>
                            <a:srgbClr val="000000"/>
                          </a:solidFill>
                          <a:latin typeface="+mn-lt"/>
                          <a:ea typeface="Arial"/>
                          <a:cs typeface="Arial"/>
                          <a:sym typeface="Arial"/>
                        </a:rPr>
                        <a:t>what </a:t>
                      </a:r>
                      <a:r>
                        <a:rPr lang="en-US" sz="900" dirty="0">
                          <a:solidFill>
                            <a:srgbClr val="000000"/>
                          </a:solidFill>
                          <a:latin typeface="+mn-lt"/>
                          <a:ea typeface="Arial"/>
                          <a:cs typeface="Arial"/>
                          <a:sym typeface="Arial"/>
                        </a:rPr>
                        <a:t>work is done rather than </a:t>
                      </a:r>
                      <a:r>
                        <a:rPr lang="en-US" sz="900" i="1" dirty="0">
                          <a:solidFill>
                            <a:srgbClr val="000000"/>
                          </a:solidFill>
                          <a:latin typeface="+mn-lt"/>
                          <a:ea typeface="Arial"/>
                          <a:cs typeface="Arial"/>
                          <a:sym typeface="Arial"/>
                        </a:rPr>
                        <a:t>who </a:t>
                      </a:r>
                      <a:r>
                        <a:rPr lang="en-US" sz="900" dirty="0">
                          <a:solidFill>
                            <a:srgbClr val="000000"/>
                          </a:solidFill>
                          <a:latin typeface="+mn-lt"/>
                          <a:ea typeface="Arial"/>
                          <a:cs typeface="Arial"/>
                          <a:sym typeface="Arial"/>
                        </a:rPr>
                        <a:t>does the work.</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For each step in the value stream list the key tasks, key skills to deliver, owners and key interdependencies.</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Score each tasks as best suited for human only, humans augmented by AI, or AI only.</a:t>
                      </a:r>
                      <a:endParaRPr sz="900" dirty="0">
                        <a:latin typeface="+mn-lt"/>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050"/>
                        <a:buFont typeface="Arial"/>
                        <a:buNone/>
                      </a:pPr>
                      <a:r>
                        <a:rPr lang="en-US" sz="900" u="sng">
                          <a:solidFill>
                            <a:srgbClr val="000000"/>
                          </a:solidFill>
                          <a:latin typeface="+mn-lt"/>
                          <a:ea typeface="Arial"/>
                          <a:cs typeface="Arial"/>
                          <a:sym typeface="Arial"/>
                          <a:hlinkClick r:id="rId6">
                            <a:extLst>
                              <a:ext uri="{A12FA001-AC4F-418D-AE19-62706E023703}">
                                <ahyp:hlinkClr xmlns:ahyp="http://schemas.microsoft.com/office/drawing/2018/hyperlinkcolor" val="tx"/>
                              </a:ext>
                            </a:extLst>
                          </a:hlinkClick>
                        </a:rPr>
                        <a:t>Playbook: Redesigning HR Processes for AI</a:t>
                      </a:r>
                      <a:r>
                        <a:rPr lang="en-US" sz="900">
                          <a:solidFill>
                            <a:srgbClr val="000000"/>
                          </a:solidFill>
                          <a:latin typeface="+mn-lt"/>
                          <a:ea typeface="Arial"/>
                          <a:cs typeface="Arial"/>
                          <a:sym typeface="Arial"/>
                        </a:rPr>
                        <a:t>,</a:t>
                      </a:r>
                      <a:r>
                        <a:rPr lang="en-US" sz="900">
                          <a:solidFill>
                            <a:schemeClr val="dk1"/>
                          </a:solidFill>
                          <a:latin typeface="+mn-lt"/>
                          <a:ea typeface="Arial"/>
                          <a:cs typeface="Arial"/>
                          <a:sym typeface="Arial"/>
                        </a:rPr>
                        <a:t> </a:t>
                      </a:r>
                      <a:r>
                        <a:rPr lang="en-US" sz="900" u="sng">
                          <a:solidFill>
                            <a:schemeClr val="dk1"/>
                          </a:solidFill>
                          <a:latin typeface="+mn-lt"/>
                          <a:ea typeface="Arial"/>
                          <a:cs typeface="Arial"/>
                          <a:sym typeface="Arial"/>
                          <a:hlinkClick r:id="rId7">
                            <a:extLst>
                              <a:ext uri="{A12FA001-AC4F-418D-AE19-62706E023703}">
                                <ahyp:hlinkClr xmlns:ahyp="http://schemas.microsoft.com/office/drawing/2018/hyperlinkcolor" val="tx"/>
                              </a:ext>
                            </a:extLst>
                          </a:hlinkClick>
                        </a:rPr>
                        <a:t>How to Redesign Processes and Workflows to Drive Organizational Strategy</a:t>
                      </a:r>
                      <a:r>
                        <a:rPr lang="en-US" sz="900">
                          <a:solidFill>
                            <a:schemeClr val="dk1"/>
                          </a:solidFill>
                          <a:latin typeface="+mn-lt"/>
                          <a:ea typeface="Arial"/>
                          <a:cs typeface="Arial"/>
                          <a:sym typeface="Arial"/>
                        </a:rPr>
                        <a:t>,  </a:t>
                      </a:r>
                      <a:r>
                        <a:rPr lang="en-US" sz="900" u="sng">
                          <a:solidFill>
                            <a:srgbClr val="000000"/>
                          </a:solidFill>
                          <a:latin typeface="+mn-lt"/>
                          <a:ea typeface="Arial"/>
                          <a:cs typeface="Arial"/>
                          <a:sym typeface="Arial"/>
                          <a:hlinkClick r:id="rId8">
                            <a:extLst>
                              <a:ext uri="{A12FA001-AC4F-418D-AE19-62706E023703}">
                                <ahyp:hlinkClr xmlns:ahyp="http://schemas.microsoft.com/office/drawing/2018/hyperlinkcolor" val="tx"/>
                              </a:ext>
                            </a:extLst>
                          </a:hlinkClick>
                        </a:rPr>
                        <a:t>Redesign Work to Achieve AI Value</a:t>
                      </a:r>
                      <a:endParaRPr sz="900">
                        <a:solidFill>
                          <a:srgbClr val="000000"/>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extLst>
                  <a:ext uri="{0D108BD9-81ED-4DB2-BD59-A6C34878D82A}">
                    <a16:rowId xmlns:a16="http://schemas.microsoft.com/office/drawing/2014/main" val="208485627"/>
                  </a:ext>
                </a:extLst>
              </a:tr>
              <a:tr h="546679">
                <a:tc>
                  <a:txBody>
                    <a:bodyPr/>
                    <a:lstStyle/>
                    <a:p>
                      <a:pPr marL="0" marR="0" lvl="0" indent="0" algn="l" rtl="0">
                        <a:spcBef>
                          <a:spcPts val="0"/>
                        </a:spcBef>
                        <a:spcAft>
                          <a:spcPts val="0"/>
                        </a:spcAft>
                        <a:buNone/>
                      </a:pPr>
                      <a:r>
                        <a:rPr lang="en-US" sz="900" b="1" i="0">
                          <a:solidFill>
                            <a:schemeClr val="dk1"/>
                          </a:solidFill>
                          <a:latin typeface="+mn-lt"/>
                          <a:ea typeface="Arial"/>
                          <a:cs typeface="Arial"/>
                          <a:sym typeface="Arial"/>
                        </a:rPr>
                        <a:t>Plan and document</a:t>
                      </a:r>
                      <a:br>
                        <a:rPr lang="en-US" sz="900" b="1" i="0">
                          <a:solidFill>
                            <a:schemeClr val="dk1"/>
                          </a:solidFill>
                          <a:latin typeface="+mn-lt"/>
                          <a:ea typeface="Arial"/>
                          <a:cs typeface="Arial"/>
                          <a:sym typeface="Arial"/>
                        </a:rPr>
                      </a:br>
                      <a:r>
                        <a:rPr lang="en-US" sz="900" b="1" i="0">
                          <a:solidFill>
                            <a:schemeClr val="dk1"/>
                          </a:solidFill>
                          <a:latin typeface="+mn-lt"/>
                          <a:ea typeface="Arial"/>
                          <a:cs typeface="Arial"/>
                          <a:sym typeface="Arial"/>
                        </a:rPr>
                        <a:t>workflows for human effort and dependency</a:t>
                      </a:r>
                      <a:endParaRPr lang="en-US" sz="900" b="1">
                        <a:latin typeface="+mn-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tc>
                  <a:txBody>
                    <a:bodyPr/>
                    <a:lstStyle/>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Agree together with your process owners (including key stakeholders such as HR team members, customers, data owners) on the HR processes in scope of the documenting.</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Map the workflow in scope to develop a thorough understanding of its key components (e.g., process steps for HR roles and customers involved as well as key customer touchpoints and human dependency).</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Use your mapped process to investigate the inefficiencies and quality and to collect feedback from customers who are affected by the process on key pain points while interacting with HR across key moments.</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Analyze both HR’s and customers’ expectations and preferences to clearly articulate which process-specific challenges need to be solved and how the ideal experience of the selected HR processes would look including human effort and dependency.</a:t>
                      </a:r>
                      <a:endParaRPr sz="900" dirty="0">
                        <a:solidFill>
                          <a:srgbClr val="000000"/>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tc>
                  <a:txBody>
                    <a:bodyPr/>
                    <a:lstStyle/>
                    <a:p>
                      <a:pPr marL="0" marR="0" lvl="0" indent="0" algn="l" rtl="0">
                        <a:lnSpc>
                          <a:spcPct val="100000"/>
                        </a:lnSpc>
                        <a:spcBef>
                          <a:spcPts val="0"/>
                        </a:spcBef>
                        <a:spcAft>
                          <a:spcPts val="0"/>
                        </a:spcAft>
                        <a:buClr>
                          <a:schemeClr val="dk1"/>
                        </a:buClr>
                        <a:buSzPts val="1050"/>
                        <a:buFont typeface="Arial"/>
                        <a:buNone/>
                      </a:pPr>
                      <a:r>
                        <a:rPr lang="en-US" sz="900" u="sng">
                          <a:solidFill>
                            <a:schemeClr val="dk1"/>
                          </a:solidFill>
                          <a:latin typeface="+mn-lt"/>
                          <a:ea typeface="Arial"/>
                          <a:cs typeface="Arial"/>
                          <a:sym typeface="Arial"/>
                          <a:hlinkClick r:id="rId9">
                            <a:extLst>
                              <a:ext uri="{A12FA001-AC4F-418D-AE19-62706E023703}">
                                <ahyp:hlinkClr xmlns:ahyp="http://schemas.microsoft.com/office/drawing/2018/hyperlinkcolor" val="tx"/>
                              </a:ext>
                            </a:extLst>
                          </a:hlinkClick>
                        </a:rPr>
                        <a:t>Tool: HR Process Redesign Methodology</a:t>
                      </a:r>
                      <a:endParaRPr sz="900">
                        <a:solidFill>
                          <a:srgbClr val="000000"/>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extLst>
                  <a:ext uri="{0D108BD9-81ED-4DB2-BD59-A6C34878D82A}">
                    <a16:rowId xmlns:a16="http://schemas.microsoft.com/office/drawing/2014/main" val="10002"/>
                  </a:ext>
                </a:extLst>
              </a:tr>
              <a:tr h="624011">
                <a:tc>
                  <a:txBody>
                    <a:bodyPr/>
                    <a:lstStyle/>
                    <a:p>
                      <a:pPr marL="0" marR="0" lvl="0" indent="0" algn="l" rtl="0">
                        <a:spcBef>
                          <a:spcPts val="0"/>
                        </a:spcBef>
                        <a:spcAft>
                          <a:spcPts val="0"/>
                        </a:spcAft>
                        <a:buNone/>
                      </a:pPr>
                      <a:r>
                        <a:rPr lang="en-US" sz="900" b="1" i="0">
                          <a:solidFill>
                            <a:schemeClr val="dk1"/>
                          </a:solidFill>
                          <a:latin typeface="+mn-lt"/>
                          <a:ea typeface="Arial"/>
                          <a:cs typeface="Arial"/>
                          <a:sym typeface="Arial"/>
                        </a:rPr>
                        <a:t>Preserve human interactions for high-impact moments</a:t>
                      </a:r>
                      <a:endParaRPr lang="en-US" sz="900" b="1">
                        <a:latin typeface="+mn-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28575" cap="flat" cmpd="sng" algn="ctr">
                      <a:solidFill>
                        <a:srgbClr val="707996"/>
                      </a:solidFill>
                      <a:prstDash val="solid"/>
                      <a:round/>
                      <a:headEnd type="none" w="med" len="med"/>
                      <a:tailEnd type="none" w="med" len="med"/>
                    </a:lnB>
                  </a:tcPr>
                </a:tc>
                <a:tc>
                  <a:txBody>
                    <a:bodyPr/>
                    <a:lstStyle/>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Create criteria for when a human interaction is critical in HR’s products and services.</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Assess all HR value streams to identify moments that matter when a human interaction will be critical.</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Set guardrails to protect identified human interaction moments.</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Plan for ripple effect new human interactions that arise from AI being embedded in products and workflows.</a:t>
                      </a:r>
                      <a:endParaRPr sz="900" dirty="0">
                        <a:latin typeface="+mn-lt"/>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28575" cap="flat" cmpd="sng" algn="ctr">
                      <a:solidFill>
                        <a:srgbClr val="707996"/>
                      </a:solidFill>
                      <a:prstDash val="solid"/>
                      <a:round/>
                      <a:headEnd type="none" w="med" len="med"/>
                      <a:tailEnd type="none" w="med" len="med"/>
                    </a:lnB>
                  </a:tcPr>
                </a:tc>
                <a:tc>
                  <a:txBody>
                    <a:bodyPr/>
                    <a:lstStyle/>
                    <a:p>
                      <a:pPr marL="0" marR="0" lvl="0" indent="0" algn="l" rtl="0">
                        <a:spcBef>
                          <a:spcPts val="0"/>
                        </a:spcBef>
                        <a:spcAft>
                          <a:spcPts val="0"/>
                        </a:spcAft>
                        <a:buNone/>
                      </a:pPr>
                      <a:r>
                        <a:rPr lang="en-US" sz="900" u="sng" dirty="0">
                          <a:solidFill>
                            <a:srgbClr val="000000"/>
                          </a:solidFill>
                          <a:latin typeface="+mn-lt"/>
                          <a:ea typeface="Arial"/>
                          <a:cs typeface="Arial"/>
                          <a:sym typeface="Arial"/>
                          <a:hlinkClick r:id="rId10">
                            <a:extLst>
                              <a:ext uri="{A12FA001-AC4F-418D-AE19-62706E023703}">
                                <ahyp:hlinkClr xmlns:ahyp="http://schemas.microsoft.com/office/drawing/2018/hyperlinkcolor" val="tx"/>
                              </a:ext>
                            </a:extLst>
                          </a:hlinkClick>
                        </a:rPr>
                        <a:t>What Kind of Work Still Matters in the Age of AI?</a:t>
                      </a:r>
                      <a:r>
                        <a:rPr lang="en-US" sz="900" dirty="0">
                          <a:solidFill>
                            <a:srgbClr val="000000"/>
                          </a:solidFill>
                          <a:latin typeface="+mn-lt"/>
                          <a:ea typeface="Arial"/>
                          <a:cs typeface="Arial"/>
                          <a:sym typeface="Arial"/>
                        </a:rPr>
                        <a:t>, </a:t>
                      </a:r>
                      <a:r>
                        <a:rPr lang="en-US" sz="900" u="sng" dirty="0">
                          <a:solidFill>
                            <a:srgbClr val="000000"/>
                          </a:solidFill>
                          <a:latin typeface="+mn-lt"/>
                          <a:ea typeface="Arial"/>
                          <a:cs typeface="Arial"/>
                          <a:sym typeface="Arial"/>
                          <a:hlinkClick r:id="rId11">
                            <a:extLst>
                              <a:ext uri="{A12FA001-AC4F-418D-AE19-62706E023703}">
                                <ahyp:hlinkClr xmlns:ahyp="http://schemas.microsoft.com/office/drawing/2018/hyperlinkcolor" val="tx"/>
                              </a:ext>
                            </a:extLst>
                          </a:hlinkClick>
                        </a:rPr>
                        <a:t>AI’s Ripple Effect on Jobs and Organizations</a:t>
                      </a:r>
                      <a:endParaRPr sz="900" b="0" i="0" dirty="0">
                        <a:solidFill>
                          <a:schemeClr val="dk1"/>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28575" cap="flat" cmpd="sng" algn="ctr">
                      <a:solidFill>
                        <a:srgbClr val="70799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7705168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C4BA0-89A2-2853-8102-C2AFF719D9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1821AE-10CF-1A35-4866-A32D997C49D6}"/>
              </a:ext>
            </a:extLst>
          </p:cNvPr>
          <p:cNvSpPr>
            <a:spLocks noGrp="1"/>
          </p:cNvSpPr>
          <p:nvPr>
            <p:ph type="title"/>
          </p:nvPr>
        </p:nvSpPr>
        <p:spPr/>
        <p:txBody>
          <a:bodyPr/>
          <a:lstStyle/>
          <a:p>
            <a:r>
              <a:rPr lang="en-US"/>
              <a:t>AI Impact on Work for HR Function: Detailed Activities (2 of 2)</a:t>
            </a:r>
          </a:p>
        </p:txBody>
      </p:sp>
      <p:graphicFrame>
        <p:nvGraphicFramePr>
          <p:cNvPr id="3" name="Google Shape;513;p11">
            <a:extLst>
              <a:ext uri="{FF2B5EF4-FFF2-40B4-BE49-F238E27FC236}">
                <a16:creationId xmlns:a16="http://schemas.microsoft.com/office/drawing/2014/main" id="{509C4277-5969-6330-192E-5A3EA4F8169E}"/>
              </a:ext>
            </a:extLst>
          </p:cNvPr>
          <p:cNvGraphicFramePr/>
          <p:nvPr>
            <p:extLst>
              <p:ext uri="{D42A27DB-BD31-4B8C-83A1-F6EECF244321}">
                <p14:modId xmlns:p14="http://schemas.microsoft.com/office/powerpoint/2010/main" val="1887986359"/>
              </p:ext>
            </p:extLst>
          </p:nvPr>
        </p:nvGraphicFramePr>
        <p:xfrm>
          <a:off x="474896" y="947138"/>
          <a:ext cx="11256855" cy="4873233"/>
        </p:xfrm>
        <a:graphic>
          <a:graphicData uri="http://schemas.openxmlformats.org/drawingml/2006/table">
            <a:tbl>
              <a:tblPr>
                <a:noFill/>
              </a:tblPr>
              <a:tblGrid>
                <a:gridCol w="1543475">
                  <a:extLst>
                    <a:ext uri="{9D8B030D-6E8A-4147-A177-3AD203B41FA5}">
                      <a16:colId xmlns:a16="http://schemas.microsoft.com/office/drawing/2014/main" val="20000"/>
                    </a:ext>
                  </a:extLst>
                </a:gridCol>
                <a:gridCol w="7680433">
                  <a:extLst>
                    <a:ext uri="{9D8B030D-6E8A-4147-A177-3AD203B41FA5}">
                      <a16:colId xmlns:a16="http://schemas.microsoft.com/office/drawing/2014/main" val="20001"/>
                    </a:ext>
                  </a:extLst>
                </a:gridCol>
                <a:gridCol w="2032947">
                  <a:extLst>
                    <a:ext uri="{9D8B030D-6E8A-4147-A177-3AD203B41FA5}">
                      <a16:colId xmlns:a16="http://schemas.microsoft.com/office/drawing/2014/main" val="20002"/>
                    </a:ext>
                  </a:extLst>
                </a:gridCol>
              </a:tblGrid>
              <a:tr h="357321">
                <a:tc>
                  <a:txBody>
                    <a:bodyPr/>
                    <a:lstStyle/>
                    <a:p>
                      <a:pPr marL="0" marR="0" lvl="0" indent="0" algn="l" rtl="0">
                        <a:spcBef>
                          <a:spcPts val="0"/>
                        </a:spcBef>
                        <a:spcAft>
                          <a:spcPts val="0"/>
                        </a:spcAft>
                        <a:buNone/>
                      </a:pPr>
                      <a:r>
                        <a:rPr lang="en-US" sz="900" b="1" i="0" u="none" strike="noStrike" cap="none">
                          <a:solidFill>
                            <a:schemeClr val="lt2"/>
                          </a:solidFill>
                          <a:latin typeface="+mj-lt"/>
                          <a:ea typeface="Arial"/>
                          <a:cs typeface="Arial"/>
                          <a:sym typeface="Arial"/>
                        </a:rPr>
                        <a:t>Activity</a:t>
                      </a:r>
                      <a:endParaRPr sz="900" b="1" i="0">
                        <a:solidFill>
                          <a:schemeClr val="lt2"/>
                        </a:solidFill>
                        <a:latin typeface="+mj-lt"/>
                        <a:ea typeface="Arial"/>
                        <a:cs typeface="Arial"/>
                        <a:sym typeface="Arial"/>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28575"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1F96FF"/>
                    </a:solidFill>
                  </a:tcPr>
                </a:tc>
                <a:tc>
                  <a:txBody>
                    <a:bodyPr/>
                    <a:lstStyle/>
                    <a:p>
                      <a:pPr marL="0" marR="0" lvl="0" indent="0" algn="l" rtl="0">
                        <a:spcBef>
                          <a:spcPts val="0"/>
                        </a:spcBef>
                        <a:spcAft>
                          <a:spcPts val="0"/>
                        </a:spcAft>
                        <a:buNone/>
                      </a:pPr>
                      <a:r>
                        <a:rPr lang="en-US" sz="900" b="1" i="0">
                          <a:solidFill>
                            <a:schemeClr val="lt2"/>
                          </a:solidFill>
                          <a:latin typeface="+mj-lt"/>
                          <a:ea typeface="Arial"/>
                          <a:cs typeface="Arial"/>
                          <a:sym typeface="Arial"/>
                        </a:rPr>
                        <a:t>Steps</a:t>
                      </a:r>
                      <a:endParaRPr sz="900" b="1" i="0">
                        <a:solidFill>
                          <a:schemeClr val="lt2"/>
                        </a:solidFill>
                        <a:latin typeface="+mj-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28575"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1F96FF"/>
                    </a:solidFill>
                  </a:tcPr>
                </a:tc>
                <a:tc>
                  <a:txBody>
                    <a:bodyPr/>
                    <a:lstStyle/>
                    <a:p>
                      <a:pPr marL="0" marR="0" lvl="0" indent="0" algn="l" rtl="0">
                        <a:spcBef>
                          <a:spcPts val="0"/>
                        </a:spcBef>
                        <a:spcAft>
                          <a:spcPts val="0"/>
                        </a:spcAft>
                        <a:buNone/>
                      </a:pPr>
                      <a:r>
                        <a:rPr lang="en-US" sz="900" b="1" i="0">
                          <a:solidFill>
                            <a:schemeClr val="lt2"/>
                          </a:solidFill>
                          <a:latin typeface="+mj-lt"/>
                          <a:ea typeface="Arial"/>
                          <a:cs typeface="Arial"/>
                          <a:sym typeface="Arial"/>
                        </a:rPr>
                        <a:t>Supporting resources</a:t>
                      </a:r>
                      <a:endParaRPr sz="900" b="1" i="0">
                        <a:solidFill>
                          <a:schemeClr val="lt2"/>
                        </a:solidFill>
                        <a:latin typeface="+mj-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28575"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1F96FF"/>
                    </a:solidFill>
                  </a:tcPr>
                </a:tc>
                <a:extLst>
                  <a:ext uri="{0D108BD9-81ED-4DB2-BD59-A6C34878D82A}">
                    <a16:rowId xmlns:a16="http://schemas.microsoft.com/office/drawing/2014/main" val="10000"/>
                  </a:ext>
                </a:extLst>
              </a:tr>
              <a:tr h="1275722">
                <a:tc>
                  <a:txBody>
                    <a:bodyPr/>
                    <a:lstStyle/>
                    <a:p>
                      <a:pPr marL="0" marR="0" lvl="0" indent="0" algn="l" rtl="0">
                        <a:spcBef>
                          <a:spcPts val="0"/>
                        </a:spcBef>
                        <a:spcAft>
                          <a:spcPts val="0"/>
                        </a:spcAft>
                        <a:buNone/>
                      </a:pPr>
                      <a:r>
                        <a:rPr lang="en-US" sz="900" b="0" i="0">
                          <a:solidFill>
                            <a:schemeClr val="dk1"/>
                          </a:solidFill>
                          <a:latin typeface="+mj-lt"/>
                          <a:ea typeface="Arial"/>
                          <a:cs typeface="Arial"/>
                          <a:sym typeface="Arial"/>
                        </a:rPr>
                        <a:t>Redesign specific HR jobs and teams for new AI-enabled value streams</a:t>
                      </a:r>
                      <a:endParaRPr lang="en-US" sz="900" b="0">
                        <a:latin typeface="+mj-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tc>
                  <a:txBody>
                    <a:bodyPr/>
                    <a:lstStyle/>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Stand up temporary fusion teams accountable for </a:t>
                      </a:r>
                      <a:r>
                        <a:rPr lang="en-US" sz="900" i="1" dirty="0">
                          <a:solidFill>
                            <a:srgbClr val="000000"/>
                          </a:solidFill>
                          <a:latin typeface="+mn-lt"/>
                          <a:ea typeface="Arial"/>
                          <a:cs typeface="Arial"/>
                          <a:sym typeface="Arial"/>
                        </a:rPr>
                        <a:t>creating</a:t>
                      </a:r>
                      <a:r>
                        <a:rPr lang="en-US" sz="900" dirty="0">
                          <a:solidFill>
                            <a:srgbClr val="000000"/>
                          </a:solidFill>
                          <a:latin typeface="+mn-lt"/>
                          <a:ea typeface="Arial"/>
                          <a:cs typeface="Arial"/>
                          <a:sym typeface="Arial"/>
                        </a:rPr>
                        <a:t> new human-AI value streams. They will follow product management ways of working.</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Formalize fusion teams into standing teams (which will be your new COEs) once new human-AI value streams are sufficiently established. </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Map the key tasks of HR jobs, and track which tasks remain with humans, are delivered jointly buy humans and AI, and move to being done by AI.</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Update job expectations for HR roles once the tasks have change sufficiently.</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Map skills changes for updated jobs: track enduring skills, skills that will atrophy and emerging skills. Identify the skills atrophying that will be risky moving forward.</a:t>
                      </a:r>
                      <a:endParaRPr sz="900" dirty="0">
                        <a:latin typeface="+mn-lt"/>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tc>
                  <a:txBody>
                    <a:bodyPr/>
                    <a:lstStyle/>
                    <a:p>
                      <a:pPr marL="0" marR="0" lvl="0" indent="0" algn="l" rtl="0">
                        <a:spcBef>
                          <a:spcPts val="300"/>
                        </a:spcBef>
                        <a:spcAft>
                          <a:spcPts val="0"/>
                        </a:spcAft>
                        <a:buNone/>
                      </a:pPr>
                      <a:r>
                        <a:rPr lang="en-US" sz="900" u="sng" dirty="0">
                          <a:solidFill>
                            <a:srgbClr val="000000"/>
                          </a:solidFill>
                          <a:latin typeface="+mn-lt"/>
                          <a:ea typeface="Arial"/>
                          <a:cs typeface="Arial"/>
                          <a:sym typeface="Arial"/>
                          <a:hlinkClick r:id="rId2">
                            <a:extLst>
                              <a:ext uri="{A12FA001-AC4F-418D-AE19-62706E023703}">
                                <ahyp:hlinkClr xmlns:ahyp="http://schemas.microsoft.com/office/drawing/2018/hyperlinkcolor" val="tx"/>
                              </a:ext>
                            </a:extLst>
                          </a:hlinkClick>
                        </a:rPr>
                        <a:t>Case Study: Redesign Work Processes to Unlock GenAI Transformation</a:t>
                      </a:r>
                      <a:r>
                        <a:rPr lang="en-US" sz="900" dirty="0">
                          <a:solidFill>
                            <a:srgbClr val="000000"/>
                          </a:solidFill>
                          <a:latin typeface="+mn-lt"/>
                          <a:ea typeface="Arial"/>
                          <a:cs typeface="Arial"/>
                          <a:sym typeface="Arial"/>
                        </a:rPr>
                        <a:t>, </a:t>
                      </a:r>
                      <a:r>
                        <a:rPr lang="en-US" sz="900" u="sng" dirty="0">
                          <a:solidFill>
                            <a:srgbClr val="000000"/>
                          </a:solidFill>
                          <a:latin typeface="+mn-lt"/>
                          <a:ea typeface="Arial"/>
                          <a:cs typeface="Arial"/>
                          <a:sym typeface="Arial"/>
                          <a:hlinkClick r:id="rId3">
                            <a:extLst>
                              <a:ext uri="{A12FA001-AC4F-418D-AE19-62706E023703}">
                                <ahyp:hlinkClr xmlns:ahyp="http://schemas.microsoft.com/office/drawing/2018/hyperlinkcolor" val="tx"/>
                              </a:ext>
                            </a:extLst>
                          </a:hlinkClick>
                        </a:rPr>
                        <a:t>Case Study: Human-Centric AI Talent Roadmap (Red Hat)</a:t>
                      </a:r>
                      <a:endParaRPr sz="900" b="0" i="0" dirty="0">
                        <a:solidFill>
                          <a:schemeClr val="dk1"/>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extLst>
                  <a:ext uri="{0D108BD9-81ED-4DB2-BD59-A6C34878D82A}">
                    <a16:rowId xmlns:a16="http://schemas.microsoft.com/office/drawing/2014/main" val="10001"/>
                  </a:ext>
                </a:extLst>
              </a:tr>
              <a:tr h="1191397">
                <a:tc>
                  <a:txBody>
                    <a:bodyPr/>
                    <a:lstStyle/>
                    <a:p>
                      <a:pPr marL="0" marR="0" lvl="0" indent="0" algn="l" rtl="0">
                        <a:spcBef>
                          <a:spcPts val="0"/>
                        </a:spcBef>
                        <a:spcAft>
                          <a:spcPts val="0"/>
                        </a:spcAft>
                        <a:buNone/>
                      </a:pPr>
                      <a:r>
                        <a:rPr lang="en-US" sz="900" b="0" i="0">
                          <a:solidFill>
                            <a:schemeClr val="dk1"/>
                          </a:solidFill>
                          <a:latin typeface="+mj-lt"/>
                          <a:ea typeface="Arial"/>
                          <a:cs typeface="Arial"/>
                          <a:sym typeface="Arial"/>
                        </a:rPr>
                        <a:t>Adopt dynamic work redesign to capture emerging value</a:t>
                      </a:r>
                      <a:endParaRPr lang="en-US" sz="900" b="0">
                        <a:latin typeface="+mj-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tc>
                  <a:txBody>
                    <a:bodyPr/>
                    <a:lstStyle/>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Assign accountability for ongoing evaluation to a standing team, with a defined cadence of review (e.g., quarterly).</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Set triggers for prompting reviews of processes, jobs and team structures to replace the set review cadence (example triggers: notable upgrades in AI technology at your enterprise; promising experimentation within the function;  changes to HR’s products; rise in work friction).</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Standardize your function’s trigger evaluation process for enacting changes to processes, jobs and/or team structures.</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Standardize your function’s playbook for updating processes, jobs and/or team structures in response to a valid trigger.</a:t>
                      </a:r>
                      <a:endParaRPr sz="900" dirty="0">
                        <a:latin typeface="+mn-lt"/>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tc>
                  <a:txBody>
                    <a:bodyPr/>
                    <a:lstStyle/>
                    <a:p>
                      <a:pPr marL="0" marR="0" lvl="0" indent="0" algn="l" defTabSz="914400" rtl="0" eaLnBrk="1" latinLnBrk="0" hangingPunct="1">
                        <a:lnSpc>
                          <a:spcPct val="90000"/>
                        </a:lnSpc>
                        <a:spcBef>
                          <a:spcPts val="300"/>
                        </a:spcBef>
                        <a:spcAft>
                          <a:spcPts val="0"/>
                        </a:spcAft>
                        <a:buNone/>
                      </a:pPr>
                      <a:r>
                        <a:rPr lang="en-US" sz="900" u="sng" kern="1200" dirty="0">
                          <a:solidFill>
                            <a:srgbClr val="000000"/>
                          </a:solidFill>
                          <a:latin typeface="+mn-lt"/>
                          <a:ea typeface="Arial"/>
                          <a:cs typeface="Arial"/>
                          <a:sym typeface="Arial"/>
                          <a:hlinkClick r:id="rId4">
                            <a:extLst>
                              <a:ext uri="{A12FA001-AC4F-418D-AE19-62706E023703}">
                                <ahyp:hlinkClr xmlns:ahyp="http://schemas.microsoft.com/office/drawing/2018/hyperlinkcolor" val="tx"/>
                              </a:ext>
                            </a:extLst>
                          </a:hlinkClick>
                        </a:rPr>
                        <a:t>Redesign Work to Achieve AI Value</a:t>
                      </a:r>
                      <a:r>
                        <a:rPr lang="en-US" sz="900" u="sng" kern="1200" dirty="0">
                          <a:solidFill>
                            <a:srgbClr val="000000"/>
                          </a:solidFill>
                          <a:latin typeface="+mn-lt"/>
                          <a:ea typeface="Arial"/>
                          <a:cs typeface="Arial"/>
                          <a:sym typeface="Arial"/>
                        </a:rPr>
                        <a:t>, </a:t>
                      </a:r>
                      <a:r>
                        <a:rPr lang="en-US" sz="900" u="sng" kern="1200" dirty="0">
                          <a:solidFill>
                            <a:srgbClr val="000000"/>
                          </a:solidFill>
                          <a:latin typeface="+mn-lt"/>
                          <a:ea typeface="Arial"/>
                          <a:cs typeface="Arial"/>
                          <a:sym typeface="Arial"/>
                          <a:hlinkClick r:id="rId5">
                            <a:extLst>
                              <a:ext uri="{A12FA001-AC4F-418D-AE19-62706E023703}">
                                <ahyp:hlinkClr xmlns:ahyp="http://schemas.microsoft.com/office/drawing/2018/hyperlinkcolor" val="tx"/>
                              </a:ext>
                            </a:extLst>
                          </a:hlinkClick>
                        </a:rPr>
                        <a:t>Case Study: Continuous Improvement Process for Digital HR Transformation</a:t>
                      </a:r>
                      <a:endParaRPr sz="900" u="sng" kern="1200" dirty="0">
                        <a:solidFill>
                          <a:srgbClr val="000000"/>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extLst>
                  <a:ext uri="{0D108BD9-81ED-4DB2-BD59-A6C34878D82A}">
                    <a16:rowId xmlns:a16="http://schemas.microsoft.com/office/drawing/2014/main" val="939464923"/>
                  </a:ext>
                </a:extLst>
              </a:tr>
              <a:tr h="829421">
                <a:tc>
                  <a:txBody>
                    <a:bodyPr/>
                    <a:lstStyle/>
                    <a:p>
                      <a:pPr marL="0" marR="0" lvl="0" indent="0" algn="l" rtl="0">
                        <a:spcBef>
                          <a:spcPts val="0"/>
                        </a:spcBef>
                        <a:spcAft>
                          <a:spcPts val="0"/>
                        </a:spcAft>
                        <a:buNone/>
                      </a:pPr>
                      <a:r>
                        <a:rPr lang="en-US" sz="900" b="0" i="0">
                          <a:solidFill>
                            <a:schemeClr val="dk1"/>
                          </a:solidFill>
                          <a:latin typeface="+mj-lt"/>
                          <a:ea typeface="Arial"/>
                          <a:cs typeface="Arial"/>
                          <a:sym typeface="Arial"/>
                        </a:rPr>
                        <a:t>Transform the HR operating model by deploying latest AI solutions</a:t>
                      </a:r>
                      <a:endParaRPr lang="en-US" sz="900" b="0">
                        <a:latin typeface="+mj-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tc>
                  <a:txBody>
                    <a:bodyPr/>
                    <a:lstStyle/>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Create a HR Innovation Command Center team responsible for the function’s innovations.</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Build/buy your HR staff’s aggregate data &amp; digital savviness so the function can deliver new digital HR products more quickly.</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Restructure HR’s </a:t>
                      </a:r>
                      <a:r>
                        <a:rPr lang="en-US" sz="900" dirty="0" err="1">
                          <a:solidFill>
                            <a:srgbClr val="000000"/>
                          </a:solidFill>
                          <a:latin typeface="+mn-lt"/>
                          <a:ea typeface="Arial"/>
                          <a:cs typeface="Arial"/>
                          <a:sym typeface="Arial"/>
                        </a:rPr>
                        <a:t>CoE</a:t>
                      </a:r>
                      <a:r>
                        <a:rPr lang="en-US" sz="900" dirty="0">
                          <a:solidFill>
                            <a:srgbClr val="000000"/>
                          </a:solidFill>
                          <a:latin typeface="+mn-lt"/>
                          <a:ea typeface="Arial"/>
                          <a:cs typeface="Arial"/>
                          <a:sym typeface="Arial"/>
                        </a:rPr>
                        <a:t> teams  as fusion teams focused on delivering high-quality value streams/products.</a:t>
                      </a:r>
                      <a:endParaRPr sz="900" dirty="0">
                        <a:latin typeface="+mn-lt"/>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tc>
                  <a:txBody>
                    <a:bodyPr/>
                    <a:lstStyle/>
                    <a:p>
                      <a:pPr marL="0" marR="0" lvl="0" indent="0" algn="l" rtl="0">
                        <a:lnSpc>
                          <a:spcPct val="100000"/>
                        </a:lnSpc>
                        <a:spcBef>
                          <a:spcPts val="300"/>
                        </a:spcBef>
                        <a:spcAft>
                          <a:spcPts val="0"/>
                        </a:spcAft>
                        <a:buClr>
                          <a:srgbClr val="000000"/>
                        </a:buClr>
                        <a:buSzPts val="1050"/>
                        <a:buFont typeface="Arial"/>
                        <a:buNone/>
                      </a:pPr>
                      <a:r>
                        <a:rPr lang="en-US" sz="900" u="sng">
                          <a:solidFill>
                            <a:srgbClr val="000000"/>
                          </a:solidFill>
                          <a:latin typeface="+mn-lt"/>
                          <a:ea typeface="Arial"/>
                          <a:cs typeface="Arial"/>
                          <a:sym typeface="Arial"/>
                          <a:hlinkClick r:id="rId6">
                            <a:extLst>
                              <a:ext uri="{A12FA001-AC4F-418D-AE19-62706E023703}">
                                <ahyp:hlinkClr xmlns:ahyp="http://schemas.microsoft.com/office/drawing/2018/hyperlinkcolor" val="tx"/>
                              </a:ext>
                            </a:extLst>
                          </a:hlinkClick>
                        </a:rPr>
                        <a:t>The Impact of AI on the HR Operating Model</a:t>
                      </a:r>
                      <a:endParaRPr sz="900">
                        <a:solidFill>
                          <a:srgbClr val="000000"/>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extLst>
                  <a:ext uri="{0D108BD9-81ED-4DB2-BD59-A6C34878D82A}">
                    <a16:rowId xmlns:a16="http://schemas.microsoft.com/office/drawing/2014/main" val="208485627"/>
                  </a:ext>
                </a:extLst>
              </a:tr>
              <a:tr h="1219372">
                <a:tc>
                  <a:txBody>
                    <a:bodyPr/>
                    <a:lstStyle/>
                    <a:p>
                      <a:pPr marL="0" marR="0" lvl="0" indent="0" algn="l" rtl="0">
                        <a:spcBef>
                          <a:spcPts val="0"/>
                        </a:spcBef>
                        <a:spcAft>
                          <a:spcPts val="0"/>
                        </a:spcAft>
                        <a:buNone/>
                      </a:pPr>
                      <a:r>
                        <a:rPr lang="en-US" sz="900" b="0" i="0">
                          <a:solidFill>
                            <a:schemeClr val="dk1"/>
                          </a:solidFill>
                          <a:latin typeface="+mj-lt"/>
                          <a:ea typeface="Arial"/>
                          <a:cs typeface="Arial"/>
                          <a:sym typeface="Arial"/>
                        </a:rPr>
                        <a:t>Develop new HR products/services beyond the boundaries</a:t>
                      </a:r>
                      <a:br>
                        <a:rPr lang="en-US" sz="900" b="0" i="0">
                          <a:solidFill>
                            <a:schemeClr val="dk1"/>
                          </a:solidFill>
                          <a:latin typeface="+mj-lt"/>
                          <a:ea typeface="Arial"/>
                          <a:cs typeface="Arial"/>
                          <a:sym typeface="Arial"/>
                        </a:rPr>
                      </a:br>
                      <a:r>
                        <a:rPr lang="en-US" sz="900" b="0" i="0">
                          <a:solidFill>
                            <a:schemeClr val="dk1"/>
                          </a:solidFill>
                          <a:latin typeface="+mj-lt"/>
                          <a:ea typeface="Arial"/>
                          <a:cs typeface="Arial"/>
                          <a:sym typeface="Arial"/>
                        </a:rPr>
                        <a:t>of the HR function</a:t>
                      </a:r>
                      <a:endParaRPr lang="en-US" sz="900" b="0">
                        <a:latin typeface="+mj-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28575" cap="flat" cmpd="sng" algn="ctr">
                      <a:solidFill>
                        <a:srgbClr val="707996"/>
                      </a:solidFill>
                      <a:prstDash val="solid"/>
                      <a:round/>
                      <a:headEnd type="none" w="med" len="med"/>
                      <a:tailEnd type="none" w="med" len="med"/>
                    </a:lnB>
                    <a:solidFill>
                      <a:srgbClr val="E0F1FF"/>
                    </a:solidFill>
                  </a:tcPr>
                </a:tc>
                <a:tc>
                  <a:txBody>
                    <a:bodyPr/>
                    <a:lstStyle/>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Establish core HR products as platform services that different parts of the business can avail of and personalize.</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Embed core HR digital products within broader employee interfaces comprising services from all corporate functions.</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Create HR “patches” that can be embedded within AI tools being built across the enterprise.</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Run innovation labs to test and scale new AI based HR products and services while stopping solutions not driving value to the enterprise.</a:t>
                      </a:r>
                      <a:endParaRPr sz="900" dirty="0">
                        <a:latin typeface="+mn-lt"/>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28575" cap="flat" cmpd="sng" algn="ctr">
                      <a:solidFill>
                        <a:srgbClr val="707996"/>
                      </a:solidFill>
                      <a:prstDash val="solid"/>
                      <a:round/>
                      <a:headEnd type="none" w="med" len="med"/>
                      <a:tailEnd type="none" w="med" len="med"/>
                    </a:lnB>
                    <a:solidFill>
                      <a:srgbClr val="E0F1FF"/>
                    </a:solidFill>
                  </a:tcPr>
                </a:tc>
                <a:tc>
                  <a:txBody>
                    <a:bodyPr/>
                    <a:lstStyle/>
                    <a:p>
                      <a:pPr marL="0" marR="0" lvl="0" indent="0" algn="l" rtl="0">
                        <a:lnSpc>
                          <a:spcPct val="100000"/>
                        </a:lnSpc>
                        <a:spcBef>
                          <a:spcPts val="300"/>
                        </a:spcBef>
                        <a:spcAft>
                          <a:spcPts val="0"/>
                        </a:spcAft>
                        <a:buClr>
                          <a:srgbClr val="000000"/>
                        </a:buClr>
                        <a:buSzPts val="1050"/>
                        <a:buFont typeface="Arial"/>
                        <a:buNone/>
                      </a:pPr>
                      <a:r>
                        <a:rPr lang="en-US" sz="900" u="sng" dirty="0">
                          <a:solidFill>
                            <a:srgbClr val="000000"/>
                          </a:solidFill>
                          <a:latin typeface="+mn-lt"/>
                          <a:ea typeface="Arial"/>
                          <a:cs typeface="Arial"/>
                          <a:sym typeface="Arial"/>
                          <a:hlinkClick r:id="rId7">
                            <a:extLst>
                              <a:ext uri="{A12FA001-AC4F-418D-AE19-62706E023703}">
                                <ahyp:hlinkClr xmlns:ahyp="http://schemas.microsoft.com/office/drawing/2018/hyperlinkcolor" val="tx"/>
                              </a:ext>
                            </a:extLst>
                          </a:hlinkClick>
                        </a:rPr>
                        <a:t>A CIO’s Guide to Platform Teams and Roles</a:t>
                      </a:r>
                      <a:r>
                        <a:rPr lang="en-US" sz="900" dirty="0">
                          <a:solidFill>
                            <a:srgbClr val="000000"/>
                          </a:solidFill>
                          <a:latin typeface="+mn-lt"/>
                          <a:ea typeface="Arial"/>
                          <a:cs typeface="Arial"/>
                          <a:sym typeface="Arial"/>
                        </a:rPr>
                        <a:t>, </a:t>
                      </a:r>
                      <a:r>
                        <a:rPr lang="en-US" sz="900" u="sng" dirty="0">
                          <a:solidFill>
                            <a:srgbClr val="000000"/>
                          </a:solidFill>
                          <a:latin typeface="+mn-lt"/>
                          <a:ea typeface="Arial"/>
                          <a:cs typeface="Arial"/>
                          <a:sym typeface="Arial"/>
                          <a:hlinkClick r:id="rId8">
                            <a:extLst>
                              <a:ext uri="{A12FA001-AC4F-418D-AE19-62706E023703}">
                                <ahyp:hlinkClr xmlns:ahyp="http://schemas.microsoft.com/office/drawing/2018/hyperlinkcolor" val="tx"/>
                              </a:ext>
                            </a:extLst>
                          </a:hlinkClick>
                        </a:rPr>
                        <a:t>HR’s Future Operating Model: What Capabilities Will Differentiate HR in an AI Era?</a:t>
                      </a:r>
                      <a:endParaRPr sz="900" dirty="0">
                        <a:solidFill>
                          <a:srgbClr val="000000"/>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28575" cap="flat" cmpd="sng" algn="ctr">
                      <a:solidFill>
                        <a:srgbClr val="707996"/>
                      </a:solidFill>
                      <a:prstDash val="solid"/>
                      <a:round/>
                      <a:headEnd type="none" w="med" len="med"/>
                      <a:tailEnd type="none" w="med" len="med"/>
                    </a:lnB>
                    <a:solidFill>
                      <a:srgbClr val="E0F1FF"/>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4146157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5061D-506F-2E36-3881-956052F52A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DFD5E7-39AB-BFD7-7D83-8F63F30A1599}"/>
              </a:ext>
            </a:extLst>
          </p:cNvPr>
          <p:cNvSpPr>
            <a:spLocks noGrp="1"/>
          </p:cNvSpPr>
          <p:nvPr>
            <p:ph type="title"/>
          </p:nvPr>
        </p:nvSpPr>
        <p:spPr/>
        <p:txBody>
          <a:bodyPr/>
          <a:lstStyle/>
          <a:p>
            <a:r>
              <a:rPr lang="en-US"/>
              <a:t>AI People and Culture for HR Function: Detailed Activities (1 of 2)</a:t>
            </a:r>
          </a:p>
        </p:txBody>
      </p:sp>
      <p:graphicFrame>
        <p:nvGraphicFramePr>
          <p:cNvPr id="3" name="Google Shape;513;p11">
            <a:extLst>
              <a:ext uri="{FF2B5EF4-FFF2-40B4-BE49-F238E27FC236}">
                <a16:creationId xmlns:a16="http://schemas.microsoft.com/office/drawing/2014/main" id="{893BB19A-5F44-DD46-A7CE-28B285C08F16}"/>
              </a:ext>
            </a:extLst>
          </p:cNvPr>
          <p:cNvGraphicFramePr/>
          <p:nvPr>
            <p:extLst>
              <p:ext uri="{D42A27DB-BD31-4B8C-83A1-F6EECF244321}">
                <p14:modId xmlns:p14="http://schemas.microsoft.com/office/powerpoint/2010/main" val="3298407668"/>
              </p:ext>
            </p:extLst>
          </p:nvPr>
        </p:nvGraphicFramePr>
        <p:xfrm>
          <a:off x="474896" y="947136"/>
          <a:ext cx="11256855" cy="4846089"/>
        </p:xfrm>
        <a:graphic>
          <a:graphicData uri="http://schemas.openxmlformats.org/drawingml/2006/table">
            <a:tbl>
              <a:tblPr>
                <a:noFill/>
              </a:tblPr>
              <a:tblGrid>
                <a:gridCol w="1343630">
                  <a:extLst>
                    <a:ext uri="{9D8B030D-6E8A-4147-A177-3AD203B41FA5}">
                      <a16:colId xmlns:a16="http://schemas.microsoft.com/office/drawing/2014/main" val="20000"/>
                    </a:ext>
                  </a:extLst>
                </a:gridCol>
                <a:gridCol w="7926365">
                  <a:extLst>
                    <a:ext uri="{9D8B030D-6E8A-4147-A177-3AD203B41FA5}">
                      <a16:colId xmlns:a16="http://schemas.microsoft.com/office/drawing/2014/main" val="20001"/>
                    </a:ext>
                  </a:extLst>
                </a:gridCol>
                <a:gridCol w="1986860">
                  <a:extLst>
                    <a:ext uri="{9D8B030D-6E8A-4147-A177-3AD203B41FA5}">
                      <a16:colId xmlns:a16="http://schemas.microsoft.com/office/drawing/2014/main" val="20002"/>
                    </a:ext>
                  </a:extLst>
                </a:gridCol>
              </a:tblGrid>
              <a:tr h="362005">
                <a:tc>
                  <a:txBody>
                    <a:bodyPr/>
                    <a:lstStyle/>
                    <a:p>
                      <a:pPr marL="0" marR="0" lvl="0" indent="0" algn="l" rtl="0">
                        <a:spcBef>
                          <a:spcPts val="0"/>
                        </a:spcBef>
                        <a:spcAft>
                          <a:spcPts val="0"/>
                        </a:spcAft>
                        <a:buNone/>
                      </a:pPr>
                      <a:r>
                        <a:rPr lang="en-US" sz="900" b="1" i="0" u="none" strike="noStrike" cap="none">
                          <a:solidFill>
                            <a:schemeClr val="lt2"/>
                          </a:solidFill>
                          <a:latin typeface="+mj-lt"/>
                          <a:ea typeface="Arial"/>
                          <a:cs typeface="Arial"/>
                          <a:sym typeface="Arial"/>
                        </a:rPr>
                        <a:t>Activity</a:t>
                      </a:r>
                      <a:endParaRPr sz="900" b="1" i="0">
                        <a:solidFill>
                          <a:schemeClr val="lt2"/>
                        </a:solidFill>
                        <a:latin typeface="+mj-lt"/>
                        <a:ea typeface="Arial"/>
                        <a:cs typeface="Arial"/>
                        <a:sym typeface="Arial"/>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28575"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9673BE"/>
                    </a:solidFill>
                  </a:tcPr>
                </a:tc>
                <a:tc>
                  <a:txBody>
                    <a:bodyPr/>
                    <a:lstStyle/>
                    <a:p>
                      <a:pPr marL="0" marR="0" lvl="0" indent="0" algn="l" rtl="0">
                        <a:spcBef>
                          <a:spcPts val="0"/>
                        </a:spcBef>
                        <a:spcAft>
                          <a:spcPts val="0"/>
                        </a:spcAft>
                        <a:buNone/>
                      </a:pPr>
                      <a:r>
                        <a:rPr lang="en-US" sz="900" b="1" i="0">
                          <a:solidFill>
                            <a:schemeClr val="lt2"/>
                          </a:solidFill>
                          <a:latin typeface="+mj-lt"/>
                          <a:ea typeface="Arial"/>
                          <a:cs typeface="Arial"/>
                          <a:sym typeface="Arial"/>
                        </a:rPr>
                        <a:t>Steps</a:t>
                      </a:r>
                      <a:endParaRPr sz="900" b="1" i="0">
                        <a:solidFill>
                          <a:schemeClr val="lt2"/>
                        </a:solidFill>
                        <a:latin typeface="+mj-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28575"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9673BE"/>
                    </a:solidFill>
                  </a:tcPr>
                </a:tc>
                <a:tc>
                  <a:txBody>
                    <a:bodyPr/>
                    <a:lstStyle/>
                    <a:p>
                      <a:pPr marL="0" marR="0" lvl="0" indent="0" algn="l" rtl="0">
                        <a:spcBef>
                          <a:spcPts val="0"/>
                        </a:spcBef>
                        <a:spcAft>
                          <a:spcPts val="0"/>
                        </a:spcAft>
                        <a:buNone/>
                      </a:pPr>
                      <a:r>
                        <a:rPr lang="en-US" sz="900" b="1" i="0">
                          <a:solidFill>
                            <a:schemeClr val="lt2"/>
                          </a:solidFill>
                          <a:latin typeface="+mj-lt"/>
                          <a:ea typeface="Arial"/>
                          <a:cs typeface="Arial"/>
                          <a:sym typeface="Arial"/>
                        </a:rPr>
                        <a:t>Supporting resources</a:t>
                      </a:r>
                      <a:endParaRPr sz="900" b="1" i="0">
                        <a:solidFill>
                          <a:schemeClr val="lt2"/>
                        </a:solidFill>
                        <a:latin typeface="+mj-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28575"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9673BE"/>
                    </a:solidFill>
                  </a:tcPr>
                </a:tc>
                <a:extLst>
                  <a:ext uri="{0D108BD9-81ED-4DB2-BD59-A6C34878D82A}">
                    <a16:rowId xmlns:a16="http://schemas.microsoft.com/office/drawing/2014/main" val="10000"/>
                  </a:ext>
                </a:extLst>
              </a:tr>
              <a:tr h="1450637">
                <a:tc>
                  <a:txBody>
                    <a:bodyPr/>
                    <a:lstStyle/>
                    <a:p>
                      <a:pPr marL="0" marR="0" lvl="0" indent="0" algn="l" rtl="0">
                        <a:spcBef>
                          <a:spcPts val="0"/>
                        </a:spcBef>
                        <a:spcAft>
                          <a:spcPts val="0"/>
                        </a:spcAft>
                        <a:buNone/>
                      </a:pPr>
                      <a:r>
                        <a:rPr lang="en-US" sz="900" b="0" i="0">
                          <a:solidFill>
                            <a:schemeClr val="dk1"/>
                          </a:solidFill>
                          <a:latin typeface="+mj-lt"/>
                          <a:ea typeface="Arial"/>
                          <a:cs typeface="Arial"/>
                          <a:sym typeface="Arial"/>
                        </a:rPr>
                        <a:t>Implement AI</a:t>
                      </a:r>
                      <a:br>
                        <a:rPr lang="en-US" sz="900" b="0" i="0">
                          <a:solidFill>
                            <a:schemeClr val="dk1"/>
                          </a:solidFill>
                          <a:latin typeface="+mj-lt"/>
                          <a:ea typeface="Arial"/>
                          <a:cs typeface="Arial"/>
                          <a:sym typeface="Arial"/>
                        </a:rPr>
                      </a:br>
                      <a:r>
                        <a:rPr lang="en-US" sz="900" b="0" i="0">
                          <a:solidFill>
                            <a:schemeClr val="dk1"/>
                          </a:solidFill>
                          <a:latin typeface="+mj-lt"/>
                          <a:ea typeface="Arial"/>
                          <a:cs typeface="Arial"/>
                          <a:sym typeface="Arial"/>
                        </a:rPr>
                        <a:t>literacy training and upskilling, and measure effectiveness</a:t>
                      </a:r>
                      <a:endParaRPr lang="en-US" sz="900">
                        <a:latin typeface="+mj-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tc>
                  <a:txBody>
                    <a:bodyPr/>
                    <a:lstStyle/>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Use diagnostic assessments to  identify baseline AI literacy and specific skill gaps across HR roles and levels. </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Align training content with business priorities, such as ethical AI use, data privacy, and HR-specific applications. </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Foster a 70/20/10 learning culture and continuous development through blended learning (e-learning, workshops, role-based training, </a:t>
                      </a:r>
                      <a:r>
                        <a:rPr lang="en-US" sz="900" dirty="0" err="1">
                          <a:solidFill>
                            <a:srgbClr val="000000"/>
                          </a:solidFill>
                          <a:latin typeface="+mn-lt"/>
                          <a:ea typeface="Arial"/>
                          <a:cs typeface="Arial"/>
                          <a:sym typeface="Arial"/>
                        </a:rPr>
                        <a:t>microlearnings</a:t>
                      </a:r>
                      <a:r>
                        <a:rPr lang="en-US" sz="900" dirty="0">
                          <a:solidFill>
                            <a:srgbClr val="000000"/>
                          </a:solidFill>
                          <a:latin typeface="+mn-lt"/>
                          <a:ea typeface="Arial"/>
                          <a:cs typeface="Arial"/>
                          <a:sym typeface="Arial"/>
                        </a:rPr>
                        <a:t>, peer coaching and access to AI learning communities) to accommodate diverse learning styles and maximize engagement. </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Define success metrics by establishing KPIs such as knowledge retention, behavioral change, and business impact (e.g., process automation), measuring gains via practical exercises, quizzes, and monitoring of AI tool adoption.</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Collect qualitative insights via surveys and focus groups, then share results with stakeholders to identify improvement areas and refine</a:t>
                      </a:r>
                      <a:br>
                        <a:rPr lang="en-US" sz="900" dirty="0">
                          <a:solidFill>
                            <a:srgbClr val="000000"/>
                          </a:solidFill>
                          <a:latin typeface="+mn-lt"/>
                          <a:ea typeface="Arial"/>
                          <a:cs typeface="Arial"/>
                          <a:sym typeface="Arial"/>
                        </a:rPr>
                      </a:br>
                      <a:r>
                        <a:rPr lang="en-US" sz="900" dirty="0">
                          <a:solidFill>
                            <a:srgbClr val="000000"/>
                          </a:solidFill>
                          <a:latin typeface="+mn-lt"/>
                          <a:ea typeface="Arial"/>
                          <a:cs typeface="Arial"/>
                          <a:sym typeface="Arial"/>
                        </a:rPr>
                        <a:t>future delivery.</a:t>
                      </a:r>
                      <a:endParaRPr sz="900" dirty="0">
                        <a:latin typeface="+mn-lt"/>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tc>
                  <a:txBody>
                    <a:bodyPr/>
                    <a:lstStyle/>
                    <a:p>
                      <a:pPr marL="0" marR="0" lvl="0" indent="0" algn="l" defTabSz="914400" rtl="0" eaLnBrk="1" latinLnBrk="0" hangingPunct="1">
                        <a:lnSpc>
                          <a:spcPct val="100000"/>
                        </a:lnSpc>
                        <a:spcBef>
                          <a:spcPts val="300"/>
                        </a:spcBef>
                        <a:spcAft>
                          <a:spcPts val="0"/>
                        </a:spcAft>
                        <a:buClr>
                          <a:srgbClr val="000000"/>
                        </a:buClr>
                        <a:buSzPts val="1050"/>
                        <a:buFont typeface="Arial"/>
                        <a:buNone/>
                      </a:pPr>
                      <a:r>
                        <a:rPr lang="en-US" sz="900" u="sng" kern="1200">
                          <a:solidFill>
                            <a:srgbClr val="000000"/>
                          </a:solidFill>
                          <a:latin typeface="+mn-lt"/>
                          <a:ea typeface="Arial"/>
                          <a:cs typeface="Arial"/>
                          <a:sym typeface="Arial"/>
                          <a:hlinkClick r:id="rId2">
                            <a:extLst>
                              <a:ext uri="{A12FA001-AC4F-418D-AE19-62706E023703}">
                                <ahyp:hlinkClr xmlns:ahyp="http://schemas.microsoft.com/office/drawing/2018/hyperlinkcolor" val="tx"/>
                              </a:ext>
                            </a:extLst>
                          </a:hlinkClick>
                        </a:rPr>
                        <a:t>How HR Can Build AI Literacy to Realize ROI</a:t>
                      </a:r>
                      <a:r>
                        <a:rPr lang="en-US" sz="900" u="sng" kern="1200">
                          <a:solidFill>
                            <a:srgbClr val="000000"/>
                          </a:solidFill>
                          <a:latin typeface="+mn-lt"/>
                          <a:ea typeface="Arial"/>
                          <a:cs typeface="Arial"/>
                          <a:sym typeface="Arial"/>
                        </a:rPr>
                        <a:t>, </a:t>
                      </a:r>
                      <a:r>
                        <a:rPr lang="en-US" sz="900" u="sng" kern="1200">
                          <a:solidFill>
                            <a:srgbClr val="000000"/>
                          </a:solidFill>
                          <a:latin typeface="+mn-lt"/>
                          <a:ea typeface="Arial"/>
                          <a:cs typeface="Arial"/>
                          <a:sym typeface="Arial"/>
                          <a:hlinkClick r:id="rId3">
                            <a:extLst>
                              <a:ext uri="{A12FA001-AC4F-418D-AE19-62706E023703}">
                                <ahyp:hlinkClr xmlns:ahyp="http://schemas.microsoft.com/office/drawing/2018/hyperlinkcolor" val="tx"/>
                              </a:ext>
                            </a:extLst>
                          </a:hlinkClick>
                        </a:rPr>
                        <a:t>How to Measure the Effectiveness of AI Learning Programs</a:t>
                      </a:r>
                      <a:endParaRPr sz="900" u="sng" kern="1200">
                        <a:solidFill>
                          <a:srgbClr val="000000"/>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extLst>
                  <a:ext uri="{0D108BD9-81ED-4DB2-BD59-A6C34878D82A}">
                    <a16:rowId xmlns:a16="http://schemas.microsoft.com/office/drawing/2014/main" val="10001"/>
                  </a:ext>
                </a:extLst>
              </a:tr>
              <a:tr h="1186294">
                <a:tc>
                  <a:txBody>
                    <a:bodyPr/>
                    <a:lstStyle/>
                    <a:p>
                      <a:pPr marL="0" marR="0" lvl="0" indent="0" algn="l" rtl="0">
                        <a:spcBef>
                          <a:spcPts val="0"/>
                        </a:spcBef>
                        <a:spcAft>
                          <a:spcPts val="0"/>
                        </a:spcAft>
                        <a:buNone/>
                      </a:pPr>
                      <a:r>
                        <a:rPr lang="en-US" sz="900" b="0" i="0">
                          <a:solidFill>
                            <a:schemeClr val="dk1"/>
                          </a:solidFill>
                          <a:latin typeface="+mj-lt"/>
                          <a:ea typeface="Arial"/>
                          <a:cs typeface="Arial"/>
                          <a:sym typeface="Arial"/>
                        </a:rPr>
                        <a:t>Integrate AI literacy into broader L&amp;D programs</a:t>
                      </a:r>
                      <a:endParaRPr lang="en-US" sz="900">
                        <a:latin typeface="+mj-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tc>
                  <a:txBody>
                    <a:bodyPr/>
                    <a:lstStyle/>
                    <a:p>
                      <a:pPr marL="173736" marR="0" lvl="0" indent="-173736" algn="l" rtl="0">
                        <a:lnSpc>
                          <a:spcPct val="90000"/>
                        </a:lnSpc>
                        <a:spcBef>
                          <a:spcPts val="300"/>
                        </a:spcBef>
                        <a:spcAft>
                          <a:spcPts val="0"/>
                        </a:spcAft>
                        <a:buClr>
                          <a:srgbClr val="000000"/>
                        </a:buClr>
                        <a:buSzPct val="100000"/>
                        <a:buFont typeface="Arial"/>
                        <a:buAutoNum type="arabicPeriod"/>
                      </a:pPr>
                      <a:r>
                        <a:rPr lang="en-US" sz="900">
                          <a:solidFill>
                            <a:srgbClr val="000000"/>
                          </a:solidFill>
                          <a:latin typeface="+mn-lt"/>
                          <a:ea typeface="Arial"/>
                          <a:cs typeface="Arial"/>
                          <a:sym typeface="Arial"/>
                        </a:rPr>
                        <a:t>Audit existing L&amp;D offerings to identify opportunities to embed AI literacy modules into onboarding, leadership development, and functional</a:t>
                      </a:r>
                      <a:br>
                        <a:rPr lang="en-US" sz="900">
                          <a:solidFill>
                            <a:srgbClr val="000000"/>
                          </a:solidFill>
                          <a:latin typeface="+mn-lt"/>
                          <a:ea typeface="Arial"/>
                          <a:cs typeface="Arial"/>
                          <a:sym typeface="Arial"/>
                        </a:rPr>
                      </a:br>
                      <a:r>
                        <a:rPr lang="en-US" sz="900">
                          <a:solidFill>
                            <a:srgbClr val="000000"/>
                          </a:solidFill>
                          <a:latin typeface="+mn-lt"/>
                          <a:ea typeface="Arial"/>
                          <a:cs typeface="Arial"/>
                          <a:sym typeface="Arial"/>
                        </a:rPr>
                        <a:t>HR training. </a:t>
                      </a:r>
                      <a:endParaRPr sz="90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a:solidFill>
                            <a:srgbClr val="000000"/>
                          </a:solidFill>
                          <a:latin typeface="+mn-lt"/>
                          <a:ea typeface="Arial"/>
                          <a:cs typeface="Arial"/>
                          <a:sym typeface="Arial"/>
                        </a:rPr>
                        <a:t>Collaborate with L&amp;D and business leaders to ensure AI literacy aligns with the organizational strategy and is relevant to HR’s evolving role. </a:t>
                      </a:r>
                      <a:endParaRPr sz="90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a:solidFill>
                            <a:srgbClr val="000000"/>
                          </a:solidFill>
                          <a:latin typeface="+mn-lt"/>
                          <a:ea typeface="Arial"/>
                          <a:cs typeface="Arial"/>
                          <a:sym typeface="Arial"/>
                        </a:rPr>
                        <a:t>Ensure that AI literacy is taught as part of ongoing HR development, so every HR staff member encounters AI topics regularly, not just in</a:t>
                      </a:r>
                      <a:br>
                        <a:rPr lang="en-US" sz="900">
                          <a:solidFill>
                            <a:srgbClr val="000000"/>
                          </a:solidFill>
                          <a:latin typeface="+mn-lt"/>
                          <a:ea typeface="Arial"/>
                          <a:cs typeface="Arial"/>
                          <a:sym typeface="Arial"/>
                        </a:rPr>
                      </a:br>
                      <a:r>
                        <a:rPr lang="en-US" sz="900">
                          <a:solidFill>
                            <a:srgbClr val="000000"/>
                          </a:solidFill>
                          <a:latin typeface="+mn-lt"/>
                          <a:ea typeface="Arial"/>
                          <a:cs typeface="Arial"/>
                          <a:sym typeface="Arial"/>
                        </a:rPr>
                        <a:t>a separate course.</a:t>
                      </a:r>
                      <a:endParaRPr sz="900">
                        <a:solidFill>
                          <a:srgbClr val="000000"/>
                        </a:solidFill>
                        <a:latin typeface="+mn-lt"/>
                        <a:ea typeface="Arial"/>
                        <a:cs typeface="Arial"/>
                        <a:sym typeface="Arial"/>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a:solidFill>
                            <a:srgbClr val="000000"/>
                          </a:solidFill>
                          <a:latin typeface="+mn-lt"/>
                          <a:ea typeface="Arial"/>
                          <a:cs typeface="Arial"/>
                          <a:sym typeface="Arial"/>
                        </a:rPr>
                        <a:t>Communicate the importance of AI literacy for HR’s future-readiness and encourage participation.</a:t>
                      </a:r>
                      <a:endParaRPr sz="900">
                        <a:solidFill>
                          <a:srgbClr val="000000"/>
                        </a:solidFill>
                        <a:latin typeface="+mn-lt"/>
                        <a:ea typeface="Arial"/>
                        <a:cs typeface="Arial"/>
                        <a:sym typeface="Arial"/>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a:solidFill>
                            <a:srgbClr val="000000"/>
                          </a:solidFill>
                          <a:latin typeface="+mn-lt"/>
                          <a:ea typeface="Arial"/>
                          <a:cs typeface="Arial"/>
                          <a:sym typeface="Arial"/>
                        </a:rPr>
                        <a:t>Regularly evaluate and refresh AI-related content in L&amp;D programs to keep pace with new technologies and HR needs.</a:t>
                      </a:r>
                      <a:endParaRPr sz="900">
                        <a:solidFill>
                          <a:srgbClr val="000000"/>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tc>
                  <a:txBody>
                    <a:bodyPr/>
                    <a:lstStyle/>
                    <a:p>
                      <a:pPr marL="0" marR="0" lvl="0" indent="0" algn="l" defTabSz="914400" rtl="0" eaLnBrk="1" latinLnBrk="0" hangingPunct="1">
                        <a:lnSpc>
                          <a:spcPct val="100000"/>
                        </a:lnSpc>
                        <a:spcBef>
                          <a:spcPts val="300"/>
                        </a:spcBef>
                        <a:spcAft>
                          <a:spcPts val="0"/>
                        </a:spcAft>
                        <a:buClr>
                          <a:srgbClr val="000000"/>
                        </a:buClr>
                        <a:buSzPts val="1050"/>
                        <a:buFont typeface="Arial"/>
                        <a:buNone/>
                      </a:pPr>
                      <a:r>
                        <a:rPr lang="en-US" sz="900" u="sng" kern="1200">
                          <a:solidFill>
                            <a:srgbClr val="000000"/>
                          </a:solidFill>
                          <a:latin typeface="+mn-lt"/>
                          <a:ea typeface="Arial"/>
                          <a:cs typeface="Arial"/>
                          <a:sym typeface="Arial"/>
                          <a:hlinkClick r:id="rId4">
                            <a:extLst>
                              <a:ext uri="{A12FA001-AC4F-418D-AE19-62706E023703}">
                                <ahyp:hlinkClr xmlns:ahyp="http://schemas.microsoft.com/office/drawing/2018/hyperlinkcolor" val="tx"/>
                              </a:ext>
                            </a:extLst>
                          </a:hlinkClick>
                        </a:rPr>
                        <a:t>Essential HR Skills for Success in the AI Era</a:t>
                      </a:r>
                      <a:endParaRPr sz="900" u="sng" kern="1200">
                        <a:solidFill>
                          <a:srgbClr val="000000"/>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extLst>
                  <a:ext uri="{0D108BD9-81ED-4DB2-BD59-A6C34878D82A}">
                    <a16:rowId xmlns:a16="http://schemas.microsoft.com/office/drawing/2014/main" val="939464923"/>
                  </a:ext>
                </a:extLst>
              </a:tr>
              <a:tr h="1847153">
                <a:tc>
                  <a:txBody>
                    <a:bodyPr/>
                    <a:lstStyle/>
                    <a:p>
                      <a:pPr marL="0" marR="0" lvl="0" indent="0" algn="l" defTabSz="914400" rtl="0" eaLnBrk="1" latinLnBrk="0" hangingPunct="1">
                        <a:lnSpc>
                          <a:spcPct val="90000"/>
                        </a:lnSpc>
                        <a:spcBef>
                          <a:spcPts val="0"/>
                        </a:spcBef>
                        <a:spcAft>
                          <a:spcPts val="0"/>
                        </a:spcAft>
                        <a:buNone/>
                      </a:pPr>
                      <a:r>
                        <a:rPr lang="en-US" sz="900" b="0" i="0" kern="1200">
                          <a:solidFill>
                            <a:schemeClr val="dk1"/>
                          </a:solidFill>
                          <a:latin typeface="+mj-lt"/>
                          <a:cs typeface="Arial"/>
                        </a:rPr>
                        <a:t>Conduct an HR workforce sentiment and readiness assessment, and assess the impact of AI on HR</a:t>
                      </a: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28575" cap="flat" cmpd="sng" algn="ctr">
                      <a:solidFill>
                        <a:srgbClr val="707996"/>
                      </a:solidFill>
                      <a:prstDash val="solid"/>
                      <a:round/>
                      <a:headEnd type="none" w="med" len="med"/>
                      <a:tailEnd type="none" w="med" len="med"/>
                    </a:lnB>
                  </a:tcPr>
                </a:tc>
                <a:tc>
                  <a:txBody>
                    <a:bodyPr/>
                    <a:lstStyle/>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Develop and deploy pulse surveys, interviews, or focus groups to regularly capture employee sentiment, readiness, and concerns regarding AI initiatives, utilizing real-time feedback loops during AI rollouts to identify emerging barriers.</a:t>
                      </a:r>
                      <a:endParaRPr sz="900" dirty="0">
                        <a:solidFill>
                          <a:srgbClr val="000000"/>
                        </a:solidFill>
                        <a:latin typeface="+mn-lt"/>
                        <a:ea typeface="Arial"/>
                        <a:cs typeface="Arial"/>
                        <a:sym typeface="Arial"/>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Segment results by role, team, and location to uncover trends and tailor communications or interventions for specific groups.</a:t>
                      </a:r>
                      <a:endParaRPr sz="900" dirty="0">
                        <a:solidFill>
                          <a:srgbClr val="000000"/>
                        </a:solidFill>
                        <a:latin typeface="+mn-lt"/>
                        <a:ea typeface="Arial"/>
                        <a:cs typeface="Arial"/>
                        <a:sym typeface="Arial"/>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Share findings transparently with leadership and employees to build trust and demonstrate responsiveness and foster a culture of trust regarding</a:t>
                      </a:r>
                      <a:br>
                        <a:rPr lang="en-US" sz="900" dirty="0">
                          <a:solidFill>
                            <a:srgbClr val="000000"/>
                          </a:solidFill>
                          <a:latin typeface="+mn-lt"/>
                          <a:ea typeface="Arial"/>
                          <a:cs typeface="Arial"/>
                          <a:sym typeface="Arial"/>
                        </a:rPr>
                      </a:br>
                      <a:r>
                        <a:rPr lang="en-US" sz="900" dirty="0">
                          <a:solidFill>
                            <a:srgbClr val="000000"/>
                          </a:solidFill>
                          <a:latin typeface="+mn-lt"/>
                          <a:ea typeface="Arial"/>
                          <a:cs typeface="Arial"/>
                          <a:sym typeface="Arial"/>
                        </a:rPr>
                        <a:t>AI initiatives.</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Identify current and future HR role requirements to detect byproducts of AI (e.g., skills atrophy), while conducting workshops to understand qualitative shifts in job satisfaction, skill requirements, and workflow.</a:t>
                      </a:r>
                      <a:endParaRPr sz="900" dirty="0">
                        <a:solidFill>
                          <a:srgbClr val="000000"/>
                        </a:solidFill>
                        <a:latin typeface="+mn-lt"/>
                        <a:ea typeface="Arial"/>
                        <a:cs typeface="Arial"/>
                        <a:sym typeface="Arial"/>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Conduct interviews and workshops with impacted employees to understand track redeployment and upskilling outcomes to assess the effectiveness of support programs.</a:t>
                      </a:r>
                      <a:endParaRPr sz="900" dirty="0">
                        <a:solidFill>
                          <a:srgbClr val="000000"/>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28575" cap="flat" cmpd="sng" algn="ctr">
                      <a:solidFill>
                        <a:srgbClr val="707996"/>
                      </a:solidFill>
                      <a:prstDash val="solid"/>
                      <a:round/>
                      <a:headEnd type="none" w="med" len="med"/>
                      <a:tailEnd type="none" w="med" len="med"/>
                    </a:lnB>
                  </a:tcPr>
                </a:tc>
                <a:tc>
                  <a:txBody>
                    <a:bodyPr/>
                    <a:lstStyle/>
                    <a:p>
                      <a:pPr marL="0" marR="0" lvl="0" indent="0" algn="l" defTabSz="914400" rtl="0" eaLnBrk="1" latinLnBrk="0" hangingPunct="1">
                        <a:lnSpc>
                          <a:spcPct val="100000"/>
                        </a:lnSpc>
                        <a:spcBef>
                          <a:spcPts val="300"/>
                        </a:spcBef>
                        <a:spcAft>
                          <a:spcPts val="0"/>
                        </a:spcAft>
                        <a:buClr>
                          <a:srgbClr val="000000"/>
                        </a:buClr>
                        <a:buSzPts val="1050"/>
                        <a:buFont typeface="Arial"/>
                        <a:buNone/>
                      </a:pPr>
                      <a:r>
                        <a:rPr lang="en-US" sz="900" u="sng" kern="1200" dirty="0">
                          <a:solidFill>
                            <a:srgbClr val="000000"/>
                          </a:solidFill>
                          <a:latin typeface="+mn-lt"/>
                          <a:ea typeface="Arial"/>
                          <a:cs typeface="Arial"/>
                          <a:sym typeface="Arial"/>
                          <a:hlinkClick r:id="rId5">
                            <a:extLst>
                              <a:ext uri="{A12FA001-AC4F-418D-AE19-62706E023703}">
                                <ahyp:hlinkClr xmlns:ahyp="http://schemas.microsoft.com/office/drawing/2018/hyperlinkcolor" val="tx"/>
                              </a:ext>
                            </a:extLst>
                          </a:hlinkClick>
                        </a:rPr>
                        <a:t>How We Talk About AI at Work Matters</a:t>
                      </a:r>
                      <a:r>
                        <a:rPr lang="en-US" sz="900" u="sng" kern="1200" dirty="0">
                          <a:solidFill>
                            <a:srgbClr val="000000"/>
                          </a:solidFill>
                          <a:latin typeface="+mn-lt"/>
                          <a:ea typeface="Arial"/>
                          <a:cs typeface="Arial"/>
                          <a:sym typeface="Arial"/>
                        </a:rPr>
                        <a:t>, </a:t>
                      </a:r>
                      <a:r>
                        <a:rPr lang="en-US" sz="900" u="sng" kern="1200" dirty="0">
                          <a:solidFill>
                            <a:srgbClr val="000000"/>
                          </a:solidFill>
                          <a:latin typeface="+mn-lt"/>
                          <a:ea typeface="Arial"/>
                          <a:cs typeface="Arial"/>
                          <a:sym typeface="Arial"/>
                          <a:hlinkClick r:id="rId6">
                            <a:extLst>
                              <a:ext uri="{A12FA001-AC4F-418D-AE19-62706E023703}">
                                <ahyp:hlinkClr xmlns:ahyp="http://schemas.microsoft.com/office/drawing/2018/hyperlinkcolor" val="tx"/>
                              </a:ext>
                            </a:extLst>
                          </a:hlinkClick>
                        </a:rPr>
                        <a:t>Prepare for AI’s Unexpected Workforce Behavioral Byproducts</a:t>
                      </a:r>
                      <a:r>
                        <a:rPr lang="en-US" sz="900" u="sng" kern="1200" dirty="0">
                          <a:solidFill>
                            <a:srgbClr val="000000"/>
                          </a:solidFill>
                          <a:latin typeface="+mn-lt"/>
                          <a:ea typeface="Arial"/>
                          <a:cs typeface="Arial"/>
                          <a:sym typeface="Arial"/>
                        </a:rPr>
                        <a:t>, </a:t>
                      </a:r>
                      <a:r>
                        <a:rPr lang="en-US" sz="900" u="sng" kern="1200" dirty="0">
                          <a:solidFill>
                            <a:srgbClr val="000000"/>
                          </a:solidFill>
                          <a:latin typeface="+mn-lt"/>
                          <a:ea typeface="Arial"/>
                          <a:cs typeface="Arial"/>
                          <a:sym typeface="Arial"/>
                          <a:hlinkClick r:id="rId7">
                            <a:extLst>
                              <a:ext uri="{A12FA001-AC4F-418D-AE19-62706E023703}">
                                <ahyp:hlinkClr xmlns:ahyp="http://schemas.microsoft.com/office/drawing/2018/hyperlinkcolor" val="tx"/>
                              </a:ext>
                            </a:extLst>
                          </a:hlinkClick>
                        </a:rPr>
                        <a:t>Case Study: Workforce Planning for Generative AI in Midsize Enterprises</a:t>
                      </a:r>
                      <a:endParaRPr sz="900" u="sng" kern="1200" dirty="0">
                        <a:solidFill>
                          <a:srgbClr val="000000"/>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28575" cap="flat" cmpd="sng" algn="ctr">
                      <a:solidFill>
                        <a:srgbClr val="707996"/>
                      </a:solidFill>
                      <a:prstDash val="solid"/>
                      <a:round/>
                      <a:headEnd type="none" w="med" len="med"/>
                      <a:tailEnd type="none" w="med" len="med"/>
                    </a:lnB>
                  </a:tcPr>
                </a:tc>
                <a:extLst>
                  <a:ext uri="{0D108BD9-81ED-4DB2-BD59-A6C34878D82A}">
                    <a16:rowId xmlns:a16="http://schemas.microsoft.com/office/drawing/2014/main" val="208485627"/>
                  </a:ext>
                </a:extLst>
              </a:tr>
            </a:tbl>
          </a:graphicData>
        </a:graphic>
      </p:graphicFrame>
    </p:spTree>
    <p:extLst>
      <p:ext uri="{BB962C8B-B14F-4D97-AF65-F5344CB8AC3E}">
        <p14:creationId xmlns:p14="http://schemas.microsoft.com/office/powerpoint/2010/main" val="15015777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CA5AE-DF48-ED14-6671-001C6D5665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13B63E-4109-A40C-7F9F-4C42AED1286C}"/>
              </a:ext>
            </a:extLst>
          </p:cNvPr>
          <p:cNvSpPr>
            <a:spLocks noGrp="1"/>
          </p:cNvSpPr>
          <p:nvPr>
            <p:ph type="title"/>
          </p:nvPr>
        </p:nvSpPr>
        <p:spPr/>
        <p:txBody>
          <a:bodyPr/>
          <a:lstStyle/>
          <a:p>
            <a:r>
              <a:rPr lang="en-US"/>
              <a:t>AI People and Culture for HR Function: Detailed Activities (2 of 2)</a:t>
            </a:r>
          </a:p>
        </p:txBody>
      </p:sp>
      <p:graphicFrame>
        <p:nvGraphicFramePr>
          <p:cNvPr id="3" name="Google Shape;513;p11">
            <a:extLst>
              <a:ext uri="{FF2B5EF4-FFF2-40B4-BE49-F238E27FC236}">
                <a16:creationId xmlns:a16="http://schemas.microsoft.com/office/drawing/2014/main" id="{DE656BFD-B408-DA2A-EE7C-C3A908BE8D47}"/>
              </a:ext>
            </a:extLst>
          </p:cNvPr>
          <p:cNvGraphicFramePr/>
          <p:nvPr>
            <p:extLst>
              <p:ext uri="{D42A27DB-BD31-4B8C-83A1-F6EECF244321}">
                <p14:modId xmlns:p14="http://schemas.microsoft.com/office/powerpoint/2010/main" val="1679258416"/>
              </p:ext>
            </p:extLst>
          </p:nvPr>
        </p:nvGraphicFramePr>
        <p:xfrm>
          <a:off x="474896" y="947135"/>
          <a:ext cx="11256855" cy="4990048"/>
        </p:xfrm>
        <a:graphic>
          <a:graphicData uri="http://schemas.openxmlformats.org/drawingml/2006/table">
            <a:tbl>
              <a:tblPr>
                <a:noFill/>
              </a:tblPr>
              <a:tblGrid>
                <a:gridCol w="1343630">
                  <a:extLst>
                    <a:ext uri="{9D8B030D-6E8A-4147-A177-3AD203B41FA5}">
                      <a16:colId xmlns:a16="http://schemas.microsoft.com/office/drawing/2014/main" val="20000"/>
                    </a:ext>
                  </a:extLst>
                </a:gridCol>
                <a:gridCol w="7926365">
                  <a:extLst>
                    <a:ext uri="{9D8B030D-6E8A-4147-A177-3AD203B41FA5}">
                      <a16:colId xmlns:a16="http://schemas.microsoft.com/office/drawing/2014/main" val="20001"/>
                    </a:ext>
                  </a:extLst>
                </a:gridCol>
                <a:gridCol w="1986860">
                  <a:extLst>
                    <a:ext uri="{9D8B030D-6E8A-4147-A177-3AD203B41FA5}">
                      <a16:colId xmlns:a16="http://schemas.microsoft.com/office/drawing/2014/main" val="20002"/>
                    </a:ext>
                  </a:extLst>
                </a:gridCol>
              </a:tblGrid>
              <a:tr h="360965">
                <a:tc>
                  <a:txBody>
                    <a:bodyPr/>
                    <a:lstStyle/>
                    <a:p>
                      <a:pPr marL="0" marR="0" lvl="0" indent="0" algn="l" rtl="0">
                        <a:spcBef>
                          <a:spcPts val="0"/>
                        </a:spcBef>
                        <a:spcAft>
                          <a:spcPts val="0"/>
                        </a:spcAft>
                        <a:buNone/>
                      </a:pPr>
                      <a:r>
                        <a:rPr lang="en-US" sz="900" b="1" i="0" u="none" strike="noStrike" cap="none">
                          <a:solidFill>
                            <a:schemeClr val="lt2"/>
                          </a:solidFill>
                          <a:latin typeface="+mj-lt"/>
                          <a:ea typeface="Arial"/>
                          <a:cs typeface="Arial"/>
                          <a:sym typeface="Arial"/>
                        </a:rPr>
                        <a:t>Activity</a:t>
                      </a:r>
                      <a:endParaRPr sz="900" b="1" i="0">
                        <a:solidFill>
                          <a:schemeClr val="lt2"/>
                        </a:solidFill>
                        <a:latin typeface="+mj-lt"/>
                        <a:ea typeface="Arial"/>
                        <a:cs typeface="Arial"/>
                        <a:sym typeface="Arial"/>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28575"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9673BE"/>
                    </a:solidFill>
                  </a:tcPr>
                </a:tc>
                <a:tc>
                  <a:txBody>
                    <a:bodyPr/>
                    <a:lstStyle/>
                    <a:p>
                      <a:pPr marL="0" marR="0" lvl="0" indent="0" algn="l" rtl="0">
                        <a:spcBef>
                          <a:spcPts val="0"/>
                        </a:spcBef>
                        <a:spcAft>
                          <a:spcPts val="0"/>
                        </a:spcAft>
                        <a:buNone/>
                      </a:pPr>
                      <a:r>
                        <a:rPr lang="en-US" sz="900" b="1" i="0">
                          <a:solidFill>
                            <a:schemeClr val="lt2"/>
                          </a:solidFill>
                          <a:latin typeface="+mj-lt"/>
                          <a:ea typeface="Arial"/>
                          <a:cs typeface="Arial"/>
                          <a:sym typeface="Arial"/>
                        </a:rPr>
                        <a:t>Steps</a:t>
                      </a:r>
                      <a:endParaRPr sz="900" b="1" i="0">
                        <a:solidFill>
                          <a:schemeClr val="lt2"/>
                        </a:solidFill>
                        <a:latin typeface="+mj-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28575"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9673BE"/>
                    </a:solidFill>
                  </a:tcPr>
                </a:tc>
                <a:tc>
                  <a:txBody>
                    <a:bodyPr/>
                    <a:lstStyle/>
                    <a:p>
                      <a:pPr marL="0" marR="0" lvl="0" indent="0" algn="l" rtl="0">
                        <a:spcBef>
                          <a:spcPts val="0"/>
                        </a:spcBef>
                        <a:spcAft>
                          <a:spcPts val="0"/>
                        </a:spcAft>
                        <a:buNone/>
                      </a:pPr>
                      <a:r>
                        <a:rPr lang="en-US" sz="900" b="1" i="0">
                          <a:solidFill>
                            <a:schemeClr val="lt2"/>
                          </a:solidFill>
                          <a:latin typeface="+mj-lt"/>
                          <a:ea typeface="Arial"/>
                          <a:cs typeface="Arial"/>
                          <a:sym typeface="Arial"/>
                        </a:rPr>
                        <a:t>Supporting resources</a:t>
                      </a:r>
                      <a:endParaRPr sz="900" b="1" i="0">
                        <a:solidFill>
                          <a:schemeClr val="lt2"/>
                        </a:solidFill>
                        <a:latin typeface="+mj-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28575"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9673BE"/>
                    </a:solidFill>
                  </a:tcPr>
                </a:tc>
                <a:extLst>
                  <a:ext uri="{0D108BD9-81ED-4DB2-BD59-A6C34878D82A}">
                    <a16:rowId xmlns:a16="http://schemas.microsoft.com/office/drawing/2014/main" val="10000"/>
                  </a:ext>
                </a:extLst>
              </a:tr>
              <a:tr h="990600">
                <a:tc>
                  <a:txBody>
                    <a:bodyPr/>
                    <a:lstStyle/>
                    <a:p>
                      <a:pPr marL="0" marR="0" lvl="0" indent="0" algn="l" rtl="0">
                        <a:spcBef>
                          <a:spcPts val="0"/>
                        </a:spcBef>
                        <a:spcAft>
                          <a:spcPts val="0"/>
                        </a:spcAft>
                        <a:buNone/>
                      </a:pPr>
                      <a:r>
                        <a:rPr lang="en-US" sz="900" b="0" i="0">
                          <a:solidFill>
                            <a:schemeClr val="dk1"/>
                          </a:solidFill>
                          <a:latin typeface="+mj-lt"/>
                          <a:ea typeface="Arial"/>
                          <a:cs typeface="Arial"/>
                          <a:sym typeface="Arial"/>
                        </a:rPr>
                        <a:t>Design targeted interventions to future-proof </a:t>
                      </a:r>
                      <a:br>
                        <a:rPr lang="en-US" sz="900" b="0" i="0">
                          <a:solidFill>
                            <a:schemeClr val="dk1"/>
                          </a:solidFill>
                          <a:latin typeface="+mj-lt"/>
                          <a:ea typeface="Arial"/>
                          <a:cs typeface="Arial"/>
                          <a:sym typeface="Arial"/>
                        </a:rPr>
                      </a:br>
                      <a:r>
                        <a:rPr lang="en-US" sz="900" b="0" i="0">
                          <a:solidFill>
                            <a:schemeClr val="dk1"/>
                          </a:solidFill>
                          <a:latin typeface="+mj-lt"/>
                          <a:ea typeface="Arial"/>
                          <a:cs typeface="Arial"/>
                          <a:sym typeface="Arial"/>
                        </a:rPr>
                        <a:t>the workforce for AI</a:t>
                      </a:r>
                      <a:endParaRPr lang="en-US" sz="900">
                        <a:latin typeface="+mj-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tc>
                  <a:txBody>
                    <a:bodyPr/>
                    <a:lstStyle/>
                    <a:p>
                      <a:pPr marL="173736" marR="0" lvl="0" indent="-173736" algn="l" rtl="0">
                        <a:lnSpc>
                          <a:spcPct val="90000"/>
                        </a:lnSpc>
                        <a:spcBef>
                          <a:spcPts val="300"/>
                        </a:spcBef>
                        <a:spcAft>
                          <a:spcPts val="0"/>
                        </a:spcAft>
                        <a:buClr>
                          <a:srgbClr val="000000"/>
                        </a:buClr>
                        <a:buSzPct val="100000"/>
                        <a:buFont typeface="Arial"/>
                        <a:buAutoNum type="arabicPeriod"/>
                      </a:pPr>
                      <a:r>
                        <a:rPr lang="en-US" sz="900">
                          <a:solidFill>
                            <a:srgbClr val="000000"/>
                          </a:solidFill>
                          <a:latin typeface="+mn-lt"/>
                          <a:ea typeface="Arial"/>
                          <a:cs typeface="Arial"/>
                          <a:sym typeface="Arial"/>
                        </a:rPr>
                        <a:t>Develop role-based enablement journeys, customizing learning paths and interventions for different HR segments and roles.</a:t>
                      </a:r>
                      <a:endParaRPr sz="900">
                        <a:solidFill>
                          <a:srgbClr val="000000"/>
                        </a:solidFill>
                        <a:latin typeface="+mn-lt"/>
                        <a:ea typeface="Arial"/>
                        <a:cs typeface="Arial"/>
                        <a:sym typeface="Arial"/>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a:solidFill>
                            <a:srgbClr val="000000"/>
                          </a:solidFill>
                          <a:latin typeface="+mn-lt"/>
                          <a:ea typeface="Arial"/>
                          <a:cs typeface="Arial"/>
                          <a:sym typeface="Arial"/>
                        </a:rPr>
                        <a:t>Provide just-in-time resources (such as toolkits, microlearning modules, and FAQs) to support employees as they encounter new AI-related tasks</a:t>
                      </a:r>
                      <a:br>
                        <a:rPr lang="en-US" sz="900">
                          <a:solidFill>
                            <a:srgbClr val="000000"/>
                          </a:solidFill>
                          <a:latin typeface="+mn-lt"/>
                          <a:ea typeface="Arial"/>
                          <a:cs typeface="Arial"/>
                          <a:sym typeface="Arial"/>
                        </a:rPr>
                      </a:br>
                      <a:r>
                        <a:rPr lang="en-US" sz="900">
                          <a:solidFill>
                            <a:srgbClr val="000000"/>
                          </a:solidFill>
                          <a:latin typeface="+mn-lt"/>
                          <a:ea typeface="Arial"/>
                          <a:cs typeface="Arial"/>
                          <a:sym typeface="Arial"/>
                        </a:rPr>
                        <a:t>or challenges.</a:t>
                      </a:r>
                      <a:endParaRPr sz="900">
                        <a:solidFill>
                          <a:srgbClr val="000000"/>
                        </a:solidFill>
                        <a:latin typeface="+mn-lt"/>
                        <a:ea typeface="Arial"/>
                        <a:cs typeface="Arial"/>
                        <a:sym typeface="Arial"/>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a:solidFill>
                            <a:srgbClr val="000000"/>
                          </a:solidFill>
                          <a:latin typeface="+mn-lt"/>
                          <a:ea typeface="Arial"/>
                          <a:cs typeface="Arial"/>
                          <a:sym typeface="Arial"/>
                        </a:rPr>
                        <a:t>Equip managers with enablement guides and talking points so they can support their teams effectively through AI-driven changes.</a:t>
                      </a:r>
                      <a:endParaRPr sz="900">
                        <a:solidFill>
                          <a:srgbClr val="000000"/>
                        </a:solidFill>
                        <a:latin typeface="+mn-lt"/>
                        <a:ea typeface="Arial"/>
                        <a:cs typeface="Arial"/>
                        <a:sym typeface="Arial"/>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a:solidFill>
                            <a:srgbClr val="000000"/>
                          </a:solidFill>
                          <a:latin typeface="+mn-lt"/>
                          <a:ea typeface="Arial"/>
                          <a:cs typeface="Arial"/>
                          <a:sym typeface="Arial"/>
                        </a:rPr>
                        <a:t>Launch interventions and collect ongoing feedback from both employees and managers, using this input to refine support in real time.</a:t>
                      </a:r>
                      <a:endParaRPr sz="900">
                        <a:solidFill>
                          <a:srgbClr val="000000"/>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tc>
                  <a:txBody>
                    <a:bodyPr/>
                    <a:lstStyle/>
                    <a:p>
                      <a:pPr marL="0" marR="0" lvl="0" indent="0" algn="l" defTabSz="914400" rtl="0" eaLnBrk="1" latinLnBrk="0" hangingPunct="1">
                        <a:lnSpc>
                          <a:spcPct val="100000"/>
                        </a:lnSpc>
                        <a:spcBef>
                          <a:spcPts val="300"/>
                        </a:spcBef>
                        <a:spcAft>
                          <a:spcPts val="0"/>
                        </a:spcAft>
                        <a:buClr>
                          <a:srgbClr val="000000"/>
                        </a:buClr>
                        <a:buSzPts val="1050"/>
                        <a:buFont typeface="Arial"/>
                        <a:buNone/>
                      </a:pPr>
                      <a:r>
                        <a:rPr lang="en-US" sz="900" u="sng" kern="1200">
                          <a:solidFill>
                            <a:srgbClr val="000000"/>
                          </a:solidFill>
                          <a:latin typeface="+mn-lt"/>
                          <a:ea typeface="Arial"/>
                          <a:cs typeface="Arial"/>
                          <a:sym typeface="Arial"/>
                          <a:hlinkClick r:id="rId2">
                            <a:extLst>
                              <a:ext uri="{A12FA001-AC4F-418D-AE19-62706E023703}">
                                <ahyp:hlinkClr xmlns:ahyp="http://schemas.microsoft.com/office/drawing/2018/hyperlinkcolor" val="tx"/>
                              </a:ext>
                            </a:extLst>
                          </a:hlinkClick>
                        </a:rPr>
                        <a:t>Four Key Elements of a Talent Strategy That Drive Performance Today and Tomorrow</a:t>
                      </a:r>
                      <a:endParaRPr sz="900" u="sng" kern="1200">
                        <a:solidFill>
                          <a:srgbClr val="000000"/>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extLst>
                  <a:ext uri="{0D108BD9-81ED-4DB2-BD59-A6C34878D82A}">
                    <a16:rowId xmlns:a16="http://schemas.microsoft.com/office/drawing/2014/main" val="1404213471"/>
                  </a:ext>
                </a:extLst>
              </a:tr>
              <a:tr h="990600">
                <a:tc>
                  <a:txBody>
                    <a:bodyPr/>
                    <a:lstStyle/>
                    <a:p>
                      <a:pPr marL="0" marR="0" lvl="0" indent="0" algn="l" rtl="0">
                        <a:spcBef>
                          <a:spcPts val="0"/>
                        </a:spcBef>
                        <a:spcAft>
                          <a:spcPts val="0"/>
                        </a:spcAft>
                        <a:buNone/>
                      </a:pPr>
                      <a:r>
                        <a:rPr lang="en-US" sz="900" b="0" i="0">
                          <a:solidFill>
                            <a:schemeClr val="dk1"/>
                          </a:solidFill>
                          <a:latin typeface="+mj-lt"/>
                          <a:ea typeface="Arial"/>
                          <a:cs typeface="Arial"/>
                          <a:sym typeface="Arial"/>
                        </a:rPr>
                        <a:t>Foster knowledge-sharing and best practice communities</a:t>
                      </a:r>
                      <a:endParaRPr lang="en-US" sz="900">
                        <a:latin typeface="+mj-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tc>
                  <a:txBody>
                    <a:bodyPr/>
                    <a:lstStyle/>
                    <a:p>
                      <a:pPr marL="173736" marR="0" lvl="0" indent="-173736" algn="l" rtl="0">
                        <a:lnSpc>
                          <a:spcPct val="90000"/>
                        </a:lnSpc>
                        <a:spcBef>
                          <a:spcPts val="300"/>
                        </a:spcBef>
                        <a:spcAft>
                          <a:spcPts val="0"/>
                        </a:spcAft>
                        <a:buClr>
                          <a:srgbClr val="000000"/>
                        </a:buClr>
                        <a:buSzPct val="100000"/>
                        <a:buFont typeface="Arial"/>
                        <a:buAutoNum type="arabicPeriod"/>
                      </a:pPr>
                      <a:r>
                        <a:rPr lang="en-US" sz="900">
                          <a:solidFill>
                            <a:srgbClr val="000000"/>
                          </a:solidFill>
                          <a:latin typeface="+mn-lt"/>
                          <a:ea typeface="Arial"/>
                          <a:cs typeface="Arial"/>
                          <a:sym typeface="Arial"/>
                        </a:rPr>
                        <a:t>Identify and empower enablement champions or peer leaders within HR to drive knowledge-sharing and adoption of AI practices.</a:t>
                      </a:r>
                      <a:endParaRPr sz="900">
                        <a:solidFill>
                          <a:srgbClr val="000000"/>
                        </a:solidFill>
                        <a:latin typeface="+mn-lt"/>
                        <a:ea typeface="Arial"/>
                        <a:cs typeface="Arial"/>
                        <a:sym typeface="Arial"/>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a:solidFill>
                            <a:srgbClr val="000000"/>
                          </a:solidFill>
                          <a:latin typeface="+mn-lt"/>
                          <a:ea typeface="Arial"/>
                          <a:cs typeface="Arial"/>
                          <a:sym typeface="Arial"/>
                        </a:rPr>
                        <a:t>Establish digital platforms or communities for sharing resources, success stories, and lessons learned.</a:t>
                      </a:r>
                      <a:endParaRPr sz="900">
                        <a:solidFill>
                          <a:srgbClr val="000000"/>
                        </a:solidFill>
                        <a:latin typeface="+mn-lt"/>
                        <a:ea typeface="Arial"/>
                        <a:cs typeface="Arial"/>
                        <a:sym typeface="Arial"/>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a:solidFill>
                            <a:srgbClr val="000000"/>
                          </a:solidFill>
                          <a:latin typeface="+mn-lt"/>
                          <a:ea typeface="Arial"/>
                          <a:cs typeface="Arial"/>
                          <a:sym typeface="Arial"/>
                        </a:rPr>
                        <a:t>Encourage champions to lead local or virtual enablement sessions, fostering peer-to-peer learning and collaboration.</a:t>
                      </a:r>
                      <a:endParaRPr sz="900">
                        <a:solidFill>
                          <a:srgbClr val="000000"/>
                        </a:solidFill>
                        <a:latin typeface="+mn-lt"/>
                        <a:ea typeface="Arial"/>
                        <a:cs typeface="Arial"/>
                        <a:sym typeface="Arial"/>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a:solidFill>
                            <a:srgbClr val="000000"/>
                          </a:solidFill>
                          <a:latin typeface="+mn-lt"/>
                          <a:ea typeface="Arial"/>
                          <a:cs typeface="Arial"/>
                          <a:sym typeface="Arial"/>
                        </a:rPr>
                        <a:t>Continuously update shared resources and best practices based on community feedback and evolving AI initiatives.</a:t>
                      </a:r>
                      <a:endParaRPr sz="900">
                        <a:solidFill>
                          <a:srgbClr val="000000"/>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tc>
                  <a:txBody>
                    <a:bodyPr/>
                    <a:lstStyle/>
                    <a:p>
                      <a:pPr marL="0" marR="0" lvl="0" indent="0" algn="l" defTabSz="914400" rtl="0" eaLnBrk="1" latinLnBrk="0" hangingPunct="1">
                        <a:lnSpc>
                          <a:spcPct val="100000"/>
                        </a:lnSpc>
                        <a:spcBef>
                          <a:spcPts val="300"/>
                        </a:spcBef>
                        <a:spcAft>
                          <a:spcPts val="0"/>
                        </a:spcAft>
                        <a:buClr>
                          <a:srgbClr val="000000"/>
                        </a:buClr>
                        <a:buSzPts val="1050"/>
                        <a:buFont typeface="Arial"/>
                        <a:buNone/>
                      </a:pPr>
                      <a:r>
                        <a:rPr lang="en-US" sz="900" u="sng" kern="1200">
                          <a:solidFill>
                            <a:srgbClr val="000000"/>
                          </a:solidFill>
                          <a:latin typeface="+mn-lt"/>
                          <a:ea typeface="Arial"/>
                          <a:cs typeface="Arial"/>
                          <a:sym typeface="Arial"/>
                          <a:hlinkClick r:id="rId3">
                            <a:extLst>
                              <a:ext uri="{A12FA001-AC4F-418D-AE19-62706E023703}">
                                <ahyp:hlinkClr xmlns:ahyp="http://schemas.microsoft.com/office/drawing/2018/hyperlinkcolor" val="tx"/>
                              </a:ext>
                            </a:extLst>
                          </a:hlinkClick>
                        </a:rPr>
                        <a:t>Case Study: Enable Effective AI Use Through Work-Based Learning</a:t>
                      </a:r>
                      <a:endParaRPr sz="900" u="sng" kern="1200">
                        <a:solidFill>
                          <a:srgbClr val="000000"/>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extLst>
                  <a:ext uri="{0D108BD9-81ED-4DB2-BD59-A6C34878D82A}">
                    <a16:rowId xmlns:a16="http://schemas.microsoft.com/office/drawing/2014/main" val="10001"/>
                  </a:ext>
                </a:extLst>
              </a:tr>
              <a:tr h="1242666">
                <a:tc>
                  <a:txBody>
                    <a:bodyPr/>
                    <a:lstStyle/>
                    <a:p>
                      <a:pPr marL="0" marR="0" lvl="0" indent="0" algn="l" rtl="0">
                        <a:spcBef>
                          <a:spcPts val="0"/>
                        </a:spcBef>
                        <a:spcAft>
                          <a:spcPts val="0"/>
                        </a:spcAft>
                        <a:buNone/>
                      </a:pPr>
                      <a:r>
                        <a:rPr lang="en-US" sz="900" b="0" i="0">
                          <a:solidFill>
                            <a:schemeClr val="dk1"/>
                          </a:solidFill>
                          <a:latin typeface="+mj-lt"/>
                          <a:ea typeface="Arial"/>
                          <a:cs typeface="Arial"/>
                          <a:sym typeface="Arial"/>
                        </a:rPr>
                        <a:t>Foster a culture</a:t>
                      </a:r>
                      <a:br>
                        <a:rPr lang="en-US" sz="900" b="0" i="0">
                          <a:solidFill>
                            <a:schemeClr val="dk1"/>
                          </a:solidFill>
                          <a:latin typeface="+mj-lt"/>
                          <a:ea typeface="Arial"/>
                          <a:cs typeface="Arial"/>
                          <a:sym typeface="Arial"/>
                        </a:rPr>
                      </a:br>
                      <a:r>
                        <a:rPr lang="en-US" sz="900" b="0" i="0">
                          <a:solidFill>
                            <a:schemeClr val="dk1"/>
                          </a:solidFill>
                          <a:latin typeface="+mj-lt"/>
                          <a:ea typeface="Arial"/>
                          <a:cs typeface="Arial"/>
                          <a:sym typeface="Arial"/>
                        </a:rPr>
                        <a:t>of innovation</a:t>
                      </a:r>
                      <a:endParaRPr lang="en-US" sz="900">
                        <a:latin typeface="+mj-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tc>
                  <a:txBody>
                    <a:bodyPr/>
                    <a:lstStyle/>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Evaluate the current HR culture to understand existing behaviors and articulate a clear vision for an innovation-driven culture.</a:t>
                      </a:r>
                      <a:endParaRPr sz="900" dirty="0">
                        <a:solidFill>
                          <a:srgbClr val="000000"/>
                        </a:solidFill>
                        <a:latin typeface="+mn-lt"/>
                        <a:ea typeface="Arial"/>
                        <a:cs typeface="Arial"/>
                        <a:sym typeface="Arial"/>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Connect innovation initiatives to HR and business objectives, ensuring every employee understands their role in fostering innovation.</a:t>
                      </a:r>
                      <a:endParaRPr sz="900" dirty="0">
                        <a:solidFill>
                          <a:srgbClr val="000000"/>
                        </a:solidFill>
                        <a:latin typeface="+mn-lt"/>
                        <a:ea typeface="Arial"/>
                        <a:cs typeface="Arial"/>
                        <a:sym typeface="Arial"/>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Implement “culture hacks” such as designating time for innovation, encouraging idea sharing in meetings, and involving staff in creating new behaviors through collaboration, competitions, or gamification.</a:t>
                      </a:r>
                      <a:endParaRPr sz="900" dirty="0">
                        <a:solidFill>
                          <a:srgbClr val="000000"/>
                        </a:solidFill>
                        <a:latin typeface="+mn-lt"/>
                        <a:ea typeface="Arial"/>
                        <a:cs typeface="Arial"/>
                        <a:sym typeface="Arial"/>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Launch innovation challenges, cross-functional projects, and regular team-based exercises to encourage experimentation, proactive problem solving, and risk taking.</a:t>
                      </a:r>
                      <a:endParaRPr sz="900" dirty="0">
                        <a:solidFill>
                          <a:srgbClr val="000000"/>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tc>
                  <a:txBody>
                    <a:bodyPr/>
                    <a:lstStyle/>
                    <a:p>
                      <a:pPr marL="0" marR="0" lvl="0" indent="0" algn="l" defTabSz="914400" rtl="0" eaLnBrk="1" latinLnBrk="0" hangingPunct="1">
                        <a:lnSpc>
                          <a:spcPct val="100000"/>
                        </a:lnSpc>
                        <a:spcBef>
                          <a:spcPts val="300"/>
                        </a:spcBef>
                        <a:spcAft>
                          <a:spcPts val="0"/>
                        </a:spcAft>
                        <a:buClr>
                          <a:srgbClr val="000000"/>
                        </a:buClr>
                        <a:buSzPts val="1050"/>
                        <a:buFont typeface="Arial"/>
                        <a:buNone/>
                      </a:pPr>
                      <a:r>
                        <a:rPr lang="en-US" sz="900" u="sng" kern="1200">
                          <a:solidFill>
                            <a:srgbClr val="000000"/>
                          </a:solidFill>
                          <a:latin typeface="+mn-lt"/>
                          <a:ea typeface="Arial"/>
                          <a:cs typeface="Arial"/>
                          <a:sym typeface="Arial"/>
                          <a:hlinkClick r:id="rId4">
                            <a:extLst>
                              <a:ext uri="{A12FA001-AC4F-418D-AE19-62706E023703}">
                                <ahyp:hlinkClr xmlns:ahyp="http://schemas.microsoft.com/office/drawing/2018/hyperlinkcolor" val="tx"/>
                              </a:ext>
                            </a:extLst>
                          </a:hlinkClick>
                        </a:rPr>
                        <a:t>2026 CHRO Priority: Strengthen Culture to Power Performance</a:t>
                      </a:r>
                      <a:endParaRPr sz="900" u="sng" kern="1200">
                        <a:solidFill>
                          <a:srgbClr val="000000"/>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extLst>
                  <a:ext uri="{0D108BD9-81ED-4DB2-BD59-A6C34878D82A}">
                    <a16:rowId xmlns:a16="http://schemas.microsoft.com/office/drawing/2014/main" val="939464923"/>
                  </a:ext>
                </a:extLst>
              </a:tr>
              <a:tr h="1405217">
                <a:tc>
                  <a:txBody>
                    <a:bodyPr/>
                    <a:lstStyle/>
                    <a:p>
                      <a:pPr marL="0" marR="0" lvl="0" indent="0" algn="l" rtl="0">
                        <a:spcBef>
                          <a:spcPts val="0"/>
                        </a:spcBef>
                        <a:spcAft>
                          <a:spcPts val="0"/>
                        </a:spcAft>
                        <a:buNone/>
                      </a:pPr>
                      <a:r>
                        <a:rPr lang="en-US" sz="900" b="0" i="0">
                          <a:solidFill>
                            <a:schemeClr val="dk1"/>
                          </a:solidFill>
                          <a:latin typeface="+mj-lt"/>
                          <a:ea typeface="Arial"/>
                          <a:cs typeface="Arial"/>
                          <a:sym typeface="Arial"/>
                        </a:rPr>
                        <a:t>Recognize and reward AI-driven innovation</a:t>
                      </a:r>
                      <a:endParaRPr lang="en-US" sz="900">
                        <a:latin typeface="+mj-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28575" cap="flat" cmpd="sng" algn="ctr">
                      <a:solidFill>
                        <a:srgbClr val="707996"/>
                      </a:solidFill>
                      <a:prstDash val="solid"/>
                      <a:round/>
                      <a:headEnd type="none" w="med" len="med"/>
                      <a:tailEnd type="none" w="med" len="med"/>
                    </a:lnB>
                  </a:tcPr>
                </a:tc>
                <a:tc>
                  <a:txBody>
                    <a:bodyPr/>
                    <a:lstStyle/>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Embed recognition moments into innovation challenges, team meetings, and cross-functional projects — celebrating not just successes but also creative risk taking and lessons learned.</a:t>
                      </a:r>
                      <a:endParaRPr sz="900" dirty="0">
                        <a:solidFill>
                          <a:srgbClr val="000000"/>
                        </a:solidFill>
                        <a:latin typeface="+mn-lt"/>
                        <a:ea typeface="Arial"/>
                        <a:cs typeface="Arial"/>
                        <a:sym typeface="Arial"/>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Establish formal recognition programs — such as awards, showcases, or organization-sponsored product pilot opportunities — for individuals and teams who demonstrate AI-driven innovation.</a:t>
                      </a:r>
                      <a:endParaRPr sz="900" dirty="0">
                        <a:solidFill>
                          <a:srgbClr val="000000"/>
                        </a:solidFill>
                        <a:latin typeface="+mn-lt"/>
                        <a:ea typeface="Arial"/>
                        <a:cs typeface="Arial"/>
                        <a:sym typeface="Arial"/>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Promote a culture where both peers and leaders can nominate colleagues for their innovative contributions, ensuring recognition is inclusive and visible across HR.</a:t>
                      </a:r>
                      <a:endParaRPr sz="900" dirty="0">
                        <a:solidFill>
                          <a:srgbClr val="000000"/>
                        </a:solidFill>
                        <a:latin typeface="+mn-lt"/>
                        <a:ea typeface="Arial"/>
                        <a:cs typeface="Arial"/>
                        <a:sym typeface="Arial"/>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Regularly communicate achievements and lessons learned from AI innovation through internal channels, reinforcing the innovation culture and inspiring others to participate.</a:t>
                      </a:r>
                      <a:endParaRPr sz="900" dirty="0">
                        <a:solidFill>
                          <a:srgbClr val="000000"/>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28575" cap="flat" cmpd="sng" algn="ctr">
                      <a:solidFill>
                        <a:srgbClr val="707996"/>
                      </a:solidFill>
                      <a:prstDash val="solid"/>
                      <a:round/>
                      <a:headEnd type="none" w="med" len="med"/>
                      <a:tailEnd type="none" w="med" len="med"/>
                    </a:lnB>
                  </a:tcPr>
                </a:tc>
                <a:tc>
                  <a:txBody>
                    <a:bodyPr/>
                    <a:lstStyle/>
                    <a:p>
                      <a:pPr marL="0" marR="0" lvl="0" indent="0" algn="l" defTabSz="914400" rtl="0" eaLnBrk="1" latinLnBrk="0" hangingPunct="1">
                        <a:lnSpc>
                          <a:spcPct val="100000"/>
                        </a:lnSpc>
                        <a:spcBef>
                          <a:spcPts val="300"/>
                        </a:spcBef>
                        <a:spcAft>
                          <a:spcPts val="0"/>
                        </a:spcAft>
                        <a:buClr>
                          <a:srgbClr val="000000"/>
                        </a:buClr>
                        <a:buSzPts val="1050"/>
                        <a:buFont typeface="Arial"/>
                        <a:buNone/>
                      </a:pPr>
                      <a:r>
                        <a:rPr lang="en-US" sz="900" u="sng" kern="1200" dirty="0">
                          <a:solidFill>
                            <a:srgbClr val="000000"/>
                          </a:solidFill>
                          <a:latin typeface="+mn-lt"/>
                          <a:ea typeface="Arial"/>
                          <a:cs typeface="Arial"/>
                          <a:sym typeface="Arial"/>
                          <a:hlinkClick r:id="rId5">
                            <a:extLst>
                              <a:ext uri="{A12FA001-AC4F-418D-AE19-62706E023703}">
                                <ahyp:hlinkClr xmlns:ahyp="http://schemas.microsoft.com/office/drawing/2018/hyperlinkcolor" val="tx"/>
                              </a:ext>
                            </a:extLst>
                          </a:hlinkClick>
                        </a:rPr>
                        <a:t>Innovation Insight: Unlocking Engagement Through Recognition &amp; Reward Solutions</a:t>
                      </a:r>
                      <a:endParaRPr sz="900" u="sng" kern="1200" dirty="0">
                        <a:solidFill>
                          <a:srgbClr val="000000"/>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28575" cap="flat" cmpd="sng" algn="ctr">
                      <a:solidFill>
                        <a:srgbClr val="707996"/>
                      </a:solidFill>
                      <a:prstDash val="solid"/>
                      <a:round/>
                      <a:headEnd type="none" w="med" len="med"/>
                      <a:tailEnd type="none" w="med" len="med"/>
                    </a:lnB>
                  </a:tcPr>
                </a:tc>
                <a:extLst>
                  <a:ext uri="{0D108BD9-81ED-4DB2-BD59-A6C34878D82A}">
                    <a16:rowId xmlns:a16="http://schemas.microsoft.com/office/drawing/2014/main" val="208485627"/>
                  </a:ext>
                </a:extLst>
              </a:tr>
            </a:tbl>
          </a:graphicData>
        </a:graphic>
      </p:graphicFrame>
    </p:spTree>
    <p:extLst>
      <p:ext uri="{BB962C8B-B14F-4D97-AF65-F5344CB8AC3E}">
        <p14:creationId xmlns:p14="http://schemas.microsoft.com/office/powerpoint/2010/main" val="22613051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DC35B-ED05-D0BF-2767-11CA3837F4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A8F4F5-455F-43F6-D57F-59715607764A}"/>
              </a:ext>
            </a:extLst>
          </p:cNvPr>
          <p:cNvSpPr>
            <a:spLocks noGrp="1"/>
          </p:cNvSpPr>
          <p:nvPr>
            <p:ph type="title"/>
          </p:nvPr>
        </p:nvSpPr>
        <p:spPr/>
        <p:txBody>
          <a:bodyPr/>
          <a:lstStyle/>
          <a:p>
            <a:r>
              <a:rPr lang="en-US"/>
              <a:t>AI Governance for HR Function: Detailed Activities (1 of 3) </a:t>
            </a:r>
          </a:p>
        </p:txBody>
      </p:sp>
      <p:graphicFrame>
        <p:nvGraphicFramePr>
          <p:cNvPr id="3" name="Google Shape;513;p11">
            <a:extLst>
              <a:ext uri="{FF2B5EF4-FFF2-40B4-BE49-F238E27FC236}">
                <a16:creationId xmlns:a16="http://schemas.microsoft.com/office/drawing/2014/main" id="{BAD7E727-1F59-8DB3-3B35-5DCF9BA61B5F}"/>
              </a:ext>
            </a:extLst>
          </p:cNvPr>
          <p:cNvGraphicFramePr/>
          <p:nvPr>
            <p:extLst>
              <p:ext uri="{D42A27DB-BD31-4B8C-83A1-F6EECF244321}">
                <p14:modId xmlns:p14="http://schemas.microsoft.com/office/powerpoint/2010/main" val="3487210050"/>
              </p:ext>
            </p:extLst>
          </p:nvPr>
        </p:nvGraphicFramePr>
        <p:xfrm>
          <a:off x="474896" y="947135"/>
          <a:ext cx="11256855" cy="4005009"/>
        </p:xfrm>
        <a:graphic>
          <a:graphicData uri="http://schemas.openxmlformats.org/drawingml/2006/table">
            <a:tbl>
              <a:tblPr>
                <a:noFill/>
              </a:tblPr>
              <a:tblGrid>
                <a:gridCol w="1343630">
                  <a:extLst>
                    <a:ext uri="{9D8B030D-6E8A-4147-A177-3AD203B41FA5}">
                      <a16:colId xmlns:a16="http://schemas.microsoft.com/office/drawing/2014/main" val="20000"/>
                    </a:ext>
                  </a:extLst>
                </a:gridCol>
                <a:gridCol w="7926365">
                  <a:extLst>
                    <a:ext uri="{9D8B030D-6E8A-4147-A177-3AD203B41FA5}">
                      <a16:colId xmlns:a16="http://schemas.microsoft.com/office/drawing/2014/main" val="20001"/>
                    </a:ext>
                  </a:extLst>
                </a:gridCol>
                <a:gridCol w="1986860">
                  <a:extLst>
                    <a:ext uri="{9D8B030D-6E8A-4147-A177-3AD203B41FA5}">
                      <a16:colId xmlns:a16="http://schemas.microsoft.com/office/drawing/2014/main" val="20002"/>
                    </a:ext>
                  </a:extLst>
                </a:gridCol>
              </a:tblGrid>
              <a:tr h="341977">
                <a:tc>
                  <a:txBody>
                    <a:bodyPr/>
                    <a:lstStyle/>
                    <a:p>
                      <a:pPr marL="0" marR="0" lvl="0" indent="0" algn="l" rtl="0">
                        <a:spcBef>
                          <a:spcPts val="0"/>
                        </a:spcBef>
                        <a:spcAft>
                          <a:spcPts val="0"/>
                        </a:spcAft>
                        <a:buNone/>
                      </a:pPr>
                      <a:r>
                        <a:rPr lang="en-US" sz="900" b="1" i="0" u="none" strike="noStrike" cap="none">
                          <a:solidFill>
                            <a:schemeClr val="lt2"/>
                          </a:solidFill>
                          <a:latin typeface="+mj-lt"/>
                          <a:ea typeface="Arial"/>
                          <a:cs typeface="Arial"/>
                          <a:sym typeface="Arial"/>
                        </a:rPr>
                        <a:t>Activity</a:t>
                      </a:r>
                      <a:endParaRPr sz="900" b="1" i="0">
                        <a:solidFill>
                          <a:schemeClr val="lt2"/>
                        </a:solidFill>
                        <a:latin typeface="+mj-lt"/>
                        <a:ea typeface="Arial"/>
                        <a:cs typeface="Arial"/>
                        <a:sym typeface="Arial"/>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28575"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6872B6"/>
                    </a:solidFill>
                  </a:tcPr>
                </a:tc>
                <a:tc>
                  <a:txBody>
                    <a:bodyPr/>
                    <a:lstStyle/>
                    <a:p>
                      <a:pPr marL="0" marR="0" lvl="0" indent="0" algn="l" rtl="0">
                        <a:spcBef>
                          <a:spcPts val="0"/>
                        </a:spcBef>
                        <a:spcAft>
                          <a:spcPts val="0"/>
                        </a:spcAft>
                        <a:buNone/>
                      </a:pPr>
                      <a:r>
                        <a:rPr lang="en-US" sz="900" b="1" i="0">
                          <a:solidFill>
                            <a:schemeClr val="lt2"/>
                          </a:solidFill>
                          <a:latin typeface="+mj-lt"/>
                          <a:ea typeface="Arial"/>
                          <a:cs typeface="Arial"/>
                          <a:sym typeface="Arial"/>
                        </a:rPr>
                        <a:t>Steps</a:t>
                      </a:r>
                      <a:endParaRPr sz="900" b="1" i="0">
                        <a:solidFill>
                          <a:schemeClr val="lt2"/>
                        </a:solidFill>
                        <a:latin typeface="+mj-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28575"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6872B6"/>
                    </a:solidFill>
                  </a:tcPr>
                </a:tc>
                <a:tc>
                  <a:txBody>
                    <a:bodyPr/>
                    <a:lstStyle/>
                    <a:p>
                      <a:pPr marL="0" marR="0" lvl="0" indent="0" algn="l" rtl="0">
                        <a:spcBef>
                          <a:spcPts val="0"/>
                        </a:spcBef>
                        <a:spcAft>
                          <a:spcPts val="0"/>
                        </a:spcAft>
                        <a:buNone/>
                      </a:pPr>
                      <a:r>
                        <a:rPr lang="en-US" sz="900" b="1" i="0">
                          <a:solidFill>
                            <a:schemeClr val="lt2"/>
                          </a:solidFill>
                          <a:latin typeface="+mj-lt"/>
                          <a:ea typeface="Arial"/>
                          <a:cs typeface="Arial"/>
                          <a:sym typeface="Arial"/>
                        </a:rPr>
                        <a:t>Supporting resources</a:t>
                      </a:r>
                      <a:endParaRPr sz="900" b="1" i="0">
                        <a:solidFill>
                          <a:schemeClr val="lt2"/>
                        </a:solidFill>
                        <a:latin typeface="+mj-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28575"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6872B6"/>
                    </a:solidFill>
                  </a:tcPr>
                </a:tc>
                <a:extLst>
                  <a:ext uri="{0D108BD9-81ED-4DB2-BD59-A6C34878D82A}">
                    <a16:rowId xmlns:a16="http://schemas.microsoft.com/office/drawing/2014/main" val="10000"/>
                  </a:ext>
                </a:extLst>
              </a:tr>
              <a:tr h="1074903">
                <a:tc>
                  <a:txBody>
                    <a:bodyPr/>
                    <a:lstStyle/>
                    <a:p>
                      <a:pPr marL="0" marR="0" lvl="0" indent="0" algn="l" rtl="0">
                        <a:spcBef>
                          <a:spcPts val="0"/>
                        </a:spcBef>
                        <a:spcAft>
                          <a:spcPts val="0"/>
                        </a:spcAft>
                        <a:buNone/>
                      </a:pPr>
                      <a:r>
                        <a:rPr lang="en-US" sz="900" b="0" i="0">
                          <a:solidFill>
                            <a:schemeClr val="dk1"/>
                          </a:solidFill>
                          <a:latin typeface="+mj-lt"/>
                          <a:ea typeface="Arial"/>
                          <a:cs typeface="Arial"/>
                          <a:sym typeface="Arial"/>
                        </a:rPr>
                        <a:t>Form an HR AI governance team</a:t>
                      </a:r>
                      <a:endParaRPr lang="en-US" sz="900">
                        <a:latin typeface="+mj-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tc>
                  <a:txBody>
                    <a:bodyPr/>
                    <a:lstStyle/>
                    <a:p>
                      <a:pPr marL="173736" marR="0" lvl="0" indent="-173736" algn="l" rtl="0">
                        <a:lnSpc>
                          <a:spcPct val="90000"/>
                        </a:lnSpc>
                        <a:spcBef>
                          <a:spcPts val="300"/>
                        </a:spcBef>
                        <a:spcAft>
                          <a:spcPts val="0"/>
                        </a:spcAft>
                        <a:buClr>
                          <a:srgbClr val="000000"/>
                        </a:buClr>
                        <a:buSzPct val="100000"/>
                        <a:buFont typeface="+mj-lt"/>
                        <a:buAutoNum type="arabicPeriod"/>
                      </a:pPr>
                      <a:r>
                        <a:rPr lang="en-US" sz="900" dirty="0">
                          <a:solidFill>
                            <a:srgbClr val="000000"/>
                          </a:solidFill>
                          <a:latin typeface="+mn-lt"/>
                          <a:ea typeface="Arial"/>
                          <a:cs typeface="Arial"/>
                          <a:sym typeface="Arial"/>
                        </a:rPr>
                        <a:t>Clarify the purpose, mandate and scope of the HR AI governance team.</a:t>
                      </a:r>
                      <a:endParaRPr sz="900" dirty="0">
                        <a:solidFill>
                          <a:srgbClr val="000000"/>
                        </a:solidFill>
                        <a:latin typeface="+mn-lt"/>
                        <a:ea typeface="Arial"/>
                        <a:cs typeface="Arial"/>
                        <a:sym typeface="Arial"/>
                      </a:endParaRPr>
                    </a:p>
                    <a:p>
                      <a:pPr marL="173736" marR="0" lvl="0" indent="-173736" algn="l" rtl="0">
                        <a:lnSpc>
                          <a:spcPct val="90000"/>
                        </a:lnSpc>
                        <a:spcBef>
                          <a:spcPts val="300"/>
                        </a:spcBef>
                        <a:spcAft>
                          <a:spcPts val="0"/>
                        </a:spcAft>
                        <a:buClr>
                          <a:srgbClr val="000000"/>
                        </a:buClr>
                        <a:buSzPct val="100000"/>
                        <a:buFont typeface="+mj-lt"/>
                        <a:buAutoNum type="arabicPeriod"/>
                      </a:pPr>
                      <a:r>
                        <a:rPr lang="en-US" sz="900" dirty="0">
                          <a:solidFill>
                            <a:srgbClr val="000000"/>
                          </a:solidFill>
                          <a:latin typeface="+mn-lt"/>
                          <a:ea typeface="Arial"/>
                          <a:cs typeface="Arial"/>
                          <a:sym typeface="Arial"/>
                        </a:rPr>
                        <a:t>Select members from key functional HR domains (e.g., HR technology, HR operations, talent COE, etc.).</a:t>
                      </a:r>
                      <a:endParaRPr sz="900" dirty="0">
                        <a:latin typeface="+mn-lt"/>
                      </a:endParaRPr>
                    </a:p>
                    <a:p>
                      <a:pPr marL="173736" marR="0" lvl="0" indent="-173736" algn="l" rtl="0">
                        <a:lnSpc>
                          <a:spcPct val="90000"/>
                        </a:lnSpc>
                        <a:spcBef>
                          <a:spcPts val="300"/>
                        </a:spcBef>
                        <a:spcAft>
                          <a:spcPts val="0"/>
                        </a:spcAft>
                        <a:buClr>
                          <a:srgbClr val="000000"/>
                        </a:buClr>
                        <a:buSzPct val="100000"/>
                        <a:buFont typeface="+mj-lt"/>
                        <a:buAutoNum type="arabicPeriod"/>
                      </a:pPr>
                      <a:r>
                        <a:rPr lang="en-US" sz="900" dirty="0">
                          <a:solidFill>
                            <a:srgbClr val="000000"/>
                          </a:solidFill>
                          <a:latin typeface="+mn-lt"/>
                          <a:ea typeface="Arial"/>
                          <a:cs typeface="Arial"/>
                          <a:sym typeface="Arial"/>
                        </a:rPr>
                        <a:t>Define clear roles and responsibilities and establish ownership.</a:t>
                      </a:r>
                      <a:endParaRPr sz="900" dirty="0">
                        <a:latin typeface="+mn-lt"/>
                      </a:endParaRPr>
                    </a:p>
                    <a:p>
                      <a:pPr marL="173736" marR="0" lvl="0" indent="-173736" algn="l" rtl="0">
                        <a:lnSpc>
                          <a:spcPct val="90000"/>
                        </a:lnSpc>
                        <a:spcBef>
                          <a:spcPts val="300"/>
                        </a:spcBef>
                        <a:spcAft>
                          <a:spcPts val="0"/>
                        </a:spcAft>
                        <a:buClr>
                          <a:srgbClr val="000000"/>
                        </a:buClr>
                        <a:buSzPct val="100000"/>
                        <a:buFont typeface="+mj-lt"/>
                        <a:buAutoNum type="arabicPeriod"/>
                      </a:pPr>
                      <a:r>
                        <a:rPr lang="en-US" sz="900" dirty="0">
                          <a:solidFill>
                            <a:srgbClr val="000000"/>
                          </a:solidFill>
                          <a:latin typeface="+mn-lt"/>
                          <a:ea typeface="Arial"/>
                          <a:cs typeface="Arial"/>
                          <a:sym typeface="Arial"/>
                        </a:rPr>
                        <a:t>Set team meeting structure, cadence, escalation paths, and decision-making workflows.</a:t>
                      </a:r>
                      <a:endParaRPr sz="900" dirty="0">
                        <a:solidFill>
                          <a:srgbClr val="000000"/>
                        </a:solidFill>
                        <a:latin typeface="+mn-lt"/>
                        <a:ea typeface="Arial"/>
                        <a:cs typeface="Arial"/>
                        <a:sym typeface="Arial"/>
                      </a:endParaRPr>
                    </a:p>
                    <a:p>
                      <a:pPr marL="173736" marR="0" lvl="0" indent="-173736" algn="l" rtl="0">
                        <a:lnSpc>
                          <a:spcPct val="90000"/>
                        </a:lnSpc>
                        <a:spcBef>
                          <a:spcPts val="300"/>
                        </a:spcBef>
                        <a:spcAft>
                          <a:spcPts val="0"/>
                        </a:spcAft>
                        <a:buClr>
                          <a:srgbClr val="000000"/>
                        </a:buClr>
                        <a:buSzPct val="100000"/>
                        <a:buFont typeface="+mj-lt"/>
                        <a:buAutoNum type="arabicPeriod"/>
                      </a:pPr>
                      <a:r>
                        <a:rPr lang="en-US" sz="900" dirty="0">
                          <a:solidFill>
                            <a:srgbClr val="000000"/>
                          </a:solidFill>
                          <a:latin typeface="+mn-lt"/>
                          <a:ea typeface="Arial"/>
                          <a:cs typeface="Arial"/>
                          <a:sym typeface="Arial"/>
                        </a:rPr>
                        <a:t>Align with enterprise AI governance structures to ensure consistency.</a:t>
                      </a:r>
                      <a:endParaRPr sz="900" dirty="0">
                        <a:solidFill>
                          <a:srgbClr val="000000"/>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tc>
                  <a:txBody>
                    <a:bodyPr/>
                    <a:lstStyle/>
                    <a:p>
                      <a:pPr marL="0" marR="0" lvl="0" indent="0" algn="l" defTabSz="914400" rtl="0" eaLnBrk="1" latinLnBrk="0" hangingPunct="1">
                        <a:lnSpc>
                          <a:spcPct val="100000"/>
                        </a:lnSpc>
                        <a:spcBef>
                          <a:spcPts val="300"/>
                        </a:spcBef>
                        <a:spcAft>
                          <a:spcPts val="0"/>
                        </a:spcAft>
                        <a:buClr>
                          <a:srgbClr val="000000"/>
                        </a:buClr>
                        <a:buSzPts val="1050"/>
                        <a:buFont typeface="Arial"/>
                        <a:buNone/>
                      </a:pPr>
                      <a:r>
                        <a:rPr lang="en-US" sz="900" u="sng" kern="1200">
                          <a:solidFill>
                            <a:srgbClr val="000000"/>
                          </a:solidFill>
                          <a:latin typeface="+mn-lt"/>
                          <a:ea typeface="Arial"/>
                          <a:cs typeface="Arial"/>
                          <a:sym typeface="Arial"/>
                          <a:hlinkClick r:id="rId2">
                            <a:extLst>
                              <a:ext uri="{A12FA001-AC4F-418D-AE19-62706E023703}">
                                <ahyp:hlinkClr xmlns:ahyp="http://schemas.microsoft.com/office/drawing/2018/hyperlinkcolor" val="tx"/>
                              </a:ext>
                            </a:extLst>
                          </a:hlinkClick>
                        </a:rPr>
                        <a:t>Quick Answer: Do Enterprises Need an AI Board?</a:t>
                      </a:r>
                      <a:endParaRPr sz="900" u="sng" kern="1200">
                        <a:solidFill>
                          <a:srgbClr val="000000"/>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extLst>
                  <a:ext uri="{0D108BD9-81ED-4DB2-BD59-A6C34878D82A}">
                    <a16:rowId xmlns:a16="http://schemas.microsoft.com/office/drawing/2014/main" val="10001"/>
                  </a:ext>
                </a:extLst>
              </a:tr>
              <a:tr h="1214623">
                <a:tc>
                  <a:txBody>
                    <a:bodyPr/>
                    <a:lstStyle/>
                    <a:p>
                      <a:pPr marL="0" marR="0" lvl="0" indent="0" algn="l" rtl="0">
                        <a:spcBef>
                          <a:spcPts val="0"/>
                        </a:spcBef>
                        <a:spcAft>
                          <a:spcPts val="0"/>
                        </a:spcAft>
                        <a:buNone/>
                      </a:pPr>
                      <a:r>
                        <a:rPr lang="en-US" sz="900" b="0" i="0">
                          <a:solidFill>
                            <a:schemeClr val="dk1"/>
                          </a:solidFill>
                          <a:latin typeface="+mj-lt"/>
                          <a:ea typeface="Arial"/>
                          <a:cs typeface="Arial"/>
                          <a:sym typeface="Arial"/>
                        </a:rPr>
                        <a:t>Participate in the enterprise AI governance council</a:t>
                      </a:r>
                      <a:endParaRPr lang="en-US" sz="900">
                        <a:latin typeface="+mj-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tc>
                  <a:txBody>
                    <a:bodyPr/>
                    <a:lstStyle/>
                    <a:p>
                      <a:pPr marL="173736" marR="0" lvl="0" indent="-173736" algn="l" rtl="0">
                        <a:lnSpc>
                          <a:spcPct val="90000"/>
                        </a:lnSpc>
                        <a:spcBef>
                          <a:spcPts val="300"/>
                        </a:spcBef>
                        <a:spcAft>
                          <a:spcPts val="0"/>
                        </a:spcAft>
                        <a:buClr>
                          <a:srgbClr val="000000"/>
                        </a:buClr>
                        <a:buSzPct val="100000"/>
                        <a:buFont typeface="+mj-lt"/>
                        <a:buAutoNum type="arabicPeriod"/>
                      </a:pPr>
                      <a:r>
                        <a:rPr lang="en-US" sz="900" dirty="0">
                          <a:solidFill>
                            <a:srgbClr val="000000"/>
                          </a:solidFill>
                          <a:latin typeface="+mn-lt"/>
                          <a:ea typeface="Arial"/>
                          <a:cs typeface="Arial"/>
                          <a:sym typeface="Arial"/>
                        </a:rPr>
                        <a:t>Nominate and assign HR team members with decision authority and strong business understanding.</a:t>
                      </a:r>
                      <a:endParaRPr sz="900" dirty="0">
                        <a:latin typeface="+mn-lt"/>
                      </a:endParaRPr>
                    </a:p>
                    <a:p>
                      <a:pPr marL="173736" marR="0" lvl="0" indent="-173736" algn="l" rtl="0">
                        <a:lnSpc>
                          <a:spcPct val="90000"/>
                        </a:lnSpc>
                        <a:spcBef>
                          <a:spcPts val="300"/>
                        </a:spcBef>
                        <a:spcAft>
                          <a:spcPts val="0"/>
                        </a:spcAft>
                        <a:buClr>
                          <a:srgbClr val="000000"/>
                        </a:buClr>
                        <a:buSzPct val="100000"/>
                        <a:buFont typeface="+mj-lt"/>
                        <a:buAutoNum type="arabicPeriod"/>
                      </a:pPr>
                      <a:r>
                        <a:rPr lang="en-US" sz="900" dirty="0">
                          <a:solidFill>
                            <a:srgbClr val="000000"/>
                          </a:solidFill>
                          <a:latin typeface="+mn-lt"/>
                          <a:ea typeface="Arial"/>
                          <a:cs typeface="Arial"/>
                          <a:sym typeface="Arial"/>
                        </a:rPr>
                        <a:t>Define HR governance input areas and clarify where HR contributes (e.g., workforce impact, employee data usage, ethical considerations, etc.).</a:t>
                      </a:r>
                      <a:endParaRPr sz="900" dirty="0">
                        <a:solidFill>
                          <a:srgbClr val="000000"/>
                        </a:solidFill>
                        <a:latin typeface="+mn-lt"/>
                        <a:ea typeface="Arial"/>
                        <a:cs typeface="Arial"/>
                        <a:sym typeface="Arial"/>
                      </a:endParaRPr>
                    </a:p>
                    <a:p>
                      <a:pPr marL="173736" marR="0" lvl="0" indent="-173736" algn="l" rtl="0">
                        <a:lnSpc>
                          <a:spcPct val="90000"/>
                        </a:lnSpc>
                        <a:spcBef>
                          <a:spcPts val="300"/>
                        </a:spcBef>
                        <a:spcAft>
                          <a:spcPts val="0"/>
                        </a:spcAft>
                        <a:buClr>
                          <a:srgbClr val="000000"/>
                        </a:buClr>
                        <a:buSzPct val="100000"/>
                        <a:buFont typeface="+mj-lt"/>
                        <a:buAutoNum type="arabicPeriod"/>
                      </a:pPr>
                      <a:r>
                        <a:rPr lang="en-US" sz="900" dirty="0">
                          <a:solidFill>
                            <a:srgbClr val="000000"/>
                          </a:solidFill>
                          <a:latin typeface="+mn-lt"/>
                          <a:ea typeface="Arial"/>
                          <a:cs typeface="Arial"/>
                          <a:sym typeface="Arial"/>
                        </a:rPr>
                        <a:t>Establish structured reporting mechanisms from HR towards the enterprise AI governance council an HR AI use cases, risks or</a:t>
                      </a:r>
                      <a:br>
                        <a:rPr lang="en-US" sz="900" dirty="0">
                          <a:solidFill>
                            <a:srgbClr val="000000"/>
                          </a:solidFill>
                          <a:latin typeface="+mn-lt"/>
                          <a:ea typeface="Arial"/>
                          <a:cs typeface="Arial"/>
                          <a:sym typeface="Arial"/>
                        </a:rPr>
                      </a:br>
                      <a:r>
                        <a:rPr lang="en-US" sz="900" dirty="0">
                          <a:solidFill>
                            <a:srgbClr val="000000"/>
                          </a:solidFill>
                          <a:latin typeface="+mn-lt"/>
                          <a:ea typeface="Arial"/>
                          <a:cs typeface="Arial"/>
                          <a:sym typeface="Arial"/>
                        </a:rPr>
                        <a:t>policy implications.</a:t>
                      </a:r>
                      <a:endParaRPr sz="900" dirty="0">
                        <a:latin typeface="+mn-lt"/>
                      </a:endParaRPr>
                    </a:p>
                    <a:p>
                      <a:pPr marL="173736" marR="0" lvl="0" indent="-173736" algn="l" rtl="0">
                        <a:lnSpc>
                          <a:spcPct val="90000"/>
                        </a:lnSpc>
                        <a:spcBef>
                          <a:spcPts val="300"/>
                        </a:spcBef>
                        <a:spcAft>
                          <a:spcPts val="0"/>
                        </a:spcAft>
                        <a:buClr>
                          <a:srgbClr val="000000"/>
                        </a:buClr>
                        <a:buSzPct val="100000"/>
                        <a:buFont typeface="+mj-lt"/>
                        <a:buAutoNum type="arabicPeriod"/>
                      </a:pPr>
                      <a:r>
                        <a:rPr lang="en-US" sz="900" dirty="0">
                          <a:solidFill>
                            <a:srgbClr val="000000"/>
                          </a:solidFill>
                          <a:latin typeface="+mn-lt"/>
                          <a:ea typeface="Arial"/>
                          <a:cs typeface="Arial"/>
                          <a:sym typeface="Arial"/>
                        </a:rPr>
                        <a:t>Continuously feedback HR specific risks, insights and emerging HR-related AI challenges.</a:t>
                      </a:r>
                      <a:endParaRPr sz="900" dirty="0">
                        <a:solidFill>
                          <a:srgbClr val="000000"/>
                        </a:solidFill>
                        <a:latin typeface="+mn-lt"/>
                        <a:ea typeface="Arial"/>
                        <a:cs typeface="Arial"/>
                        <a:sym typeface="Arial"/>
                      </a:endParaRPr>
                    </a:p>
                    <a:p>
                      <a:pPr marL="173736" marR="0" lvl="0" indent="-173736" algn="l" rtl="0">
                        <a:lnSpc>
                          <a:spcPct val="90000"/>
                        </a:lnSpc>
                        <a:spcBef>
                          <a:spcPts val="300"/>
                        </a:spcBef>
                        <a:spcAft>
                          <a:spcPts val="0"/>
                        </a:spcAft>
                        <a:buClr>
                          <a:srgbClr val="000000"/>
                        </a:buClr>
                        <a:buSzPct val="100000"/>
                        <a:buFont typeface="+mj-lt"/>
                        <a:buAutoNum type="arabicPeriod"/>
                      </a:pPr>
                      <a:r>
                        <a:rPr lang="en-US" sz="900" dirty="0">
                          <a:solidFill>
                            <a:srgbClr val="000000"/>
                          </a:solidFill>
                          <a:latin typeface="+mn-lt"/>
                          <a:ea typeface="Arial"/>
                          <a:cs typeface="Arial"/>
                          <a:sym typeface="Arial"/>
                        </a:rPr>
                        <a:t>Ensure enterprise decisions are translated and reported back into the HR AI governance team to ensure enterprise decisions</a:t>
                      </a:r>
                      <a:br>
                        <a:rPr lang="en-US" sz="900" dirty="0">
                          <a:solidFill>
                            <a:srgbClr val="000000"/>
                          </a:solidFill>
                          <a:latin typeface="+mn-lt"/>
                          <a:ea typeface="Arial"/>
                          <a:cs typeface="Arial"/>
                          <a:sym typeface="Arial"/>
                        </a:rPr>
                      </a:br>
                      <a:r>
                        <a:rPr lang="en-US" sz="900" dirty="0">
                          <a:solidFill>
                            <a:srgbClr val="000000"/>
                          </a:solidFill>
                          <a:latin typeface="+mn-lt"/>
                          <a:ea typeface="Arial"/>
                          <a:cs typeface="Arial"/>
                          <a:sym typeface="Arial"/>
                        </a:rPr>
                        <a:t>are adapted into frameworks, policies and controls for HR.</a:t>
                      </a:r>
                      <a:endParaRPr sz="900" dirty="0">
                        <a:solidFill>
                          <a:srgbClr val="000000"/>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tc>
                  <a:txBody>
                    <a:bodyPr/>
                    <a:lstStyle/>
                    <a:p>
                      <a:pPr marL="0" marR="0" lvl="0" indent="0" algn="l" defTabSz="914400" rtl="0" eaLnBrk="1" latinLnBrk="0" hangingPunct="1">
                        <a:lnSpc>
                          <a:spcPct val="100000"/>
                        </a:lnSpc>
                        <a:spcBef>
                          <a:spcPts val="300"/>
                        </a:spcBef>
                        <a:spcAft>
                          <a:spcPts val="0"/>
                        </a:spcAft>
                        <a:buClr>
                          <a:srgbClr val="000000"/>
                        </a:buClr>
                        <a:buSzPts val="1050"/>
                        <a:buFont typeface="Arial"/>
                        <a:buNone/>
                      </a:pPr>
                      <a:r>
                        <a:rPr lang="en-US" sz="900" u="sng" kern="1200">
                          <a:solidFill>
                            <a:srgbClr val="000000"/>
                          </a:solidFill>
                          <a:latin typeface="+mn-lt"/>
                          <a:ea typeface="Arial"/>
                          <a:cs typeface="Arial"/>
                          <a:sym typeface="Arial"/>
                          <a:hlinkClick r:id="rId2">
                            <a:extLst>
                              <a:ext uri="{A12FA001-AC4F-418D-AE19-62706E023703}">
                                <ahyp:hlinkClr xmlns:ahyp="http://schemas.microsoft.com/office/drawing/2018/hyperlinkcolor" val="tx"/>
                              </a:ext>
                            </a:extLst>
                          </a:hlinkClick>
                        </a:rPr>
                        <a:t>Quick Answer: Do Enterprises Need an AI Board?</a:t>
                      </a:r>
                      <a:endParaRPr sz="900" u="sng" kern="1200">
                        <a:solidFill>
                          <a:srgbClr val="000000"/>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extLst>
                  <a:ext uri="{0D108BD9-81ED-4DB2-BD59-A6C34878D82A}">
                    <a16:rowId xmlns:a16="http://schemas.microsoft.com/office/drawing/2014/main" val="939464923"/>
                  </a:ext>
                </a:extLst>
              </a:tr>
              <a:tr h="1373506">
                <a:tc>
                  <a:txBody>
                    <a:bodyPr/>
                    <a:lstStyle/>
                    <a:p>
                      <a:pPr marL="0" marR="0" lvl="0" indent="0" algn="l" rtl="0">
                        <a:spcBef>
                          <a:spcPts val="0"/>
                        </a:spcBef>
                        <a:spcAft>
                          <a:spcPts val="0"/>
                        </a:spcAft>
                        <a:buNone/>
                      </a:pPr>
                      <a:r>
                        <a:rPr lang="en-US" sz="900" b="0" i="0" u="none" strike="noStrike" cap="none">
                          <a:solidFill>
                            <a:srgbClr val="000000"/>
                          </a:solidFill>
                          <a:latin typeface="+mj-lt"/>
                          <a:ea typeface="Arial"/>
                          <a:cs typeface="Arial"/>
                          <a:sym typeface="Arial"/>
                        </a:rPr>
                        <a:t>Define governance decision rights and stakeholders in HR</a:t>
                      </a:r>
                      <a:endParaRPr lang="en-US" sz="900">
                        <a:latin typeface="+mj-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28575" cap="flat" cmpd="sng" algn="ctr">
                      <a:solidFill>
                        <a:srgbClr val="707996"/>
                      </a:solidFill>
                      <a:prstDash val="solid"/>
                      <a:round/>
                      <a:headEnd type="none" w="med" len="med"/>
                      <a:tailEnd type="none" w="med" len="med"/>
                    </a:lnB>
                  </a:tcPr>
                </a:tc>
                <a:tc>
                  <a:txBody>
                    <a:bodyPr/>
                    <a:lstStyle/>
                    <a:p>
                      <a:pPr marL="173736" marR="0" lvl="0" indent="-173736" algn="l" rtl="0">
                        <a:lnSpc>
                          <a:spcPct val="90000"/>
                        </a:lnSpc>
                        <a:spcBef>
                          <a:spcPts val="300"/>
                        </a:spcBef>
                        <a:spcAft>
                          <a:spcPts val="0"/>
                        </a:spcAft>
                        <a:buClr>
                          <a:srgbClr val="000000"/>
                        </a:buClr>
                        <a:buSzPct val="100000"/>
                        <a:buFont typeface="+mj-lt"/>
                        <a:buAutoNum type="arabicPeriod"/>
                      </a:pPr>
                      <a:r>
                        <a:rPr lang="en-US" sz="900">
                          <a:solidFill>
                            <a:srgbClr val="000000"/>
                          </a:solidFill>
                          <a:latin typeface="+mn-lt"/>
                          <a:ea typeface="Arial"/>
                          <a:cs typeface="Arial"/>
                          <a:sym typeface="Arial"/>
                        </a:rPr>
                        <a:t>Identify key HR AI decisions and decision types (e.g., use case approval, vendor selection, risk classification).</a:t>
                      </a:r>
                      <a:endParaRPr sz="900">
                        <a:latin typeface="+mn-lt"/>
                      </a:endParaRPr>
                    </a:p>
                    <a:p>
                      <a:pPr marL="173736" marR="0" lvl="0" indent="-173736" algn="l" rtl="0">
                        <a:lnSpc>
                          <a:spcPct val="90000"/>
                        </a:lnSpc>
                        <a:spcBef>
                          <a:spcPts val="300"/>
                        </a:spcBef>
                        <a:spcAft>
                          <a:spcPts val="0"/>
                        </a:spcAft>
                        <a:buClr>
                          <a:srgbClr val="000000"/>
                        </a:buClr>
                        <a:buSzPct val="100000"/>
                        <a:buFont typeface="+mj-lt"/>
                        <a:buAutoNum type="arabicPeriod"/>
                      </a:pPr>
                      <a:r>
                        <a:rPr lang="en-US" sz="900">
                          <a:solidFill>
                            <a:srgbClr val="000000"/>
                          </a:solidFill>
                          <a:latin typeface="+mn-lt"/>
                          <a:ea typeface="Arial"/>
                          <a:cs typeface="Arial"/>
                          <a:sym typeface="Arial"/>
                        </a:rPr>
                        <a:t>Define decision rights and authority levels for the HR AI governance team vs enterprise-AI governance team.</a:t>
                      </a:r>
                      <a:endParaRPr sz="900">
                        <a:latin typeface="+mn-lt"/>
                      </a:endParaRPr>
                    </a:p>
                    <a:p>
                      <a:pPr marL="173736" marR="0" lvl="0" indent="-173736" algn="l" rtl="0">
                        <a:lnSpc>
                          <a:spcPct val="90000"/>
                        </a:lnSpc>
                        <a:spcBef>
                          <a:spcPts val="300"/>
                        </a:spcBef>
                        <a:spcAft>
                          <a:spcPts val="0"/>
                        </a:spcAft>
                        <a:buClr>
                          <a:srgbClr val="000000"/>
                        </a:buClr>
                        <a:buSzPct val="100000"/>
                        <a:buFont typeface="+mj-lt"/>
                        <a:buAutoNum type="arabicPeriod"/>
                      </a:pPr>
                      <a:r>
                        <a:rPr lang="en-US" sz="900">
                          <a:solidFill>
                            <a:srgbClr val="000000"/>
                          </a:solidFill>
                          <a:latin typeface="+mn-lt"/>
                          <a:ea typeface="Arial"/>
                          <a:cs typeface="Arial"/>
                          <a:sym typeface="Arial"/>
                        </a:rPr>
                        <a:t>Create governance workflows and escalation paths to define how decisions are made, reviewed, and escalated in high-risk cases.</a:t>
                      </a:r>
                      <a:endParaRPr sz="900">
                        <a:latin typeface="+mn-lt"/>
                      </a:endParaRPr>
                    </a:p>
                    <a:p>
                      <a:pPr marL="173736" marR="0" lvl="0" indent="-173736" algn="l" rtl="0">
                        <a:lnSpc>
                          <a:spcPct val="90000"/>
                        </a:lnSpc>
                        <a:spcBef>
                          <a:spcPts val="300"/>
                        </a:spcBef>
                        <a:spcAft>
                          <a:spcPts val="0"/>
                        </a:spcAft>
                        <a:buClr>
                          <a:srgbClr val="000000"/>
                        </a:buClr>
                        <a:buSzPct val="100000"/>
                        <a:buFont typeface="+mj-lt"/>
                        <a:buAutoNum type="arabicPeriod"/>
                      </a:pPr>
                      <a:r>
                        <a:rPr lang="en-US" sz="900">
                          <a:solidFill>
                            <a:srgbClr val="000000"/>
                          </a:solidFill>
                          <a:latin typeface="+mn-lt"/>
                          <a:ea typeface="Arial"/>
                          <a:cs typeface="Arial"/>
                          <a:sym typeface="Arial"/>
                        </a:rPr>
                        <a:t>Implement clear documentation standards to ensure accountability and auditability.</a:t>
                      </a:r>
                      <a:endParaRPr sz="900">
                        <a:latin typeface="+mn-lt"/>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28575" cap="flat" cmpd="sng" algn="ctr">
                      <a:solidFill>
                        <a:srgbClr val="707996"/>
                      </a:solidFill>
                      <a:prstDash val="solid"/>
                      <a:round/>
                      <a:headEnd type="none" w="med" len="med"/>
                      <a:tailEnd type="none" w="med" len="med"/>
                    </a:lnB>
                  </a:tcPr>
                </a:tc>
                <a:tc>
                  <a:txBody>
                    <a:bodyPr/>
                    <a:lstStyle/>
                    <a:p>
                      <a:pPr marL="0" marR="0" lvl="0" indent="0" algn="l" defTabSz="914400" rtl="0" eaLnBrk="1" latinLnBrk="0" hangingPunct="1">
                        <a:lnSpc>
                          <a:spcPct val="100000"/>
                        </a:lnSpc>
                        <a:spcBef>
                          <a:spcPts val="300"/>
                        </a:spcBef>
                        <a:spcAft>
                          <a:spcPts val="0"/>
                        </a:spcAft>
                        <a:buClr>
                          <a:srgbClr val="000000"/>
                        </a:buClr>
                        <a:buSzPts val="1050"/>
                        <a:buFont typeface="Arial"/>
                        <a:buNone/>
                      </a:pPr>
                      <a:r>
                        <a:rPr lang="en-US" sz="900" u="sng" kern="1200" dirty="0">
                          <a:solidFill>
                            <a:srgbClr val="000000"/>
                          </a:solidFill>
                          <a:latin typeface="+mn-lt"/>
                          <a:ea typeface="Arial"/>
                          <a:cs typeface="Arial"/>
                          <a:sym typeface="Arial"/>
                          <a:hlinkClick r:id="rId3">
                            <a:extLst>
                              <a:ext uri="{A12FA001-AC4F-418D-AE19-62706E023703}">
                                <ahyp:hlinkClr xmlns:ahyp="http://schemas.microsoft.com/office/drawing/2018/hyperlinkcolor" val="tx"/>
                              </a:ext>
                            </a:extLst>
                          </a:hlinkClick>
                        </a:rPr>
                        <a:t>Artificial Intelligence Requires an Extended Governance Framework,</a:t>
                      </a:r>
                      <a:r>
                        <a:rPr lang="en-US" sz="900" u="sng" kern="1200" dirty="0">
                          <a:solidFill>
                            <a:srgbClr val="000000"/>
                          </a:solidFill>
                          <a:latin typeface="+mn-lt"/>
                          <a:ea typeface="Arial"/>
                          <a:cs typeface="Arial"/>
                          <a:sym typeface="Arial"/>
                        </a:rPr>
                        <a:t> </a:t>
                      </a:r>
                      <a:r>
                        <a:rPr lang="en-US" sz="900" u="sng" kern="1200" dirty="0">
                          <a:solidFill>
                            <a:srgbClr val="000000"/>
                          </a:solidFill>
                          <a:latin typeface="+mn-lt"/>
                          <a:ea typeface="Arial"/>
                          <a:cs typeface="Arial"/>
                          <a:sym typeface="Arial"/>
                          <a:hlinkClick r:id="rId4">
                            <a:extLst>
                              <a:ext uri="{A12FA001-AC4F-418D-AE19-62706E023703}">
                                <ahyp:hlinkClr xmlns:ahyp="http://schemas.microsoft.com/office/drawing/2018/hyperlinkcolor" val="tx"/>
                              </a:ext>
                            </a:extLst>
                          </a:hlinkClick>
                        </a:rPr>
                        <a:t>How to Design an Effective AI Governance Operating Model</a:t>
                      </a:r>
                      <a:r>
                        <a:rPr lang="en-US" sz="900" u="sng" kern="1200" dirty="0">
                          <a:solidFill>
                            <a:srgbClr val="000000"/>
                          </a:solidFill>
                          <a:latin typeface="+mn-lt"/>
                          <a:ea typeface="Arial"/>
                          <a:cs typeface="Arial"/>
                          <a:sym typeface="Arial"/>
                        </a:rPr>
                        <a:t>, </a:t>
                      </a:r>
                      <a:r>
                        <a:rPr lang="en-US" sz="900" u="sng" kern="1200" dirty="0">
                          <a:solidFill>
                            <a:srgbClr val="000000"/>
                          </a:solidFill>
                          <a:latin typeface="+mn-lt"/>
                          <a:ea typeface="Arial"/>
                          <a:cs typeface="Arial"/>
                          <a:sym typeface="Arial"/>
                          <a:hlinkClick r:id="rId5">
                            <a:extLst>
                              <a:ext uri="{A12FA001-AC4F-418D-AE19-62706E023703}">
                                <ahyp:hlinkClr xmlns:ahyp="http://schemas.microsoft.com/office/drawing/2018/hyperlinkcolor" val="tx"/>
                              </a:ext>
                            </a:extLst>
                          </a:hlinkClick>
                        </a:rPr>
                        <a:t>Create an AI Literacy Roadmap</a:t>
                      </a:r>
                      <a:br>
                        <a:rPr lang="en-US" sz="900" u="sng" kern="1200" dirty="0">
                          <a:solidFill>
                            <a:srgbClr val="000000"/>
                          </a:solidFill>
                          <a:latin typeface="+mn-lt"/>
                          <a:ea typeface="Arial"/>
                          <a:cs typeface="Arial"/>
                          <a:sym typeface="Arial"/>
                          <a:hlinkClick r:id="rId5">
                            <a:extLst>
                              <a:ext uri="{A12FA001-AC4F-418D-AE19-62706E023703}">
                                <ahyp:hlinkClr xmlns:ahyp="http://schemas.microsoft.com/office/drawing/2018/hyperlinkcolor" val="tx"/>
                              </a:ext>
                            </a:extLst>
                          </a:hlinkClick>
                        </a:rPr>
                      </a:br>
                      <a:r>
                        <a:rPr lang="en-US" sz="900" u="sng" kern="1200" dirty="0">
                          <a:solidFill>
                            <a:srgbClr val="000000"/>
                          </a:solidFill>
                          <a:latin typeface="+mn-lt"/>
                          <a:ea typeface="Arial"/>
                          <a:cs typeface="Arial"/>
                          <a:sym typeface="Arial"/>
                          <a:hlinkClick r:id="rId5">
                            <a:extLst>
                              <a:ext uri="{A12FA001-AC4F-418D-AE19-62706E023703}">
                                <ahyp:hlinkClr xmlns:ahyp="http://schemas.microsoft.com/office/drawing/2018/hyperlinkcolor" val="tx"/>
                              </a:ext>
                            </a:extLst>
                          </a:hlinkClick>
                        </a:rPr>
                        <a:t>to Drive Responsible and Productive AI</a:t>
                      </a:r>
                      <a:endParaRPr sz="900" u="sng" kern="1200" dirty="0">
                        <a:solidFill>
                          <a:srgbClr val="000000"/>
                        </a:solidFill>
                        <a:latin typeface="+mn-lt"/>
                        <a:ea typeface="Arial"/>
                        <a:cs typeface="Arial"/>
                        <a:sym typeface="Arial"/>
                        <a:hlinkClick r:id="rId5">
                          <a:extLst>
                            <a:ext uri="{A12FA001-AC4F-418D-AE19-62706E023703}">
                              <ahyp:hlinkClr xmlns:ahyp="http://schemas.microsoft.com/office/drawing/2018/hyperlinkcolor" val="tx"/>
                            </a:ext>
                          </a:extLst>
                        </a:hlinkClick>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28575" cap="flat" cmpd="sng" algn="ctr">
                      <a:solidFill>
                        <a:srgbClr val="707996"/>
                      </a:solidFill>
                      <a:prstDash val="solid"/>
                      <a:round/>
                      <a:headEnd type="none" w="med" len="med"/>
                      <a:tailEnd type="none" w="med" len="med"/>
                    </a:lnB>
                  </a:tcPr>
                </a:tc>
                <a:extLst>
                  <a:ext uri="{0D108BD9-81ED-4DB2-BD59-A6C34878D82A}">
                    <a16:rowId xmlns:a16="http://schemas.microsoft.com/office/drawing/2014/main" val="208485627"/>
                  </a:ext>
                </a:extLst>
              </a:tr>
            </a:tbl>
          </a:graphicData>
        </a:graphic>
      </p:graphicFrame>
    </p:spTree>
    <p:extLst>
      <p:ext uri="{BB962C8B-B14F-4D97-AF65-F5344CB8AC3E}">
        <p14:creationId xmlns:p14="http://schemas.microsoft.com/office/powerpoint/2010/main" val="12318767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F7B61-C04F-6444-D3B9-68BDBDA342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D8BD31-69E9-2FF8-5D61-E511C8B54461}"/>
              </a:ext>
            </a:extLst>
          </p:cNvPr>
          <p:cNvSpPr>
            <a:spLocks noGrp="1"/>
          </p:cNvSpPr>
          <p:nvPr>
            <p:ph type="title"/>
          </p:nvPr>
        </p:nvSpPr>
        <p:spPr/>
        <p:txBody>
          <a:bodyPr/>
          <a:lstStyle/>
          <a:p>
            <a:r>
              <a:rPr lang="en-US"/>
              <a:t>AI Governance for HR Function: Detailed Activities (2 of 3)</a:t>
            </a:r>
          </a:p>
        </p:txBody>
      </p:sp>
      <p:graphicFrame>
        <p:nvGraphicFramePr>
          <p:cNvPr id="3" name="Google Shape;513;p11">
            <a:extLst>
              <a:ext uri="{FF2B5EF4-FFF2-40B4-BE49-F238E27FC236}">
                <a16:creationId xmlns:a16="http://schemas.microsoft.com/office/drawing/2014/main" id="{1F04C57C-9D58-084D-C07B-6EDAF6951C1D}"/>
              </a:ext>
            </a:extLst>
          </p:cNvPr>
          <p:cNvGraphicFramePr/>
          <p:nvPr>
            <p:extLst>
              <p:ext uri="{D42A27DB-BD31-4B8C-83A1-F6EECF244321}">
                <p14:modId xmlns:p14="http://schemas.microsoft.com/office/powerpoint/2010/main" val="1158174419"/>
              </p:ext>
            </p:extLst>
          </p:nvPr>
        </p:nvGraphicFramePr>
        <p:xfrm>
          <a:off x="474896" y="947135"/>
          <a:ext cx="11256855" cy="4721968"/>
        </p:xfrm>
        <a:graphic>
          <a:graphicData uri="http://schemas.openxmlformats.org/drawingml/2006/table">
            <a:tbl>
              <a:tblPr>
                <a:noFill/>
              </a:tblPr>
              <a:tblGrid>
                <a:gridCol w="1343630">
                  <a:extLst>
                    <a:ext uri="{9D8B030D-6E8A-4147-A177-3AD203B41FA5}">
                      <a16:colId xmlns:a16="http://schemas.microsoft.com/office/drawing/2014/main" val="20000"/>
                    </a:ext>
                  </a:extLst>
                </a:gridCol>
                <a:gridCol w="7926365">
                  <a:extLst>
                    <a:ext uri="{9D8B030D-6E8A-4147-A177-3AD203B41FA5}">
                      <a16:colId xmlns:a16="http://schemas.microsoft.com/office/drawing/2014/main" val="20001"/>
                    </a:ext>
                  </a:extLst>
                </a:gridCol>
                <a:gridCol w="1986860">
                  <a:extLst>
                    <a:ext uri="{9D8B030D-6E8A-4147-A177-3AD203B41FA5}">
                      <a16:colId xmlns:a16="http://schemas.microsoft.com/office/drawing/2014/main" val="20002"/>
                    </a:ext>
                  </a:extLst>
                </a:gridCol>
              </a:tblGrid>
              <a:tr h="341977">
                <a:tc>
                  <a:txBody>
                    <a:bodyPr/>
                    <a:lstStyle/>
                    <a:p>
                      <a:pPr marL="0" marR="0" lvl="0" indent="0" algn="l" rtl="0">
                        <a:spcBef>
                          <a:spcPts val="0"/>
                        </a:spcBef>
                        <a:spcAft>
                          <a:spcPts val="0"/>
                        </a:spcAft>
                        <a:buNone/>
                      </a:pPr>
                      <a:r>
                        <a:rPr lang="en-US" sz="900" b="1" i="0" u="none" strike="noStrike" cap="none">
                          <a:solidFill>
                            <a:schemeClr val="lt2"/>
                          </a:solidFill>
                          <a:latin typeface="+mj-lt"/>
                          <a:ea typeface="Arial"/>
                          <a:cs typeface="Arial"/>
                          <a:sym typeface="Arial"/>
                        </a:rPr>
                        <a:t>Activity</a:t>
                      </a:r>
                      <a:endParaRPr sz="900" b="1" i="0">
                        <a:solidFill>
                          <a:schemeClr val="lt2"/>
                        </a:solidFill>
                        <a:latin typeface="+mj-lt"/>
                        <a:ea typeface="Arial"/>
                        <a:cs typeface="Arial"/>
                        <a:sym typeface="Arial"/>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28575"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6872B6"/>
                    </a:solidFill>
                  </a:tcPr>
                </a:tc>
                <a:tc>
                  <a:txBody>
                    <a:bodyPr/>
                    <a:lstStyle/>
                    <a:p>
                      <a:pPr marL="0" marR="0" lvl="0" indent="0" algn="l" rtl="0">
                        <a:spcBef>
                          <a:spcPts val="0"/>
                        </a:spcBef>
                        <a:spcAft>
                          <a:spcPts val="0"/>
                        </a:spcAft>
                        <a:buNone/>
                      </a:pPr>
                      <a:r>
                        <a:rPr lang="en-US" sz="900" b="1" i="0">
                          <a:solidFill>
                            <a:schemeClr val="lt2"/>
                          </a:solidFill>
                          <a:latin typeface="+mj-lt"/>
                          <a:ea typeface="Arial"/>
                          <a:cs typeface="Arial"/>
                          <a:sym typeface="Arial"/>
                        </a:rPr>
                        <a:t>Steps</a:t>
                      </a:r>
                      <a:endParaRPr sz="900" b="1" i="0">
                        <a:solidFill>
                          <a:schemeClr val="lt2"/>
                        </a:solidFill>
                        <a:latin typeface="+mj-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28575"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6872B6"/>
                    </a:solidFill>
                  </a:tcPr>
                </a:tc>
                <a:tc>
                  <a:txBody>
                    <a:bodyPr/>
                    <a:lstStyle/>
                    <a:p>
                      <a:pPr marL="0" marR="0" lvl="0" indent="0" algn="l" rtl="0">
                        <a:spcBef>
                          <a:spcPts val="0"/>
                        </a:spcBef>
                        <a:spcAft>
                          <a:spcPts val="0"/>
                        </a:spcAft>
                        <a:buNone/>
                      </a:pPr>
                      <a:r>
                        <a:rPr lang="en-US" sz="900" b="1" i="0">
                          <a:solidFill>
                            <a:schemeClr val="lt2"/>
                          </a:solidFill>
                          <a:latin typeface="+mj-lt"/>
                          <a:ea typeface="Arial"/>
                          <a:cs typeface="Arial"/>
                          <a:sym typeface="Arial"/>
                        </a:rPr>
                        <a:t>Supporting resources</a:t>
                      </a:r>
                      <a:endParaRPr sz="900" b="1" i="0">
                        <a:solidFill>
                          <a:schemeClr val="lt2"/>
                        </a:solidFill>
                        <a:latin typeface="+mj-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28575"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6872B6"/>
                    </a:solidFill>
                  </a:tcPr>
                </a:tc>
                <a:extLst>
                  <a:ext uri="{0D108BD9-81ED-4DB2-BD59-A6C34878D82A}">
                    <a16:rowId xmlns:a16="http://schemas.microsoft.com/office/drawing/2014/main" val="10000"/>
                  </a:ext>
                </a:extLst>
              </a:tr>
              <a:tr h="1074903">
                <a:tc>
                  <a:txBody>
                    <a:bodyPr/>
                    <a:lstStyle/>
                    <a:p>
                      <a:pPr marL="0" marR="0" lvl="0" indent="0" algn="l" rtl="0">
                        <a:spcBef>
                          <a:spcPts val="0"/>
                        </a:spcBef>
                        <a:spcAft>
                          <a:spcPts val="0"/>
                        </a:spcAft>
                        <a:buNone/>
                      </a:pPr>
                      <a:r>
                        <a:rPr lang="en-US" sz="900" b="0" i="0">
                          <a:solidFill>
                            <a:schemeClr val="dk1"/>
                          </a:solidFill>
                          <a:latin typeface="+mj-lt"/>
                          <a:ea typeface="Arial"/>
                          <a:cs typeface="Arial"/>
                          <a:sym typeface="Arial"/>
                        </a:rPr>
                        <a:t>Customize enterprise AI ethics, risks, security and safety for HR</a:t>
                      </a:r>
                      <a:endParaRPr lang="en-US" sz="900">
                        <a:latin typeface="+mj-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tc>
                  <a:txBody>
                    <a:bodyPr/>
                    <a:lstStyle/>
                    <a:p>
                      <a:pPr marL="173736" marR="0" lvl="0" indent="-173736" algn="l" rtl="0">
                        <a:lnSpc>
                          <a:spcPct val="90000"/>
                        </a:lnSpc>
                        <a:spcBef>
                          <a:spcPts val="300"/>
                        </a:spcBef>
                        <a:spcAft>
                          <a:spcPts val="0"/>
                        </a:spcAft>
                        <a:buClr>
                          <a:srgbClr val="000000"/>
                        </a:buClr>
                        <a:buSzPct val="100000"/>
                        <a:buFont typeface="+mj-lt"/>
                        <a:buAutoNum type="arabicPeriod"/>
                      </a:pPr>
                      <a:r>
                        <a:rPr lang="en-US" sz="900" dirty="0">
                          <a:solidFill>
                            <a:srgbClr val="000000"/>
                          </a:solidFill>
                          <a:latin typeface="+mn-lt"/>
                          <a:ea typeface="Arial"/>
                          <a:cs typeface="Arial"/>
                          <a:sym typeface="Arial"/>
                        </a:rPr>
                        <a:t>Identify HR-specific ethical risk areas (e.g., bias in talent decisions, explainability of AI-driven recommendations etc.), AI risk areas (e.g., employee data privacy concerns), and AI security and safety areas (e.g., access to sensitive employee data).</a:t>
                      </a:r>
                      <a:endParaRPr sz="900" dirty="0">
                        <a:latin typeface="+mn-lt"/>
                      </a:endParaRPr>
                    </a:p>
                    <a:p>
                      <a:pPr marL="173736" marR="0" lvl="0" indent="-173736" algn="l" rtl="0">
                        <a:lnSpc>
                          <a:spcPct val="90000"/>
                        </a:lnSpc>
                        <a:spcBef>
                          <a:spcPts val="300"/>
                        </a:spcBef>
                        <a:spcAft>
                          <a:spcPts val="0"/>
                        </a:spcAft>
                        <a:buClr>
                          <a:srgbClr val="000000"/>
                        </a:buClr>
                        <a:buSzPct val="100000"/>
                        <a:buFont typeface="+mj-lt"/>
                        <a:buAutoNum type="arabicPeriod"/>
                      </a:pPr>
                      <a:r>
                        <a:rPr lang="en-US" sz="900" dirty="0">
                          <a:solidFill>
                            <a:srgbClr val="000000"/>
                          </a:solidFill>
                          <a:latin typeface="+mn-lt"/>
                          <a:ea typeface="Arial"/>
                          <a:cs typeface="Arial"/>
                          <a:sym typeface="Arial"/>
                        </a:rPr>
                        <a:t>Translate high-level enterprise AI ethical risks, AI risks, and AI security and safety principles for each HR use case, respectively.</a:t>
                      </a:r>
                      <a:endParaRPr sz="900" dirty="0">
                        <a:latin typeface="+mn-lt"/>
                      </a:endParaRPr>
                    </a:p>
                    <a:p>
                      <a:pPr marL="173736" marR="0" lvl="0" indent="-173736" algn="l" rtl="0">
                        <a:lnSpc>
                          <a:spcPct val="90000"/>
                        </a:lnSpc>
                        <a:spcBef>
                          <a:spcPts val="300"/>
                        </a:spcBef>
                        <a:spcAft>
                          <a:spcPts val="0"/>
                        </a:spcAft>
                        <a:buClr>
                          <a:srgbClr val="000000"/>
                        </a:buClr>
                        <a:buSzPct val="100000"/>
                        <a:buFont typeface="+mj-lt"/>
                        <a:buAutoNum type="arabicPeriod"/>
                      </a:pPr>
                      <a:r>
                        <a:rPr lang="en-US" sz="900" dirty="0">
                          <a:solidFill>
                            <a:srgbClr val="000000"/>
                          </a:solidFill>
                          <a:latin typeface="+mn-lt"/>
                          <a:ea typeface="Arial"/>
                          <a:cs typeface="Arial"/>
                          <a:sym typeface="Arial"/>
                        </a:rPr>
                        <a:t>Define HR specific:</a:t>
                      </a:r>
                      <a:br>
                        <a:rPr lang="en-US" sz="900" u="none" strike="noStrike" cap="none" dirty="0">
                          <a:solidFill>
                            <a:schemeClr val="tx1"/>
                          </a:solidFill>
                          <a:latin typeface="+mn-lt"/>
                          <a:ea typeface="+mn-ea"/>
                          <a:cs typeface="+mn-cs"/>
                          <a:sym typeface="Arial"/>
                        </a:rPr>
                      </a:br>
                      <a:r>
                        <a:rPr lang="en-US" sz="900" u="none" strike="noStrike" cap="none" dirty="0">
                          <a:solidFill>
                            <a:schemeClr val="tx1"/>
                          </a:solidFill>
                          <a:latin typeface="+mn-lt"/>
                          <a:ea typeface="+mn-ea"/>
                          <a:cs typeface="+mn-cs"/>
                          <a:sym typeface="Arial"/>
                        </a:rPr>
                        <a:t>– </a:t>
                      </a:r>
                      <a:r>
                        <a:rPr lang="en-US" sz="900" u="none" strike="noStrike" cap="none" dirty="0">
                          <a:solidFill>
                            <a:srgbClr val="000000"/>
                          </a:solidFill>
                          <a:latin typeface="+mn-lt"/>
                          <a:ea typeface="Arial"/>
                          <a:cs typeface="Arial"/>
                          <a:sym typeface="Arial"/>
                        </a:rPr>
                        <a:t>AI ethics frameworks, policies and controls and develop clear guidance on evaluating acceptable vs. nonacceptable AI use cases in HR</a:t>
                      </a:r>
                      <a:br>
                        <a:rPr lang="en-US" sz="900" u="none" strike="noStrike" cap="none" dirty="0">
                          <a:solidFill>
                            <a:srgbClr val="000000"/>
                          </a:solidFill>
                          <a:latin typeface="+mn-lt"/>
                          <a:ea typeface="Arial"/>
                          <a:cs typeface="Arial"/>
                          <a:sym typeface="Arial"/>
                        </a:rPr>
                      </a:br>
                      <a:r>
                        <a:rPr lang="en-US" sz="900" u="none" strike="noStrike" cap="none" dirty="0">
                          <a:solidFill>
                            <a:srgbClr val="000000"/>
                          </a:solidFill>
                          <a:latin typeface="+mn-lt"/>
                          <a:ea typeface="Arial"/>
                          <a:cs typeface="Arial"/>
                          <a:sym typeface="Arial"/>
                        </a:rPr>
                        <a:t>   processes  and integrate ethical reviews into AI in HR use case approval.</a:t>
                      </a:r>
                      <a:br>
                        <a:rPr lang="en-US" sz="900" u="none" strike="noStrike" cap="none" dirty="0">
                          <a:solidFill>
                            <a:schemeClr val="tx1"/>
                          </a:solidFill>
                          <a:latin typeface="+mn-lt"/>
                          <a:ea typeface="+mn-ea"/>
                          <a:cs typeface="+mn-cs"/>
                          <a:sym typeface="Arial"/>
                        </a:rPr>
                      </a:br>
                      <a:r>
                        <a:rPr lang="en-US" sz="900" u="none" strike="noStrike" cap="none" dirty="0">
                          <a:solidFill>
                            <a:schemeClr val="tx1"/>
                          </a:solidFill>
                          <a:latin typeface="+mn-lt"/>
                          <a:ea typeface="+mn-ea"/>
                          <a:cs typeface="+mn-cs"/>
                          <a:sym typeface="Arial"/>
                        </a:rPr>
                        <a:t>– </a:t>
                      </a:r>
                      <a:r>
                        <a:rPr lang="en-US" sz="900" u="none" strike="noStrike" cap="none" dirty="0">
                          <a:solidFill>
                            <a:srgbClr val="000000"/>
                          </a:solidFill>
                          <a:latin typeface="+mn-lt"/>
                          <a:ea typeface="Arial"/>
                          <a:cs typeface="Arial"/>
                          <a:sym typeface="Arial"/>
                        </a:rPr>
                        <a:t>AI risk frameworks, policies and controls and develop clear guidance on evaluating low vs. high-risk AI use cases in HR processes and</a:t>
                      </a:r>
                      <a:br>
                        <a:rPr lang="en-US" sz="900" u="none" strike="noStrike" cap="none" dirty="0">
                          <a:solidFill>
                            <a:srgbClr val="000000"/>
                          </a:solidFill>
                          <a:latin typeface="+mn-lt"/>
                          <a:ea typeface="Arial"/>
                          <a:cs typeface="Arial"/>
                          <a:sym typeface="Arial"/>
                        </a:rPr>
                      </a:br>
                      <a:r>
                        <a:rPr lang="en-US" sz="900" u="none" strike="noStrike" cap="none" dirty="0">
                          <a:solidFill>
                            <a:srgbClr val="000000"/>
                          </a:solidFill>
                          <a:latin typeface="+mn-lt"/>
                          <a:ea typeface="Arial"/>
                          <a:cs typeface="Arial"/>
                          <a:sym typeface="Arial"/>
                        </a:rPr>
                        <a:t>   develop mitigation measures (e.g., human-in-the-loop, bias testing, or data minimization).</a:t>
                      </a:r>
                      <a:br>
                        <a:rPr lang="en-US" sz="900" u="none" strike="noStrike" cap="none" dirty="0">
                          <a:solidFill>
                            <a:schemeClr val="tx1"/>
                          </a:solidFill>
                          <a:latin typeface="+mn-lt"/>
                          <a:ea typeface="+mn-ea"/>
                          <a:cs typeface="+mn-cs"/>
                          <a:sym typeface="Arial"/>
                        </a:rPr>
                      </a:br>
                      <a:r>
                        <a:rPr lang="en-US" sz="900" u="none" strike="noStrike" cap="none" dirty="0">
                          <a:solidFill>
                            <a:schemeClr val="tx1"/>
                          </a:solidFill>
                          <a:latin typeface="+mn-lt"/>
                          <a:ea typeface="+mn-ea"/>
                          <a:cs typeface="+mn-cs"/>
                          <a:sym typeface="Arial"/>
                        </a:rPr>
                        <a:t>– </a:t>
                      </a:r>
                      <a:r>
                        <a:rPr lang="en-US" sz="900" u="none" strike="noStrike" cap="none" dirty="0">
                          <a:solidFill>
                            <a:srgbClr val="000000"/>
                          </a:solidFill>
                          <a:latin typeface="+mn-lt"/>
                          <a:ea typeface="Arial"/>
                          <a:cs typeface="Arial"/>
                          <a:sym typeface="Arial"/>
                        </a:rPr>
                        <a:t>AI security and safety frameworks, policies and controls and ensure strict governance sensitive employee data access. Ensure secure</a:t>
                      </a:r>
                      <a:br>
                        <a:rPr lang="en-US" sz="900" u="none" strike="noStrike" cap="none" dirty="0">
                          <a:solidFill>
                            <a:srgbClr val="000000"/>
                          </a:solidFill>
                          <a:latin typeface="+mn-lt"/>
                          <a:ea typeface="Arial"/>
                          <a:cs typeface="Arial"/>
                          <a:sym typeface="Arial"/>
                        </a:rPr>
                      </a:br>
                      <a:r>
                        <a:rPr lang="en-US" sz="900" u="none" strike="noStrike" cap="none" dirty="0">
                          <a:solidFill>
                            <a:srgbClr val="000000"/>
                          </a:solidFill>
                          <a:latin typeface="+mn-lt"/>
                          <a:ea typeface="Arial"/>
                          <a:cs typeface="Arial"/>
                          <a:sym typeface="Arial"/>
                        </a:rPr>
                        <a:t>  deployment of AI tools in HR environments and align with IT on infrastructure, vendor security, and system interfaces.</a:t>
                      </a:r>
                      <a:endParaRPr sz="900" dirty="0">
                        <a:latin typeface="+mn-lt"/>
                      </a:endParaRPr>
                    </a:p>
                    <a:p>
                      <a:pPr marL="173736" marR="0" lvl="0" indent="-173736" algn="l" rtl="0">
                        <a:lnSpc>
                          <a:spcPct val="90000"/>
                        </a:lnSpc>
                        <a:spcBef>
                          <a:spcPts val="300"/>
                        </a:spcBef>
                        <a:spcAft>
                          <a:spcPts val="0"/>
                        </a:spcAft>
                        <a:buClr>
                          <a:srgbClr val="000000"/>
                        </a:buClr>
                        <a:buSzPct val="100000"/>
                        <a:buFont typeface="+mj-lt"/>
                        <a:buAutoNum type="arabicPeriod"/>
                      </a:pPr>
                      <a:r>
                        <a:rPr lang="en-US" sz="900" dirty="0">
                          <a:solidFill>
                            <a:srgbClr val="000000"/>
                          </a:solidFill>
                          <a:latin typeface="+mn-lt"/>
                          <a:ea typeface="Arial"/>
                          <a:cs typeface="Arial"/>
                          <a:sym typeface="Arial"/>
                        </a:rPr>
                        <a:t>Enable awareness and training on responsible AI in HR while implementing risk monitoring and security monitoring to detect misuse risks, unauthorized access detection, data leakages, and/or unintended model behavior.</a:t>
                      </a:r>
                      <a:endParaRPr sz="900" dirty="0">
                        <a:latin typeface="+mn-lt"/>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tc>
                  <a:txBody>
                    <a:bodyPr/>
                    <a:lstStyle/>
                    <a:p>
                      <a:pPr marL="0" marR="0" lvl="0" indent="0" algn="l" defTabSz="914400" rtl="0" eaLnBrk="1" latinLnBrk="0" hangingPunct="1">
                        <a:lnSpc>
                          <a:spcPct val="100000"/>
                        </a:lnSpc>
                        <a:spcBef>
                          <a:spcPts val="300"/>
                        </a:spcBef>
                        <a:spcAft>
                          <a:spcPts val="0"/>
                        </a:spcAft>
                        <a:buClr>
                          <a:srgbClr val="000000"/>
                        </a:buClr>
                        <a:buSzPts val="1050"/>
                        <a:buFont typeface="Arial"/>
                        <a:buNone/>
                      </a:pPr>
                      <a:r>
                        <a:rPr lang="en-US" sz="900" u="sng" kern="1200" dirty="0">
                          <a:solidFill>
                            <a:srgbClr val="000000"/>
                          </a:solidFill>
                          <a:latin typeface="+mn-lt"/>
                          <a:ea typeface="Arial"/>
                          <a:cs typeface="Arial"/>
                          <a:sym typeface="Arial"/>
                          <a:hlinkClick r:id="rId2">
                            <a:extLst>
                              <a:ext uri="{A12FA001-AC4F-418D-AE19-62706E023703}">
                                <ahyp:hlinkClr xmlns:ahyp="http://schemas.microsoft.com/office/drawing/2018/hyperlinkcolor" val="tx"/>
                              </a:ext>
                            </a:extLst>
                          </a:hlinkClick>
                        </a:rPr>
                        <a:t>Tool: Generative AI Policy Kit</a:t>
                      </a:r>
                      <a:r>
                        <a:rPr lang="en-US" sz="900" u="sng" kern="1200" dirty="0">
                          <a:solidFill>
                            <a:srgbClr val="000000"/>
                          </a:solidFill>
                          <a:latin typeface="+mn-lt"/>
                          <a:ea typeface="Arial"/>
                          <a:cs typeface="Arial"/>
                          <a:sym typeface="Arial"/>
                        </a:rPr>
                        <a:t>, </a:t>
                      </a:r>
                      <a:r>
                        <a:rPr lang="en-US" sz="900" u="sng" kern="1200" dirty="0">
                          <a:solidFill>
                            <a:srgbClr val="000000"/>
                          </a:solidFill>
                          <a:latin typeface="+mn-lt"/>
                          <a:ea typeface="Arial"/>
                          <a:cs typeface="Arial"/>
                          <a:sym typeface="Arial"/>
                          <a:hlinkClick r:id="rId3">
                            <a:extLst>
                              <a:ext uri="{A12FA001-AC4F-418D-AE19-62706E023703}">
                                <ahyp:hlinkClr xmlns:ahyp="http://schemas.microsoft.com/office/drawing/2018/hyperlinkcolor" val="tx"/>
                              </a:ext>
                            </a:extLst>
                          </a:hlinkClick>
                        </a:rPr>
                        <a:t>Case Study: An AI Governance Framework for Managing Use Case Ethics, </a:t>
                      </a:r>
                      <a:r>
                        <a:rPr lang="en-US" sz="900" u="sng" kern="1200" dirty="0">
                          <a:solidFill>
                            <a:srgbClr val="000000"/>
                          </a:solidFill>
                          <a:latin typeface="+mn-lt"/>
                          <a:ea typeface="Arial"/>
                          <a:cs typeface="Arial"/>
                          <a:sym typeface="Arial"/>
                          <a:hlinkClick r:id="rId4">
                            <a:extLst>
                              <a:ext uri="{A12FA001-AC4F-418D-AE19-62706E023703}">
                                <ahyp:hlinkClr xmlns:ahyp="http://schemas.microsoft.com/office/drawing/2018/hyperlinkcolor" val="tx"/>
                              </a:ext>
                            </a:extLst>
                          </a:hlinkClick>
                        </a:rPr>
                        <a:t>Tool: Identify and Mitigate Top GenAI Usage Risks</a:t>
                      </a:r>
                      <a:endParaRPr sz="900" u="sng" kern="1200" dirty="0">
                        <a:solidFill>
                          <a:srgbClr val="000000"/>
                        </a:solidFill>
                        <a:latin typeface="+mn-lt"/>
                        <a:ea typeface="Arial"/>
                        <a:cs typeface="Arial"/>
                        <a:sym typeface="Arial"/>
                      </a:endParaRPr>
                    </a:p>
                    <a:p>
                      <a:pPr marL="0" marR="0" lvl="0" indent="0" algn="l" rtl="0">
                        <a:lnSpc>
                          <a:spcPct val="100000"/>
                        </a:lnSpc>
                        <a:spcBef>
                          <a:spcPts val="0"/>
                        </a:spcBef>
                        <a:spcAft>
                          <a:spcPts val="0"/>
                        </a:spcAft>
                        <a:buClr>
                          <a:schemeClr val="dk1"/>
                        </a:buClr>
                        <a:buSzPts val="1050"/>
                        <a:buFont typeface="Arial"/>
                        <a:buNone/>
                      </a:pPr>
                      <a:endParaRPr sz="900" u="sng" dirty="0">
                        <a:solidFill>
                          <a:srgbClr val="000000"/>
                        </a:solidFill>
                        <a:latin typeface="+mn-lt"/>
                        <a:ea typeface="Arial"/>
                        <a:cs typeface="Arial"/>
                        <a:sym typeface="Arial"/>
                        <a:hlinkClick r:id="rId3">
                          <a:extLst>
                            <a:ext uri="{A12FA001-AC4F-418D-AE19-62706E023703}">
                              <ahyp:hlinkClr xmlns:ahyp="http://schemas.microsoft.com/office/drawing/2018/hyperlinkcolor" val="tx"/>
                            </a:ext>
                          </a:extLst>
                        </a:hlinkClick>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extLst>
                  <a:ext uri="{0D108BD9-81ED-4DB2-BD59-A6C34878D82A}">
                    <a16:rowId xmlns:a16="http://schemas.microsoft.com/office/drawing/2014/main" val="10001"/>
                  </a:ext>
                </a:extLst>
              </a:tr>
              <a:tr h="1214623">
                <a:tc>
                  <a:txBody>
                    <a:bodyPr/>
                    <a:lstStyle/>
                    <a:p>
                      <a:pPr marL="0" marR="0" lvl="0" indent="0" algn="l" rtl="0">
                        <a:spcBef>
                          <a:spcPts val="0"/>
                        </a:spcBef>
                        <a:spcAft>
                          <a:spcPts val="0"/>
                        </a:spcAft>
                        <a:buNone/>
                      </a:pPr>
                      <a:r>
                        <a:rPr lang="en-US" sz="900" b="0" i="0">
                          <a:solidFill>
                            <a:schemeClr val="dk1"/>
                          </a:solidFill>
                          <a:latin typeface="+mj-lt"/>
                          <a:ea typeface="Arial"/>
                          <a:cs typeface="Arial"/>
                          <a:sym typeface="Arial"/>
                        </a:rPr>
                        <a:t>Implement legal</a:t>
                      </a:r>
                      <a:br>
                        <a:rPr lang="en-US" sz="900" b="0" i="0">
                          <a:solidFill>
                            <a:schemeClr val="dk1"/>
                          </a:solidFill>
                          <a:latin typeface="+mj-lt"/>
                          <a:ea typeface="Arial"/>
                          <a:cs typeface="Arial"/>
                          <a:sym typeface="Arial"/>
                        </a:rPr>
                      </a:br>
                      <a:r>
                        <a:rPr lang="en-US" sz="900" b="0" i="0">
                          <a:solidFill>
                            <a:schemeClr val="dk1"/>
                          </a:solidFill>
                          <a:latin typeface="+mj-lt"/>
                          <a:ea typeface="Arial"/>
                          <a:cs typeface="Arial"/>
                          <a:sym typeface="Arial"/>
                        </a:rPr>
                        <a:t>and regulatory frameworks and policies for HR</a:t>
                      </a:r>
                      <a:endParaRPr lang="en-US" sz="900">
                        <a:latin typeface="+mj-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tc>
                  <a:txBody>
                    <a:bodyPr/>
                    <a:lstStyle/>
                    <a:p>
                      <a:pPr marL="173736" marR="0" lvl="0" indent="-173736" algn="l" rtl="0">
                        <a:lnSpc>
                          <a:spcPct val="90000"/>
                        </a:lnSpc>
                        <a:spcBef>
                          <a:spcPts val="300"/>
                        </a:spcBef>
                        <a:spcAft>
                          <a:spcPts val="0"/>
                        </a:spcAft>
                        <a:buClr>
                          <a:srgbClr val="000000"/>
                        </a:buClr>
                        <a:buSzPct val="100000"/>
                        <a:buFont typeface="+mj-lt"/>
                        <a:buAutoNum type="arabicPeriod"/>
                      </a:pPr>
                      <a:r>
                        <a:rPr lang="en-US" sz="900" dirty="0">
                          <a:solidFill>
                            <a:srgbClr val="000000"/>
                          </a:solidFill>
                          <a:latin typeface="+mn-lt"/>
                          <a:ea typeface="Arial"/>
                          <a:cs typeface="Arial"/>
                          <a:sym typeface="Arial"/>
                        </a:rPr>
                        <a:t>Collaborate with the enterprise AI governance council to identify relevant legal and regulatory AI regulations impacting HR AI use.</a:t>
                      </a:r>
                      <a:endParaRPr sz="900" dirty="0">
                        <a:latin typeface="+mn-lt"/>
                      </a:endParaRPr>
                    </a:p>
                    <a:p>
                      <a:pPr marL="173736" marR="0" lvl="0" indent="-173736" algn="l" rtl="0">
                        <a:lnSpc>
                          <a:spcPct val="90000"/>
                        </a:lnSpc>
                        <a:spcBef>
                          <a:spcPts val="300"/>
                        </a:spcBef>
                        <a:spcAft>
                          <a:spcPts val="0"/>
                        </a:spcAft>
                        <a:buClr>
                          <a:srgbClr val="000000"/>
                        </a:buClr>
                        <a:buSzPct val="100000"/>
                        <a:buFont typeface="+mj-lt"/>
                        <a:buAutoNum type="arabicPeriod"/>
                      </a:pPr>
                      <a:r>
                        <a:rPr lang="en-US" sz="900" dirty="0">
                          <a:solidFill>
                            <a:srgbClr val="000000"/>
                          </a:solidFill>
                          <a:latin typeface="+mn-lt"/>
                          <a:ea typeface="Arial"/>
                          <a:cs typeface="Arial"/>
                          <a:sym typeface="Arial"/>
                        </a:rPr>
                        <a:t>Define how legal and regulatory AI regulations impact HR activities (e.g., automated decision making in hiring) and translate requirements into HR process guidelines.</a:t>
                      </a:r>
                      <a:endParaRPr sz="900" dirty="0">
                        <a:latin typeface="+mn-lt"/>
                      </a:endParaRPr>
                    </a:p>
                    <a:p>
                      <a:pPr marL="173736" marR="0" lvl="0" indent="-173736" algn="l" rtl="0">
                        <a:lnSpc>
                          <a:spcPct val="90000"/>
                        </a:lnSpc>
                        <a:spcBef>
                          <a:spcPts val="300"/>
                        </a:spcBef>
                        <a:spcAft>
                          <a:spcPts val="0"/>
                        </a:spcAft>
                        <a:buClr>
                          <a:srgbClr val="000000"/>
                        </a:buClr>
                        <a:buSzPct val="100000"/>
                        <a:buFont typeface="+mj-lt"/>
                        <a:buAutoNum type="arabicPeriod"/>
                      </a:pPr>
                      <a:r>
                        <a:rPr lang="en-US" sz="900" dirty="0">
                          <a:solidFill>
                            <a:srgbClr val="000000"/>
                          </a:solidFill>
                          <a:latin typeface="+mn-lt"/>
                          <a:ea typeface="Arial"/>
                          <a:cs typeface="Arial"/>
                          <a:sym typeface="Arial"/>
                        </a:rPr>
                        <a:t>Integrate legal and regulatory reviews into HR use case design, vendor selection, and deployment.</a:t>
                      </a:r>
                      <a:endParaRPr sz="900" dirty="0">
                        <a:latin typeface="+mn-lt"/>
                      </a:endParaRPr>
                    </a:p>
                    <a:p>
                      <a:pPr marL="173736" marR="0" lvl="0" indent="-173736" algn="l" rtl="0">
                        <a:lnSpc>
                          <a:spcPct val="90000"/>
                        </a:lnSpc>
                        <a:spcBef>
                          <a:spcPts val="300"/>
                        </a:spcBef>
                        <a:spcAft>
                          <a:spcPts val="0"/>
                        </a:spcAft>
                        <a:buClr>
                          <a:srgbClr val="000000"/>
                        </a:buClr>
                        <a:buSzPct val="100000"/>
                        <a:buFont typeface="+mj-lt"/>
                        <a:buAutoNum type="arabicPeriod"/>
                      </a:pPr>
                      <a:r>
                        <a:rPr lang="en-US" sz="900" dirty="0">
                          <a:solidFill>
                            <a:srgbClr val="000000"/>
                          </a:solidFill>
                          <a:latin typeface="+mn-lt"/>
                          <a:ea typeface="Arial"/>
                          <a:cs typeface="Arial"/>
                          <a:sym typeface="Arial"/>
                        </a:rPr>
                        <a:t>Define documentation and audit requirements to ensure traceability of AI decisions and compliance with legal and regulatory AI regulations. </a:t>
                      </a:r>
                      <a:endParaRPr sz="900" dirty="0">
                        <a:latin typeface="+mn-lt"/>
                      </a:endParaRPr>
                    </a:p>
                    <a:p>
                      <a:pPr marL="173736" marR="0" lvl="0" indent="-173736" algn="l" rtl="0">
                        <a:lnSpc>
                          <a:spcPct val="90000"/>
                        </a:lnSpc>
                        <a:spcBef>
                          <a:spcPts val="300"/>
                        </a:spcBef>
                        <a:spcAft>
                          <a:spcPts val="0"/>
                        </a:spcAft>
                        <a:buClr>
                          <a:srgbClr val="000000"/>
                        </a:buClr>
                        <a:buSzPct val="100000"/>
                        <a:buFont typeface="+mj-lt"/>
                        <a:buAutoNum type="arabicPeriod"/>
                      </a:pPr>
                      <a:r>
                        <a:rPr lang="en-US" sz="900" dirty="0">
                          <a:solidFill>
                            <a:srgbClr val="000000"/>
                          </a:solidFill>
                          <a:latin typeface="+mn-lt"/>
                          <a:ea typeface="Arial"/>
                          <a:cs typeface="Arial"/>
                          <a:sym typeface="Arial"/>
                        </a:rPr>
                        <a:t>Align with legal, compliance, and works councils to ensure stakeholder alignment, especially in regulated or employee-sensitive contexts.</a:t>
                      </a:r>
                      <a:endParaRPr sz="900" dirty="0">
                        <a:latin typeface="+mn-lt"/>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tc>
                  <a:txBody>
                    <a:bodyPr/>
                    <a:lstStyle/>
                    <a:p>
                      <a:pPr marL="0" marR="0" lvl="0" indent="0" algn="l" rtl="0">
                        <a:spcBef>
                          <a:spcPts val="0"/>
                        </a:spcBef>
                        <a:spcAft>
                          <a:spcPts val="0"/>
                        </a:spcAft>
                        <a:buNone/>
                      </a:pPr>
                      <a:endParaRPr sz="900" b="0" i="0">
                        <a:solidFill>
                          <a:schemeClr val="dk1"/>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extLst>
                  <a:ext uri="{0D108BD9-81ED-4DB2-BD59-A6C34878D82A}">
                    <a16:rowId xmlns:a16="http://schemas.microsoft.com/office/drawing/2014/main" val="939464923"/>
                  </a:ext>
                </a:extLst>
              </a:tr>
              <a:tr h="1317420">
                <a:tc>
                  <a:txBody>
                    <a:bodyPr/>
                    <a:lstStyle/>
                    <a:p>
                      <a:pPr marL="0" marR="0" lvl="0" indent="0" algn="l" rtl="0">
                        <a:spcBef>
                          <a:spcPts val="0"/>
                        </a:spcBef>
                        <a:spcAft>
                          <a:spcPts val="0"/>
                        </a:spcAft>
                        <a:buNone/>
                      </a:pPr>
                      <a:r>
                        <a:rPr lang="en-US" sz="900" b="0" i="0">
                          <a:solidFill>
                            <a:schemeClr val="dk1"/>
                          </a:solidFill>
                          <a:latin typeface="+mj-lt"/>
                          <a:ea typeface="Arial"/>
                          <a:cs typeface="Arial"/>
                          <a:sym typeface="Arial"/>
                        </a:rPr>
                        <a:t>Communicate and train HR staff on AI governance mandate within HR</a:t>
                      </a:r>
                      <a:endParaRPr lang="en-US" sz="900">
                        <a:latin typeface="+mj-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28575" cap="flat" cmpd="sng" algn="ctr">
                      <a:solidFill>
                        <a:srgbClr val="707996"/>
                      </a:solidFill>
                      <a:prstDash val="solid"/>
                      <a:round/>
                      <a:headEnd type="none" w="med" len="med"/>
                      <a:tailEnd type="none" w="med" len="med"/>
                    </a:lnB>
                  </a:tcPr>
                </a:tc>
                <a:tc>
                  <a:txBody>
                    <a:bodyPr/>
                    <a:lstStyle/>
                    <a:p>
                      <a:pPr marL="173736" marR="0" lvl="0" indent="-173736" algn="l" rtl="0">
                        <a:lnSpc>
                          <a:spcPct val="90000"/>
                        </a:lnSpc>
                        <a:spcBef>
                          <a:spcPts val="300"/>
                        </a:spcBef>
                        <a:spcAft>
                          <a:spcPts val="0"/>
                        </a:spcAft>
                        <a:buClr>
                          <a:srgbClr val="000000"/>
                        </a:buClr>
                        <a:buSzPct val="100000"/>
                        <a:buFont typeface="+mj-lt"/>
                        <a:buAutoNum type="arabicPeriod"/>
                      </a:pPr>
                      <a:r>
                        <a:rPr lang="en-US" sz="900">
                          <a:solidFill>
                            <a:srgbClr val="000000"/>
                          </a:solidFill>
                          <a:latin typeface="+mn-lt"/>
                          <a:ea typeface="Arial"/>
                          <a:cs typeface="Arial"/>
                          <a:sym typeface="Arial"/>
                        </a:rPr>
                        <a:t>Develop and deliver presentations for HR leaders on the importance of AI governance, highlighting HR-specific risks, key regulations, and</a:t>
                      </a:r>
                      <a:br>
                        <a:rPr lang="en-US" sz="900">
                          <a:solidFill>
                            <a:srgbClr val="000000"/>
                          </a:solidFill>
                          <a:latin typeface="+mn-lt"/>
                          <a:ea typeface="Arial"/>
                          <a:cs typeface="Arial"/>
                          <a:sym typeface="Arial"/>
                        </a:rPr>
                      </a:br>
                      <a:r>
                        <a:rPr lang="en-US" sz="900">
                          <a:solidFill>
                            <a:srgbClr val="000000"/>
                          </a:solidFill>
                          <a:latin typeface="+mn-lt"/>
                          <a:ea typeface="Arial"/>
                          <a:cs typeface="Arial"/>
                          <a:sym typeface="Arial"/>
                        </a:rPr>
                        <a:t>the strategic benefits for HR processes.</a:t>
                      </a:r>
                      <a:endParaRPr sz="900">
                        <a:latin typeface="+mn-lt"/>
                      </a:endParaRPr>
                    </a:p>
                    <a:p>
                      <a:pPr marL="173736" marR="0" lvl="0" indent="-173736" algn="l" rtl="0">
                        <a:lnSpc>
                          <a:spcPct val="90000"/>
                        </a:lnSpc>
                        <a:spcBef>
                          <a:spcPts val="300"/>
                        </a:spcBef>
                        <a:spcAft>
                          <a:spcPts val="0"/>
                        </a:spcAft>
                        <a:buClr>
                          <a:srgbClr val="000000"/>
                        </a:buClr>
                        <a:buSzPct val="100000"/>
                        <a:buFont typeface="+mj-lt"/>
                        <a:buAutoNum type="arabicPeriod"/>
                      </a:pPr>
                      <a:r>
                        <a:rPr lang="en-US" sz="900">
                          <a:solidFill>
                            <a:srgbClr val="000000"/>
                          </a:solidFill>
                          <a:latin typeface="+mn-lt"/>
                          <a:ea typeface="Arial"/>
                          <a:cs typeface="Arial"/>
                          <a:sym typeface="Arial"/>
                        </a:rPr>
                        <a:t>Identify different employee personas (e.g., executives, managers, front-line staff) to determine their specific education needs and create a general awareness program regarding AI risks.</a:t>
                      </a:r>
                      <a:endParaRPr sz="900">
                        <a:latin typeface="+mn-lt"/>
                      </a:endParaRPr>
                    </a:p>
                    <a:p>
                      <a:pPr marL="173736" marR="0" lvl="0" indent="-173736" algn="l" rtl="0">
                        <a:lnSpc>
                          <a:spcPct val="90000"/>
                        </a:lnSpc>
                        <a:spcBef>
                          <a:spcPts val="300"/>
                        </a:spcBef>
                        <a:spcAft>
                          <a:spcPts val="0"/>
                        </a:spcAft>
                        <a:buClr>
                          <a:srgbClr val="000000"/>
                        </a:buClr>
                        <a:buSzPct val="100000"/>
                        <a:buFont typeface="+mj-lt"/>
                        <a:buAutoNum type="arabicPeriod"/>
                      </a:pPr>
                      <a:r>
                        <a:rPr lang="en-US" sz="900">
                          <a:solidFill>
                            <a:srgbClr val="000000"/>
                          </a:solidFill>
                          <a:latin typeface="+mn-lt"/>
                          <a:ea typeface="Arial"/>
                          <a:cs typeface="Arial"/>
                          <a:sym typeface="Arial"/>
                        </a:rPr>
                        <a:t>Create detailed training for specific segments including hands-on workshops, case studies, and Q&amp;A sessions to clarify the governance mandate and gather feedback on AI-related concerns.</a:t>
                      </a:r>
                      <a:endParaRPr sz="900">
                        <a:latin typeface="+mn-lt"/>
                      </a:endParaRPr>
                    </a:p>
                    <a:p>
                      <a:pPr marL="173736" marR="0" lvl="0" indent="-173736" algn="l" rtl="0">
                        <a:lnSpc>
                          <a:spcPct val="90000"/>
                        </a:lnSpc>
                        <a:spcBef>
                          <a:spcPts val="300"/>
                        </a:spcBef>
                        <a:spcAft>
                          <a:spcPts val="0"/>
                        </a:spcAft>
                        <a:buClr>
                          <a:srgbClr val="000000"/>
                        </a:buClr>
                        <a:buSzPct val="100000"/>
                        <a:buFont typeface="+mj-lt"/>
                        <a:buAutoNum type="arabicPeriod"/>
                      </a:pPr>
                      <a:r>
                        <a:rPr lang="en-US" sz="900">
                          <a:solidFill>
                            <a:srgbClr val="000000"/>
                          </a:solidFill>
                          <a:latin typeface="+mn-lt"/>
                          <a:ea typeface="Arial"/>
                          <a:cs typeface="Arial"/>
                          <a:sym typeface="Arial"/>
                        </a:rPr>
                        <a:t>Create and share simple materials (FAQs, infographics, guides) explaining the AI governance mandate, its HR relevance, and impact on daily</a:t>
                      </a:r>
                      <a:br>
                        <a:rPr lang="en-US" sz="900">
                          <a:solidFill>
                            <a:srgbClr val="000000"/>
                          </a:solidFill>
                          <a:latin typeface="+mn-lt"/>
                          <a:ea typeface="Arial"/>
                          <a:cs typeface="Arial"/>
                          <a:sym typeface="Arial"/>
                        </a:rPr>
                      </a:br>
                      <a:r>
                        <a:rPr lang="en-US" sz="900">
                          <a:solidFill>
                            <a:srgbClr val="000000"/>
                          </a:solidFill>
                          <a:latin typeface="+mn-lt"/>
                          <a:ea typeface="Arial"/>
                          <a:cs typeface="Arial"/>
                          <a:sym typeface="Arial"/>
                        </a:rPr>
                        <a:t>HR work.</a:t>
                      </a:r>
                      <a:endParaRPr sz="900">
                        <a:latin typeface="+mn-lt"/>
                      </a:endParaRPr>
                    </a:p>
                    <a:p>
                      <a:pPr marL="173736" marR="0" lvl="0" indent="-173736" algn="l" rtl="0">
                        <a:lnSpc>
                          <a:spcPct val="90000"/>
                        </a:lnSpc>
                        <a:spcBef>
                          <a:spcPts val="300"/>
                        </a:spcBef>
                        <a:spcAft>
                          <a:spcPts val="0"/>
                        </a:spcAft>
                        <a:buClr>
                          <a:srgbClr val="000000"/>
                        </a:buClr>
                        <a:buSzPct val="100000"/>
                        <a:buFont typeface="+mj-lt"/>
                        <a:buAutoNum type="arabicPeriod"/>
                      </a:pPr>
                      <a:r>
                        <a:rPr lang="en-US" sz="900">
                          <a:latin typeface="+mn-lt"/>
                          <a:ea typeface="Arial"/>
                          <a:cs typeface="Arial"/>
                          <a:sym typeface="Arial"/>
                        </a:rPr>
                        <a:t>Hold regular briefings with HR managers to share updates and success stories, while maintaining an ongoing process to keep stakeholders informed of AI advancements and regulatory changes.</a:t>
                      </a:r>
                      <a:endParaRPr sz="900">
                        <a:solidFill>
                          <a:srgbClr val="000000"/>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28575" cap="flat" cmpd="sng" algn="ctr">
                      <a:solidFill>
                        <a:srgbClr val="707996"/>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050"/>
                        <a:buFont typeface="Arial"/>
                        <a:buNone/>
                      </a:pPr>
                      <a:r>
                        <a:rPr lang="en-US" sz="900" u="sng" dirty="0">
                          <a:solidFill>
                            <a:srgbClr val="000000"/>
                          </a:solidFill>
                          <a:latin typeface="+mn-lt"/>
                          <a:ea typeface="Arial"/>
                          <a:cs typeface="Arial"/>
                          <a:sym typeface="Arial"/>
                          <a:hlinkClick r:id="rId5">
                            <a:extLst>
                              <a:ext uri="{A12FA001-AC4F-418D-AE19-62706E023703}">
                                <ahyp:hlinkClr xmlns:ahyp="http://schemas.microsoft.com/office/drawing/2018/hyperlinkcolor" val="tx"/>
                              </a:ext>
                            </a:extLst>
                          </a:hlinkClick>
                        </a:rPr>
                        <a:t>Board Briefing: AI Regulatory Updates</a:t>
                      </a:r>
                      <a:r>
                        <a:rPr lang="en-US" sz="900" dirty="0">
                          <a:solidFill>
                            <a:srgbClr val="000000"/>
                          </a:solidFill>
                          <a:latin typeface="+mn-lt"/>
                          <a:ea typeface="Arial"/>
                          <a:cs typeface="Arial"/>
                          <a:sym typeface="Arial"/>
                        </a:rPr>
                        <a:t>, </a:t>
                      </a:r>
                      <a:r>
                        <a:rPr lang="en-US" sz="900" u="sng" dirty="0">
                          <a:solidFill>
                            <a:srgbClr val="000000"/>
                          </a:solidFill>
                          <a:latin typeface="+mn-lt"/>
                          <a:ea typeface="Arial"/>
                          <a:cs typeface="Arial"/>
                          <a:sym typeface="Arial"/>
                          <a:hlinkClick r:id="rId6">
                            <a:extLst>
                              <a:ext uri="{A12FA001-AC4F-418D-AE19-62706E023703}">
                                <ahyp:hlinkClr xmlns:ahyp="http://schemas.microsoft.com/office/drawing/2018/hyperlinkcolor" val="tx"/>
                              </a:ext>
                            </a:extLst>
                          </a:hlinkClick>
                        </a:rPr>
                        <a:t>Create an AI Literacy Roadmap to Drive Responsible and Productive AI</a:t>
                      </a:r>
                      <a:endParaRPr sz="900" dirty="0">
                        <a:solidFill>
                          <a:srgbClr val="000000"/>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28575" cap="flat" cmpd="sng" algn="ctr">
                      <a:solidFill>
                        <a:srgbClr val="707996"/>
                      </a:solidFill>
                      <a:prstDash val="solid"/>
                      <a:round/>
                      <a:headEnd type="none" w="med" len="med"/>
                      <a:tailEnd type="none" w="med" len="med"/>
                    </a:lnB>
                  </a:tcPr>
                </a:tc>
                <a:extLst>
                  <a:ext uri="{0D108BD9-81ED-4DB2-BD59-A6C34878D82A}">
                    <a16:rowId xmlns:a16="http://schemas.microsoft.com/office/drawing/2014/main" val="208485627"/>
                  </a:ext>
                </a:extLst>
              </a:tr>
            </a:tbl>
          </a:graphicData>
        </a:graphic>
      </p:graphicFrame>
    </p:spTree>
    <p:extLst>
      <p:ext uri="{BB962C8B-B14F-4D97-AF65-F5344CB8AC3E}">
        <p14:creationId xmlns:p14="http://schemas.microsoft.com/office/powerpoint/2010/main" val="25002084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0CF4F-E2D4-BC5B-B164-D1FEF095E5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B99A40-61D4-CA37-06A5-EF0470B305C5}"/>
              </a:ext>
            </a:extLst>
          </p:cNvPr>
          <p:cNvSpPr>
            <a:spLocks noGrp="1"/>
          </p:cNvSpPr>
          <p:nvPr>
            <p:ph type="title"/>
          </p:nvPr>
        </p:nvSpPr>
        <p:spPr/>
        <p:txBody>
          <a:bodyPr/>
          <a:lstStyle/>
          <a:p>
            <a:r>
              <a:rPr lang="en-US"/>
              <a:t>AI Governance for HR Function: Detailed Activities (3 of 3)</a:t>
            </a:r>
          </a:p>
        </p:txBody>
      </p:sp>
      <p:graphicFrame>
        <p:nvGraphicFramePr>
          <p:cNvPr id="3" name="Google Shape;513;p11">
            <a:extLst>
              <a:ext uri="{FF2B5EF4-FFF2-40B4-BE49-F238E27FC236}">
                <a16:creationId xmlns:a16="http://schemas.microsoft.com/office/drawing/2014/main" id="{1CCD6B79-2E28-791B-4728-30D3EB1E91A8}"/>
              </a:ext>
            </a:extLst>
          </p:cNvPr>
          <p:cNvGraphicFramePr/>
          <p:nvPr>
            <p:extLst>
              <p:ext uri="{D42A27DB-BD31-4B8C-83A1-F6EECF244321}">
                <p14:modId xmlns:p14="http://schemas.microsoft.com/office/powerpoint/2010/main" val="2556582758"/>
              </p:ext>
            </p:extLst>
          </p:nvPr>
        </p:nvGraphicFramePr>
        <p:xfrm>
          <a:off x="474896" y="947134"/>
          <a:ext cx="11256855" cy="4303222"/>
        </p:xfrm>
        <a:graphic>
          <a:graphicData uri="http://schemas.openxmlformats.org/drawingml/2006/table">
            <a:tbl>
              <a:tblPr>
                <a:noFill/>
              </a:tblPr>
              <a:tblGrid>
                <a:gridCol w="1343630">
                  <a:extLst>
                    <a:ext uri="{9D8B030D-6E8A-4147-A177-3AD203B41FA5}">
                      <a16:colId xmlns:a16="http://schemas.microsoft.com/office/drawing/2014/main" val="20000"/>
                    </a:ext>
                  </a:extLst>
                </a:gridCol>
                <a:gridCol w="7926365">
                  <a:extLst>
                    <a:ext uri="{9D8B030D-6E8A-4147-A177-3AD203B41FA5}">
                      <a16:colId xmlns:a16="http://schemas.microsoft.com/office/drawing/2014/main" val="20001"/>
                    </a:ext>
                  </a:extLst>
                </a:gridCol>
                <a:gridCol w="1986860">
                  <a:extLst>
                    <a:ext uri="{9D8B030D-6E8A-4147-A177-3AD203B41FA5}">
                      <a16:colId xmlns:a16="http://schemas.microsoft.com/office/drawing/2014/main" val="20002"/>
                    </a:ext>
                  </a:extLst>
                </a:gridCol>
              </a:tblGrid>
              <a:tr h="341916">
                <a:tc>
                  <a:txBody>
                    <a:bodyPr/>
                    <a:lstStyle/>
                    <a:p>
                      <a:pPr marL="0" marR="0" lvl="0" indent="0" algn="l" rtl="0">
                        <a:spcBef>
                          <a:spcPts val="0"/>
                        </a:spcBef>
                        <a:spcAft>
                          <a:spcPts val="0"/>
                        </a:spcAft>
                        <a:buNone/>
                      </a:pPr>
                      <a:r>
                        <a:rPr lang="en-US" sz="900" b="1" i="0" u="none" strike="noStrike" cap="none">
                          <a:solidFill>
                            <a:schemeClr val="lt2"/>
                          </a:solidFill>
                          <a:latin typeface="+mj-lt"/>
                          <a:ea typeface="Arial"/>
                          <a:cs typeface="Arial"/>
                          <a:sym typeface="Arial"/>
                        </a:rPr>
                        <a:t>Activity</a:t>
                      </a:r>
                      <a:endParaRPr sz="900" b="1" i="0">
                        <a:solidFill>
                          <a:schemeClr val="lt2"/>
                        </a:solidFill>
                        <a:latin typeface="+mj-lt"/>
                        <a:ea typeface="Arial"/>
                        <a:cs typeface="Arial"/>
                        <a:sym typeface="Arial"/>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28575"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6872B6"/>
                    </a:solidFill>
                  </a:tcPr>
                </a:tc>
                <a:tc>
                  <a:txBody>
                    <a:bodyPr/>
                    <a:lstStyle/>
                    <a:p>
                      <a:pPr marL="0" marR="0" lvl="0" indent="0" algn="l" rtl="0">
                        <a:spcBef>
                          <a:spcPts val="0"/>
                        </a:spcBef>
                        <a:spcAft>
                          <a:spcPts val="0"/>
                        </a:spcAft>
                        <a:buNone/>
                      </a:pPr>
                      <a:r>
                        <a:rPr lang="en-US" sz="900" b="1" i="0">
                          <a:solidFill>
                            <a:schemeClr val="lt2"/>
                          </a:solidFill>
                          <a:latin typeface="+mj-lt"/>
                          <a:ea typeface="Arial"/>
                          <a:cs typeface="Arial"/>
                          <a:sym typeface="Arial"/>
                        </a:rPr>
                        <a:t>Steps</a:t>
                      </a:r>
                      <a:endParaRPr sz="900" b="1" i="0">
                        <a:solidFill>
                          <a:schemeClr val="lt2"/>
                        </a:solidFill>
                        <a:latin typeface="+mj-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28575"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6872B6"/>
                    </a:solidFill>
                  </a:tcPr>
                </a:tc>
                <a:tc>
                  <a:txBody>
                    <a:bodyPr/>
                    <a:lstStyle/>
                    <a:p>
                      <a:pPr marL="0" marR="0" lvl="0" indent="0" algn="l" rtl="0">
                        <a:spcBef>
                          <a:spcPts val="0"/>
                        </a:spcBef>
                        <a:spcAft>
                          <a:spcPts val="0"/>
                        </a:spcAft>
                        <a:buNone/>
                      </a:pPr>
                      <a:r>
                        <a:rPr lang="en-US" sz="900" b="1" i="0">
                          <a:solidFill>
                            <a:schemeClr val="lt2"/>
                          </a:solidFill>
                          <a:latin typeface="+mj-lt"/>
                          <a:ea typeface="Arial"/>
                          <a:cs typeface="Arial"/>
                          <a:sym typeface="Arial"/>
                        </a:rPr>
                        <a:t>Supporting resources</a:t>
                      </a:r>
                      <a:endParaRPr sz="900" b="1" i="0">
                        <a:solidFill>
                          <a:schemeClr val="lt2"/>
                        </a:solidFill>
                        <a:latin typeface="+mj-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28575"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6872B6"/>
                    </a:solidFill>
                  </a:tcPr>
                </a:tc>
                <a:extLst>
                  <a:ext uri="{0D108BD9-81ED-4DB2-BD59-A6C34878D82A}">
                    <a16:rowId xmlns:a16="http://schemas.microsoft.com/office/drawing/2014/main" val="10000"/>
                  </a:ext>
                </a:extLst>
              </a:tr>
              <a:tr h="1105833">
                <a:tc>
                  <a:txBody>
                    <a:bodyPr/>
                    <a:lstStyle/>
                    <a:p>
                      <a:pPr marL="0" marR="0" lvl="0" indent="0" algn="l" rtl="0">
                        <a:spcBef>
                          <a:spcPts val="0"/>
                        </a:spcBef>
                        <a:spcAft>
                          <a:spcPts val="0"/>
                        </a:spcAft>
                        <a:buNone/>
                      </a:pPr>
                      <a:r>
                        <a:rPr lang="en-US" sz="900" b="0" i="0">
                          <a:solidFill>
                            <a:schemeClr val="dk1"/>
                          </a:solidFill>
                          <a:latin typeface="+mj-lt"/>
                          <a:ea typeface="Arial"/>
                          <a:cs typeface="Arial"/>
                          <a:sym typeface="Arial"/>
                        </a:rPr>
                        <a:t>Create employee</a:t>
                      </a:r>
                      <a:br>
                        <a:rPr lang="en-US" sz="900" b="0" i="0">
                          <a:solidFill>
                            <a:schemeClr val="dk1"/>
                          </a:solidFill>
                          <a:latin typeface="+mj-lt"/>
                          <a:ea typeface="Arial"/>
                          <a:cs typeface="Arial"/>
                          <a:sym typeface="Arial"/>
                        </a:rPr>
                      </a:br>
                      <a:r>
                        <a:rPr lang="en-US" sz="900" b="0" i="0">
                          <a:solidFill>
                            <a:schemeClr val="dk1"/>
                          </a:solidFill>
                          <a:latin typeface="+mj-lt"/>
                          <a:ea typeface="Arial"/>
                          <a:cs typeface="Arial"/>
                          <a:sym typeface="Arial"/>
                        </a:rPr>
                        <a:t>and candidate AI transparency</a:t>
                      </a:r>
                      <a:endParaRPr lang="en-US" sz="900" b="0">
                        <a:latin typeface="+mj-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tc>
                  <a:txBody>
                    <a:bodyPr/>
                    <a:lstStyle/>
                    <a:p>
                      <a:pPr marL="173736" marR="0" lvl="0" indent="-173736" algn="l" rtl="0">
                        <a:lnSpc>
                          <a:spcPct val="90000"/>
                        </a:lnSpc>
                        <a:spcBef>
                          <a:spcPts val="300"/>
                        </a:spcBef>
                        <a:spcAft>
                          <a:spcPts val="0"/>
                        </a:spcAft>
                        <a:buClr>
                          <a:srgbClr val="000000"/>
                        </a:buClr>
                        <a:buSzPct val="100000"/>
                        <a:buFont typeface="Arial"/>
                        <a:buAutoNum type="arabicPeriod"/>
                      </a:pPr>
                      <a:r>
                        <a:rPr lang="en-US" sz="900" b="0">
                          <a:solidFill>
                            <a:srgbClr val="000000"/>
                          </a:solidFill>
                          <a:latin typeface="+mn-lt"/>
                          <a:ea typeface="Arial"/>
                          <a:cs typeface="Arial"/>
                          <a:sym typeface="Arial"/>
                        </a:rPr>
                        <a:t>Communicate clear, accessible guidelines on how AI is used in HR, outlining what data is collected, how it’s processed, and the decisions</a:t>
                      </a:r>
                      <a:br>
                        <a:rPr lang="en-US" sz="900" b="0">
                          <a:solidFill>
                            <a:srgbClr val="000000"/>
                          </a:solidFill>
                          <a:latin typeface="+mn-lt"/>
                          <a:ea typeface="Arial"/>
                          <a:cs typeface="Arial"/>
                          <a:sym typeface="Arial"/>
                        </a:rPr>
                      </a:br>
                      <a:r>
                        <a:rPr lang="en-US" sz="900" b="0">
                          <a:solidFill>
                            <a:srgbClr val="000000"/>
                          </a:solidFill>
                          <a:latin typeface="+mn-lt"/>
                          <a:ea typeface="Arial"/>
                          <a:cs typeface="Arial"/>
                          <a:sym typeface="Arial"/>
                        </a:rPr>
                        <a:t>AI supports.</a:t>
                      </a:r>
                      <a:endParaRPr sz="900" b="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b="0">
                          <a:solidFill>
                            <a:srgbClr val="000000"/>
                          </a:solidFill>
                          <a:latin typeface="+mn-lt"/>
                          <a:ea typeface="Arial"/>
                          <a:cs typeface="Arial"/>
                          <a:sym typeface="Arial"/>
                        </a:rPr>
                        <a:t>Inform employees and candidates of their rights related to AI in HR, including data access, correction, objection, and appeal mechanisms for</a:t>
                      </a:r>
                      <a:br>
                        <a:rPr lang="en-US" sz="900" b="0">
                          <a:solidFill>
                            <a:srgbClr val="000000"/>
                          </a:solidFill>
                          <a:latin typeface="+mn-lt"/>
                          <a:ea typeface="Arial"/>
                          <a:cs typeface="Arial"/>
                          <a:sym typeface="Arial"/>
                        </a:rPr>
                      </a:br>
                      <a:r>
                        <a:rPr lang="en-US" sz="900" b="0">
                          <a:solidFill>
                            <a:srgbClr val="000000"/>
                          </a:solidFill>
                          <a:latin typeface="+mn-lt"/>
                          <a:ea typeface="Arial"/>
                          <a:cs typeface="Arial"/>
                          <a:sym typeface="Arial"/>
                        </a:rPr>
                        <a:t>AI-driven decisions.</a:t>
                      </a:r>
                      <a:endParaRPr sz="900" b="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b="0">
                          <a:solidFill>
                            <a:srgbClr val="000000"/>
                          </a:solidFill>
                          <a:latin typeface="+mn-lt"/>
                          <a:ea typeface="Arial"/>
                          <a:cs typeface="Arial"/>
                          <a:sym typeface="Arial"/>
                        </a:rPr>
                        <a:t>Ensure transparent consent by notifying employees and candidates when their data will be used in AI systems, specifying purpose and scope before collection or processing.</a:t>
                      </a:r>
                      <a:endParaRPr sz="900" b="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b="0">
                          <a:solidFill>
                            <a:srgbClr val="000000"/>
                          </a:solidFill>
                          <a:latin typeface="+mn-lt"/>
                          <a:ea typeface="Arial"/>
                          <a:cs typeface="Arial"/>
                          <a:sym typeface="Arial"/>
                        </a:rPr>
                        <a:t>Maintain dedicated channels for employees and candidates to ask questions or raise concerns about AI in HR, ensuring timely, clear responses.</a:t>
                      </a:r>
                      <a:endParaRPr sz="900" b="0">
                        <a:latin typeface="+mn-lt"/>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tc>
                  <a:txBody>
                    <a:bodyPr/>
                    <a:lstStyle/>
                    <a:p>
                      <a:pPr marL="0" marR="0" lvl="0" indent="0" algn="l" defTabSz="914400" rtl="0" eaLnBrk="1" latinLnBrk="0" hangingPunct="1">
                        <a:lnSpc>
                          <a:spcPct val="100000"/>
                        </a:lnSpc>
                        <a:spcBef>
                          <a:spcPts val="300"/>
                        </a:spcBef>
                        <a:spcAft>
                          <a:spcPts val="0"/>
                        </a:spcAft>
                        <a:buClr>
                          <a:srgbClr val="000000"/>
                        </a:buClr>
                        <a:buSzPts val="1050"/>
                        <a:buFont typeface="Arial"/>
                        <a:buNone/>
                      </a:pPr>
                      <a:r>
                        <a:rPr lang="en-US" sz="900" u="sng" kern="1200">
                          <a:solidFill>
                            <a:srgbClr val="000000"/>
                          </a:solidFill>
                          <a:latin typeface="+mn-lt"/>
                          <a:ea typeface="Arial"/>
                          <a:cs typeface="Arial"/>
                          <a:sym typeface="Arial"/>
                          <a:hlinkClick r:id="rId2">
                            <a:extLst>
                              <a:ext uri="{A12FA001-AC4F-418D-AE19-62706E023703}">
                                <ahyp:hlinkClr xmlns:ahyp="http://schemas.microsoft.com/office/drawing/2018/hyperlinkcolor" val="tx"/>
                              </a:ext>
                            </a:extLst>
                          </a:hlinkClick>
                        </a:rPr>
                        <a:t>Top HRBP Actions to Address the AI Fears of Employees</a:t>
                      </a:r>
                      <a:endParaRPr lang="en-US" sz="900" u="sng" kern="1200">
                        <a:solidFill>
                          <a:srgbClr val="000000"/>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extLst>
                  <a:ext uri="{0D108BD9-81ED-4DB2-BD59-A6C34878D82A}">
                    <a16:rowId xmlns:a16="http://schemas.microsoft.com/office/drawing/2014/main" val="10001"/>
                  </a:ext>
                </a:extLst>
              </a:tr>
              <a:tr h="1500144">
                <a:tc>
                  <a:txBody>
                    <a:bodyPr/>
                    <a:lstStyle/>
                    <a:p>
                      <a:pPr marL="0" marR="0" lvl="0" indent="0" algn="l" rtl="0">
                        <a:spcBef>
                          <a:spcPts val="0"/>
                        </a:spcBef>
                        <a:spcAft>
                          <a:spcPts val="0"/>
                        </a:spcAft>
                        <a:buNone/>
                      </a:pPr>
                      <a:r>
                        <a:rPr lang="en-US" sz="900" b="0" i="0">
                          <a:solidFill>
                            <a:schemeClr val="dk1"/>
                          </a:solidFill>
                          <a:latin typeface="+mj-lt"/>
                          <a:ea typeface="Arial"/>
                          <a:cs typeface="Arial"/>
                          <a:sym typeface="Arial"/>
                        </a:rPr>
                        <a:t>Ensure AI governance adherence for HR and third-party vendors</a:t>
                      </a:r>
                      <a:endParaRPr lang="en-US" sz="900" b="0">
                        <a:latin typeface="+mj-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tc>
                  <a:txBody>
                    <a:bodyPr/>
                    <a:lstStyle/>
                    <a:p>
                      <a:pPr marL="173736" marR="0" lvl="0" indent="-173736" algn="l" rtl="0">
                        <a:lnSpc>
                          <a:spcPct val="90000"/>
                        </a:lnSpc>
                        <a:spcBef>
                          <a:spcPts val="300"/>
                        </a:spcBef>
                        <a:spcAft>
                          <a:spcPts val="0"/>
                        </a:spcAft>
                        <a:buClr>
                          <a:srgbClr val="000000"/>
                        </a:buClr>
                        <a:buSzPct val="100000"/>
                        <a:buFont typeface="Arial"/>
                        <a:buAutoNum type="arabicPeriod"/>
                      </a:pPr>
                      <a:r>
                        <a:rPr lang="en-US" sz="900" b="0" dirty="0">
                          <a:latin typeface="+mn-lt"/>
                          <a:ea typeface="Arial"/>
                          <a:cs typeface="Arial"/>
                          <a:sym typeface="Arial"/>
                        </a:rPr>
                        <a:t>Establish a formal process to monitor, document, and address deviations from governance policies, including clear escalation paths for issues</a:t>
                      </a:r>
                      <a:br>
                        <a:rPr lang="en-US" sz="900" b="0" dirty="0">
                          <a:latin typeface="+mn-lt"/>
                          <a:ea typeface="Arial"/>
                          <a:cs typeface="Arial"/>
                          <a:sym typeface="Arial"/>
                        </a:rPr>
                      </a:br>
                      <a:r>
                        <a:rPr lang="en-US" sz="900" b="0" dirty="0">
                          <a:latin typeface="+mn-lt"/>
                          <a:ea typeface="Arial"/>
                          <a:cs typeface="Arial"/>
                          <a:sym typeface="Arial"/>
                        </a:rPr>
                        <a:t>that cannot be immediately resolved.</a:t>
                      </a:r>
                      <a:endParaRPr sz="900" b="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b="0" dirty="0">
                          <a:latin typeface="+mn-lt"/>
                          <a:ea typeface="Arial"/>
                          <a:cs typeface="Arial"/>
                          <a:sym typeface="Arial"/>
                        </a:rPr>
                        <a:t>Continuously monitor HR AI systems using automated tools and manual checks to identify bias, fairness issues, and data quality concerns, allowing for the prompt mitigation of risks as they arise.</a:t>
                      </a:r>
                      <a:endParaRPr sz="900" b="0" dirty="0">
                        <a:solidFill>
                          <a:srgbClr val="000000"/>
                        </a:solidFill>
                        <a:latin typeface="+mn-lt"/>
                        <a:ea typeface="Arial"/>
                        <a:cs typeface="Arial"/>
                        <a:sym typeface="Arial"/>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b="0" dirty="0">
                          <a:latin typeface="+mn-lt"/>
                          <a:ea typeface="Arial"/>
                          <a:cs typeface="Arial"/>
                          <a:sym typeface="Arial"/>
                        </a:rPr>
                        <a:t>Perform scheduled, in-depth reviews of AI outputs and HR process outcomes to evaluate long-term adherence to governance standards and capture lessons learned for future improvement.</a:t>
                      </a:r>
                      <a:endParaRPr sz="900" b="0" dirty="0">
                        <a:solidFill>
                          <a:srgbClr val="000000"/>
                        </a:solidFill>
                        <a:latin typeface="+mn-lt"/>
                        <a:ea typeface="Arial"/>
                        <a:cs typeface="Arial"/>
                        <a:sym typeface="Arial"/>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b="0" dirty="0">
                          <a:latin typeface="+mn-lt"/>
                          <a:ea typeface="Arial"/>
                          <a:cs typeface="Arial"/>
                          <a:sym typeface="Arial"/>
                        </a:rPr>
                        <a:t>Translate enterprise security principles into HR-specific controls, ensuring strict governance over sensitive employee data access and identifying safety areas unique to the HR function.</a:t>
                      </a:r>
                      <a:endParaRPr sz="900" b="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b="0" dirty="0">
                          <a:latin typeface="+mn-lt"/>
                          <a:ea typeface="Arial"/>
                          <a:cs typeface="Arial"/>
                          <a:sym typeface="Arial"/>
                        </a:rPr>
                        <a:t>Align with IT to ensure the secure deployment of AI tools — focusing on vendor security and system interfaces — while implementing ongoing monitoring to detect unauthorized access, data leakage, or unintended model behavior.</a:t>
                      </a:r>
                      <a:endParaRPr sz="900" b="0" dirty="0">
                        <a:solidFill>
                          <a:srgbClr val="000000"/>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tc>
                  <a:txBody>
                    <a:bodyPr/>
                    <a:lstStyle/>
                    <a:p>
                      <a:pPr marL="0" marR="0" lvl="0" indent="0" algn="l" defTabSz="914400" rtl="0" eaLnBrk="1" latinLnBrk="0" hangingPunct="1">
                        <a:lnSpc>
                          <a:spcPct val="100000"/>
                        </a:lnSpc>
                        <a:spcBef>
                          <a:spcPts val="300"/>
                        </a:spcBef>
                        <a:spcAft>
                          <a:spcPts val="0"/>
                        </a:spcAft>
                        <a:buClr>
                          <a:srgbClr val="000000"/>
                        </a:buClr>
                        <a:buSzPts val="1050"/>
                        <a:buFont typeface="Arial"/>
                        <a:buNone/>
                      </a:pPr>
                      <a:r>
                        <a:rPr lang="en-US" sz="900" u="sng" kern="1200" dirty="0">
                          <a:solidFill>
                            <a:srgbClr val="000000"/>
                          </a:solidFill>
                          <a:latin typeface="+mn-lt"/>
                          <a:ea typeface="Arial"/>
                          <a:cs typeface="Arial"/>
                          <a:sym typeface="Arial"/>
                          <a:hlinkClick r:id="rId3">
                            <a:extLst>
                              <a:ext uri="{A12FA001-AC4F-418D-AE19-62706E023703}">
                                <ahyp:hlinkClr xmlns:ahyp="http://schemas.microsoft.com/office/drawing/2018/hyperlinkcolor" val="tx"/>
                              </a:ext>
                            </a:extLst>
                          </a:hlinkClick>
                        </a:rPr>
                        <a:t>Tool: Generative AI Policy Kit</a:t>
                      </a:r>
                      <a:endParaRPr lang="en-US" sz="900" u="sng" kern="1200" dirty="0">
                        <a:solidFill>
                          <a:srgbClr val="000000"/>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extLst>
                  <a:ext uri="{0D108BD9-81ED-4DB2-BD59-A6C34878D82A}">
                    <a16:rowId xmlns:a16="http://schemas.microsoft.com/office/drawing/2014/main" val="939464923"/>
                  </a:ext>
                </a:extLst>
              </a:tr>
              <a:tr h="1355329">
                <a:tc>
                  <a:txBody>
                    <a:bodyPr/>
                    <a:lstStyle/>
                    <a:p>
                      <a:pPr marL="0" marR="0" lvl="0" indent="0" algn="l" rtl="0">
                        <a:spcBef>
                          <a:spcPts val="0"/>
                        </a:spcBef>
                        <a:spcAft>
                          <a:spcPts val="0"/>
                        </a:spcAft>
                        <a:buNone/>
                      </a:pPr>
                      <a:r>
                        <a:rPr lang="en-US" sz="900" b="0" i="0">
                          <a:solidFill>
                            <a:schemeClr val="dk1"/>
                          </a:solidFill>
                          <a:latin typeface="+mj-lt"/>
                          <a:ea typeface="Arial"/>
                          <a:cs typeface="Arial"/>
                          <a:sym typeface="Arial"/>
                        </a:rPr>
                        <a:t>Handle exceptions and escalations</a:t>
                      </a:r>
                      <a:endParaRPr lang="en-US" sz="900" b="0">
                        <a:latin typeface="+mj-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28575" cap="flat" cmpd="sng" algn="ctr">
                      <a:solidFill>
                        <a:srgbClr val="707996"/>
                      </a:solidFill>
                      <a:prstDash val="solid"/>
                      <a:round/>
                      <a:headEnd type="none" w="med" len="med"/>
                      <a:tailEnd type="none" w="med" len="med"/>
                    </a:lnB>
                  </a:tcPr>
                </a:tc>
                <a:tc>
                  <a:txBody>
                    <a:bodyPr/>
                    <a:lstStyle/>
                    <a:p>
                      <a:pPr marL="173736" marR="0" lvl="0" indent="-173736" algn="l" rtl="0">
                        <a:lnSpc>
                          <a:spcPct val="90000"/>
                        </a:lnSpc>
                        <a:spcBef>
                          <a:spcPts val="300"/>
                        </a:spcBef>
                        <a:spcAft>
                          <a:spcPts val="0"/>
                        </a:spcAft>
                        <a:buClr>
                          <a:srgbClr val="000000"/>
                        </a:buClr>
                        <a:buSzPct val="100000"/>
                        <a:buFont typeface="Arial"/>
                        <a:buAutoNum type="arabicPeriod"/>
                      </a:pPr>
                      <a:r>
                        <a:rPr lang="en-US" sz="900" b="0">
                          <a:solidFill>
                            <a:srgbClr val="000000"/>
                          </a:solidFill>
                          <a:latin typeface="+mn-lt"/>
                          <a:ea typeface="Arial"/>
                          <a:cs typeface="Arial"/>
                          <a:sym typeface="Arial"/>
                        </a:rPr>
                        <a:t>Establish clear procedures for identifying and documenting exceptions in HR AI systems and processes that deviate from enterprise</a:t>
                      </a:r>
                      <a:br>
                        <a:rPr lang="en-US" sz="900" b="0">
                          <a:solidFill>
                            <a:srgbClr val="000000"/>
                          </a:solidFill>
                          <a:latin typeface="+mn-lt"/>
                          <a:ea typeface="Arial"/>
                          <a:cs typeface="Arial"/>
                          <a:sym typeface="Arial"/>
                        </a:rPr>
                      </a:br>
                      <a:r>
                        <a:rPr lang="en-US" sz="900" b="0">
                          <a:solidFill>
                            <a:srgbClr val="000000"/>
                          </a:solidFill>
                          <a:latin typeface="+mn-lt"/>
                          <a:ea typeface="Arial"/>
                          <a:cs typeface="Arial"/>
                          <a:sym typeface="Arial"/>
                        </a:rPr>
                        <a:t>governance requirements.</a:t>
                      </a:r>
                      <a:endParaRPr sz="900" b="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b="0">
                          <a:solidFill>
                            <a:srgbClr val="000000"/>
                          </a:solidFill>
                          <a:latin typeface="+mn-lt"/>
                          <a:ea typeface="Arial"/>
                          <a:cs typeface="Arial"/>
                          <a:sym typeface="Arial"/>
                        </a:rPr>
                        <a:t>Assign responsibility for initial assessment and resolution of exceptions, ensuring prompt corrective actions and mitigation of compliance risks.</a:t>
                      </a:r>
                      <a:endParaRPr sz="900" b="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b="0">
                          <a:solidFill>
                            <a:srgbClr val="000000"/>
                          </a:solidFill>
                          <a:latin typeface="+mn-lt"/>
                          <a:ea typeface="Arial"/>
                          <a:cs typeface="Arial"/>
                          <a:sym typeface="Arial"/>
                        </a:rPr>
                        <a:t>Define escalation pathways for unresolved or high-impact exceptions, including criteria for when issues must be elevated to senior HR leadership</a:t>
                      </a:r>
                      <a:br>
                        <a:rPr lang="en-US" sz="900" b="0">
                          <a:solidFill>
                            <a:srgbClr val="000000"/>
                          </a:solidFill>
                          <a:latin typeface="+mn-lt"/>
                          <a:ea typeface="Arial"/>
                          <a:cs typeface="Arial"/>
                          <a:sym typeface="Arial"/>
                        </a:rPr>
                      </a:br>
                      <a:r>
                        <a:rPr lang="en-US" sz="900" b="0">
                          <a:solidFill>
                            <a:srgbClr val="000000"/>
                          </a:solidFill>
                          <a:latin typeface="+mn-lt"/>
                          <a:ea typeface="Arial"/>
                          <a:cs typeface="Arial"/>
                          <a:sym typeface="Arial"/>
                        </a:rPr>
                        <a:t>or enterprise governance teams.</a:t>
                      </a:r>
                      <a:endParaRPr sz="900" b="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b="0">
                          <a:solidFill>
                            <a:srgbClr val="000000"/>
                          </a:solidFill>
                          <a:latin typeface="+mn-lt"/>
                          <a:ea typeface="Arial"/>
                          <a:cs typeface="Arial"/>
                          <a:sym typeface="Arial"/>
                        </a:rPr>
                        <a:t>Maintain records of exception handling and escalation outcomes, enabling ongoing review and continuous improvement of HR AI</a:t>
                      </a:r>
                      <a:br>
                        <a:rPr lang="en-US" sz="900" b="0">
                          <a:solidFill>
                            <a:srgbClr val="000000"/>
                          </a:solidFill>
                          <a:latin typeface="+mn-lt"/>
                          <a:ea typeface="Arial"/>
                          <a:cs typeface="Arial"/>
                          <a:sym typeface="Arial"/>
                        </a:rPr>
                      </a:br>
                      <a:r>
                        <a:rPr lang="en-US" sz="900" b="0">
                          <a:solidFill>
                            <a:srgbClr val="000000"/>
                          </a:solidFill>
                          <a:latin typeface="+mn-lt"/>
                          <a:ea typeface="Arial"/>
                          <a:cs typeface="Arial"/>
                          <a:sym typeface="Arial"/>
                        </a:rPr>
                        <a:t>governance processes.</a:t>
                      </a:r>
                      <a:endParaRPr sz="900" b="0">
                        <a:latin typeface="+mn-lt"/>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28575" cap="flat" cmpd="sng" algn="ctr">
                      <a:solidFill>
                        <a:srgbClr val="707996"/>
                      </a:solidFill>
                      <a:prstDash val="solid"/>
                      <a:round/>
                      <a:headEnd type="none" w="med" len="med"/>
                      <a:tailEnd type="none" w="med" len="med"/>
                    </a:lnB>
                  </a:tcPr>
                </a:tc>
                <a:tc>
                  <a:txBody>
                    <a:bodyPr/>
                    <a:lstStyle/>
                    <a:p>
                      <a:pPr marL="0" marR="0" lvl="0" indent="0" algn="l" rtl="0">
                        <a:spcBef>
                          <a:spcPts val="0"/>
                        </a:spcBef>
                        <a:spcAft>
                          <a:spcPts val="0"/>
                        </a:spcAft>
                        <a:buNone/>
                      </a:pPr>
                      <a:endParaRPr sz="900" b="1" i="0" dirty="0">
                        <a:solidFill>
                          <a:schemeClr val="dk1"/>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28575" cap="flat" cmpd="sng" algn="ctr">
                      <a:solidFill>
                        <a:srgbClr val="707996"/>
                      </a:solidFill>
                      <a:prstDash val="solid"/>
                      <a:round/>
                      <a:headEnd type="none" w="med" len="med"/>
                      <a:tailEnd type="none" w="med" len="med"/>
                    </a:lnB>
                  </a:tcPr>
                </a:tc>
                <a:extLst>
                  <a:ext uri="{0D108BD9-81ED-4DB2-BD59-A6C34878D82A}">
                    <a16:rowId xmlns:a16="http://schemas.microsoft.com/office/drawing/2014/main" val="208485627"/>
                  </a:ext>
                </a:extLst>
              </a:tr>
            </a:tbl>
          </a:graphicData>
        </a:graphic>
      </p:graphicFrame>
    </p:spTree>
    <p:extLst>
      <p:ext uri="{BB962C8B-B14F-4D97-AF65-F5344CB8AC3E}">
        <p14:creationId xmlns:p14="http://schemas.microsoft.com/office/powerpoint/2010/main" val="34062292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26DC4-022F-DC1E-3897-8F4ADD4B2B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534D12-7B42-06A1-4286-B0E7D663866C}"/>
              </a:ext>
            </a:extLst>
          </p:cNvPr>
          <p:cNvSpPr>
            <a:spLocks noGrp="1"/>
          </p:cNvSpPr>
          <p:nvPr>
            <p:ph type="title"/>
          </p:nvPr>
        </p:nvSpPr>
        <p:spPr/>
        <p:txBody>
          <a:bodyPr/>
          <a:lstStyle/>
          <a:p>
            <a:r>
              <a:rPr lang="en-US"/>
              <a:t>AI Data and Systems for HR Function: Detailed Activities (1 of 4)</a:t>
            </a:r>
          </a:p>
        </p:txBody>
      </p:sp>
      <p:graphicFrame>
        <p:nvGraphicFramePr>
          <p:cNvPr id="3" name="Google Shape;513;p11">
            <a:extLst>
              <a:ext uri="{FF2B5EF4-FFF2-40B4-BE49-F238E27FC236}">
                <a16:creationId xmlns:a16="http://schemas.microsoft.com/office/drawing/2014/main" id="{531492D4-3E2C-5A88-DC55-E806C9AD03C3}"/>
              </a:ext>
            </a:extLst>
          </p:cNvPr>
          <p:cNvGraphicFramePr/>
          <p:nvPr>
            <p:extLst>
              <p:ext uri="{D42A27DB-BD31-4B8C-83A1-F6EECF244321}">
                <p14:modId xmlns:p14="http://schemas.microsoft.com/office/powerpoint/2010/main" val="2010358558"/>
              </p:ext>
            </p:extLst>
          </p:nvPr>
        </p:nvGraphicFramePr>
        <p:xfrm>
          <a:off x="474896" y="947135"/>
          <a:ext cx="11256855" cy="4956861"/>
        </p:xfrm>
        <a:graphic>
          <a:graphicData uri="http://schemas.openxmlformats.org/drawingml/2006/table">
            <a:tbl>
              <a:tblPr>
                <a:noFill/>
              </a:tblPr>
              <a:tblGrid>
                <a:gridCol w="1343630">
                  <a:extLst>
                    <a:ext uri="{9D8B030D-6E8A-4147-A177-3AD203B41FA5}">
                      <a16:colId xmlns:a16="http://schemas.microsoft.com/office/drawing/2014/main" val="20000"/>
                    </a:ext>
                  </a:extLst>
                </a:gridCol>
                <a:gridCol w="7926365">
                  <a:extLst>
                    <a:ext uri="{9D8B030D-6E8A-4147-A177-3AD203B41FA5}">
                      <a16:colId xmlns:a16="http://schemas.microsoft.com/office/drawing/2014/main" val="20001"/>
                    </a:ext>
                  </a:extLst>
                </a:gridCol>
                <a:gridCol w="1986860">
                  <a:extLst>
                    <a:ext uri="{9D8B030D-6E8A-4147-A177-3AD203B41FA5}">
                      <a16:colId xmlns:a16="http://schemas.microsoft.com/office/drawing/2014/main" val="20002"/>
                    </a:ext>
                  </a:extLst>
                </a:gridCol>
              </a:tblGrid>
              <a:tr h="343561">
                <a:tc>
                  <a:txBody>
                    <a:bodyPr/>
                    <a:lstStyle/>
                    <a:p>
                      <a:pPr marL="0" marR="0" lvl="0" indent="0" algn="l" rtl="0">
                        <a:spcBef>
                          <a:spcPts val="0"/>
                        </a:spcBef>
                        <a:spcAft>
                          <a:spcPts val="0"/>
                        </a:spcAft>
                        <a:buNone/>
                      </a:pPr>
                      <a:r>
                        <a:rPr lang="en-US" sz="900" b="1" i="0" u="none" strike="noStrike" cap="none">
                          <a:solidFill>
                            <a:schemeClr val="lt2"/>
                          </a:solidFill>
                          <a:latin typeface="+mj-lt"/>
                          <a:ea typeface="Arial"/>
                          <a:cs typeface="Arial"/>
                          <a:sym typeface="Arial"/>
                        </a:rPr>
                        <a:t>Activity</a:t>
                      </a:r>
                      <a:endParaRPr sz="900" b="1" i="0">
                        <a:solidFill>
                          <a:schemeClr val="lt2"/>
                        </a:solidFill>
                        <a:latin typeface="+mj-lt"/>
                        <a:ea typeface="Arial"/>
                        <a:cs typeface="Arial"/>
                        <a:sym typeface="Arial"/>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28575"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3C92B5"/>
                    </a:solidFill>
                  </a:tcPr>
                </a:tc>
                <a:tc>
                  <a:txBody>
                    <a:bodyPr/>
                    <a:lstStyle/>
                    <a:p>
                      <a:pPr marL="0" marR="0" lvl="0" indent="0" algn="l" rtl="0">
                        <a:spcBef>
                          <a:spcPts val="0"/>
                        </a:spcBef>
                        <a:spcAft>
                          <a:spcPts val="0"/>
                        </a:spcAft>
                        <a:buNone/>
                      </a:pPr>
                      <a:r>
                        <a:rPr lang="en-US" sz="900" b="1" i="0">
                          <a:solidFill>
                            <a:schemeClr val="lt2"/>
                          </a:solidFill>
                          <a:latin typeface="+mj-lt"/>
                          <a:ea typeface="Arial"/>
                          <a:cs typeface="Arial"/>
                          <a:sym typeface="Arial"/>
                        </a:rPr>
                        <a:t>Steps</a:t>
                      </a:r>
                      <a:endParaRPr sz="900" b="1" i="0">
                        <a:solidFill>
                          <a:schemeClr val="lt2"/>
                        </a:solidFill>
                        <a:latin typeface="+mj-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28575"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3C92B5"/>
                    </a:solidFill>
                  </a:tcPr>
                </a:tc>
                <a:tc>
                  <a:txBody>
                    <a:bodyPr/>
                    <a:lstStyle/>
                    <a:p>
                      <a:pPr marL="0" marR="0" lvl="0" indent="0" algn="l" rtl="0">
                        <a:spcBef>
                          <a:spcPts val="0"/>
                        </a:spcBef>
                        <a:spcAft>
                          <a:spcPts val="0"/>
                        </a:spcAft>
                        <a:buNone/>
                      </a:pPr>
                      <a:r>
                        <a:rPr lang="en-US" sz="900" b="1" i="0">
                          <a:solidFill>
                            <a:schemeClr val="lt2"/>
                          </a:solidFill>
                          <a:latin typeface="+mj-lt"/>
                          <a:ea typeface="Arial"/>
                          <a:cs typeface="Arial"/>
                          <a:sym typeface="Arial"/>
                        </a:rPr>
                        <a:t>Supporting resources</a:t>
                      </a:r>
                      <a:endParaRPr sz="900" b="1" i="0">
                        <a:solidFill>
                          <a:schemeClr val="lt2"/>
                        </a:solidFill>
                        <a:latin typeface="+mj-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28575"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3C92B5"/>
                    </a:solidFill>
                  </a:tcPr>
                </a:tc>
                <a:extLst>
                  <a:ext uri="{0D108BD9-81ED-4DB2-BD59-A6C34878D82A}">
                    <a16:rowId xmlns:a16="http://schemas.microsoft.com/office/drawing/2014/main" val="10000"/>
                  </a:ext>
                </a:extLst>
              </a:tr>
              <a:tr h="1563194">
                <a:tc>
                  <a:txBody>
                    <a:bodyPr/>
                    <a:lstStyle/>
                    <a:p>
                      <a:pPr marL="0" marR="0" lvl="0" indent="0" algn="l" rtl="0">
                        <a:spcBef>
                          <a:spcPts val="0"/>
                        </a:spcBef>
                        <a:spcAft>
                          <a:spcPts val="0"/>
                        </a:spcAft>
                        <a:buNone/>
                      </a:pPr>
                      <a:r>
                        <a:rPr lang="en-US" sz="900" b="0" i="0">
                          <a:solidFill>
                            <a:schemeClr val="dk1"/>
                          </a:solidFill>
                          <a:latin typeface="+mj-lt"/>
                          <a:ea typeface="Arial"/>
                          <a:cs typeface="Arial"/>
                          <a:sym typeface="Arial"/>
                        </a:rPr>
                        <a:t>Acquire, prepare, standardize and integrate HR data</a:t>
                      </a:r>
                      <a:br>
                        <a:rPr lang="en-US" sz="900" b="0" i="0">
                          <a:solidFill>
                            <a:schemeClr val="dk1"/>
                          </a:solidFill>
                          <a:latin typeface="+mj-lt"/>
                          <a:ea typeface="Arial"/>
                          <a:cs typeface="Arial"/>
                          <a:sym typeface="Arial"/>
                        </a:rPr>
                      </a:br>
                      <a:r>
                        <a:rPr lang="en-US" sz="900" b="0" i="0">
                          <a:solidFill>
                            <a:schemeClr val="dk1"/>
                          </a:solidFill>
                          <a:latin typeface="+mj-lt"/>
                          <a:ea typeface="Arial"/>
                          <a:cs typeface="Arial"/>
                          <a:sym typeface="Arial"/>
                        </a:rPr>
                        <a:t>for AI</a:t>
                      </a:r>
                      <a:endParaRPr lang="en-US" sz="900">
                        <a:latin typeface="+mj-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tc>
                  <a:txBody>
                    <a:bodyPr/>
                    <a:lstStyle/>
                    <a:p>
                      <a:pPr marL="173736" marR="0" lvl="0" indent="-173736" algn="l" rtl="0">
                        <a:spcBef>
                          <a:spcPts val="300"/>
                        </a:spcBef>
                        <a:spcAft>
                          <a:spcPts val="0"/>
                        </a:spcAft>
                        <a:buClr>
                          <a:schemeClr val="dk1"/>
                        </a:buClr>
                        <a:buSzPct val="100000"/>
                        <a:buFont typeface="Arial"/>
                        <a:buAutoNum type="arabicPeriod"/>
                      </a:pPr>
                      <a:r>
                        <a:rPr lang="en-US" sz="900">
                          <a:solidFill>
                            <a:schemeClr val="dk1"/>
                          </a:solidFill>
                          <a:latin typeface="+mn-lt"/>
                        </a:rPr>
                        <a:t>Identify specific HR AI use cases and define their unique data requirements to determine exactly what information is needed across the HR</a:t>
                      </a:r>
                      <a:br>
                        <a:rPr lang="en-US" sz="900">
                          <a:solidFill>
                            <a:schemeClr val="dk1"/>
                          </a:solidFill>
                          <a:latin typeface="+mn-lt"/>
                        </a:rPr>
                      </a:br>
                      <a:r>
                        <a:rPr lang="en-US" sz="900">
                          <a:solidFill>
                            <a:schemeClr val="dk1"/>
                          </a:solidFill>
                          <a:latin typeface="+mn-lt"/>
                        </a:rPr>
                        <a:t>systems landscape.</a:t>
                      </a:r>
                      <a:endParaRPr sz="900">
                        <a:latin typeface="+mn-lt"/>
                      </a:endParaRPr>
                    </a:p>
                    <a:p>
                      <a:pPr marL="173736" marR="0" lvl="0" indent="-173736" algn="l" rtl="0">
                        <a:spcBef>
                          <a:spcPts val="300"/>
                        </a:spcBef>
                        <a:spcAft>
                          <a:spcPts val="0"/>
                        </a:spcAft>
                        <a:buClr>
                          <a:schemeClr val="dk1"/>
                        </a:buClr>
                        <a:buSzPct val="100000"/>
                        <a:buFont typeface="Arial"/>
                        <a:buAutoNum type="arabicPeriod"/>
                      </a:pPr>
                      <a:r>
                        <a:rPr lang="en-US" sz="900">
                          <a:solidFill>
                            <a:schemeClr val="dk1"/>
                          </a:solidFill>
                          <a:latin typeface="+mn-lt"/>
                        </a:rPr>
                        <a:t>Obtain formal approvals from legal and data privacy teams before accessing employee data and document data ownership by recording origins</a:t>
                      </a:r>
                      <a:br>
                        <a:rPr lang="en-US" sz="900">
                          <a:solidFill>
                            <a:schemeClr val="dk1"/>
                          </a:solidFill>
                          <a:latin typeface="+mn-lt"/>
                        </a:rPr>
                      </a:br>
                      <a:r>
                        <a:rPr lang="en-US" sz="900">
                          <a:solidFill>
                            <a:schemeClr val="dk1"/>
                          </a:solidFill>
                          <a:latin typeface="+mn-lt"/>
                        </a:rPr>
                        <a:t>and maintenance responsibilities.</a:t>
                      </a:r>
                      <a:endParaRPr sz="900">
                        <a:latin typeface="+mn-lt"/>
                      </a:endParaRPr>
                    </a:p>
                    <a:p>
                      <a:pPr marL="173736" marR="0" lvl="0" indent="-173736" algn="l" rtl="0">
                        <a:spcBef>
                          <a:spcPts val="300"/>
                        </a:spcBef>
                        <a:spcAft>
                          <a:spcPts val="0"/>
                        </a:spcAft>
                        <a:buClr>
                          <a:schemeClr val="dk1"/>
                        </a:buClr>
                        <a:buSzPct val="100000"/>
                        <a:buFont typeface="Arial"/>
                        <a:buAutoNum type="arabicPeriod"/>
                      </a:pPr>
                      <a:r>
                        <a:rPr lang="en-US" sz="900">
                          <a:latin typeface="+mn-lt"/>
                        </a:rPr>
                        <a:t>Clean HR data to remove errors and duplicates, anonymizing sensitive information where appropriate and organizing it into structured formats</a:t>
                      </a:r>
                      <a:br>
                        <a:rPr lang="en-US" sz="900">
                          <a:latin typeface="+mn-lt"/>
                        </a:rPr>
                      </a:br>
                      <a:r>
                        <a:rPr lang="en-US" sz="900">
                          <a:latin typeface="+mn-lt"/>
                        </a:rPr>
                        <a:t>with clear labels for AI processing.</a:t>
                      </a:r>
                      <a:endParaRPr sz="900">
                        <a:solidFill>
                          <a:schemeClr val="dk1"/>
                        </a:solidFill>
                        <a:latin typeface="+mn-lt"/>
                      </a:endParaRPr>
                    </a:p>
                    <a:p>
                      <a:pPr marL="173736" marR="0" lvl="0" indent="-173736" algn="l" rtl="0">
                        <a:spcBef>
                          <a:spcPts val="300"/>
                        </a:spcBef>
                        <a:spcAft>
                          <a:spcPts val="0"/>
                        </a:spcAft>
                        <a:buClr>
                          <a:schemeClr val="dk1"/>
                        </a:buClr>
                        <a:buSzPct val="100000"/>
                        <a:buFont typeface="Arial"/>
                        <a:buAutoNum type="arabicPeriod"/>
                      </a:pPr>
                      <a:r>
                        <a:rPr lang="en-US" sz="900">
                          <a:latin typeface="+mn-lt"/>
                        </a:rPr>
                        <a:t>Establish consistent data formats and naming conventions to ensure compatibility, then use ETL processes or APIs to automate and validate</a:t>
                      </a:r>
                      <a:br>
                        <a:rPr lang="en-US" sz="900">
                          <a:latin typeface="+mn-lt"/>
                        </a:rPr>
                      </a:br>
                      <a:r>
                        <a:rPr lang="en-US" sz="900">
                          <a:latin typeface="+mn-lt"/>
                        </a:rPr>
                        <a:t>the merging of data from disparate HR systems.</a:t>
                      </a:r>
                      <a:endParaRPr sz="900">
                        <a:latin typeface="+mn-lt"/>
                      </a:endParaRPr>
                    </a:p>
                    <a:p>
                      <a:pPr marL="173736" marR="0" lvl="0" indent="-173736" algn="l" rtl="0">
                        <a:spcBef>
                          <a:spcPts val="300"/>
                        </a:spcBef>
                        <a:spcAft>
                          <a:spcPts val="0"/>
                        </a:spcAft>
                        <a:buClr>
                          <a:schemeClr val="dk1"/>
                        </a:buClr>
                        <a:buSzPct val="100000"/>
                        <a:buFont typeface="Arial"/>
                        <a:buAutoNum type="arabicPeriod"/>
                      </a:pPr>
                      <a:r>
                        <a:rPr lang="en-US" sz="900">
                          <a:latin typeface="+mn-lt"/>
                        </a:rPr>
                        <a:t>Convert raw data into a clean, numerical format that AI can effectively use for learning and predictions, then train and validate the solution</a:t>
                      </a:r>
                      <a:br>
                        <a:rPr lang="en-US" sz="900">
                          <a:latin typeface="+mn-lt"/>
                        </a:rPr>
                      </a:br>
                      <a:r>
                        <a:rPr lang="en-US" sz="900">
                          <a:latin typeface="+mn-lt"/>
                        </a:rPr>
                        <a:t>to enhance accuracy and reliability.</a:t>
                      </a:r>
                      <a:endParaRPr sz="900">
                        <a:solidFill>
                          <a:schemeClr val="dk1"/>
                        </a:solidFill>
                        <a:latin typeface="+mn-lt"/>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tc>
                  <a:txBody>
                    <a:bodyPr/>
                    <a:lstStyle/>
                    <a:p>
                      <a:pPr marL="0" marR="0" lvl="0" indent="0" algn="l" defTabSz="914400" rtl="0" eaLnBrk="1" latinLnBrk="0" hangingPunct="1">
                        <a:lnSpc>
                          <a:spcPct val="100000"/>
                        </a:lnSpc>
                        <a:spcBef>
                          <a:spcPts val="300"/>
                        </a:spcBef>
                        <a:spcAft>
                          <a:spcPts val="0"/>
                        </a:spcAft>
                        <a:buClr>
                          <a:srgbClr val="000000"/>
                        </a:buClr>
                        <a:buSzPts val="1050"/>
                        <a:buFont typeface="Arial"/>
                        <a:buNone/>
                      </a:pPr>
                      <a:r>
                        <a:rPr lang="en-US" sz="900" u="sng" kern="1200">
                          <a:solidFill>
                            <a:srgbClr val="000000"/>
                          </a:solidFill>
                          <a:latin typeface="+mn-lt"/>
                          <a:cs typeface="Arial"/>
                          <a:hlinkClick r:id="rId2">
                            <a:extLst>
                              <a:ext uri="{A12FA001-AC4F-418D-AE19-62706E023703}">
                                <ahyp:hlinkClr xmlns:ahyp="http://schemas.microsoft.com/office/drawing/2018/hyperlinkcolor" val="tx"/>
                              </a:ext>
                            </a:extLst>
                          </a:hlinkClick>
                        </a:rPr>
                        <a:t>3 Steps to Establish AI-Ready HR Data</a:t>
                      </a:r>
                      <a:endParaRPr sz="900" u="sng" kern="1200">
                        <a:solidFill>
                          <a:srgbClr val="000000"/>
                        </a:solidFill>
                        <a:latin typeface="+mn-lt"/>
                        <a:cs typeface="Arial"/>
                      </a:endParaRPr>
                    </a:p>
                    <a:p>
                      <a:pPr marL="0" marR="0" lvl="0" indent="0" algn="l" defTabSz="914400" rtl="0" eaLnBrk="1" latinLnBrk="0" hangingPunct="1">
                        <a:lnSpc>
                          <a:spcPct val="100000"/>
                        </a:lnSpc>
                        <a:spcBef>
                          <a:spcPts val="300"/>
                        </a:spcBef>
                        <a:spcAft>
                          <a:spcPts val="0"/>
                        </a:spcAft>
                        <a:buClr>
                          <a:srgbClr val="000000"/>
                        </a:buClr>
                        <a:buSzPts val="1050"/>
                        <a:buFont typeface="Arial"/>
                        <a:buNone/>
                      </a:pPr>
                      <a:r>
                        <a:rPr lang="en-US" sz="900" u="sng" kern="1200">
                          <a:solidFill>
                            <a:srgbClr val="000000"/>
                          </a:solidFill>
                          <a:latin typeface="+mn-lt"/>
                          <a:cs typeface="Arial"/>
                          <a:hlinkClick r:id="rId3">
                            <a:extLst>
                              <a:ext uri="{A12FA001-AC4F-418D-AE19-62706E023703}">
                                <ahyp:hlinkClr xmlns:ahyp="http://schemas.microsoft.com/office/drawing/2018/hyperlinkcolor" val="tx"/>
                              </a:ext>
                            </a:extLst>
                          </a:hlinkClick>
                        </a:rPr>
                        <a:t>How HR Tech Leaders Can Make HR Data AI-Ready</a:t>
                      </a:r>
                      <a:r>
                        <a:rPr lang="en-US" sz="900" u="sng" kern="1200">
                          <a:solidFill>
                            <a:srgbClr val="000000"/>
                          </a:solidFill>
                          <a:latin typeface="+mn-lt"/>
                          <a:cs typeface="Arial"/>
                        </a:rPr>
                        <a:t>, </a:t>
                      </a:r>
                      <a:r>
                        <a:rPr lang="en-US" sz="900" u="sng" kern="1200">
                          <a:solidFill>
                            <a:srgbClr val="000000"/>
                          </a:solidFill>
                          <a:latin typeface="+mn-lt"/>
                          <a:cs typeface="Arial"/>
                          <a:hlinkClick r:id="rId4">
                            <a:extLst>
                              <a:ext uri="{A12FA001-AC4F-418D-AE19-62706E023703}">
                                <ahyp:hlinkClr xmlns:ahyp="http://schemas.microsoft.com/office/drawing/2018/hyperlinkcolor" val="tx"/>
                              </a:ext>
                            </a:extLst>
                          </a:hlinkClick>
                        </a:rPr>
                        <a:t>A Journey Guide to Deliver AI Success Through AI-Ready Data</a:t>
                      </a:r>
                      <a:r>
                        <a:rPr lang="en-US" sz="900" u="sng" kern="1200">
                          <a:solidFill>
                            <a:srgbClr val="000000"/>
                          </a:solidFill>
                          <a:latin typeface="+mn-lt"/>
                          <a:cs typeface="Arial"/>
                        </a:rPr>
                        <a:t>, </a:t>
                      </a:r>
                      <a:r>
                        <a:rPr lang="en-US" sz="900" u="sng" kern="1200">
                          <a:solidFill>
                            <a:srgbClr val="000000"/>
                          </a:solidFill>
                          <a:latin typeface="+mn-lt"/>
                          <a:cs typeface="Arial"/>
                          <a:hlinkClick r:id="rId5">
                            <a:extLst>
                              <a:ext uri="{A12FA001-AC4F-418D-AE19-62706E023703}">
                                <ahyp:hlinkClr xmlns:ahyp="http://schemas.microsoft.com/office/drawing/2018/hyperlinkcolor" val="tx"/>
                              </a:ext>
                            </a:extLst>
                          </a:hlinkClick>
                        </a:rPr>
                        <a:t>Tool: AI Data Readiness Scorecard for HR</a:t>
                      </a:r>
                      <a:r>
                        <a:rPr lang="en-US" sz="900" u="sng" kern="1200">
                          <a:solidFill>
                            <a:srgbClr val="000000"/>
                          </a:solidFill>
                          <a:latin typeface="+mn-lt"/>
                          <a:cs typeface="Arial"/>
                        </a:rPr>
                        <a:t>, </a:t>
                      </a:r>
                      <a:r>
                        <a:rPr lang="en-US" sz="900" u="sng" kern="1200">
                          <a:solidFill>
                            <a:srgbClr val="000000"/>
                          </a:solidFill>
                          <a:latin typeface="+mn-lt"/>
                          <a:cs typeface="Arial"/>
                          <a:hlinkClick r:id="rId6">
                            <a:extLst>
                              <a:ext uri="{A12FA001-AC4F-418D-AE19-62706E023703}">
                                <ahyp:hlinkClr xmlns:ahyp="http://schemas.microsoft.com/office/drawing/2018/hyperlinkcolor" val="tx"/>
                              </a:ext>
                            </a:extLst>
                          </a:hlinkClick>
                        </a:rPr>
                        <a:t>How to Assess and Improve Your Data Integration Maturity</a:t>
                      </a:r>
                      <a:r>
                        <a:rPr lang="en-US" sz="900" u="sng" kern="1200">
                          <a:solidFill>
                            <a:srgbClr val="000000"/>
                          </a:solidFill>
                          <a:latin typeface="+mn-lt"/>
                          <a:cs typeface="Arial"/>
                        </a:rPr>
                        <a:t>, </a:t>
                      </a:r>
                      <a:r>
                        <a:rPr lang="en-US" sz="900" u="sng" kern="1200">
                          <a:solidFill>
                            <a:srgbClr val="000000"/>
                          </a:solidFill>
                          <a:latin typeface="+mn-lt"/>
                          <a:cs typeface="Arial"/>
                          <a:hlinkClick r:id="rId7">
                            <a:extLst>
                              <a:ext uri="{A12FA001-AC4F-418D-AE19-62706E023703}">
                                <ahyp:hlinkClr xmlns:ahyp="http://schemas.microsoft.com/office/drawing/2018/hyperlinkcolor" val="tx"/>
                              </a:ext>
                            </a:extLst>
                          </a:hlinkClick>
                        </a:rPr>
                        <a:t>Strengthen Data Integration Foundations for AI Success</a:t>
                      </a:r>
                      <a:endParaRPr sz="900" u="sng" kern="1200">
                        <a:solidFill>
                          <a:srgbClr val="000000"/>
                        </a:solidFill>
                        <a:latin typeface="+mn-lt"/>
                        <a:cs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extLst>
                  <a:ext uri="{0D108BD9-81ED-4DB2-BD59-A6C34878D82A}">
                    <a16:rowId xmlns:a16="http://schemas.microsoft.com/office/drawing/2014/main" val="10001"/>
                  </a:ext>
                </a:extLst>
              </a:tr>
              <a:tr h="975650">
                <a:tc>
                  <a:txBody>
                    <a:bodyPr/>
                    <a:lstStyle/>
                    <a:p>
                      <a:pPr marL="0" marR="0" lvl="0" indent="0" algn="l" rtl="0">
                        <a:spcBef>
                          <a:spcPts val="0"/>
                        </a:spcBef>
                        <a:spcAft>
                          <a:spcPts val="0"/>
                        </a:spcAft>
                        <a:buNone/>
                      </a:pPr>
                      <a:r>
                        <a:rPr lang="en-US" sz="900" b="0" i="0">
                          <a:solidFill>
                            <a:schemeClr val="dk1"/>
                          </a:solidFill>
                          <a:latin typeface="+mj-lt"/>
                          <a:ea typeface="Arial"/>
                          <a:cs typeface="Arial"/>
                          <a:sym typeface="Arial"/>
                        </a:rPr>
                        <a:t>Develop and</a:t>
                      </a:r>
                      <a:br>
                        <a:rPr lang="en-US" sz="900" b="0" i="0">
                          <a:solidFill>
                            <a:schemeClr val="dk1"/>
                          </a:solidFill>
                          <a:latin typeface="+mj-lt"/>
                          <a:ea typeface="Arial"/>
                          <a:cs typeface="Arial"/>
                          <a:sym typeface="Arial"/>
                        </a:rPr>
                      </a:br>
                      <a:r>
                        <a:rPr lang="en-US" sz="900" b="0" i="0">
                          <a:solidFill>
                            <a:schemeClr val="dk1"/>
                          </a:solidFill>
                          <a:latin typeface="+mj-lt"/>
                          <a:ea typeface="Arial"/>
                          <a:cs typeface="Arial"/>
                          <a:sym typeface="Arial"/>
                        </a:rPr>
                        <a:t>provide metadata</a:t>
                      </a:r>
                      <a:endParaRPr lang="en-US" sz="900">
                        <a:latin typeface="+mj-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tc>
                  <a:txBody>
                    <a:bodyPr/>
                    <a:lstStyle/>
                    <a:p>
                      <a:pPr marL="173736" marR="0" lvl="0" indent="-173736" algn="l" rtl="0">
                        <a:spcBef>
                          <a:spcPts val="300"/>
                        </a:spcBef>
                        <a:spcAft>
                          <a:spcPts val="0"/>
                        </a:spcAft>
                        <a:buClr>
                          <a:schemeClr val="dk1"/>
                        </a:buClr>
                        <a:buSzPct val="100000"/>
                        <a:buFont typeface="Arial"/>
                        <a:buAutoNum type="arabicPeriod"/>
                      </a:pPr>
                      <a:r>
                        <a:rPr lang="en-US" sz="900">
                          <a:solidFill>
                            <a:schemeClr val="dk1"/>
                          </a:solidFill>
                          <a:latin typeface="+mn-lt"/>
                        </a:rPr>
                        <a:t>Define metadata standards and structure by establishing clear definitions, formats, and standards for each data element, such as data type, allowed values, and update frequency.</a:t>
                      </a:r>
                      <a:endParaRPr sz="900">
                        <a:latin typeface="+mn-lt"/>
                      </a:endParaRPr>
                    </a:p>
                    <a:p>
                      <a:pPr marL="173736" marR="0" lvl="0" indent="-173736" algn="l" rtl="0">
                        <a:spcBef>
                          <a:spcPts val="300"/>
                        </a:spcBef>
                        <a:spcAft>
                          <a:spcPts val="0"/>
                        </a:spcAft>
                        <a:buClr>
                          <a:schemeClr val="dk1"/>
                        </a:buClr>
                        <a:buSzPct val="100000"/>
                        <a:buFont typeface="Arial"/>
                        <a:buAutoNum type="arabicPeriod"/>
                      </a:pPr>
                      <a:r>
                        <a:rPr lang="en-US" sz="900">
                          <a:solidFill>
                            <a:schemeClr val="dk1"/>
                          </a:solidFill>
                          <a:latin typeface="+mn-lt"/>
                        </a:rPr>
                        <a:t>Implement data privacy and compliance measures by ensuring that metadata captures information on data sensitivity, access controls, and other compliance requirements. </a:t>
                      </a:r>
                      <a:endParaRPr sz="900">
                        <a:latin typeface="+mn-lt"/>
                      </a:endParaRPr>
                    </a:p>
                    <a:p>
                      <a:pPr marL="173736" marR="0" lvl="0" indent="-173736" algn="l" rtl="0">
                        <a:spcBef>
                          <a:spcPts val="300"/>
                        </a:spcBef>
                        <a:spcAft>
                          <a:spcPts val="0"/>
                        </a:spcAft>
                        <a:buClr>
                          <a:schemeClr val="dk1"/>
                        </a:buClr>
                        <a:buSzPct val="100000"/>
                        <a:buFont typeface="Arial"/>
                        <a:buAutoNum type="arabicPeriod"/>
                      </a:pPr>
                      <a:r>
                        <a:rPr lang="en-US" sz="900">
                          <a:solidFill>
                            <a:schemeClr val="dk1"/>
                          </a:solidFill>
                          <a:latin typeface="+mn-lt"/>
                        </a:rPr>
                        <a:t>Develop a centralized, accessible metadata repository (e.g., data catalog or dictionary) where stakeholders and AI systems can retrieve</a:t>
                      </a:r>
                      <a:br>
                        <a:rPr lang="en-US" sz="900">
                          <a:solidFill>
                            <a:schemeClr val="dk1"/>
                          </a:solidFill>
                          <a:latin typeface="+mn-lt"/>
                        </a:rPr>
                      </a:br>
                      <a:r>
                        <a:rPr lang="en-US" sz="900">
                          <a:solidFill>
                            <a:schemeClr val="dk1"/>
                          </a:solidFill>
                          <a:latin typeface="+mn-lt"/>
                        </a:rPr>
                        <a:t>HR metadata.</a:t>
                      </a:r>
                      <a:endParaRPr sz="900">
                        <a:solidFill>
                          <a:srgbClr val="000000"/>
                        </a:solidFill>
                        <a:latin typeface="+mn-lt"/>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tc>
                  <a:txBody>
                    <a:bodyPr/>
                    <a:lstStyle/>
                    <a:p>
                      <a:pPr marL="0" marR="0" lvl="0" indent="0" algn="l" defTabSz="914400" rtl="0" eaLnBrk="1" latinLnBrk="0" hangingPunct="1">
                        <a:lnSpc>
                          <a:spcPct val="100000"/>
                        </a:lnSpc>
                        <a:spcBef>
                          <a:spcPts val="300"/>
                        </a:spcBef>
                        <a:spcAft>
                          <a:spcPts val="0"/>
                        </a:spcAft>
                        <a:buClr>
                          <a:srgbClr val="000000"/>
                        </a:buClr>
                        <a:buSzPts val="1050"/>
                        <a:buFont typeface="Arial"/>
                        <a:buNone/>
                      </a:pPr>
                      <a:r>
                        <a:rPr lang="en-US" sz="900" u="sng" kern="1200">
                          <a:solidFill>
                            <a:srgbClr val="000000"/>
                          </a:solidFill>
                          <a:latin typeface="+mn-lt"/>
                          <a:cs typeface="Arial"/>
                          <a:hlinkClick r:id="rId3">
                            <a:extLst>
                              <a:ext uri="{A12FA001-AC4F-418D-AE19-62706E023703}">
                                <ahyp:hlinkClr xmlns:ahyp="http://schemas.microsoft.com/office/drawing/2018/hyperlinkcolor" val="tx"/>
                              </a:ext>
                            </a:extLst>
                          </a:hlinkClick>
                        </a:rPr>
                        <a:t>How HR Tech Leaders Can Make HR Data AI-Ready</a:t>
                      </a:r>
                      <a:endParaRPr sz="900" u="sng" kern="1200">
                        <a:solidFill>
                          <a:srgbClr val="000000"/>
                        </a:solidFill>
                        <a:latin typeface="+mn-lt"/>
                        <a:cs typeface="Arial"/>
                      </a:endParaRPr>
                    </a:p>
                    <a:p>
                      <a:pPr marL="0" marR="0" lvl="0" indent="0" algn="l" defTabSz="914400" rtl="0" eaLnBrk="1" latinLnBrk="0" hangingPunct="1">
                        <a:lnSpc>
                          <a:spcPct val="100000"/>
                        </a:lnSpc>
                        <a:spcBef>
                          <a:spcPts val="300"/>
                        </a:spcBef>
                        <a:spcAft>
                          <a:spcPts val="0"/>
                        </a:spcAft>
                        <a:buClr>
                          <a:srgbClr val="000000"/>
                        </a:buClr>
                        <a:buSzPts val="1050"/>
                        <a:buFont typeface="Arial"/>
                        <a:buNone/>
                      </a:pPr>
                      <a:r>
                        <a:rPr lang="en-US" sz="900" u="sng" kern="1200">
                          <a:solidFill>
                            <a:srgbClr val="000000"/>
                          </a:solidFill>
                          <a:latin typeface="+mn-lt"/>
                          <a:cs typeface="Arial"/>
                          <a:hlinkClick r:id="rId8">
                            <a:extLst>
                              <a:ext uri="{A12FA001-AC4F-418D-AE19-62706E023703}">
                                <ahyp:hlinkClr xmlns:ahyp="http://schemas.microsoft.com/office/drawing/2018/hyperlinkcolor" val="tx"/>
                              </a:ext>
                            </a:extLst>
                          </a:hlinkClick>
                        </a:rPr>
                        <a:t>State of Metadata,</a:t>
                      </a:r>
                      <a:r>
                        <a:rPr lang="en-US" sz="900" u="sng" kern="1200">
                          <a:solidFill>
                            <a:srgbClr val="000000"/>
                          </a:solidFill>
                          <a:latin typeface="+mn-lt"/>
                          <a:cs typeface="Arial"/>
                        </a:rPr>
                        <a:t> </a:t>
                      </a:r>
                      <a:r>
                        <a:rPr lang="en-US" sz="900" u="sng" kern="1200">
                          <a:solidFill>
                            <a:srgbClr val="000000"/>
                          </a:solidFill>
                          <a:latin typeface="+mn-lt"/>
                          <a:cs typeface="Arial"/>
                          <a:hlinkClick r:id="rId8">
                            <a:extLst>
                              <a:ext uri="{A12FA001-AC4F-418D-AE19-62706E023703}">
                                <ahyp:hlinkClr xmlns:ahyp="http://schemas.microsoft.com/office/drawing/2018/hyperlinkcolor" val="tx"/>
                              </a:ext>
                            </a:extLst>
                          </a:hlinkClick>
                        </a:rPr>
                        <a:t>Management: Aggressively Pursue Metadata to Enable AI and Generative AI</a:t>
                      </a:r>
                      <a:endParaRPr sz="900" u="sng" kern="1200">
                        <a:solidFill>
                          <a:srgbClr val="000000"/>
                        </a:solidFill>
                        <a:latin typeface="+mn-lt"/>
                        <a:cs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extLst>
                  <a:ext uri="{0D108BD9-81ED-4DB2-BD59-A6C34878D82A}">
                    <a16:rowId xmlns:a16="http://schemas.microsoft.com/office/drawing/2014/main" val="939464923"/>
                  </a:ext>
                </a:extLst>
              </a:tr>
              <a:tr h="975651">
                <a:tc>
                  <a:txBody>
                    <a:bodyPr/>
                    <a:lstStyle/>
                    <a:p>
                      <a:pPr marL="0" marR="0" lvl="0" indent="0" algn="l" rtl="0">
                        <a:spcBef>
                          <a:spcPts val="0"/>
                        </a:spcBef>
                        <a:spcAft>
                          <a:spcPts val="0"/>
                        </a:spcAft>
                        <a:buNone/>
                      </a:pPr>
                      <a:r>
                        <a:rPr lang="en-US" sz="900" b="0" i="0">
                          <a:solidFill>
                            <a:schemeClr val="dk1"/>
                          </a:solidFill>
                          <a:latin typeface="+mj-lt"/>
                          <a:ea typeface="Arial"/>
                          <a:cs typeface="Arial"/>
                          <a:sym typeface="Arial"/>
                        </a:rPr>
                        <a:t>Provide AI data provenance and traceability</a:t>
                      </a:r>
                      <a:endParaRPr lang="en-US" sz="900">
                        <a:latin typeface="+mj-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FFFFFF"/>
                    </a:solidFill>
                  </a:tcPr>
                </a:tc>
                <a:tc>
                  <a:txBody>
                    <a:bodyPr/>
                    <a:lstStyle/>
                    <a:p>
                      <a:pPr marL="173736" marR="0" lvl="0" indent="-173736" algn="l" rtl="0">
                        <a:spcBef>
                          <a:spcPts val="300"/>
                        </a:spcBef>
                        <a:spcAft>
                          <a:spcPts val="0"/>
                        </a:spcAft>
                        <a:buClr>
                          <a:schemeClr val="dk1"/>
                        </a:buClr>
                        <a:buSzPct val="100000"/>
                        <a:buFont typeface="Arial"/>
                        <a:buAutoNum type="arabicPeriod"/>
                      </a:pPr>
                      <a:r>
                        <a:rPr lang="en-US" sz="900" dirty="0">
                          <a:solidFill>
                            <a:schemeClr val="dk1"/>
                          </a:solidFill>
                          <a:latin typeface="+mn-lt"/>
                        </a:rPr>
                        <a:t>Record data sources, collection methods, dates, and key metadata, including origin, format, and preprocessing requirements. </a:t>
                      </a:r>
                      <a:endParaRPr sz="900" dirty="0">
                        <a:latin typeface="+mn-lt"/>
                      </a:endParaRPr>
                    </a:p>
                    <a:p>
                      <a:pPr marL="173736" marR="0" lvl="0" indent="-173736" algn="l" rtl="0">
                        <a:spcBef>
                          <a:spcPts val="300"/>
                        </a:spcBef>
                        <a:spcAft>
                          <a:spcPts val="0"/>
                        </a:spcAft>
                        <a:buClr>
                          <a:schemeClr val="dk1"/>
                        </a:buClr>
                        <a:buSzPct val="100000"/>
                        <a:buFont typeface="Arial"/>
                        <a:buAutoNum type="arabicPeriod"/>
                      </a:pPr>
                      <a:r>
                        <a:rPr lang="en-US" sz="900" dirty="0">
                          <a:solidFill>
                            <a:schemeClr val="dk1"/>
                          </a:solidFill>
                          <a:latin typeface="+mn-lt"/>
                        </a:rPr>
                        <a:t>Store datasets securely with version control, tracking all changes and access logs for traceability. </a:t>
                      </a:r>
                      <a:endParaRPr sz="900" dirty="0">
                        <a:latin typeface="+mn-lt"/>
                      </a:endParaRPr>
                    </a:p>
                    <a:p>
                      <a:pPr marL="173736" marR="0" lvl="0" indent="-173736" algn="l" rtl="0">
                        <a:spcBef>
                          <a:spcPts val="300"/>
                        </a:spcBef>
                        <a:spcAft>
                          <a:spcPts val="0"/>
                        </a:spcAft>
                        <a:buClr>
                          <a:schemeClr val="dk1"/>
                        </a:buClr>
                        <a:buSzPct val="100000"/>
                        <a:buFont typeface="Arial"/>
                        <a:buAutoNum type="arabicPeriod"/>
                      </a:pPr>
                      <a:r>
                        <a:rPr lang="en-US" sz="900" dirty="0">
                          <a:solidFill>
                            <a:schemeClr val="dk1"/>
                          </a:solidFill>
                          <a:latin typeface="+mn-lt"/>
                        </a:rPr>
                        <a:t>Log all data processing steps, noting who did what, when, and with which tools. </a:t>
                      </a:r>
                      <a:endParaRPr sz="900" dirty="0">
                        <a:latin typeface="+mn-lt"/>
                      </a:endParaRPr>
                    </a:p>
                    <a:p>
                      <a:pPr marL="173736" marR="0" lvl="0" indent="-173736" algn="l" rtl="0">
                        <a:spcBef>
                          <a:spcPts val="300"/>
                        </a:spcBef>
                        <a:spcAft>
                          <a:spcPts val="0"/>
                        </a:spcAft>
                        <a:buClr>
                          <a:schemeClr val="dk1"/>
                        </a:buClr>
                        <a:buSzPct val="100000"/>
                        <a:buFont typeface="Arial"/>
                        <a:buAutoNum type="arabicPeriod"/>
                      </a:pPr>
                      <a:r>
                        <a:rPr lang="en-US" sz="900" dirty="0">
                          <a:solidFill>
                            <a:schemeClr val="dk1"/>
                          </a:solidFill>
                          <a:latin typeface="+mn-lt"/>
                        </a:rPr>
                        <a:t>Keep records of AI model training, including dataset versions, parameters, results, and provenance. </a:t>
                      </a:r>
                      <a:endParaRPr sz="900" dirty="0">
                        <a:latin typeface="+mn-lt"/>
                      </a:endParaRPr>
                    </a:p>
                    <a:p>
                      <a:pPr marL="173736" marR="0" lvl="0" indent="-173736" algn="l" rtl="0">
                        <a:spcBef>
                          <a:spcPts val="300"/>
                        </a:spcBef>
                        <a:spcAft>
                          <a:spcPts val="0"/>
                        </a:spcAft>
                        <a:buClr>
                          <a:schemeClr val="dk1"/>
                        </a:buClr>
                        <a:buSzPct val="100000"/>
                        <a:buFont typeface="Arial"/>
                        <a:buAutoNum type="arabicPeriod"/>
                      </a:pPr>
                      <a:r>
                        <a:rPr lang="en-US" sz="900" dirty="0">
                          <a:solidFill>
                            <a:schemeClr val="dk1"/>
                          </a:solidFill>
                          <a:latin typeface="+mn-lt"/>
                        </a:rPr>
                        <a:t>Monitor and audit all data and model access or changes to ensure compliance and traceability</a:t>
                      </a:r>
                      <a:endParaRPr sz="900" dirty="0">
                        <a:latin typeface="+mn-lt"/>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FFFFFF"/>
                    </a:solidFill>
                  </a:tcPr>
                </a:tc>
                <a:tc>
                  <a:txBody>
                    <a:bodyPr/>
                    <a:lstStyle/>
                    <a:p>
                      <a:pPr marL="0" marR="0" lvl="0" indent="0" algn="l" defTabSz="914400" rtl="0" eaLnBrk="1" latinLnBrk="0" hangingPunct="1">
                        <a:lnSpc>
                          <a:spcPct val="100000"/>
                        </a:lnSpc>
                        <a:spcBef>
                          <a:spcPts val="300"/>
                        </a:spcBef>
                        <a:spcAft>
                          <a:spcPts val="0"/>
                        </a:spcAft>
                        <a:buClr>
                          <a:srgbClr val="000000"/>
                        </a:buClr>
                        <a:buSzPts val="1050"/>
                        <a:buFont typeface="Arial"/>
                        <a:buNone/>
                      </a:pPr>
                      <a:r>
                        <a:rPr lang="en-US" sz="900" u="sng" kern="1200" dirty="0">
                          <a:solidFill>
                            <a:srgbClr val="000000"/>
                          </a:solidFill>
                          <a:latin typeface="+mn-lt"/>
                          <a:cs typeface="Arial"/>
                          <a:hlinkClick r:id="rId9">
                            <a:extLst>
                              <a:ext uri="{A12FA001-AC4F-418D-AE19-62706E023703}">
                                <ahyp:hlinkClr xmlns:ahyp="http://schemas.microsoft.com/office/drawing/2018/hyperlinkcolor" val="tx"/>
                              </a:ext>
                            </a:extLst>
                          </a:hlinkClick>
                        </a:rPr>
                        <a:t>What Makes Data Management Leaders and Teams Successful</a:t>
                      </a:r>
                      <a:endParaRPr sz="900" u="sng" kern="1200" dirty="0">
                        <a:solidFill>
                          <a:srgbClr val="000000"/>
                        </a:solidFill>
                        <a:latin typeface="+mn-lt"/>
                        <a:cs typeface="Arial"/>
                      </a:endParaRPr>
                    </a:p>
                    <a:p>
                      <a:pPr marL="0" marR="0" lvl="0" indent="0" algn="l" defTabSz="914400" rtl="0" eaLnBrk="1" latinLnBrk="0" hangingPunct="1">
                        <a:lnSpc>
                          <a:spcPct val="100000"/>
                        </a:lnSpc>
                        <a:spcBef>
                          <a:spcPts val="300"/>
                        </a:spcBef>
                        <a:spcAft>
                          <a:spcPts val="0"/>
                        </a:spcAft>
                        <a:buClr>
                          <a:srgbClr val="000000"/>
                        </a:buClr>
                        <a:buSzPts val="1050"/>
                        <a:buFont typeface="Arial"/>
                        <a:buNone/>
                      </a:pPr>
                      <a:r>
                        <a:rPr lang="en-US" sz="900" u="sng" kern="1200" dirty="0">
                          <a:solidFill>
                            <a:srgbClr val="000000"/>
                          </a:solidFill>
                          <a:latin typeface="+mn-lt"/>
                          <a:cs typeface="Arial"/>
                        </a:rPr>
                        <a:t> </a:t>
                      </a:r>
                      <a:r>
                        <a:rPr lang="en-US" sz="900" u="sng" kern="1200" dirty="0">
                          <a:solidFill>
                            <a:srgbClr val="000000"/>
                          </a:solidFill>
                          <a:latin typeface="+mn-lt"/>
                          <a:cs typeface="Arial"/>
                          <a:hlinkClick r:id="rId10">
                            <a:extLst>
                              <a:ext uri="{A12FA001-AC4F-418D-AE19-62706E023703}">
                                <ahyp:hlinkClr xmlns:ahyp="http://schemas.microsoft.com/office/drawing/2018/hyperlinkcolor" val="tx"/>
                              </a:ext>
                            </a:extLst>
                          </a:hlinkClick>
                        </a:rPr>
                        <a:t>Quick Answer: How Does Data Lineage Accelerate Data Management Capabilities?</a:t>
                      </a:r>
                      <a:endParaRPr sz="900" u="sng" kern="1200" dirty="0">
                        <a:solidFill>
                          <a:srgbClr val="000000"/>
                        </a:solidFill>
                        <a:latin typeface="+mn-lt"/>
                        <a:cs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FFFFFF"/>
                    </a:solidFill>
                  </a:tcPr>
                </a:tc>
                <a:extLst>
                  <a:ext uri="{0D108BD9-81ED-4DB2-BD59-A6C34878D82A}">
                    <a16:rowId xmlns:a16="http://schemas.microsoft.com/office/drawing/2014/main" val="1351489849"/>
                  </a:ext>
                </a:extLst>
              </a:tr>
              <a:tr h="1008729">
                <a:tc>
                  <a:txBody>
                    <a:bodyPr/>
                    <a:lstStyle/>
                    <a:p>
                      <a:pPr marL="0" marR="0" lvl="0" indent="0" algn="l" rtl="0">
                        <a:spcBef>
                          <a:spcPts val="0"/>
                        </a:spcBef>
                        <a:spcAft>
                          <a:spcPts val="0"/>
                        </a:spcAft>
                        <a:buNone/>
                      </a:pPr>
                      <a:r>
                        <a:rPr lang="en-US" sz="900" b="0" i="0">
                          <a:solidFill>
                            <a:schemeClr val="dk1"/>
                          </a:solidFill>
                          <a:latin typeface="+mj-lt"/>
                          <a:ea typeface="Arial"/>
                          <a:cs typeface="Arial"/>
                          <a:sym typeface="Arial"/>
                        </a:rPr>
                        <a:t>Develop and enforce HR data governance controls, policies and processes</a:t>
                      </a:r>
                      <a:endParaRPr lang="en-US" sz="900">
                        <a:latin typeface="+mj-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28575" cap="flat" cmpd="sng" algn="ctr">
                      <a:solidFill>
                        <a:srgbClr val="707996"/>
                      </a:solidFill>
                      <a:prstDash val="solid"/>
                      <a:round/>
                      <a:headEnd type="none" w="med" len="med"/>
                      <a:tailEnd type="none" w="med" len="med"/>
                    </a:lnB>
                    <a:solidFill>
                      <a:srgbClr val="E0F1FF"/>
                    </a:solidFill>
                  </a:tcPr>
                </a:tc>
                <a:tc>
                  <a:txBody>
                    <a:bodyPr/>
                    <a:lstStyle/>
                    <a:p>
                      <a:pPr marL="173736" marR="0" lvl="0" indent="-173736" algn="l" rtl="0">
                        <a:spcBef>
                          <a:spcPts val="300"/>
                        </a:spcBef>
                        <a:spcAft>
                          <a:spcPts val="0"/>
                        </a:spcAft>
                        <a:buClr>
                          <a:schemeClr val="dk1"/>
                        </a:buClr>
                        <a:buSzPct val="100000"/>
                        <a:buFont typeface="Arial"/>
                        <a:buAutoNum type="arabicPeriod"/>
                      </a:pPr>
                      <a:r>
                        <a:rPr lang="en-US" sz="900">
                          <a:solidFill>
                            <a:schemeClr val="dk1"/>
                          </a:solidFill>
                          <a:latin typeface="+mn-lt"/>
                        </a:rPr>
                        <a:t>Identify gaps with HR data management and ensure compliance with regulations. </a:t>
                      </a:r>
                      <a:endParaRPr sz="900">
                        <a:latin typeface="+mn-lt"/>
                      </a:endParaRPr>
                    </a:p>
                    <a:p>
                      <a:pPr marL="173736" marR="0" lvl="0" indent="-173736" algn="l" rtl="0">
                        <a:spcBef>
                          <a:spcPts val="300"/>
                        </a:spcBef>
                        <a:spcAft>
                          <a:spcPts val="0"/>
                        </a:spcAft>
                        <a:buClr>
                          <a:schemeClr val="dk1"/>
                        </a:buClr>
                        <a:buSzPct val="100000"/>
                        <a:buFont typeface="Arial"/>
                        <a:buAutoNum type="arabicPeriod"/>
                      </a:pPr>
                      <a:r>
                        <a:rPr lang="en-US" sz="900">
                          <a:solidFill>
                            <a:schemeClr val="dk1"/>
                          </a:solidFill>
                          <a:latin typeface="+mn-lt"/>
                        </a:rPr>
                        <a:t>Establish a data governance framework with clear roles, responsibilities, and ownership. </a:t>
                      </a:r>
                      <a:endParaRPr sz="900">
                        <a:latin typeface="+mn-lt"/>
                      </a:endParaRPr>
                    </a:p>
                    <a:p>
                      <a:pPr marL="173736" marR="0" lvl="0" indent="-173736" algn="l" rtl="0">
                        <a:spcBef>
                          <a:spcPts val="300"/>
                        </a:spcBef>
                        <a:spcAft>
                          <a:spcPts val="0"/>
                        </a:spcAft>
                        <a:buClr>
                          <a:schemeClr val="dk1"/>
                        </a:buClr>
                        <a:buSzPct val="100000"/>
                        <a:buFont typeface="Arial"/>
                        <a:buAutoNum type="arabicPeriod"/>
                      </a:pPr>
                      <a:r>
                        <a:rPr lang="en-US" sz="900">
                          <a:solidFill>
                            <a:schemeClr val="dk1"/>
                          </a:solidFill>
                          <a:latin typeface="+mn-lt"/>
                        </a:rPr>
                        <a:t>Create and document HR data policies for access, security, privacy, retention, and quality, with controls for compliance. </a:t>
                      </a:r>
                      <a:endParaRPr sz="900">
                        <a:latin typeface="+mn-lt"/>
                      </a:endParaRPr>
                    </a:p>
                    <a:p>
                      <a:pPr marL="173736" marR="0" lvl="0" indent="-173736" algn="l" rtl="0">
                        <a:spcBef>
                          <a:spcPts val="300"/>
                        </a:spcBef>
                        <a:spcAft>
                          <a:spcPts val="0"/>
                        </a:spcAft>
                        <a:buClr>
                          <a:schemeClr val="dk1"/>
                        </a:buClr>
                        <a:buSzPct val="100000"/>
                        <a:buFont typeface="Arial"/>
                        <a:buAutoNum type="arabicPeriod"/>
                      </a:pPr>
                      <a:r>
                        <a:rPr lang="en-US" sz="900">
                          <a:solidFill>
                            <a:schemeClr val="dk1"/>
                          </a:solidFill>
                          <a:latin typeface="+mn-lt"/>
                        </a:rPr>
                        <a:t>Implement processes and technology for data collection, storage, sharing, and reporting, supporting policy enforcement and audit trails. </a:t>
                      </a:r>
                      <a:endParaRPr sz="900">
                        <a:latin typeface="+mn-lt"/>
                      </a:endParaRPr>
                    </a:p>
                    <a:p>
                      <a:pPr marL="173736" marR="0" lvl="0" indent="-173736" algn="l" rtl="0">
                        <a:spcBef>
                          <a:spcPts val="300"/>
                        </a:spcBef>
                        <a:spcAft>
                          <a:spcPts val="0"/>
                        </a:spcAft>
                        <a:buClr>
                          <a:schemeClr val="dk1"/>
                        </a:buClr>
                        <a:buSzPct val="100000"/>
                        <a:buFont typeface="Arial"/>
                        <a:buAutoNum type="arabicPeriod"/>
                      </a:pPr>
                      <a:r>
                        <a:rPr lang="en-US" sz="900">
                          <a:solidFill>
                            <a:schemeClr val="dk1"/>
                          </a:solidFill>
                          <a:latin typeface="+mn-lt"/>
                        </a:rPr>
                        <a:t>Train staff on governance, regularly audit, and refine controls to adapt to regulatory or business changes</a:t>
                      </a:r>
                      <a:endParaRPr sz="900">
                        <a:latin typeface="+mn-lt"/>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28575" cap="flat" cmpd="sng" algn="ctr">
                      <a:solidFill>
                        <a:srgbClr val="707996"/>
                      </a:solidFill>
                      <a:prstDash val="solid"/>
                      <a:round/>
                      <a:headEnd type="none" w="med" len="med"/>
                      <a:tailEnd type="none" w="med" len="med"/>
                    </a:lnB>
                    <a:solidFill>
                      <a:srgbClr val="E0F1FF"/>
                    </a:solidFill>
                  </a:tcPr>
                </a:tc>
                <a:tc>
                  <a:txBody>
                    <a:bodyPr/>
                    <a:lstStyle/>
                    <a:p>
                      <a:pPr marL="0" marR="0" lvl="0" indent="0" algn="l" defTabSz="914400" rtl="0" eaLnBrk="1" latinLnBrk="0" hangingPunct="1">
                        <a:lnSpc>
                          <a:spcPct val="100000"/>
                        </a:lnSpc>
                        <a:spcBef>
                          <a:spcPts val="300"/>
                        </a:spcBef>
                        <a:spcAft>
                          <a:spcPts val="0"/>
                        </a:spcAft>
                        <a:buClr>
                          <a:srgbClr val="000000"/>
                        </a:buClr>
                        <a:buSzPts val="1050"/>
                        <a:buFont typeface="Arial"/>
                        <a:buNone/>
                      </a:pPr>
                      <a:r>
                        <a:rPr lang="en-US" sz="900" u="sng" kern="1200" dirty="0">
                          <a:solidFill>
                            <a:srgbClr val="000000"/>
                          </a:solidFill>
                          <a:latin typeface="+mn-lt"/>
                          <a:cs typeface="Arial"/>
                          <a:hlinkClick r:id="rId11">
                            <a:extLst>
                              <a:ext uri="{A12FA001-AC4F-418D-AE19-62706E023703}">
                                <ahyp:hlinkClr xmlns:ahyp="http://schemas.microsoft.com/office/drawing/2018/hyperlinkcolor" val="tx"/>
                              </a:ext>
                            </a:extLst>
                          </a:hlinkClick>
                        </a:rPr>
                        <a:t>Tool: Effective Data and Analytics Governance Playbook</a:t>
                      </a:r>
                      <a:endParaRPr sz="900" u="sng" kern="1200" dirty="0">
                        <a:solidFill>
                          <a:srgbClr val="000000"/>
                        </a:solidFill>
                        <a:latin typeface="+mn-lt"/>
                        <a:cs typeface="Arial"/>
                      </a:endParaRPr>
                    </a:p>
                    <a:p>
                      <a:pPr marL="0" marR="0" lvl="0" indent="0" algn="l" defTabSz="914400" rtl="0" eaLnBrk="1" latinLnBrk="0" hangingPunct="1">
                        <a:lnSpc>
                          <a:spcPct val="100000"/>
                        </a:lnSpc>
                        <a:spcBef>
                          <a:spcPts val="300"/>
                        </a:spcBef>
                        <a:spcAft>
                          <a:spcPts val="0"/>
                        </a:spcAft>
                        <a:buClr>
                          <a:srgbClr val="000000"/>
                        </a:buClr>
                        <a:buSzPts val="1050"/>
                        <a:buFont typeface="Arial"/>
                        <a:buNone/>
                      </a:pPr>
                      <a:r>
                        <a:rPr lang="en-US" sz="900" u="sng" kern="1200" dirty="0">
                          <a:solidFill>
                            <a:srgbClr val="000000"/>
                          </a:solidFill>
                          <a:latin typeface="+mn-lt"/>
                          <a:cs typeface="Arial"/>
                          <a:hlinkClick r:id="rId12">
                            <a:extLst>
                              <a:ext uri="{A12FA001-AC4F-418D-AE19-62706E023703}">
                                <ahyp:hlinkClr xmlns:ahyp="http://schemas.microsoft.com/office/drawing/2018/hyperlinkcolor" val="tx"/>
                              </a:ext>
                            </a:extLst>
                          </a:hlinkClick>
                        </a:rPr>
                        <a:t>A Practical Guide to Data Governance for AI-Ready Data</a:t>
                      </a:r>
                      <a:r>
                        <a:rPr lang="en-US" sz="900" u="sng" kern="1200" dirty="0">
                          <a:solidFill>
                            <a:srgbClr val="000000"/>
                          </a:solidFill>
                          <a:latin typeface="+mn-lt"/>
                          <a:cs typeface="Arial"/>
                        </a:rPr>
                        <a:t> </a:t>
                      </a:r>
                      <a:endParaRPr sz="900" u="sng" kern="1200" dirty="0">
                        <a:solidFill>
                          <a:srgbClr val="000000"/>
                        </a:solidFill>
                        <a:latin typeface="+mn-lt"/>
                        <a:cs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28575" cap="flat" cmpd="sng" algn="ctr">
                      <a:solidFill>
                        <a:srgbClr val="707996"/>
                      </a:solidFill>
                      <a:prstDash val="solid"/>
                      <a:round/>
                      <a:headEnd type="none" w="med" len="med"/>
                      <a:tailEnd type="none" w="med" len="med"/>
                    </a:lnB>
                    <a:solidFill>
                      <a:srgbClr val="E0F1FF"/>
                    </a:solidFill>
                  </a:tcPr>
                </a:tc>
                <a:extLst>
                  <a:ext uri="{0D108BD9-81ED-4DB2-BD59-A6C34878D82A}">
                    <a16:rowId xmlns:a16="http://schemas.microsoft.com/office/drawing/2014/main" val="208485627"/>
                  </a:ext>
                </a:extLst>
              </a:tr>
            </a:tbl>
          </a:graphicData>
        </a:graphic>
      </p:graphicFrame>
    </p:spTree>
    <p:extLst>
      <p:ext uri="{BB962C8B-B14F-4D97-AF65-F5344CB8AC3E}">
        <p14:creationId xmlns:p14="http://schemas.microsoft.com/office/powerpoint/2010/main" val="515110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BD85B-ADB8-6268-D5E5-5D9B78E4C6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9F5C58-0777-7B06-BF20-235BAF81518E}"/>
              </a:ext>
            </a:extLst>
          </p:cNvPr>
          <p:cNvSpPr>
            <a:spLocks noGrp="1"/>
          </p:cNvSpPr>
          <p:nvPr>
            <p:ph type="title"/>
          </p:nvPr>
        </p:nvSpPr>
        <p:spPr/>
        <p:txBody>
          <a:bodyPr/>
          <a:lstStyle/>
          <a:p>
            <a:r>
              <a:rPr lang="en-US"/>
              <a:t>AI Data and Systems for HR Function: Detailed Activities (2 of 4)</a:t>
            </a:r>
          </a:p>
        </p:txBody>
      </p:sp>
      <p:graphicFrame>
        <p:nvGraphicFramePr>
          <p:cNvPr id="3" name="Google Shape;513;p11">
            <a:extLst>
              <a:ext uri="{FF2B5EF4-FFF2-40B4-BE49-F238E27FC236}">
                <a16:creationId xmlns:a16="http://schemas.microsoft.com/office/drawing/2014/main" id="{15CDA9AB-9ED8-AD23-F6A9-85DF675FDCAD}"/>
              </a:ext>
            </a:extLst>
          </p:cNvPr>
          <p:cNvGraphicFramePr/>
          <p:nvPr>
            <p:extLst>
              <p:ext uri="{D42A27DB-BD31-4B8C-83A1-F6EECF244321}">
                <p14:modId xmlns:p14="http://schemas.microsoft.com/office/powerpoint/2010/main" val="3841182617"/>
              </p:ext>
            </p:extLst>
          </p:nvPr>
        </p:nvGraphicFramePr>
        <p:xfrm>
          <a:off x="474896" y="947134"/>
          <a:ext cx="11256855" cy="4883723"/>
        </p:xfrm>
        <a:graphic>
          <a:graphicData uri="http://schemas.openxmlformats.org/drawingml/2006/table">
            <a:tbl>
              <a:tblPr>
                <a:noFill/>
              </a:tblPr>
              <a:tblGrid>
                <a:gridCol w="1343630">
                  <a:extLst>
                    <a:ext uri="{9D8B030D-6E8A-4147-A177-3AD203B41FA5}">
                      <a16:colId xmlns:a16="http://schemas.microsoft.com/office/drawing/2014/main" val="20000"/>
                    </a:ext>
                  </a:extLst>
                </a:gridCol>
                <a:gridCol w="7926365">
                  <a:extLst>
                    <a:ext uri="{9D8B030D-6E8A-4147-A177-3AD203B41FA5}">
                      <a16:colId xmlns:a16="http://schemas.microsoft.com/office/drawing/2014/main" val="20001"/>
                    </a:ext>
                  </a:extLst>
                </a:gridCol>
                <a:gridCol w="1986860">
                  <a:extLst>
                    <a:ext uri="{9D8B030D-6E8A-4147-A177-3AD203B41FA5}">
                      <a16:colId xmlns:a16="http://schemas.microsoft.com/office/drawing/2014/main" val="20002"/>
                    </a:ext>
                  </a:extLst>
                </a:gridCol>
              </a:tblGrid>
              <a:tr h="343562">
                <a:tc>
                  <a:txBody>
                    <a:bodyPr/>
                    <a:lstStyle/>
                    <a:p>
                      <a:pPr marL="0" marR="0" lvl="0" indent="0" algn="l" rtl="0">
                        <a:spcBef>
                          <a:spcPts val="0"/>
                        </a:spcBef>
                        <a:spcAft>
                          <a:spcPts val="0"/>
                        </a:spcAft>
                        <a:buNone/>
                      </a:pPr>
                      <a:r>
                        <a:rPr lang="en-US" sz="900" b="1" i="0" u="none" strike="noStrike" cap="none">
                          <a:solidFill>
                            <a:schemeClr val="lt2"/>
                          </a:solidFill>
                          <a:latin typeface="+mj-lt"/>
                          <a:ea typeface="Arial"/>
                          <a:cs typeface="Arial"/>
                          <a:sym typeface="Arial"/>
                        </a:rPr>
                        <a:t>Activity</a:t>
                      </a:r>
                      <a:endParaRPr sz="900" b="1" i="0">
                        <a:solidFill>
                          <a:schemeClr val="lt2"/>
                        </a:solidFill>
                        <a:latin typeface="+mj-lt"/>
                        <a:ea typeface="Arial"/>
                        <a:cs typeface="Arial"/>
                        <a:sym typeface="Arial"/>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28575"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3C92B5"/>
                    </a:solidFill>
                  </a:tcPr>
                </a:tc>
                <a:tc>
                  <a:txBody>
                    <a:bodyPr/>
                    <a:lstStyle/>
                    <a:p>
                      <a:pPr marL="0" marR="0" lvl="0" indent="0" algn="l" rtl="0">
                        <a:spcBef>
                          <a:spcPts val="0"/>
                        </a:spcBef>
                        <a:spcAft>
                          <a:spcPts val="0"/>
                        </a:spcAft>
                        <a:buNone/>
                      </a:pPr>
                      <a:r>
                        <a:rPr lang="en-US" sz="900" b="1" i="0">
                          <a:solidFill>
                            <a:schemeClr val="lt2"/>
                          </a:solidFill>
                          <a:latin typeface="+mj-lt"/>
                          <a:ea typeface="Arial"/>
                          <a:cs typeface="Arial"/>
                          <a:sym typeface="Arial"/>
                        </a:rPr>
                        <a:t>Steps</a:t>
                      </a:r>
                      <a:endParaRPr sz="900" b="1" i="0">
                        <a:solidFill>
                          <a:schemeClr val="lt2"/>
                        </a:solidFill>
                        <a:latin typeface="+mj-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28575"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3C92B5"/>
                    </a:solidFill>
                  </a:tcPr>
                </a:tc>
                <a:tc>
                  <a:txBody>
                    <a:bodyPr/>
                    <a:lstStyle/>
                    <a:p>
                      <a:pPr marL="0" marR="0" lvl="0" indent="0" algn="l" rtl="0">
                        <a:spcBef>
                          <a:spcPts val="0"/>
                        </a:spcBef>
                        <a:spcAft>
                          <a:spcPts val="0"/>
                        </a:spcAft>
                        <a:buNone/>
                      </a:pPr>
                      <a:r>
                        <a:rPr lang="en-US" sz="900" b="1" i="0">
                          <a:solidFill>
                            <a:schemeClr val="lt2"/>
                          </a:solidFill>
                          <a:latin typeface="+mj-lt"/>
                          <a:ea typeface="Arial"/>
                          <a:cs typeface="Arial"/>
                          <a:sym typeface="Arial"/>
                        </a:rPr>
                        <a:t>Supporting resources</a:t>
                      </a:r>
                      <a:endParaRPr sz="900" b="1" i="0">
                        <a:solidFill>
                          <a:schemeClr val="lt2"/>
                        </a:solidFill>
                        <a:latin typeface="+mj-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28575"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3C92B5"/>
                    </a:solidFill>
                  </a:tcPr>
                </a:tc>
                <a:extLst>
                  <a:ext uri="{0D108BD9-81ED-4DB2-BD59-A6C34878D82A}">
                    <a16:rowId xmlns:a16="http://schemas.microsoft.com/office/drawing/2014/main" val="10000"/>
                  </a:ext>
                </a:extLst>
              </a:tr>
              <a:tr h="992160">
                <a:tc>
                  <a:txBody>
                    <a:bodyPr/>
                    <a:lstStyle/>
                    <a:p>
                      <a:pPr marL="0" marR="0" lvl="0" indent="0" algn="l" rtl="0">
                        <a:spcBef>
                          <a:spcPts val="0"/>
                        </a:spcBef>
                        <a:spcAft>
                          <a:spcPts val="0"/>
                        </a:spcAft>
                        <a:buNone/>
                      </a:pPr>
                      <a:r>
                        <a:rPr lang="en-US" sz="900" b="0" i="0">
                          <a:solidFill>
                            <a:schemeClr val="dk1"/>
                          </a:solidFill>
                          <a:latin typeface="+mj-lt"/>
                          <a:ea typeface="Arial"/>
                          <a:cs typeface="Arial"/>
                          <a:sym typeface="Arial"/>
                        </a:rPr>
                        <a:t>Assure security and privacy for HR data</a:t>
                      </a:r>
                      <a:endParaRPr lang="en-US" sz="900">
                        <a:latin typeface="+mj-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tc>
                  <a:txBody>
                    <a:bodyPr/>
                    <a:lstStyle/>
                    <a:p>
                      <a:pPr marL="173736" marR="0" lvl="0" indent="-173736" algn="l" rtl="0">
                        <a:spcBef>
                          <a:spcPts val="300"/>
                        </a:spcBef>
                        <a:spcAft>
                          <a:spcPts val="0"/>
                        </a:spcAft>
                        <a:buClr>
                          <a:schemeClr val="dk1"/>
                        </a:buClr>
                        <a:buSzPct val="100000"/>
                        <a:buFont typeface="Arial"/>
                        <a:buAutoNum type="arabicPeriod"/>
                      </a:pPr>
                      <a:r>
                        <a:rPr lang="en-US" sz="900">
                          <a:solidFill>
                            <a:schemeClr val="dk1"/>
                          </a:solidFill>
                          <a:latin typeface="+mn-lt"/>
                        </a:rPr>
                        <a:t>Restrict HR data access to authorized users with role-based permissions and strong authentication. </a:t>
                      </a:r>
                      <a:endParaRPr sz="900">
                        <a:latin typeface="+mn-lt"/>
                      </a:endParaRPr>
                    </a:p>
                    <a:p>
                      <a:pPr marL="173736" marR="0" lvl="0" indent="-173736" algn="l" rtl="0">
                        <a:spcBef>
                          <a:spcPts val="300"/>
                        </a:spcBef>
                        <a:spcAft>
                          <a:spcPts val="0"/>
                        </a:spcAft>
                        <a:buClr>
                          <a:schemeClr val="dk1"/>
                        </a:buClr>
                        <a:buSzPct val="100000"/>
                        <a:buFont typeface="Arial"/>
                        <a:buAutoNum type="arabicPeriod"/>
                      </a:pPr>
                      <a:r>
                        <a:rPr lang="en-US" sz="900">
                          <a:solidFill>
                            <a:schemeClr val="dk1"/>
                          </a:solidFill>
                          <a:latin typeface="+mn-lt"/>
                        </a:rPr>
                        <a:t>Encrypt HR data at rest and in transit to prevent unauthorized access. </a:t>
                      </a:r>
                      <a:endParaRPr sz="900">
                        <a:latin typeface="+mn-lt"/>
                      </a:endParaRPr>
                    </a:p>
                    <a:p>
                      <a:pPr marL="173736" marR="0" lvl="0" indent="-173736" algn="l" rtl="0">
                        <a:spcBef>
                          <a:spcPts val="300"/>
                        </a:spcBef>
                        <a:spcAft>
                          <a:spcPts val="0"/>
                        </a:spcAft>
                        <a:buClr>
                          <a:schemeClr val="dk1"/>
                        </a:buClr>
                        <a:buSzPct val="100000"/>
                        <a:buFont typeface="Arial"/>
                        <a:buAutoNum type="arabicPeriod"/>
                      </a:pPr>
                      <a:r>
                        <a:rPr lang="en-US" sz="900">
                          <a:solidFill>
                            <a:schemeClr val="dk1"/>
                          </a:solidFill>
                          <a:latin typeface="+mn-lt"/>
                        </a:rPr>
                        <a:t>Regularly audit HR systems and assess vulnerabilities to address security risks. </a:t>
                      </a:r>
                      <a:endParaRPr sz="900">
                        <a:latin typeface="+mn-lt"/>
                      </a:endParaRPr>
                    </a:p>
                    <a:p>
                      <a:pPr marL="173736" marR="0" lvl="0" indent="-173736" algn="l" rtl="0">
                        <a:spcBef>
                          <a:spcPts val="300"/>
                        </a:spcBef>
                        <a:spcAft>
                          <a:spcPts val="0"/>
                        </a:spcAft>
                        <a:buClr>
                          <a:schemeClr val="dk1"/>
                        </a:buClr>
                        <a:buSzPct val="100000"/>
                        <a:buFont typeface="Arial"/>
                        <a:buAutoNum type="arabicPeriod"/>
                      </a:pPr>
                      <a:r>
                        <a:rPr lang="en-US" sz="900">
                          <a:solidFill>
                            <a:schemeClr val="dk1"/>
                          </a:solidFill>
                          <a:latin typeface="+mn-lt"/>
                        </a:rPr>
                        <a:t>Enforce clear data handling policies for collection, storage, sharing, and disposal to ensure privacy compliance. </a:t>
                      </a:r>
                      <a:endParaRPr sz="900">
                        <a:latin typeface="+mn-lt"/>
                      </a:endParaRPr>
                    </a:p>
                    <a:p>
                      <a:pPr marL="173736" marR="0" lvl="0" indent="-173736" algn="l" rtl="0">
                        <a:spcBef>
                          <a:spcPts val="300"/>
                        </a:spcBef>
                        <a:spcAft>
                          <a:spcPts val="0"/>
                        </a:spcAft>
                        <a:buClr>
                          <a:schemeClr val="dk1"/>
                        </a:buClr>
                        <a:buSzPct val="100000"/>
                        <a:buFont typeface="Arial"/>
                        <a:buAutoNum type="arabicPeriod"/>
                      </a:pPr>
                      <a:r>
                        <a:rPr lang="en-US" sz="900">
                          <a:solidFill>
                            <a:schemeClr val="dk1"/>
                          </a:solidFill>
                          <a:latin typeface="+mn-lt"/>
                        </a:rPr>
                        <a:t>Train HR staff on data security, privacy best practices, and recognizing threats</a:t>
                      </a:r>
                      <a:endParaRPr sz="900">
                        <a:solidFill>
                          <a:srgbClr val="000000"/>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tc>
                  <a:txBody>
                    <a:bodyPr/>
                    <a:lstStyle/>
                    <a:p>
                      <a:pPr marL="0" marR="0" lvl="0" indent="0" algn="l" defTabSz="914400" rtl="0" eaLnBrk="1" latinLnBrk="0" hangingPunct="1">
                        <a:lnSpc>
                          <a:spcPct val="100000"/>
                        </a:lnSpc>
                        <a:spcBef>
                          <a:spcPts val="300"/>
                        </a:spcBef>
                        <a:spcAft>
                          <a:spcPts val="0"/>
                        </a:spcAft>
                        <a:buClr>
                          <a:srgbClr val="000000"/>
                        </a:buClr>
                        <a:buSzPts val="1050"/>
                        <a:buFont typeface="Arial"/>
                        <a:buNone/>
                      </a:pPr>
                      <a:r>
                        <a:rPr lang="en-US" sz="900" u="sng" kern="1200" dirty="0">
                          <a:solidFill>
                            <a:srgbClr val="000000"/>
                          </a:solidFill>
                          <a:latin typeface="+mn-lt"/>
                          <a:ea typeface="+mn-ea"/>
                          <a:cs typeface="Arial"/>
                          <a:hlinkClick r:id="rId2">
                            <a:extLst>
                              <a:ext uri="{A12FA001-AC4F-418D-AE19-62706E023703}">
                                <ahyp:hlinkClr xmlns:ahyp="http://schemas.microsoft.com/office/drawing/2018/hyperlinkcolor" val="tx"/>
                              </a:ext>
                            </a:extLst>
                          </a:hlinkClick>
                        </a:rPr>
                        <a:t>Practical Privacy — Managing HR Data</a:t>
                      </a:r>
                      <a:endParaRPr sz="900" u="sng" kern="1200" dirty="0">
                        <a:solidFill>
                          <a:srgbClr val="000000"/>
                        </a:solidFill>
                        <a:latin typeface="+mn-lt"/>
                        <a:ea typeface="+mn-ea"/>
                        <a:cs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extLst>
                  <a:ext uri="{0D108BD9-81ED-4DB2-BD59-A6C34878D82A}">
                    <a16:rowId xmlns:a16="http://schemas.microsoft.com/office/drawing/2014/main" val="10001"/>
                  </a:ext>
                </a:extLst>
              </a:tr>
              <a:tr h="1263913">
                <a:tc>
                  <a:txBody>
                    <a:bodyPr/>
                    <a:lstStyle/>
                    <a:p>
                      <a:pPr marL="0" marR="0" lvl="0" indent="0" algn="l" rtl="0">
                        <a:lnSpc>
                          <a:spcPct val="100000"/>
                        </a:lnSpc>
                        <a:spcBef>
                          <a:spcPts val="0"/>
                        </a:spcBef>
                        <a:spcAft>
                          <a:spcPts val="0"/>
                        </a:spcAft>
                        <a:buClr>
                          <a:schemeClr val="dk1"/>
                        </a:buClr>
                        <a:buSzPts val="1050"/>
                        <a:buFont typeface="Arial"/>
                        <a:buNone/>
                      </a:pPr>
                      <a:r>
                        <a:rPr lang="en-US" sz="900" b="0" i="0">
                          <a:solidFill>
                            <a:schemeClr val="dk1"/>
                          </a:solidFill>
                          <a:latin typeface="+mj-lt"/>
                          <a:ea typeface="Arial"/>
                          <a:cs typeface="Arial"/>
                          <a:sym typeface="Arial"/>
                        </a:rPr>
                        <a:t>Maintain HR AI data quality, integrity and behavior</a:t>
                      </a:r>
                      <a:endParaRPr lang="en-US" sz="900">
                        <a:latin typeface="+mj-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tc>
                  <a:txBody>
                    <a:bodyPr/>
                    <a:lstStyle/>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latin typeface="+mn-lt"/>
                        </a:rPr>
                        <a:t>Establish data validation processes to ensure accuracy and completeness at the point of entry, while applying robust security measures like encryption and access controls to protect sensitive HR information.</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latin typeface="+mn-lt"/>
                        </a:rPr>
                        <a:t>Monitor and audit datasets on a regular cadence for anomalies and errors, while educating HR staff and administrators on data quality standards</a:t>
                      </a:r>
                      <a:br>
                        <a:rPr lang="en-US" sz="900" dirty="0">
                          <a:latin typeface="+mn-lt"/>
                        </a:rPr>
                      </a:br>
                      <a:r>
                        <a:rPr lang="en-US" sz="900" dirty="0">
                          <a:latin typeface="+mn-lt"/>
                        </a:rPr>
                        <a:t>and the importance of maintaining integrity.</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latin typeface="+mn-lt"/>
                        </a:rPr>
                        <a:t>Identify key performance metrics such as data quality, distribution, bias, drift, and labeling accuracy and establish automated systems for real-time tracking and logging across all data sources.</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latin typeface="+mn-lt"/>
                        </a:rPr>
                        <a:t>Monitor data for anomalies, shifts, or bias to assess how these changes impact AI performance and ensure the system remains aligned with</a:t>
                      </a:r>
                      <a:br>
                        <a:rPr lang="en-US" sz="900" dirty="0">
                          <a:latin typeface="+mn-lt"/>
                        </a:rPr>
                      </a:br>
                      <a:r>
                        <a:rPr lang="en-US" sz="900" dirty="0">
                          <a:latin typeface="+mn-lt"/>
                        </a:rPr>
                        <a:t>HR objectives.</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chemeClr val="dk1"/>
                          </a:solidFill>
                          <a:latin typeface="+mn-lt"/>
                        </a:rPr>
                        <a:t>Implement feedback loops and apply corrective actions based on insights (e.g., retraining models, adjusting data pipelines).</a:t>
                      </a:r>
                      <a:endParaRPr sz="900" dirty="0">
                        <a:solidFill>
                          <a:srgbClr val="000000"/>
                        </a:solidFill>
                        <a:latin typeface="+mn-lt"/>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tc>
                  <a:txBody>
                    <a:bodyPr/>
                    <a:lstStyle/>
                    <a:p>
                      <a:pPr marL="0" marR="0" lvl="0" indent="0" algn="l" defTabSz="914400" rtl="0" eaLnBrk="1" latinLnBrk="0" hangingPunct="1">
                        <a:lnSpc>
                          <a:spcPct val="100000"/>
                        </a:lnSpc>
                        <a:spcBef>
                          <a:spcPts val="300"/>
                        </a:spcBef>
                        <a:spcAft>
                          <a:spcPts val="0"/>
                        </a:spcAft>
                        <a:buClr>
                          <a:srgbClr val="000000"/>
                        </a:buClr>
                        <a:buSzPts val="1050"/>
                        <a:buFont typeface="Arial"/>
                        <a:buNone/>
                      </a:pPr>
                      <a:r>
                        <a:rPr lang="en-US" sz="900" u="sng" kern="1200" dirty="0">
                          <a:solidFill>
                            <a:srgbClr val="000000"/>
                          </a:solidFill>
                          <a:latin typeface="+mn-lt"/>
                          <a:ea typeface="+mn-ea"/>
                          <a:cs typeface="Arial"/>
                          <a:hlinkClick r:id="rId3">
                            <a:extLst>
                              <a:ext uri="{A12FA001-AC4F-418D-AE19-62706E023703}">
                                <ahyp:hlinkClr xmlns:ahyp="http://schemas.microsoft.com/office/drawing/2018/hyperlinkcolor" val="tx"/>
                              </a:ext>
                            </a:extLst>
                          </a:hlinkClick>
                        </a:rPr>
                        <a:t>Top 3 Data Quality Practices for Successful AI Application Development</a:t>
                      </a:r>
                      <a:r>
                        <a:rPr lang="en-US" sz="900" u="sng" kern="1200" dirty="0">
                          <a:solidFill>
                            <a:srgbClr val="000000"/>
                          </a:solidFill>
                          <a:latin typeface="+mn-lt"/>
                          <a:ea typeface="+mn-ea"/>
                          <a:cs typeface="Arial"/>
                          <a:sym typeface="Arial"/>
                        </a:rPr>
                        <a:t>, </a:t>
                      </a:r>
                      <a:r>
                        <a:rPr lang="en-US" sz="900" u="sng" kern="1200" dirty="0">
                          <a:solidFill>
                            <a:srgbClr val="000000"/>
                          </a:solidFill>
                          <a:latin typeface="+mn-lt"/>
                          <a:ea typeface="+mn-ea"/>
                          <a:cs typeface="Arial"/>
                          <a:hlinkClick r:id="rId4">
                            <a:extLst>
                              <a:ext uri="{A12FA001-AC4F-418D-AE19-62706E023703}">
                                <ahyp:hlinkClr xmlns:ahyp="http://schemas.microsoft.com/office/drawing/2018/hyperlinkcolor" val="tx"/>
                              </a:ext>
                            </a:extLst>
                          </a:hlinkClick>
                        </a:rPr>
                        <a:t>What should I know about Data Observability?</a:t>
                      </a:r>
                      <a:r>
                        <a:rPr lang="en-US" sz="900" u="sng" kern="1200" dirty="0">
                          <a:solidFill>
                            <a:srgbClr val="000000"/>
                          </a:solidFill>
                          <a:latin typeface="+mn-lt"/>
                          <a:ea typeface="+mn-ea"/>
                          <a:cs typeface="Arial"/>
                        </a:rPr>
                        <a:t>, </a:t>
                      </a:r>
                      <a:r>
                        <a:rPr lang="en-US" sz="900" u="sng" kern="1200" dirty="0">
                          <a:solidFill>
                            <a:srgbClr val="000000"/>
                          </a:solidFill>
                          <a:latin typeface="+mn-lt"/>
                          <a:ea typeface="+mn-ea"/>
                          <a:cs typeface="Arial"/>
                          <a:hlinkClick r:id="rId5">
                            <a:extLst>
                              <a:ext uri="{A12FA001-AC4F-418D-AE19-62706E023703}">
                                <ahyp:hlinkClr xmlns:ahyp="http://schemas.microsoft.com/office/drawing/2018/hyperlinkcolor" val="tx"/>
                              </a:ext>
                            </a:extLst>
                          </a:hlinkClick>
                        </a:rPr>
                        <a:t>6 Best Practices to Implement Data Observability Tools for Data and AI Initiatives</a:t>
                      </a:r>
                      <a:endParaRPr sz="900" u="sng" kern="1200" dirty="0">
                        <a:solidFill>
                          <a:srgbClr val="000000"/>
                        </a:solidFill>
                        <a:latin typeface="+mn-lt"/>
                        <a:ea typeface="+mn-ea"/>
                        <a:cs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extLst>
                  <a:ext uri="{0D108BD9-81ED-4DB2-BD59-A6C34878D82A}">
                    <a16:rowId xmlns:a16="http://schemas.microsoft.com/office/drawing/2014/main" val="939464923"/>
                  </a:ext>
                </a:extLst>
              </a:tr>
              <a:tr h="1132861">
                <a:tc>
                  <a:txBody>
                    <a:bodyPr/>
                    <a:lstStyle/>
                    <a:p>
                      <a:pPr marL="0" marR="0" lvl="0" indent="0" algn="l" rtl="0">
                        <a:spcBef>
                          <a:spcPts val="0"/>
                        </a:spcBef>
                        <a:spcAft>
                          <a:spcPts val="0"/>
                        </a:spcAft>
                        <a:buNone/>
                      </a:pPr>
                      <a:r>
                        <a:rPr lang="en-US" sz="900" b="0" i="0">
                          <a:solidFill>
                            <a:schemeClr val="dk1"/>
                          </a:solidFill>
                          <a:latin typeface="+mj-lt"/>
                          <a:ea typeface="Arial"/>
                          <a:cs typeface="Arial"/>
                          <a:sym typeface="Arial"/>
                        </a:rPr>
                        <a:t>Measure effectiveness of data in HR AI use cases</a:t>
                      </a:r>
                      <a:endParaRPr lang="en-US" sz="900">
                        <a:latin typeface="+mj-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FFFFFF"/>
                    </a:solidFill>
                  </a:tcPr>
                </a:tc>
                <a:tc>
                  <a:txBody>
                    <a:bodyPr/>
                    <a:lstStyle/>
                    <a:p>
                      <a:pPr marL="173736" marR="0" lvl="0" indent="-173736" algn="l" rtl="0">
                        <a:spcBef>
                          <a:spcPts val="300"/>
                        </a:spcBef>
                        <a:spcAft>
                          <a:spcPts val="0"/>
                        </a:spcAft>
                        <a:buClr>
                          <a:schemeClr val="dk1"/>
                        </a:buClr>
                        <a:buSzPct val="100000"/>
                        <a:buFont typeface="Arial"/>
                        <a:buAutoNum type="arabicPeriod"/>
                      </a:pPr>
                      <a:r>
                        <a:rPr lang="en-US" sz="900">
                          <a:solidFill>
                            <a:schemeClr val="dk1"/>
                          </a:solidFill>
                          <a:latin typeface="+mn-lt"/>
                        </a:rPr>
                        <a:t>For each HR AI use case, set measurable goals for what the AI solution should achieve.</a:t>
                      </a:r>
                      <a:endParaRPr sz="900">
                        <a:latin typeface="+mn-lt"/>
                      </a:endParaRPr>
                    </a:p>
                    <a:p>
                      <a:pPr marL="173736" marR="0" lvl="0" indent="-173736" algn="l" rtl="0">
                        <a:spcBef>
                          <a:spcPts val="300"/>
                        </a:spcBef>
                        <a:spcAft>
                          <a:spcPts val="0"/>
                        </a:spcAft>
                        <a:buClr>
                          <a:schemeClr val="dk1"/>
                        </a:buClr>
                        <a:buSzPct val="100000"/>
                        <a:buFont typeface="Arial"/>
                        <a:buAutoNum type="arabicPeriod"/>
                      </a:pPr>
                      <a:r>
                        <a:rPr lang="en-US" sz="900">
                          <a:solidFill>
                            <a:schemeClr val="dk1"/>
                          </a:solidFill>
                          <a:latin typeface="+mn-lt"/>
                        </a:rPr>
                        <a:t>Assess data quality by evaluating AI HR use case output for completeness, accuracy, consistency, and relevance to the chosen outcome.</a:t>
                      </a:r>
                      <a:endParaRPr sz="900">
                        <a:latin typeface="+mn-lt"/>
                      </a:endParaRPr>
                    </a:p>
                    <a:p>
                      <a:pPr marL="173736" marR="0" lvl="0" indent="-173736" algn="l" rtl="0">
                        <a:spcBef>
                          <a:spcPts val="300"/>
                        </a:spcBef>
                        <a:spcAft>
                          <a:spcPts val="0"/>
                        </a:spcAft>
                        <a:buClr>
                          <a:schemeClr val="dk1"/>
                        </a:buClr>
                        <a:buSzPct val="100000"/>
                        <a:buFont typeface="Arial"/>
                        <a:buAutoNum type="arabicPeriod"/>
                      </a:pPr>
                      <a:r>
                        <a:rPr lang="en-US" sz="900">
                          <a:solidFill>
                            <a:schemeClr val="dk1"/>
                          </a:solidFill>
                          <a:latin typeface="+mn-lt"/>
                        </a:rPr>
                        <a:t>Determine relevant KPIs for each HR AI use case to measure value and data quality/performance. </a:t>
                      </a:r>
                      <a:endParaRPr sz="900">
                        <a:latin typeface="+mn-lt"/>
                      </a:endParaRPr>
                    </a:p>
                    <a:p>
                      <a:pPr marL="173736" marR="0" lvl="0" indent="-173736" algn="l" rtl="0">
                        <a:spcBef>
                          <a:spcPts val="300"/>
                        </a:spcBef>
                        <a:spcAft>
                          <a:spcPts val="0"/>
                        </a:spcAft>
                        <a:buClr>
                          <a:schemeClr val="dk1"/>
                        </a:buClr>
                        <a:buSzPct val="100000"/>
                        <a:buFont typeface="Arial"/>
                        <a:buAutoNum type="arabicPeriod"/>
                      </a:pPr>
                      <a:r>
                        <a:rPr lang="en-US" sz="900">
                          <a:solidFill>
                            <a:schemeClr val="dk1"/>
                          </a:solidFill>
                          <a:latin typeface="+mn-lt"/>
                        </a:rPr>
                        <a:t>Regularly monitor the AI solution’s outputs against the defined KPIs. </a:t>
                      </a:r>
                      <a:endParaRPr sz="900">
                        <a:latin typeface="+mn-lt"/>
                      </a:endParaRPr>
                    </a:p>
                    <a:p>
                      <a:pPr marL="173736" marR="0" lvl="0" indent="-173736" algn="l" rtl="0">
                        <a:spcBef>
                          <a:spcPts val="300"/>
                        </a:spcBef>
                        <a:spcAft>
                          <a:spcPts val="0"/>
                        </a:spcAft>
                        <a:buClr>
                          <a:schemeClr val="dk1"/>
                        </a:buClr>
                        <a:buSzPct val="100000"/>
                        <a:buFont typeface="Arial"/>
                        <a:buAutoNum type="arabicPeriod"/>
                      </a:pPr>
                      <a:r>
                        <a:rPr lang="en-US" sz="900">
                          <a:solidFill>
                            <a:schemeClr val="dk1"/>
                          </a:solidFill>
                          <a:latin typeface="+mn-lt"/>
                        </a:rPr>
                        <a:t>Continuously collect feedback from HR stakeholders and end-users, analyze outcomes, and refine data inputs or AI models</a:t>
                      </a:r>
                      <a:br>
                        <a:rPr lang="en-US" sz="900">
                          <a:solidFill>
                            <a:schemeClr val="dk1"/>
                          </a:solidFill>
                          <a:latin typeface="+mn-lt"/>
                        </a:rPr>
                      </a:br>
                      <a:r>
                        <a:rPr lang="en-US" sz="900">
                          <a:solidFill>
                            <a:schemeClr val="dk1"/>
                          </a:solidFill>
                          <a:latin typeface="+mn-lt"/>
                        </a:rPr>
                        <a:t>to improve effectiveness.</a:t>
                      </a:r>
                      <a:endParaRPr sz="900">
                        <a:latin typeface="+mn-lt"/>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FFFFFF"/>
                    </a:solidFill>
                  </a:tcPr>
                </a:tc>
                <a:tc>
                  <a:txBody>
                    <a:bodyPr/>
                    <a:lstStyle/>
                    <a:p>
                      <a:pPr marL="0" marR="0" lvl="0" indent="0" algn="l" defTabSz="914400" rtl="0" eaLnBrk="1" latinLnBrk="0" hangingPunct="1">
                        <a:lnSpc>
                          <a:spcPct val="100000"/>
                        </a:lnSpc>
                        <a:spcBef>
                          <a:spcPts val="300"/>
                        </a:spcBef>
                        <a:spcAft>
                          <a:spcPts val="0"/>
                        </a:spcAft>
                        <a:buClr>
                          <a:srgbClr val="000000"/>
                        </a:buClr>
                        <a:buSzPts val="1050"/>
                        <a:buFont typeface="Arial"/>
                        <a:buNone/>
                      </a:pPr>
                      <a:r>
                        <a:rPr lang="en-US" sz="900" u="sng" kern="1200" dirty="0">
                          <a:solidFill>
                            <a:srgbClr val="000000"/>
                          </a:solidFill>
                          <a:latin typeface="+mn-lt"/>
                          <a:ea typeface="+mn-ea"/>
                          <a:cs typeface="Arial"/>
                          <a:hlinkClick r:id="rId6">
                            <a:extLst>
                              <a:ext uri="{A12FA001-AC4F-418D-AE19-62706E023703}">
                                <ahyp:hlinkClr xmlns:ahyp="http://schemas.microsoft.com/office/drawing/2018/hyperlinkcolor" val="tx"/>
                              </a:ext>
                            </a:extLst>
                          </a:hlinkClick>
                        </a:rPr>
                        <a:t>How to Evaluate AI Data Readiness</a:t>
                      </a:r>
                      <a:r>
                        <a:rPr lang="en-US" sz="900" u="sng" kern="1200" dirty="0">
                          <a:solidFill>
                            <a:srgbClr val="000000"/>
                          </a:solidFill>
                          <a:latin typeface="+mn-lt"/>
                          <a:ea typeface="+mn-ea"/>
                          <a:cs typeface="Arial"/>
                        </a:rPr>
                        <a:t>, </a:t>
                      </a:r>
                      <a:r>
                        <a:rPr lang="en-US" sz="900" u="sng" kern="1200" dirty="0">
                          <a:solidFill>
                            <a:srgbClr val="000000"/>
                          </a:solidFill>
                          <a:latin typeface="+mn-lt"/>
                          <a:ea typeface="+mn-ea"/>
                          <a:cs typeface="Arial"/>
                          <a:hlinkClick r:id="rId7">
                            <a:extLst>
                              <a:ext uri="{A12FA001-AC4F-418D-AE19-62706E023703}">
                                <ahyp:hlinkClr xmlns:ahyp="http://schemas.microsoft.com/office/drawing/2018/hyperlinkcolor" val="tx"/>
                              </a:ext>
                            </a:extLst>
                          </a:hlinkClick>
                        </a:rPr>
                        <a:t>3 Actions to Improve Your Data, Analytics and AI Governance</a:t>
                      </a:r>
                      <a:endParaRPr sz="900" u="sng" kern="1200" dirty="0">
                        <a:solidFill>
                          <a:srgbClr val="000000"/>
                        </a:solidFill>
                        <a:latin typeface="+mn-lt"/>
                        <a:ea typeface="+mn-ea"/>
                        <a:cs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FFFFFF"/>
                    </a:solidFill>
                  </a:tcPr>
                </a:tc>
                <a:extLst>
                  <a:ext uri="{0D108BD9-81ED-4DB2-BD59-A6C34878D82A}">
                    <a16:rowId xmlns:a16="http://schemas.microsoft.com/office/drawing/2014/main" val="1351489849"/>
                  </a:ext>
                </a:extLst>
              </a:tr>
              <a:tr h="1060294">
                <a:tc>
                  <a:txBody>
                    <a:bodyPr/>
                    <a:lstStyle/>
                    <a:p>
                      <a:pPr marL="0" marR="0" lvl="0" indent="0" algn="l" rtl="0">
                        <a:spcBef>
                          <a:spcPts val="0"/>
                        </a:spcBef>
                        <a:spcAft>
                          <a:spcPts val="0"/>
                        </a:spcAft>
                        <a:buNone/>
                      </a:pPr>
                      <a:r>
                        <a:rPr lang="en-US" sz="900" b="0" i="0">
                          <a:solidFill>
                            <a:schemeClr val="dk1"/>
                          </a:solidFill>
                          <a:latin typeface="+mj-lt"/>
                          <a:ea typeface="Arial"/>
                          <a:cs typeface="Arial"/>
                          <a:sym typeface="Arial"/>
                        </a:rPr>
                        <a:t>Design AI solutions</a:t>
                      </a:r>
                      <a:br>
                        <a:rPr lang="en-US" sz="900" b="0" i="0">
                          <a:solidFill>
                            <a:schemeClr val="dk1"/>
                          </a:solidFill>
                          <a:latin typeface="+mj-lt"/>
                          <a:ea typeface="Arial"/>
                          <a:cs typeface="Arial"/>
                          <a:sym typeface="Arial"/>
                        </a:rPr>
                      </a:br>
                      <a:r>
                        <a:rPr lang="en-US" sz="900" b="0" i="0">
                          <a:solidFill>
                            <a:schemeClr val="dk1"/>
                          </a:solidFill>
                          <a:latin typeface="+mj-lt"/>
                          <a:ea typeface="Arial"/>
                          <a:cs typeface="Arial"/>
                          <a:sym typeface="Arial"/>
                        </a:rPr>
                        <a:t>as part of HR technology strategy</a:t>
                      </a:r>
                      <a:endParaRPr lang="en-US" sz="900">
                        <a:latin typeface="+mj-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28575" cap="flat" cmpd="sng" algn="ctr">
                      <a:solidFill>
                        <a:srgbClr val="707996"/>
                      </a:solidFill>
                      <a:prstDash val="solid"/>
                      <a:round/>
                      <a:headEnd type="none" w="med" len="med"/>
                      <a:tailEnd type="none" w="med" len="med"/>
                    </a:lnB>
                    <a:solidFill>
                      <a:srgbClr val="E0F1FF"/>
                    </a:solidFill>
                  </a:tcPr>
                </a:tc>
                <a:tc>
                  <a:txBody>
                    <a:bodyPr/>
                    <a:lstStyle/>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Define AI’s role and purpose as part of HR technology strategy (e.g., improve efficiency, increase decision quality, enhance experience, etc.).  </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Assess AI’s fit with existing HR technology roadmap and determine where it complements, replaces or overlaps exiting systems</a:t>
                      </a:r>
                      <a:br>
                        <a:rPr lang="en-US" sz="900" dirty="0">
                          <a:solidFill>
                            <a:srgbClr val="000000"/>
                          </a:solidFill>
                          <a:latin typeface="+mn-lt"/>
                          <a:ea typeface="Arial"/>
                          <a:cs typeface="Arial"/>
                          <a:sym typeface="Arial"/>
                        </a:rPr>
                      </a:br>
                      <a:r>
                        <a:rPr lang="en-US" sz="900" dirty="0">
                          <a:solidFill>
                            <a:srgbClr val="000000"/>
                          </a:solidFill>
                          <a:latin typeface="+mn-lt"/>
                          <a:ea typeface="Arial"/>
                          <a:cs typeface="Arial"/>
                          <a:sym typeface="Arial"/>
                        </a:rPr>
                        <a:t>and planned investments.</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Sequence opportunities based on expected impact, data readiness, implementation complexity, and organizational sensitivity.</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Define what success looks like in operational and employee experience terms so AI is linked to measurable and strategic outcomes.</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Define risks and potential failures associated with AI so accountability and ownership is clear.</a:t>
                      </a:r>
                      <a:endParaRPr sz="900" dirty="0">
                        <a:latin typeface="+mn-lt"/>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28575" cap="flat" cmpd="sng" algn="ctr">
                      <a:solidFill>
                        <a:srgbClr val="707996"/>
                      </a:solidFill>
                      <a:prstDash val="solid"/>
                      <a:round/>
                      <a:headEnd type="none" w="med" len="med"/>
                      <a:tailEnd type="none" w="med" len="med"/>
                    </a:lnB>
                    <a:solidFill>
                      <a:srgbClr val="E0F1FF"/>
                    </a:solidFill>
                  </a:tcPr>
                </a:tc>
                <a:tc>
                  <a:txBody>
                    <a:bodyPr/>
                    <a:lstStyle/>
                    <a:p>
                      <a:pPr marL="0" marR="0" lvl="0" indent="0" algn="l" rtl="0">
                        <a:lnSpc>
                          <a:spcPct val="90000"/>
                        </a:lnSpc>
                        <a:spcBef>
                          <a:spcPts val="0"/>
                        </a:spcBef>
                        <a:spcAft>
                          <a:spcPts val="0"/>
                        </a:spcAft>
                        <a:buNone/>
                      </a:pPr>
                      <a:r>
                        <a:rPr lang="en-US" sz="900" u="sng" dirty="0">
                          <a:solidFill>
                            <a:srgbClr val="000000"/>
                          </a:solidFill>
                          <a:latin typeface="+mn-lt"/>
                          <a:ea typeface="Arial"/>
                          <a:cs typeface="Arial"/>
                          <a:sym typeface="Arial"/>
                          <a:hlinkClick r:id="rId8">
                            <a:extLst>
                              <a:ext uri="{A12FA001-AC4F-418D-AE19-62706E023703}">
                                <ahyp:hlinkClr xmlns:ahyp="http://schemas.microsoft.com/office/drawing/2018/hyperlinkcolor" val="tx"/>
                              </a:ext>
                            </a:extLst>
                          </a:hlinkClick>
                        </a:rPr>
                        <a:t>How to Create an HR Technology Strategy and Roadmap</a:t>
                      </a:r>
                      <a:endParaRPr sz="900" dirty="0">
                        <a:solidFill>
                          <a:srgbClr val="000000"/>
                        </a:solidFill>
                        <a:latin typeface="+mn-lt"/>
                        <a:ea typeface="Arial"/>
                        <a:cs typeface="Arial"/>
                        <a:sym typeface="Arial"/>
                      </a:endParaRPr>
                    </a:p>
                    <a:p>
                      <a:pPr marL="0" marR="0" lvl="0" indent="0" algn="l" rtl="0">
                        <a:lnSpc>
                          <a:spcPct val="90000"/>
                        </a:lnSpc>
                        <a:spcBef>
                          <a:spcPts val="0"/>
                        </a:spcBef>
                        <a:spcAft>
                          <a:spcPts val="0"/>
                        </a:spcAft>
                        <a:buNone/>
                      </a:pPr>
                      <a:r>
                        <a:rPr lang="en-US" sz="900" u="sng" dirty="0">
                          <a:solidFill>
                            <a:srgbClr val="000000"/>
                          </a:solidFill>
                          <a:latin typeface="+mn-lt"/>
                          <a:ea typeface="Arial"/>
                          <a:cs typeface="Arial"/>
                          <a:sym typeface="Arial"/>
                          <a:hlinkClick r:id="rId9">
                            <a:extLst>
                              <a:ext uri="{A12FA001-AC4F-418D-AE19-62706E023703}">
                                <ahyp:hlinkClr xmlns:ahyp="http://schemas.microsoft.com/office/drawing/2018/hyperlinkcolor" val="tx"/>
                              </a:ext>
                            </a:extLst>
                          </a:hlinkClick>
                        </a:rPr>
                        <a:t>3 Failures that Break HR’s AI ROI and How to Avoid Them</a:t>
                      </a:r>
                      <a:endParaRPr sz="900" dirty="0">
                        <a:solidFill>
                          <a:srgbClr val="000000"/>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28575" cap="flat" cmpd="sng" algn="ctr">
                      <a:solidFill>
                        <a:srgbClr val="707996"/>
                      </a:solidFill>
                      <a:prstDash val="solid"/>
                      <a:round/>
                      <a:headEnd type="none" w="med" len="med"/>
                      <a:tailEnd type="none" w="med" len="med"/>
                    </a:lnB>
                    <a:solidFill>
                      <a:srgbClr val="E0F1FF"/>
                    </a:solidFill>
                  </a:tcPr>
                </a:tc>
                <a:extLst>
                  <a:ext uri="{0D108BD9-81ED-4DB2-BD59-A6C34878D82A}">
                    <a16:rowId xmlns:a16="http://schemas.microsoft.com/office/drawing/2014/main" val="208485627"/>
                  </a:ext>
                </a:extLst>
              </a:tr>
            </a:tbl>
          </a:graphicData>
        </a:graphic>
      </p:graphicFrame>
    </p:spTree>
    <p:extLst>
      <p:ext uri="{BB962C8B-B14F-4D97-AF65-F5344CB8AC3E}">
        <p14:creationId xmlns:p14="http://schemas.microsoft.com/office/powerpoint/2010/main" val="38976241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7D0A8-54A9-165B-7B5A-416C4F5603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293450-8359-EC30-3B80-93E0A51E2FB6}"/>
              </a:ext>
            </a:extLst>
          </p:cNvPr>
          <p:cNvSpPr>
            <a:spLocks noGrp="1"/>
          </p:cNvSpPr>
          <p:nvPr>
            <p:ph type="title"/>
          </p:nvPr>
        </p:nvSpPr>
        <p:spPr/>
        <p:txBody>
          <a:bodyPr/>
          <a:lstStyle/>
          <a:p>
            <a:r>
              <a:rPr lang="en-US"/>
              <a:t>AI Data and Systems for HR Function: Detailed Activities (3 of 4)</a:t>
            </a:r>
          </a:p>
        </p:txBody>
      </p:sp>
      <p:graphicFrame>
        <p:nvGraphicFramePr>
          <p:cNvPr id="3" name="Google Shape;513;p11">
            <a:extLst>
              <a:ext uri="{FF2B5EF4-FFF2-40B4-BE49-F238E27FC236}">
                <a16:creationId xmlns:a16="http://schemas.microsoft.com/office/drawing/2014/main" id="{F6EADDBE-C9B8-898F-1A78-E7BCAE3D52AA}"/>
              </a:ext>
            </a:extLst>
          </p:cNvPr>
          <p:cNvGraphicFramePr/>
          <p:nvPr>
            <p:extLst>
              <p:ext uri="{D42A27DB-BD31-4B8C-83A1-F6EECF244321}">
                <p14:modId xmlns:p14="http://schemas.microsoft.com/office/powerpoint/2010/main" val="3455670550"/>
              </p:ext>
            </p:extLst>
          </p:nvPr>
        </p:nvGraphicFramePr>
        <p:xfrm>
          <a:off x="474896" y="947135"/>
          <a:ext cx="11256855" cy="5188517"/>
        </p:xfrm>
        <a:graphic>
          <a:graphicData uri="http://schemas.openxmlformats.org/drawingml/2006/table">
            <a:tbl>
              <a:tblPr>
                <a:noFill/>
              </a:tblPr>
              <a:tblGrid>
                <a:gridCol w="1343630">
                  <a:extLst>
                    <a:ext uri="{9D8B030D-6E8A-4147-A177-3AD203B41FA5}">
                      <a16:colId xmlns:a16="http://schemas.microsoft.com/office/drawing/2014/main" val="20000"/>
                    </a:ext>
                  </a:extLst>
                </a:gridCol>
                <a:gridCol w="7926365">
                  <a:extLst>
                    <a:ext uri="{9D8B030D-6E8A-4147-A177-3AD203B41FA5}">
                      <a16:colId xmlns:a16="http://schemas.microsoft.com/office/drawing/2014/main" val="20001"/>
                    </a:ext>
                  </a:extLst>
                </a:gridCol>
                <a:gridCol w="1986860">
                  <a:extLst>
                    <a:ext uri="{9D8B030D-6E8A-4147-A177-3AD203B41FA5}">
                      <a16:colId xmlns:a16="http://schemas.microsoft.com/office/drawing/2014/main" val="20002"/>
                    </a:ext>
                  </a:extLst>
                </a:gridCol>
              </a:tblGrid>
              <a:tr h="341734">
                <a:tc>
                  <a:txBody>
                    <a:bodyPr/>
                    <a:lstStyle/>
                    <a:p>
                      <a:pPr marL="0" marR="0" lvl="0" indent="0" algn="l" rtl="0">
                        <a:spcBef>
                          <a:spcPts val="0"/>
                        </a:spcBef>
                        <a:spcAft>
                          <a:spcPts val="0"/>
                        </a:spcAft>
                        <a:buNone/>
                      </a:pPr>
                      <a:r>
                        <a:rPr lang="en-US" sz="900" b="1" i="0" u="none" strike="noStrike" cap="none">
                          <a:solidFill>
                            <a:schemeClr val="lt2"/>
                          </a:solidFill>
                          <a:latin typeface="+mj-lt"/>
                          <a:ea typeface="Arial"/>
                          <a:cs typeface="Arial"/>
                          <a:sym typeface="Arial"/>
                        </a:rPr>
                        <a:t>Activity</a:t>
                      </a:r>
                      <a:endParaRPr sz="900" b="1" i="0">
                        <a:solidFill>
                          <a:schemeClr val="lt2"/>
                        </a:solidFill>
                        <a:latin typeface="+mj-lt"/>
                        <a:ea typeface="Arial"/>
                        <a:cs typeface="Arial"/>
                        <a:sym typeface="Arial"/>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28575"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3C92B5"/>
                    </a:solidFill>
                  </a:tcPr>
                </a:tc>
                <a:tc>
                  <a:txBody>
                    <a:bodyPr/>
                    <a:lstStyle/>
                    <a:p>
                      <a:pPr marL="0" marR="0" lvl="0" indent="0" algn="l" rtl="0">
                        <a:spcBef>
                          <a:spcPts val="0"/>
                        </a:spcBef>
                        <a:spcAft>
                          <a:spcPts val="0"/>
                        </a:spcAft>
                        <a:buNone/>
                      </a:pPr>
                      <a:r>
                        <a:rPr lang="en-US" sz="900" b="1" i="0">
                          <a:solidFill>
                            <a:schemeClr val="lt2"/>
                          </a:solidFill>
                          <a:latin typeface="+mj-lt"/>
                          <a:ea typeface="Arial"/>
                          <a:cs typeface="Arial"/>
                          <a:sym typeface="Arial"/>
                        </a:rPr>
                        <a:t>Steps</a:t>
                      </a:r>
                      <a:endParaRPr sz="900" b="1" i="0">
                        <a:solidFill>
                          <a:schemeClr val="lt2"/>
                        </a:solidFill>
                        <a:latin typeface="+mj-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28575"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3C92B5"/>
                    </a:solidFill>
                  </a:tcPr>
                </a:tc>
                <a:tc>
                  <a:txBody>
                    <a:bodyPr/>
                    <a:lstStyle/>
                    <a:p>
                      <a:pPr marL="0" marR="0" lvl="0" indent="0" algn="l" rtl="0">
                        <a:spcBef>
                          <a:spcPts val="0"/>
                        </a:spcBef>
                        <a:spcAft>
                          <a:spcPts val="0"/>
                        </a:spcAft>
                        <a:buNone/>
                      </a:pPr>
                      <a:r>
                        <a:rPr lang="en-US" sz="900" b="1" i="0">
                          <a:solidFill>
                            <a:schemeClr val="lt2"/>
                          </a:solidFill>
                          <a:latin typeface="+mj-lt"/>
                          <a:ea typeface="Arial"/>
                          <a:cs typeface="Arial"/>
                          <a:sym typeface="Arial"/>
                        </a:rPr>
                        <a:t>Supporting resources</a:t>
                      </a:r>
                      <a:endParaRPr sz="900" b="1" i="0">
                        <a:solidFill>
                          <a:schemeClr val="lt2"/>
                        </a:solidFill>
                        <a:latin typeface="+mj-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28575"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3C92B5"/>
                    </a:solidFill>
                  </a:tcPr>
                </a:tc>
                <a:extLst>
                  <a:ext uri="{0D108BD9-81ED-4DB2-BD59-A6C34878D82A}">
                    <a16:rowId xmlns:a16="http://schemas.microsoft.com/office/drawing/2014/main" val="10000"/>
                  </a:ext>
                </a:extLst>
              </a:tr>
              <a:tr h="891361">
                <a:tc>
                  <a:txBody>
                    <a:bodyPr/>
                    <a:lstStyle/>
                    <a:p>
                      <a:pPr marL="0" marR="0" lvl="0" indent="0" algn="l" rtl="0">
                        <a:spcBef>
                          <a:spcPts val="0"/>
                        </a:spcBef>
                        <a:spcAft>
                          <a:spcPts val="0"/>
                        </a:spcAft>
                        <a:buNone/>
                      </a:pPr>
                      <a:r>
                        <a:rPr lang="en-US" sz="900" b="0" i="0">
                          <a:solidFill>
                            <a:schemeClr val="dk1"/>
                          </a:solidFill>
                          <a:latin typeface="+mj-lt"/>
                          <a:ea typeface="Arial"/>
                          <a:cs typeface="Arial"/>
                          <a:sym typeface="Arial"/>
                        </a:rPr>
                        <a:t>Define AI architecture, integration and controls</a:t>
                      </a:r>
                      <a:endParaRPr lang="en-US" sz="900">
                        <a:latin typeface="+mj-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tc>
                  <a:txBody>
                    <a:bodyPr/>
                    <a:lstStyle/>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Determine where AI will sit in the technology stack (e.g., in a point solution, in a workflow layer, across multiple systems, etc.).</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Identify and map which systems the AI solution needs to access to function, which data it will consume, and what decisions/actions AI will influence. </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Set </a:t>
                      </a:r>
                      <a:r>
                        <a:rPr lang="en-US" sz="900" dirty="0" err="1">
                          <a:solidFill>
                            <a:srgbClr val="000000"/>
                          </a:solidFill>
                          <a:latin typeface="+mn-lt"/>
                          <a:ea typeface="Arial"/>
                          <a:cs typeface="Arial"/>
                          <a:sym typeface="Arial"/>
                        </a:rPr>
                        <a:t>permissioning</a:t>
                      </a:r>
                      <a:r>
                        <a:rPr lang="en-US" sz="900" dirty="0">
                          <a:solidFill>
                            <a:srgbClr val="000000"/>
                          </a:solidFill>
                          <a:latin typeface="+mn-lt"/>
                          <a:ea typeface="Arial"/>
                          <a:cs typeface="Arial"/>
                          <a:sym typeface="Arial"/>
                        </a:rPr>
                        <a:t>, access, and control boundaries to determine who can configure it and who can use it.</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Ensure the system design reflects privacy, legal, security, and bias requirements from the start. </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Specify where human oversight, escalation, exception handling and approvals are needed.</a:t>
                      </a:r>
                      <a:endParaRPr sz="900" dirty="0">
                        <a:latin typeface="+mn-lt"/>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None/>
                      </a:pPr>
                      <a:r>
                        <a:rPr lang="en-US" sz="900" u="sng">
                          <a:solidFill>
                            <a:srgbClr val="000000"/>
                          </a:solidFill>
                          <a:latin typeface="+mn-lt"/>
                          <a:ea typeface="Arial"/>
                          <a:cs typeface="Arial"/>
                          <a:sym typeface="Arial"/>
                          <a:hlinkClick r:id="rId2">
                            <a:extLst>
                              <a:ext uri="{A12FA001-AC4F-418D-AE19-62706E023703}">
                                <ahyp:hlinkClr xmlns:ahyp="http://schemas.microsoft.com/office/drawing/2018/hyperlinkcolor" val="tx"/>
                              </a:ext>
                            </a:extLst>
                          </a:hlinkClick>
                        </a:rPr>
                        <a:t>Prepare for the Future of AI Agents in HR</a:t>
                      </a:r>
                      <a:endParaRPr sz="900">
                        <a:solidFill>
                          <a:srgbClr val="000000"/>
                        </a:solidFill>
                        <a:latin typeface="+mn-lt"/>
                        <a:ea typeface="Arial"/>
                        <a:cs typeface="Arial"/>
                        <a:sym typeface="Arial"/>
                      </a:endParaRPr>
                    </a:p>
                    <a:p>
                      <a:pPr marL="0" marR="0" lvl="0" indent="0" algn="l" rtl="0">
                        <a:lnSpc>
                          <a:spcPct val="100000"/>
                        </a:lnSpc>
                        <a:spcBef>
                          <a:spcPts val="0"/>
                        </a:spcBef>
                        <a:spcAft>
                          <a:spcPts val="0"/>
                        </a:spcAft>
                        <a:buNone/>
                      </a:pPr>
                      <a:r>
                        <a:rPr lang="en-US" sz="900" u="sng">
                          <a:solidFill>
                            <a:srgbClr val="000000"/>
                          </a:solidFill>
                          <a:latin typeface="+mn-lt"/>
                          <a:ea typeface="Arial"/>
                          <a:cs typeface="Arial"/>
                          <a:sym typeface="Arial"/>
                          <a:hlinkClick r:id="rId3">
                            <a:extLst>
                              <a:ext uri="{A12FA001-AC4F-418D-AE19-62706E023703}">
                                <ahyp:hlinkClr xmlns:ahyp="http://schemas.microsoft.com/office/drawing/2018/hyperlinkcolor" val="tx"/>
                              </a:ext>
                            </a:extLst>
                          </a:hlinkClick>
                        </a:rPr>
                        <a:t>Reference Architecture Brief: Infrastructure Platform Engineering </a:t>
                      </a:r>
                      <a:endParaRPr sz="900">
                        <a:solidFill>
                          <a:srgbClr val="000000"/>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tcPr>
                </a:tc>
                <a:extLst>
                  <a:ext uri="{0D108BD9-81ED-4DB2-BD59-A6C34878D82A}">
                    <a16:rowId xmlns:a16="http://schemas.microsoft.com/office/drawing/2014/main" val="10001"/>
                  </a:ext>
                </a:extLst>
              </a:tr>
              <a:tr h="1114380">
                <a:tc>
                  <a:txBody>
                    <a:bodyPr/>
                    <a:lstStyle/>
                    <a:p>
                      <a:pPr marL="0" marR="0" lvl="0" indent="0" algn="l" rtl="0">
                        <a:spcBef>
                          <a:spcPts val="0"/>
                        </a:spcBef>
                        <a:spcAft>
                          <a:spcPts val="0"/>
                        </a:spcAft>
                        <a:buNone/>
                      </a:pPr>
                      <a:r>
                        <a:rPr lang="en-US" sz="900" b="0" i="0">
                          <a:solidFill>
                            <a:schemeClr val="dk1"/>
                          </a:solidFill>
                          <a:latin typeface="+mj-lt"/>
                          <a:ea typeface="Arial"/>
                          <a:cs typeface="Arial"/>
                          <a:sym typeface="Arial"/>
                        </a:rPr>
                        <a:t>Create an AI runtime and execution environment</a:t>
                      </a:r>
                      <a:endParaRPr lang="en-US" sz="900">
                        <a:latin typeface="+mj-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tc>
                  <a:txBody>
                    <a:bodyPr/>
                    <a:lstStyle/>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Define the operating environment for each AI use case, including models, tools, interfaces, workflows, and data environments for the AI solution</a:t>
                      </a:r>
                      <a:br>
                        <a:rPr lang="en-US" sz="900" dirty="0">
                          <a:solidFill>
                            <a:srgbClr val="000000"/>
                          </a:solidFill>
                          <a:latin typeface="+mn-lt"/>
                          <a:ea typeface="Arial"/>
                          <a:cs typeface="Arial"/>
                          <a:sym typeface="Arial"/>
                        </a:rPr>
                      </a:br>
                      <a:r>
                        <a:rPr lang="en-US" sz="900" dirty="0">
                          <a:solidFill>
                            <a:srgbClr val="000000"/>
                          </a:solidFill>
                          <a:latin typeface="+mn-lt"/>
                          <a:ea typeface="Arial"/>
                          <a:cs typeface="Arial"/>
                          <a:sym typeface="Arial"/>
                        </a:rPr>
                        <a:t>to operate in.</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Set execution rules and define when the AI can act, recommend, escalate, and stand down.</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Create monitoring and observability mechanisms to track usage, output quality, failure patterns, user behavior and potential drift over time. </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Establish incident management process by defining how errors, hallucinations, potential breaches or harmful outputs will be reported and handled.</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Assign clear operational ownership over AI runtime health, issue resolution, tuning and ongoing support post go-live.</a:t>
                      </a:r>
                      <a:endParaRPr sz="900" dirty="0">
                        <a:latin typeface="+mn-lt"/>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tc>
                  <a:txBody>
                    <a:bodyPr/>
                    <a:lstStyle/>
                    <a:p>
                      <a:pPr marL="0" marR="0" lvl="0" indent="0" algn="l" rtl="0">
                        <a:lnSpc>
                          <a:spcPct val="100000"/>
                        </a:lnSpc>
                        <a:spcBef>
                          <a:spcPts val="0"/>
                        </a:spcBef>
                        <a:spcAft>
                          <a:spcPts val="0"/>
                        </a:spcAft>
                        <a:buNone/>
                      </a:pPr>
                      <a:r>
                        <a:rPr lang="en-US" sz="900" u="sng">
                          <a:solidFill>
                            <a:srgbClr val="000000"/>
                          </a:solidFill>
                          <a:latin typeface="+mn-lt"/>
                          <a:ea typeface="Arial"/>
                          <a:cs typeface="Arial"/>
                          <a:sym typeface="Arial"/>
                          <a:hlinkClick r:id="rId4">
                            <a:extLst>
                              <a:ext uri="{A12FA001-AC4F-418D-AE19-62706E023703}">
                                <ahyp:hlinkClr xmlns:ahyp="http://schemas.microsoft.com/office/drawing/2018/hyperlinkcolor" val="tx"/>
                              </a:ext>
                            </a:extLst>
                          </a:hlinkClick>
                        </a:rPr>
                        <a:t>Tool: Craft a Code of Conduct for AI Agents to Govern Them </a:t>
                      </a:r>
                      <a:endParaRPr sz="900">
                        <a:solidFill>
                          <a:srgbClr val="000000"/>
                        </a:solidFill>
                        <a:latin typeface="+mn-lt"/>
                        <a:ea typeface="Arial"/>
                        <a:cs typeface="Arial"/>
                        <a:sym typeface="Arial"/>
                      </a:endParaRPr>
                    </a:p>
                    <a:p>
                      <a:pPr marL="0" marR="0" lvl="0" indent="0" algn="l" rtl="0">
                        <a:lnSpc>
                          <a:spcPct val="100000"/>
                        </a:lnSpc>
                        <a:spcBef>
                          <a:spcPts val="0"/>
                        </a:spcBef>
                        <a:spcAft>
                          <a:spcPts val="0"/>
                        </a:spcAft>
                        <a:buNone/>
                      </a:pPr>
                      <a:r>
                        <a:rPr lang="en-US" sz="900" u="sng">
                          <a:solidFill>
                            <a:srgbClr val="000000"/>
                          </a:solidFill>
                          <a:latin typeface="+mn-lt"/>
                          <a:ea typeface="Arial"/>
                          <a:cs typeface="Arial"/>
                          <a:sym typeface="Arial"/>
                          <a:hlinkClick r:id="rId5">
                            <a:extLst>
                              <a:ext uri="{A12FA001-AC4F-418D-AE19-62706E023703}">
                                <ahyp:hlinkClr xmlns:ahyp="http://schemas.microsoft.com/office/drawing/2018/hyperlinkcolor" val="tx"/>
                              </a:ext>
                            </a:extLst>
                          </a:hlinkClick>
                        </a:rPr>
                        <a:t>Reference Architecture Brief: Best Practice Framework for Observability and Incident Response </a:t>
                      </a:r>
                      <a:endParaRPr sz="900">
                        <a:solidFill>
                          <a:srgbClr val="000000"/>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extLst>
                  <a:ext uri="{0D108BD9-81ED-4DB2-BD59-A6C34878D82A}">
                    <a16:rowId xmlns:a16="http://schemas.microsoft.com/office/drawing/2014/main" val="939464923"/>
                  </a:ext>
                </a:extLst>
              </a:tr>
              <a:tr h="888098">
                <a:tc>
                  <a:txBody>
                    <a:bodyPr/>
                    <a:lstStyle/>
                    <a:p>
                      <a:pPr marL="0" marR="0" lvl="0" indent="0" algn="l" rtl="0">
                        <a:spcBef>
                          <a:spcPts val="0"/>
                        </a:spcBef>
                        <a:spcAft>
                          <a:spcPts val="0"/>
                        </a:spcAft>
                        <a:buNone/>
                      </a:pPr>
                      <a:r>
                        <a:rPr lang="en-US" sz="900" b="0" i="0">
                          <a:solidFill>
                            <a:schemeClr val="dk1"/>
                          </a:solidFill>
                          <a:latin typeface="+mj-lt"/>
                          <a:ea typeface="Arial"/>
                          <a:cs typeface="Arial"/>
                          <a:sym typeface="Arial"/>
                        </a:rPr>
                        <a:t>Separate workflows from tools</a:t>
                      </a:r>
                      <a:endParaRPr lang="en-US" sz="900">
                        <a:latin typeface="+mj-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FFFFFF"/>
                    </a:solidFill>
                  </a:tcPr>
                </a:tc>
                <a:tc>
                  <a:txBody>
                    <a:bodyPr/>
                    <a:lstStyle/>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Document system workflows and processes and distinguish business tasks from enabling tools.</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Redesign the workflow and intentionally place AI where it improves the workflow, judgment, speed or consistency.</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Ensure the workflow can still operate when the AI solution fails by designing fallbacks and alternative steps. </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Ensure HR retains ownership of workflow process logic, decision standards and accountability; avoid outsourcing workflow ownership</a:t>
                      </a:r>
                      <a:br>
                        <a:rPr lang="en-US" sz="900" dirty="0">
                          <a:solidFill>
                            <a:srgbClr val="000000"/>
                          </a:solidFill>
                          <a:latin typeface="+mn-lt"/>
                          <a:ea typeface="Arial"/>
                          <a:cs typeface="Arial"/>
                          <a:sym typeface="Arial"/>
                        </a:rPr>
                      </a:br>
                      <a:r>
                        <a:rPr lang="en-US" sz="900" dirty="0">
                          <a:solidFill>
                            <a:srgbClr val="000000"/>
                          </a:solidFill>
                          <a:latin typeface="+mn-lt"/>
                          <a:ea typeface="Arial"/>
                          <a:cs typeface="Arial"/>
                          <a:sym typeface="Arial"/>
                        </a:rPr>
                        <a:t>to vendor solutions. </a:t>
                      </a:r>
                      <a:endParaRPr sz="900" dirty="0">
                        <a:latin typeface="+mn-lt"/>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FFFFFF"/>
                    </a:solidFill>
                  </a:tcPr>
                </a:tc>
                <a:tc>
                  <a:txBody>
                    <a:bodyPr/>
                    <a:lstStyle/>
                    <a:p>
                      <a:pPr marL="0" marR="0" lvl="0" indent="0" algn="l" rtl="0">
                        <a:lnSpc>
                          <a:spcPct val="100000"/>
                        </a:lnSpc>
                        <a:spcBef>
                          <a:spcPts val="0"/>
                        </a:spcBef>
                        <a:spcAft>
                          <a:spcPts val="0"/>
                        </a:spcAft>
                        <a:buNone/>
                      </a:pPr>
                      <a:r>
                        <a:rPr lang="en-US" sz="900" u="sng">
                          <a:solidFill>
                            <a:srgbClr val="000000"/>
                          </a:solidFill>
                          <a:latin typeface="+mn-lt"/>
                          <a:ea typeface="Arial"/>
                          <a:cs typeface="Arial"/>
                          <a:sym typeface="Arial"/>
                          <a:hlinkClick r:id="rId6">
                            <a:extLst>
                              <a:ext uri="{A12FA001-AC4F-418D-AE19-62706E023703}">
                                <ahyp:hlinkClr xmlns:ahyp="http://schemas.microsoft.com/office/drawing/2018/hyperlinkcolor" val="tx"/>
                              </a:ext>
                            </a:extLst>
                          </a:hlinkClick>
                        </a:rPr>
                        <a:t>Elevate HR Processes with AI Agentic Workflows</a:t>
                      </a:r>
                      <a:endParaRPr sz="900">
                        <a:solidFill>
                          <a:srgbClr val="000000"/>
                        </a:solidFill>
                        <a:latin typeface="+mn-lt"/>
                        <a:ea typeface="Arial"/>
                        <a:cs typeface="Arial"/>
                        <a:sym typeface="Arial"/>
                      </a:endParaRPr>
                    </a:p>
                    <a:p>
                      <a:pPr marL="0" marR="0" lvl="0" indent="0" algn="l" rtl="0">
                        <a:lnSpc>
                          <a:spcPct val="100000"/>
                        </a:lnSpc>
                        <a:spcBef>
                          <a:spcPts val="0"/>
                        </a:spcBef>
                        <a:spcAft>
                          <a:spcPts val="0"/>
                        </a:spcAft>
                        <a:buNone/>
                      </a:pPr>
                      <a:r>
                        <a:rPr lang="en-US" sz="900" u="sng">
                          <a:solidFill>
                            <a:srgbClr val="000000"/>
                          </a:solidFill>
                          <a:latin typeface="+mn-lt"/>
                          <a:ea typeface="Arial"/>
                          <a:cs typeface="Arial"/>
                          <a:sym typeface="Arial"/>
                          <a:hlinkClick r:id="rId7">
                            <a:extLst>
                              <a:ext uri="{A12FA001-AC4F-418D-AE19-62706E023703}">
                                <ahyp:hlinkClr xmlns:ahyp="http://schemas.microsoft.com/office/drawing/2018/hyperlinkcolor" val="tx"/>
                              </a:ext>
                            </a:extLst>
                          </a:hlinkClick>
                        </a:rPr>
                        <a:t>Tool: HR Process Redesign Methodology</a:t>
                      </a:r>
                      <a:endParaRPr sz="900">
                        <a:solidFill>
                          <a:srgbClr val="000000"/>
                        </a:solidFill>
                        <a:latin typeface="+mn-lt"/>
                        <a:ea typeface="Arial"/>
                        <a:cs typeface="Arial"/>
                        <a:sym typeface="Arial"/>
                      </a:endParaRPr>
                    </a:p>
                    <a:p>
                      <a:pPr marL="0" marR="0" lvl="0" indent="0" algn="l" rtl="0">
                        <a:lnSpc>
                          <a:spcPct val="100000"/>
                        </a:lnSpc>
                        <a:spcBef>
                          <a:spcPts val="0"/>
                        </a:spcBef>
                        <a:spcAft>
                          <a:spcPts val="0"/>
                        </a:spcAft>
                        <a:buNone/>
                      </a:pPr>
                      <a:r>
                        <a:rPr lang="en-US" sz="900" u="sng">
                          <a:solidFill>
                            <a:srgbClr val="000000"/>
                          </a:solidFill>
                          <a:latin typeface="+mn-lt"/>
                          <a:ea typeface="Arial"/>
                          <a:cs typeface="Arial"/>
                          <a:sym typeface="Arial"/>
                          <a:hlinkClick r:id="rId8">
                            <a:extLst>
                              <a:ext uri="{A12FA001-AC4F-418D-AE19-62706E023703}">
                                <ahyp:hlinkClr xmlns:ahyp="http://schemas.microsoft.com/office/drawing/2018/hyperlinkcolor" val="tx"/>
                              </a:ext>
                            </a:extLst>
                          </a:hlinkClick>
                        </a:rPr>
                        <a:t>What Kind of Work Still Matters in the Age of AI?</a:t>
                      </a:r>
                      <a:endParaRPr sz="900">
                        <a:solidFill>
                          <a:srgbClr val="000000"/>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FFFFFF"/>
                    </a:solidFill>
                  </a:tcPr>
                </a:tc>
                <a:extLst>
                  <a:ext uri="{0D108BD9-81ED-4DB2-BD59-A6C34878D82A}">
                    <a16:rowId xmlns:a16="http://schemas.microsoft.com/office/drawing/2014/main" val="3457222484"/>
                  </a:ext>
                </a:extLst>
              </a:tr>
              <a:tr h="1109351">
                <a:tc>
                  <a:txBody>
                    <a:bodyPr/>
                    <a:lstStyle/>
                    <a:p>
                      <a:pPr marL="0" marR="0" lvl="0" indent="0" algn="l" rtl="0">
                        <a:spcBef>
                          <a:spcPts val="0"/>
                        </a:spcBef>
                        <a:spcAft>
                          <a:spcPts val="0"/>
                        </a:spcAft>
                        <a:buNone/>
                      </a:pPr>
                      <a:r>
                        <a:rPr lang="en-US" sz="900" b="0" i="0">
                          <a:solidFill>
                            <a:schemeClr val="dk1"/>
                          </a:solidFill>
                          <a:latin typeface="+mj-lt"/>
                          <a:ea typeface="Arial"/>
                          <a:cs typeface="Arial"/>
                          <a:sym typeface="Arial"/>
                        </a:rPr>
                        <a:t>Define AI's role at</a:t>
                      </a:r>
                      <a:br>
                        <a:rPr lang="en-US" sz="900" b="0" i="0">
                          <a:solidFill>
                            <a:schemeClr val="dk1"/>
                          </a:solidFill>
                          <a:latin typeface="+mj-lt"/>
                          <a:ea typeface="Arial"/>
                          <a:cs typeface="Arial"/>
                          <a:sym typeface="Arial"/>
                        </a:rPr>
                      </a:br>
                      <a:r>
                        <a:rPr lang="en-US" sz="900" b="0" i="0">
                          <a:solidFill>
                            <a:schemeClr val="dk1"/>
                          </a:solidFill>
                          <a:latin typeface="+mj-lt"/>
                          <a:ea typeface="Arial"/>
                          <a:cs typeface="Arial"/>
                          <a:sym typeface="Arial"/>
                        </a:rPr>
                        <a:t>the system level</a:t>
                      </a:r>
                      <a:endParaRPr lang="en-US" sz="900">
                        <a:latin typeface="+mj-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tc>
                  <a:txBody>
                    <a:bodyPr/>
                    <a:lstStyle/>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Clarify AI’s role in each use case (e.g., assisting, recommending, predicting, orchestrating, automating, etc.). </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Specify where AI can inform human judgement, where it triggers next steps, and where it cannot determine outcomes.</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Determine which tasks require human review, which can be machine-led, and which requires shared logic.</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Define human accountability over AI outputs, decisions, exceptions, and corrections in use cases.</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Test if the assigned AI role matches the organization’s overall AI readiness.</a:t>
                      </a:r>
                      <a:endParaRPr sz="900" dirty="0">
                        <a:latin typeface="+mn-lt"/>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tc>
                  <a:txBody>
                    <a:bodyPr/>
                    <a:lstStyle/>
                    <a:p>
                      <a:pPr marL="0" marR="0" lvl="0" indent="0" algn="l" rtl="0">
                        <a:lnSpc>
                          <a:spcPct val="100000"/>
                        </a:lnSpc>
                        <a:spcBef>
                          <a:spcPts val="0"/>
                        </a:spcBef>
                        <a:spcAft>
                          <a:spcPts val="0"/>
                        </a:spcAft>
                        <a:buNone/>
                      </a:pPr>
                      <a:r>
                        <a:rPr lang="en-US" sz="900" u="sng">
                          <a:solidFill>
                            <a:srgbClr val="000000"/>
                          </a:solidFill>
                          <a:latin typeface="+mn-lt"/>
                          <a:ea typeface="Arial"/>
                          <a:cs typeface="Arial"/>
                          <a:sym typeface="Arial"/>
                          <a:hlinkClick r:id="rId9">
                            <a:extLst>
                              <a:ext uri="{A12FA001-AC4F-418D-AE19-62706E023703}">
                                <ahyp:hlinkClr xmlns:ahyp="http://schemas.microsoft.com/office/drawing/2018/hyperlinkcolor" val="tx"/>
                              </a:ext>
                            </a:extLst>
                          </a:hlinkClick>
                        </a:rPr>
                        <a:t>Leadership Agency: How CHROs Stay Ahead in the AI Era</a:t>
                      </a:r>
                      <a:endParaRPr sz="900" u="sng">
                        <a:solidFill>
                          <a:srgbClr val="000000"/>
                        </a:solidFill>
                        <a:latin typeface="+mn-lt"/>
                        <a:ea typeface="Arial"/>
                        <a:cs typeface="Arial"/>
                        <a:sym typeface="Arial"/>
                        <a:hlinkClick r:id="rId4">
                          <a:extLst>
                            <a:ext uri="{A12FA001-AC4F-418D-AE19-62706E023703}">
                              <ahyp:hlinkClr xmlns:ahyp="http://schemas.microsoft.com/office/drawing/2018/hyperlinkcolor" val="tx"/>
                            </a:ext>
                          </a:extLst>
                        </a:hlinkClick>
                      </a:endParaRPr>
                    </a:p>
                    <a:p>
                      <a:pPr marL="0" marR="0" lvl="0" indent="0" algn="l" rtl="0">
                        <a:lnSpc>
                          <a:spcPct val="100000"/>
                        </a:lnSpc>
                        <a:spcBef>
                          <a:spcPts val="0"/>
                        </a:spcBef>
                        <a:spcAft>
                          <a:spcPts val="0"/>
                        </a:spcAft>
                        <a:buNone/>
                      </a:pPr>
                      <a:r>
                        <a:rPr lang="en-US" sz="900" u="sng">
                          <a:solidFill>
                            <a:srgbClr val="000000"/>
                          </a:solidFill>
                          <a:latin typeface="+mn-lt"/>
                          <a:ea typeface="Arial"/>
                          <a:cs typeface="Arial"/>
                          <a:sym typeface="Arial"/>
                          <a:hlinkClick r:id="rId4">
                            <a:extLst>
                              <a:ext uri="{A12FA001-AC4F-418D-AE19-62706E023703}">
                                <ahyp:hlinkClr xmlns:ahyp="http://schemas.microsoft.com/office/drawing/2018/hyperlinkcolor" val="tx"/>
                              </a:ext>
                            </a:extLst>
                          </a:hlinkClick>
                        </a:rPr>
                        <a:t>Tool: Craft a Code of Conduct for AI Agents to Govern Them </a:t>
                      </a:r>
                      <a:endParaRPr sz="900">
                        <a:solidFill>
                          <a:srgbClr val="000000"/>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E0F1FF"/>
                    </a:solidFill>
                  </a:tcPr>
                </a:tc>
                <a:extLst>
                  <a:ext uri="{0D108BD9-81ED-4DB2-BD59-A6C34878D82A}">
                    <a16:rowId xmlns:a16="http://schemas.microsoft.com/office/drawing/2014/main" val="1351489849"/>
                  </a:ext>
                </a:extLst>
              </a:tr>
              <a:tr h="817281">
                <a:tc>
                  <a:txBody>
                    <a:bodyPr/>
                    <a:lstStyle/>
                    <a:p>
                      <a:pPr marL="0" marR="0" lvl="0" indent="0" algn="l" rtl="0">
                        <a:spcBef>
                          <a:spcPts val="0"/>
                        </a:spcBef>
                        <a:spcAft>
                          <a:spcPts val="0"/>
                        </a:spcAft>
                        <a:buNone/>
                      </a:pPr>
                      <a:r>
                        <a:rPr lang="en-US" sz="900" b="0" i="0">
                          <a:solidFill>
                            <a:schemeClr val="dk1"/>
                          </a:solidFill>
                          <a:latin typeface="+mj-lt"/>
                          <a:ea typeface="Arial"/>
                          <a:cs typeface="Arial"/>
                          <a:sym typeface="Arial"/>
                        </a:rPr>
                        <a:t>Configure AI with extensibility and platform controls</a:t>
                      </a:r>
                      <a:endParaRPr lang="en-US" sz="900">
                        <a:latin typeface="+mj-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28575" cap="flat" cmpd="sng" algn="ctr">
                      <a:solidFill>
                        <a:srgbClr val="707996"/>
                      </a:solidFill>
                      <a:prstDash val="solid"/>
                      <a:round/>
                      <a:headEnd type="none" w="med" len="med"/>
                      <a:tailEnd type="none" w="med" len="med"/>
                    </a:lnB>
                  </a:tcPr>
                </a:tc>
                <a:tc>
                  <a:txBody>
                    <a:bodyPr/>
                    <a:lstStyle/>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Shape how AI will behave with task guidance, response boundaries, tone, and decision/escalation logic.</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Set platform-level controls on model access, data handling, user permissions, and configuration rights.</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Define extensibility requirements and determine if the AI solution needs APIs, connectors, custom skills, or external data sources.</a:t>
                      </a:r>
                      <a:endParaRPr sz="900" dirty="0">
                        <a:latin typeface="+mn-lt"/>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28575" cap="flat" cmpd="sng" algn="ctr">
                      <a:solidFill>
                        <a:srgbClr val="707996"/>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None/>
                      </a:pPr>
                      <a:r>
                        <a:rPr lang="en-US" sz="900" u="sng" dirty="0">
                          <a:solidFill>
                            <a:srgbClr val="000000"/>
                          </a:solidFill>
                          <a:latin typeface="+mn-lt"/>
                          <a:ea typeface="Arial"/>
                          <a:cs typeface="Arial"/>
                          <a:sym typeface="Arial"/>
                          <a:hlinkClick r:id="rId10">
                            <a:extLst>
                              <a:ext uri="{A12FA001-AC4F-418D-AE19-62706E023703}">
                                <ahyp:hlinkClr xmlns:ahyp="http://schemas.microsoft.com/office/drawing/2018/hyperlinkcolor" val="tx"/>
                              </a:ext>
                            </a:extLst>
                          </a:hlinkClick>
                        </a:rPr>
                        <a:t>Toolkit: AI Controls for Governance of Models, Frameworks and Agents</a:t>
                      </a:r>
                      <a:r>
                        <a:rPr lang="en-US" sz="900" dirty="0">
                          <a:solidFill>
                            <a:srgbClr val="000000"/>
                          </a:solidFill>
                          <a:latin typeface="+mn-lt"/>
                          <a:ea typeface="Arial"/>
                          <a:cs typeface="Arial"/>
                          <a:sym typeface="Arial"/>
                        </a:rPr>
                        <a:t> </a:t>
                      </a:r>
                      <a:endParaRPr sz="900" dirty="0">
                        <a:latin typeface="+mn-lt"/>
                      </a:endParaRPr>
                    </a:p>
                    <a:p>
                      <a:pPr marL="0" marR="0" lvl="0" indent="0" algn="l" rtl="0">
                        <a:lnSpc>
                          <a:spcPct val="100000"/>
                        </a:lnSpc>
                        <a:spcBef>
                          <a:spcPts val="0"/>
                        </a:spcBef>
                        <a:spcAft>
                          <a:spcPts val="0"/>
                        </a:spcAft>
                        <a:buNone/>
                      </a:pPr>
                      <a:r>
                        <a:rPr lang="en-US" sz="900" u="sng" dirty="0">
                          <a:solidFill>
                            <a:srgbClr val="000000"/>
                          </a:solidFill>
                          <a:latin typeface="+mn-lt"/>
                          <a:ea typeface="Arial"/>
                          <a:cs typeface="Arial"/>
                          <a:sym typeface="Arial"/>
                          <a:hlinkClick r:id="rId11">
                            <a:extLst>
                              <a:ext uri="{A12FA001-AC4F-418D-AE19-62706E023703}">
                                <ahyp:hlinkClr xmlns:ahyp="http://schemas.microsoft.com/office/drawing/2018/hyperlinkcolor" val="tx"/>
                              </a:ext>
                            </a:extLst>
                          </a:hlinkClick>
                        </a:rPr>
                        <a:t>AI Governance Controls Must be Embedded into System Design </a:t>
                      </a:r>
                      <a:endParaRPr sz="900" dirty="0">
                        <a:solidFill>
                          <a:srgbClr val="000000"/>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28575" cap="flat" cmpd="sng" algn="ctr">
                      <a:solidFill>
                        <a:srgbClr val="707996"/>
                      </a:solidFill>
                      <a:prstDash val="solid"/>
                      <a:round/>
                      <a:headEnd type="none" w="med" len="med"/>
                      <a:tailEnd type="none" w="med" len="med"/>
                    </a:lnB>
                  </a:tcPr>
                </a:tc>
                <a:extLst>
                  <a:ext uri="{0D108BD9-81ED-4DB2-BD59-A6C34878D82A}">
                    <a16:rowId xmlns:a16="http://schemas.microsoft.com/office/drawing/2014/main" val="208485627"/>
                  </a:ext>
                </a:extLst>
              </a:tr>
            </a:tbl>
          </a:graphicData>
        </a:graphic>
      </p:graphicFrame>
    </p:spTree>
    <p:extLst>
      <p:ext uri="{BB962C8B-B14F-4D97-AF65-F5344CB8AC3E}">
        <p14:creationId xmlns:p14="http://schemas.microsoft.com/office/powerpoint/2010/main" val="29418490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376F3-06A0-AD5D-B645-BAAFE7ACE7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5AC1B9-A1F6-ADA6-D273-19D14CCD6B52}"/>
              </a:ext>
            </a:extLst>
          </p:cNvPr>
          <p:cNvSpPr>
            <a:spLocks noGrp="1"/>
          </p:cNvSpPr>
          <p:nvPr>
            <p:ph type="title"/>
          </p:nvPr>
        </p:nvSpPr>
        <p:spPr/>
        <p:txBody>
          <a:bodyPr/>
          <a:lstStyle/>
          <a:p>
            <a:r>
              <a:rPr lang="en-US"/>
              <a:t>AI Data and Systems for HR Function: Detailed Activities (4 of 4)</a:t>
            </a:r>
          </a:p>
        </p:txBody>
      </p:sp>
      <p:graphicFrame>
        <p:nvGraphicFramePr>
          <p:cNvPr id="3" name="Google Shape;513;p11">
            <a:extLst>
              <a:ext uri="{FF2B5EF4-FFF2-40B4-BE49-F238E27FC236}">
                <a16:creationId xmlns:a16="http://schemas.microsoft.com/office/drawing/2014/main" id="{BD2ADFA8-1FFE-990E-9A42-9D23F95C496E}"/>
              </a:ext>
            </a:extLst>
          </p:cNvPr>
          <p:cNvGraphicFramePr/>
          <p:nvPr>
            <p:extLst>
              <p:ext uri="{D42A27DB-BD31-4B8C-83A1-F6EECF244321}">
                <p14:modId xmlns:p14="http://schemas.microsoft.com/office/powerpoint/2010/main" val="2883010011"/>
              </p:ext>
            </p:extLst>
          </p:nvPr>
        </p:nvGraphicFramePr>
        <p:xfrm>
          <a:off x="474896" y="947135"/>
          <a:ext cx="11256855" cy="1326045"/>
        </p:xfrm>
        <a:graphic>
          <a:graphicData uri="http://schemas.openxmlformats.org/drawingml/2006/table">
            <a:tbl>
              <a:tblPr>
                <a:noFill/>
              </a:tblPr>
              <a:tblGrid>
                <a:gridCol w="1343630">
                  <a:extLst>
                    <a:ext uri="{9D8B030D-6E8A-4147-A177-3AD203B41FA5}">
                      <a16:colId xmlns:a16="http://schemas.microsoft.com/office/drawing/2014/main" val="20000"/>
                    </a:ext>
                  </a:extLst>
                </a:gridCol>
                <a:gridCol w="7926365">
                  <a:extLst>
                    <a:ext uri="{9D8B030D-6E8A-4147-A177-3AD203B41FA5}">
                      <a16:colId xmlns:a16="http://schemas.microsoft.com/office/drawing/2014/main" val="20001"/>
                    </a:ext>
                  </a:extLst>
                </a:gridCol>
                <a:gridCol w="1986860">
                  <a:extLst>
                    <a:ext uri="{9D8B030D-6E8A-4147-A177-3AD203B41FA5}">
                      <a16:colId xmlns:a16="http://schemas.microsoft.com/office/drawing/2014/main" val="20002"/>
                    </a:ext>
                  </a:extLst>
                </a:gridCol>
              </a:tblGrid>
              <a:tr h="341531">
                <a:tc>
                  <a:txBody>
                    <a:bodyPr/>
                    <a:lstStyle/>
                    <a:p>
                      <a:pPr marL="0" marR="0" lvl="0" indent="0" algn="l" rtl="0">
                        <a:spcBef>
                          <a:spcPts val="0"/>
                        </a:spcBef>
                        <a:spcAft>
                          <a:spcPts val="0"/>
                        </a:spcAft>
                        <a:buNone/>
                      </a:pPr>
                      <a:r>
                        <a:rPr lang="en-US" sz="900" b="1" i="0" u="none" strike="noStrike" cap="none">
                          <a:solidFill>
                            <a:schemeClr val="lt2"/>
                          </a:solidFill>
                          <a:latin typeface="+mj-lt"/>
                          <a:ea typeface="Arial"/>
                          <a:cs typeface="Arial"/>
                          <a:sym typeface="Arial"/>
                        </a:rPr>
                        <a:t>Activity</a:t>
                      </a:r>
                      <a:endParaRPr sz="900" b="1" i="0">
                        <a:solidFill>
                          <a:schemeClr val="lt2"/>
                        </a:solidFill>
                        <a:latin typeface="+mj-lt"/>
                        <a:ea typeface="Arial"/>
                        <a:cs typeface="Arial"/>
                        <a:sym typeface="Arial"/>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28575"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3C92B5"/>
                    </a:solidFill>
                  </a:tcPr>
                </a:tc>
                <a:tc>
                  <a:txBody>
                    <a:bodyPr/>
                    <a:lstStyle/>
                    <a:p>
                      <a:pPr marL="0" marR="0" lvl="0" indent="0" algn="l" rtl="0">
                        <a:spcBef>
                          <a:spcPts val="0"/>
                        </a:spcBef>
                        <a:spcAft>
                          <a:spcPts val="0"/>
                        </a:spcAft>
                        <a:buNone/>
                      </a:pPr>
                      <a:r>
                        <a:rPr lang="en-US" sz="900" b="1" i="0">
                          <a:solidFill>
                            <a:schemeClr val="lt2"/>
                          </a:solidFill>
                          <a:latin typeface="+mj-lt"/>
                          <a:ea typeface="Arial"/>
                          <a:cs typeface="Arial"/>
                          <a:sym typeface="Arial"/>
                        </a:rPr>
                        <a:t>Steps</a:t>
                      </a:r>
                      <a:endParaRPr sz="900" b="1" i="0">
                        <a:solidFill>
                          <a:schemeClr val="lt2"/>
                        </a:solidFill>
                        <a:latin typeface="+mj-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28575"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3C92B5"/>
                    </a:solidFill>
                  </a:tcPr>
                </a:tc>
                <a:tc>
                  <a:txBody>
                    <a:bodyPr/>
                    <a:lstStyle/>
                    <a:p>
                      <a:pPr marL="0" marR="0" lvl="0" indent="0" algn="l" rtl="0">
                        <a:spcBef>
                          <a:spcPts val="0"/>
                        </a:spcBef>
                        <a:spcAft>
                          <a:spcPts val="0"/>
                        </a:spcAft>
                        <a:buNone/>
                      </a:pPr>
                      <a:r>
                        <a:rPr lang="en-US" sz="900" b="1" i="0">
                          <a:solidFill>
                            <a:schemeClr val="lt2"/>
                          </a:solidFill>
                          <a:latin typeface="+mj-lt"/>
                          <a:ea typeface="Arial"/>
                          <a:cs typeface="Arial"/>
                          <a:sym typeface="Arial"/>
                        </a:rPr>
                        <a:t>Supporting resources</a:t>
                      </a:r>
                      <a:endParaRPr sz="900" b="1" i="0">
                        <a:solidFill>
                          <a:schemeClr val="lt2"/>
                        </a:solidFill>
                        <a:latin typeface="+mj-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28575" cap="flat" cmpd="sng" algn="ctr">
                      <a:solidFill>
                        <a:srgbClr val="707996"/>
                      </a:solidFill>
                      <a:prstDash val="solid"/>
                      <a:round/>
                      <a:headEnd type="none" w="med" len="med"/>
                      <a:tailEnd type="none" w="med" len="med"/>
                    </a:lnT>
                    <a:lnB w="6350" cap="flat" cmpd="sng" algn="ctr">
                      <a:solidFill>
                        <a:srgbClr val="707996"/>
                      </a:solidFill>
                      <a:prstDash val="solid"/>
                      <a:round/>
                      <a:headEnd type="none" w="med" len="med"/>
                      <a:tailEnd type="none" w="med" len="med"/>
                    </a:lnB>
                    <a:solidFill>
                      <a:srgbClr val="3C92B5"/>
                    </a:solidFill>
                  </a:tcPr>
                </a:tc>
                <a:extLst>
                  <a:ext uri="{0D108BD9-81ED-4DB2-BD59-A6C34878D82A}">
                    <a16:rowId xmlns:a16="http://schemas.microsoft.com/office/drawing/2014/main" val="10000"/>
                  </a:ext>
                </a:extLst>
              </a:tr>
              <a:tr h="891361">
                <a:tc>
                  <a:txBody>
                    <a:bodyPr/>
                    <a:lstStyle/>
                    <a:p>
                      <a:pPr marL="0" marR="0" lvl="0" indent="0" algn="l" rtl="0">
                        <a:spcBef>
                          <a:spcPts val="0"/>
                        </a:spcBef>
                        <a:spcAft>
                          <a:spcPts val="0"/>
                        </a:spcAft>
                        <a:buNone/>
                      </a:pPr>
                      <a:r>
                        <a:rPr lang="en-US" sz="900" b="0" i="0">
                          <a:solidFill>
                            <a:schemeClr val="dk1"/>
                          </a:solidFill>
                          <a:latin typeface="+mj-lt"/>
                          <a:ea typeface="Arial"/>
                          <a:cs typeface="Arial"/>
                          <a:sym typeface="Arial"/>
                        </a:rPr>
                        <a:t>Manage AI features</a:t>
                      </a:r>
                      <a:br>
                        <a:rPr lang="en-US" sz="900" b="0" i="0">
                          <a:solidFill>
                            <a:schemeClr val="dk1"/>
                          </a:solidFill>
                          <a:latin typeface="+mj-lt"/>
                          <a:ea typeface="Arial"/>
                          <a:cs typeface="Arial"/>
                          <a:sym typeface="Arial"/>
                        </a:rPr>
                      </a:br>
                      <a:r>
                        <a:rPr lang="en-US" sz="900" b="0" i="0">
                          <a:solidFill>
                            <a:schemeClr val="dk1"/>
                          </a:solidFill>
                          <a:latin typeface="+mj-lt"/>
                          <a:ea typeface="Arial"/>
                          <a:cs typeface="Arial"/>
                          <a:sym typeface="Arial"/>
                        </a:rPr>
                        <a:t>in HR technology portfolio</a:t>
                      </a:r>
                      <a:endParaRPr lang="en-US" sz="900">
                        <a:latin typeface="+mj-lt"/>
                      </a:endParaRPr>
                    </a:p>
                  </a:txBody>
                  <a:tcPr marL="91450" marR="91450" marT="45725" marB="45725" anchor="ctr">
                    <a:lnL w="28575"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28575" cap="flat" cmpd="sng" algn="ctr">
                      <a:solidFill>
                        <a:srgbClr val="707996"/>
                      </a:solidFill>
                      <a:prstDash val="solid"/>
                      <a:round/>
                      <a:headEnd type="none" w="med" len="med"/>
                      <a:tailEnd type="none" w="med" len="med"/>
                    </a:lnB>
                  </a:tcPr>
                </a:tc>
                <a:tc>
                  <a:txBody>
                    <a:bodyPr/>
                    <a:lstStyle/>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Inventory AI capabilities across the HR technology stack and assess for overlaps, redundancy and fragmentation.</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Set ownership for ongoing feature management and define who reviews new vendor releases, approves activation, tracks performance, etc. </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Create a standard and treat AI configuration changes as managed system changes with approval, testing, documentation and rollback options.</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Test the configured AI in realistic scenarios to confirm that controls, outputs and exception handling all function as intended.</a:t>
                      </a:r>
                      <a:endParaRPr sz="900" dirty="0">
                        <a:latin typeface="+mn-lt"/>
                      </a:endParaRPr>
                    </a:p>
                    <a:p>
                      <a:pPr marL="173736" marR="0" lvl="0" indent="-173736" algn="l" rtl="0">
                        <a:lnSpc>
                          <a:spcPct val="90000"/>
                        </a:lnSpc>
                        <a:spcBef>
                          <a:spcPts val="300"/>
                        </a:spcBef>
                        <a:spcAft>
                          <a:spcPts val="0"/>
                        </a:spcAft>
                        <a:buClr>
                          <a:srgbClr val="000000"/>
                        </a:buClr>
                        <a:buSzPct val="100000"/>
                        <a:buFont typeface="Arial"/>
                        <a:buAutoNum type="arabicPeriod"/>
                      </a:pPr>
                      <a:r>
                        <a:rPr lang="en-US" sz="900" dirty="0">
                          <a:solidFill>
                            <a:srgbClr val="000000"/>
                          </a:solidFill>
                          <a:latin typeface="+mn-lt"/>
                          <a:ea typeface="Arial"/>
                          <a:cs typeface="Arial"/>
                          <a:sym typeface="Arial"/>
                        </a:rPr>
                        <a:t>Integrate AI feature decisions into broader HR technology portfolio governance and review it alongside architecture, contracts, budget,</a:t>
                      </a:r>
                      <a:br>
                        <a:rPr lang="en-US" sz="900" dirty="0">
                          <a:solidFill>
                            <a:srgbClr val="000000"/>
                          </a:solidFill>
                          <a:latin typeface="+mn-lt"/>
                          <a:ea typeface="Arial"/>
                          <a:cs typeface="Arial"/>
                          <a:sym typeface="Arial"/>
                        </a:rPr>
                      </a:br>
                      <a:r>
                        <a:rPr lang="en-US" sz="900" dirty="0">
                          <a:solidFill>
                            <a:srgbClr val="000000"/>
                          </a:solidFill>
                          <a:latin typeface="+mn-lt"/>
                          <a:ea typeface="Arial"/>
                          <a:cs typeface="Arial"/>
                          <a:sym typeface="Arial"/>
                        </a:rPr>
                        <a:t>and workforce impact.</a:t>
                      </a:r>
                      <a:endParaRPr sz="900" dirty="0">
                        <a:latin typeface="+mn-lt"/>
                      </a:endParaRPr>
                    </a:p>
                  </a:txBody>
                  <a:tcPr marL="91450" marR="91450" marT="45725" marB="45725" anchor="ctr">
                    <a:lnL w="6350" cap="flat" cmpd="sng" algn="ctr">
                      <a:solidFill>
                        <a:srgbClr val="707996"/>
                      </a:solidFill>
                      <a:prstDash val="solid"/>
                      <a:round/>
                      <a:headEnd type="none" w="med" len="med"/>
                      <a:tailEnd type="none" w="med" len="med"/>
                    </a:lnL>
                    <a:lnR w="6350"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28575" cap="flat" cmpd="sng" algn="ctr">
                      <a:solidFill>
                        <a:srgbClr val="707996"/>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None/>
                      </a:pPr>
                      <a:r>
                        <a:rPr lang="en-US" sz="900" u="sng" dirty="0">
                          <a:solidFill>
                            <a:srgbClr val="000000"/>
                          </a:solidFill>
                          <a:latin typeface="+mn-lt"/>
                          <a:ea typeface="Arial"/>
                          <a:cs typeface="Arial"/>
                          <a:sym typeface="Arial"/>
                          <a:hlinkClick r:id="rId2">
                            <a:extLst>
                              <a:ext uri="{A12FA001-AC4F-418D-AE19-62706E023703}">
                                <ahyp:hlinkClr xmlns:ahyp="http://schemas.microsoft.com/office/drawing/2018/hyperlinkcolor" val="tx"/>
                              </a:ext>
                            </a:extLst>
                          </a:hlinkClick>
                        </a:rPr>
                        <a:t>Top 3 Practices for Scaling GenAI Infrastructure</a:t>
                      </a:r>
                      <a:endParaRPr lang="en-US" sz="900" dirty="0">
                        <a:solidFill>
                          <a:srgbClr val="000000"/>
                        </a:solidFill>
                        <a:latin typeface="+mn-lt"/>
                        <a:ea typeface="Arial"/>
                        <a:cs typeface="Arial"/>
                        <a:sym typeface="Arial"/>
                      </a:endParaRPr>
                    </a:p>
                    <a:p>
                      <a:pPr marL="0" marR="0" lvl="0" indent="0" algn="l" rtl="0">
                        <a:lnSpc>
                          <a:spcPct val="100000"/>
                        </a:lnSpc>
                        <a:spcBef>
                          <a:spcPts val="0"/>
                        </a:spcBef>
                        <a:spcAft>
                          <a:spcPts val="0"/>
                        </a:spcAft>
                        <a:buNone/>
                      </a:pPr>
                      <a:r>
                        <a:rPr lang="en-US" sz="900" u="sng" dirty="0">
                          <a:solidFill>
                            <a:srgbClr val="000000"/>
                          </a:solidFill>
                          <a:latin typeface="+mn-lt"/>
                          <a:ea typeface="Arial"/>
                          <a:cs typeface="Arial"/>
                          <a:sym typeface="Arial"/>
                          <a:hlinkClick r:id="rId3">
                            <a:extLst>
                              <a:ext uri="{A12FA001-AC4F-418D-AE19-62706E023703}">
                                <ahyp:hlinkClr xmlns:ahyp="http://schemas.microsoft.com/office/drawing/2018/hyperlinkcolor" val="tx"/>
                              </a:ext>
                            </a:extLst>
                          </a:hlinkClick>
                        </a:rPr>
                        <a:t>Market Guide for API and MCP Testing Tools </a:t>
                      </a:r>
                      <a:endParaRPr lang="en-US" sz="900" dirty="0">
                        <a:solidFill>
                          <a:srgbClr val="000000"/>
                        </a:solidFill>
                        <a:latin typeface="+mn-lt"/>
                        <a:ea typeface="Arial"/>
                        <a:cs typeface="Arial"/>
                        <a:sym typeface="Arial"/>
                      </a:endParaRPr>
                    </a:p>
                  </a:txBody>
                  <a:tcPr marL="91450" marR="91450" marT="45725" marB="45725" anchor="ctr">
                    <a:lnL w="6350" cap="flat" cmpd="sng" algn="ctr">
                      <a:solidFill>
                        <a:srgbClr val="707996"/>
                      </a:solidFill>
                      <a:prstDash val="solid"/>
                      <a:round/>
                      <a:headEnd type="none" w="med" len="med"/>
                      <a:tailEnd type="none" w="med" len="med"/>
                    </a:lnL>
                    <a:lnR w="28575" cap="flat" cmpd="sng" algn="ctr">
                      <a:solidFill>
                        <a:srgbClr val="707996"/>
                      </a:solidFill>
                      <a:prstDash val="solid"/>
                      <a:round/>
                      <a:headEnd type="none" w="med" len="med"/>
                      <a:tailEnd type="none" w="med" len="med"/>
                    </a:lnR>
                    <a:lnT w="6350" cap="flat" cmpd="sng" algn="ctr">
                      <a:solidFill>
                        <a:srgbClr val="707996"/>
                      </a:solidFill>
                      <a:prstDash val="solid"/>
                      <a:round/>
                      <a:headEnd type="none" w="med" len="med"/>
                      <a:tailEnd type="none" w="med" len="med"/>
                    </a:lnT>
                    <a:lnB w="28575" cap="flat" cmpd="sng" algn="ctr">
                      <a:solidFill>
                        <a:srgbClr val="707996"/>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7212124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White bkgrnd master">
  <a:themeElements>
    <a:clrScheme name="2026 Brand">
      <a:dk1>
        <a:srgbClr val="000000"/>
      </a:dk1>
      <a:lt1>
        <a:srgbClr val="FFFFFF"/>
      </a:lt1>
      <a:dk2>
        <a:srgbClr val="002869"/>
      </a:dk2>
      <a:lt2>
        <a:srgbClr val="FFFFFF"/>
      </a:lt2>
      <a:accent1>
        <a:srgbClr val="002869"/>
      </a:accent1>
      <a:accent2>
        <a:srgbClr val="0057AF"/>
      </a:accent2>
      <a:accent3>
        <a:srgbClr val="1F96FF"/>
      </a:accent3>
      <a:accent4>
        <a:srgbClr val="167ACB"/>
      </a:accent4>
      <a:accent5>
        <a:srgbClr val="4C8CD2"/>
      </a:accent5>
      <a:accent6>
        <a:srgbClr val="5A798C"/>
      </a:accent6>
      <a:hlink>
        <a:srgbClr val="006AC7"/>
      </a:hlink>
      <a:folHlink>
        <a:srgbClr val="003569"/>
      </a:folHlink>
    </a:clrScheme>
    <a:fontScheme name="Gartner Sans">
      <a:majorFont>
        <a:latin typeface="Gartner Sans Semibold"/>
        <a:ea typeface=""/>
        <a:cs typeface=""/>
      </a:majorFont>
      <a:minorFont>
        <a:latin typeface="Gartner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l">
          <a:defRPr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rgbClr val="707996"/>
          </a:solidFill>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rIns="0" rtlCol="0">
        <a:spAutoFit/>
      </a:bodyPr>
      <a:lstStyle>
        <a:defPPr algn="l">
          <a:spcBef>
            <a:spcPts val="600"/>
          </a:spcBef>
          <a:defRPr sz="2000" dirty="0" smtClean="0"/>
        </a:defPPr>
      </a:lstStyle>
    </a:txDef>
  </a:objectDefaults>
  <a:extraClrSchemeLst/>
  <a:custClrLst>
    <a:custClr name="Gartner Blue">
      <a:srgbClr val="002869"/>
    </a:custClr>
    <a:custClr name="Cobalt">
      <a:srgbClr val="0057AF"/>
    </a:custClr>
    <a:custClr name="Opal">
      <a:srgbClr val="1F96FF"/>
    </a:custClr>
    <a:custClr name="Sapphire">
      <a:srgbClr val="167ACB"/>
    </a:custClr>
    <a:custClr name="Topaz">
      <a:srgbClr val="4C8CD2"/>
    </a:custClr>
    <a:custClr name="White">
      <a:srgbClr val="FFFFFF"/>
    </a:custClr>
    <a:custClr name="Moonstone">
      <a:srgbClr val="B8DEFF"/>
    </a:custClr>
    <a:custClr name="Sunstone">
      <a:srgbClr val="E36135"/>
    </a:custClr>
    <a:custClr name="Onyx">
      <a:srgbClr val="00002D"/>
    </a:custClr>
    <a:custClr name="Error Red">
      <a:srgbClr val="DE0A01"/>
    </a:custClr>
    <a:custClr name="Granite">
      <a:srgbClr val="5A798C"/>
    </a:custClr>
    <a:custClr name="Amethyst">
      <a:srgbClr val="9673BE"/>
    </a:custClr>
    <a:custClr name="Lapis">
      <a:srgbClr val="6872B6"/>
    </a:custClr>
    <a:custClr name="Aquamarine">
      <a:srgbClr val="3C92B5"/>
    </a:custClr>
    <a:custClr name="Emerald">
      <a:srgbClr val="0A8F74"/>
    </a:custClr>
    <a:custClr name="White">
      <a:srgbClr val="FFFFFF"/>
    </a:custClr>
    <a:custClr name="Crystal">
      <a:srgbClr val="E0F1FF"/>
    </a:custClr>
    <a:custClr name="Border Gray">
      <a:srgbClr val="707996"/>
    </a:custClr>
    <a:custClr name="White">
      <a:srgbClr val="FFFFFF"/>
    </a:custClr>
    <a:custClr name="Warning Yellow">
      <a:srgbClr val="F5AB23"/>
    </a:custClr>
    <a:custClr name="Jade">
      <a:srgbClr val="589384"/>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Success Green">
      <a:srgbClr val="00A76D"/>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Link Blue">
      <a:srgbClr val="006AC7"/>
    </a:custClr>
  </a:custClrLst>
  <a:extLst>
    <a:ext uri="{05A4C25C-085E-4340-85A3-A5531E510DB2}">
      <thm15:themeFamily xmlns:thm15="http://schemas.microsoft.com/office/thememl/2012/main" name="Presentation1" id="{AEC50898-E3D9-4949-8FBE-445064EAE36B}" vid="{433C3A0C-E5F3-49C6-8FE5-EA4FAE3272EF}"/>
    </a:ext>
  </a:extLst>
</a:theme>
</file>

<file path=ppt/theme/theme2.xml><?xml version="1.0" encoding="utf-8"?>
<a:theme xmlns:a="http://schemas.openxmlformats.org/drawingml/2006/main" name="Blue bkgrnd master">
  <a:themeElements>
    <a:clrScheme name="2026 Brand">
      <a:dk1>
        <a:srgbClr val="000000"/>
      </a:dk1>
      <a:lt1>
        <a:srgbClr val="FFFFFF"/>
      </a:lt1>
      <a:dk2>
        <a:srgbClr val="002869"/>
      </a:dk2>
      <a:lt2>
        <a:srgbClr val="FFFFFF"/>
      </a:lt2>
      <a:accent1>
        <a:srgbClr val="002869"/>
      </a:accent1>
      <a:accent2>
        <a:srgbClr val="0057AF"/>
      </a:accent2>
      <a:accent3>
        <a:srgbClr val="1F96FF"/>
      </a:accent3>
      <a:accent4>
        <a:srgbClr val="167ACB"/>
      </a:accent4>
      <a:accent5>
        <a:srgbClr val="4C8CD2"/>
      </a:accent5>
      <a:accent6>
        <a:srgbClr val="5A798C"/>
      </a:accent6>
      <a:hlink>
        <a:srgbClr val="006AC7"/>
      </a:hlink>
      <a:folHlink>
        <a:srgbClr val="003569"/>
      </a:folHlink>
    </a:clrScheme>
    <a:fontScheme name="Gartner Sans">
      <a:majorFont>
        <a:latin typeface="Gartner Sans Semibold"/>
        <a:ea typeface=""/>
        <a:cs typeface=""/>
      </a:majorFont>
      <a:minorFont>
        <a:latin typeface="Gartner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l">
          <a:defRPr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noFill/>
        <a:ln w="19050" cap="flat" cmpd="sng">
          <a:solidFill>
            <a:srgbClr val="1F96FF"/>
          </a:solidFill>
          <a:prstDash val="solid"/>
          <a:round/>
          <a:headEnd type="none" w="lg" len="med"/>
          <a:tailEnd type="none" w="lg" len="med"/>
        </a:ln>
      </a:spPr>
      <a:bodyPr/>
      <a:lstStyle/>
    </a:lnDef>
    <a:txDef>
      <a:spPr>
        <a:noFill/>
      </a:spPr>
      <a:bodyPr wrap="none" lIns="0" rIns="0" rtlCol="0">
        <a:spAutoFit/>
      </a:bodyPr>
      <a:lstStyle>
        <a:defPPr algn="l">
          <a:spcBef>
            <a:spcPts val="600"/>
          </a:spcBef>
          <a:defRPr dirty="0" smtClean="0"/>
        </a:defPPr>
      </a:lstStyle>
    </a:txDef>
  </a:objectDefaults>
  <a:extraClrSchemeLst/>
  <a:custClrLst>
    <a:custClr name="Gartner Blue">
      <a:srgbClr val="002869"/>
    </a:custClr>
    <a:custClr name="Cobalt">
      <a:srgbClr val="0057AF"/>
    </a:custClr>
    <a:custClr name="Opal">
      <a:srgbClr val="1F96FF"/>
    </a:custClr>
    <a:custClr name="Sapphire">
      <a:srgbClr val="167ACB"/>
    </a:custClr>
    <a:custClr name="Topaz">
      <a:srgbClr val="4C8CD2"/>
    </a:custClr>
    <a:custClr name="White">
      <a:srgbClr val="FFFFFF"/>
    </a:custClr>
    <a:custClr name="Moonstone">
      <a:srgbClr val="B8DEFF"/>
    </a:custClr>
    <a:custClr name="Sunstone">
      <a:srgbClr val="E36135"/>
    </a:custClr>
    <a:custClr name="Onyx">
      <a:srgbClr val="00002D"/>
    </a:custClr>
    <a:custClr name="Error Red">
      <a:srgbClr val="DE0A01"/>
    </a:custClr>
    <a:custClr name="Granite">
      <a:srgbClr val="5A798C"/>
    </a:custClr>
    <a:custClr name="Amethyst">
      <a:srgbClr val="9673BE"/>
    </a:custClr>
    <a:custClr name="Lapis">
      <a:srgbClr val="6872B6"/>
    </a:custClr>
    <a:custClr name="Aquamarine">
      <a:srgbClr val="3C92B5"/>
    </a:custClr>
    <a:custClr name="Emerald">
      <a:srgbClr val="0A8F74"/>
    </a:custClr>
    <a:custClr name="White">
      <a:srgbClr val="FFFFFF"/>
    </a:custClr>
    <a:custClr name="Crystal">
      <a:srgbClr val="E0F1FF"/>
    </a:custClr>
    <a:custClr name="Border Gray">
      <a:srgbClr val="707996"/>
    </a:custClr>
    <a:custClr name="White">
      <a:srgbClr val="FFFFFF"/>
    </a:custClr>
    <a:custClr name="Warning Yellow">
      <a:srgbClr val="F5AB23"/>
    </a:custClr>
    <a:custClr name="Jade">
      <a:srgbClr val="589384"/>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Success Green">
      <a:srgbClr val="00A76D"/>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Link Blue">
      <a:srgbClr val="006AC7"/>
    </a:custClr>
  </a:custClrLst>
  <a:extLst>
    <a:ext uri="{05A4C25C-085E-4340-85A3-A5531E510DB2}">
      <thm15:themeFamily xmlns:thm15="http://schemas.microsoft.com/office/thememl/2012/main" name="Presentation1" id="{AEC50898-E3D9-4949-8FBE-445064EAE36B}" vid="{4198240C-8A10-4D26-B418-EE7C2F363812}"/>
    </a:ext>
  </a:extLst>
</a:theme>
</file>

<file path=ppt/theme/theme3.xml><?xml version="1.0" encoding="utf-8"?>
<a:theme xmlns:a="http://schemas.openxmlformats.org/drawingml/2006/main" name="Crystal bkgrnd master">
  <a:themeElements>
    <a:clrScheme name="2026 Brand">
      <a:dk1>
        <a:srgbClr val="000000"/>
      </a:dk1>
      <a:lt1>
        <a:srgbClr val="FFFFFF"/>
      </a:lt1>
      <a:dk2>
        <a:srgbClr val="002869"/>
      </a:dk2>
      <a:lt2>
        <a:srgbClr val="FFFFFF"/>
      </a:lt2>
      <a:accent1>
        <a:srgbClr val="002869"/>
      </a:accent1>
      <a:accent2>
        <a:srgbClr val="0057AF"/>
      </a:accent2>
      <a:accent3>
        <a:srgbClr val="1F96FF"/>
      </a:accent3>
      <a:accent4>
        <a:srgbClr val="167ACB"/>
      </a:accent4>
      <a:accent5>
        <a:srgbClr val="4C8CD2"/>
      </a:accent5>
      <a:accent6>
        <a:srgbClr val="5A798C"/>
      </a:accent6>
      <a:hlink>
        <a:srgbClr val="006AC7"/>
      </a:hlink>
      <a:folHlink>
        <a:srgbClr val="003569"/>
      </a:folHlink>
    </a:clrScheme>
    <a:fontScheme name="Gartner Sans">
      <a:majorFont>
        <a:latin typeface="Gartner Sans Semibold"/>
        <a:ea typeface=""/>
        <a:cs typeface=""/>
      </a:majorFont>
      <a:minorFont>
        <a:latin typeface="Gartner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l">
          <a:defRPr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noFill/>
        <a:ln w="19050" cap="flat" cmpd="sng">
          <a:solidFill>
            <a:srgbClr val="707996"/>
          </a:solidFill>
          <a:prstDash val="solid"/>
          <a:round/>
          <a:headEnd type="none" w="lg" len="med"/>
          <a:tailEnd type="none" w="lg" len="med"/>
        </a:ln>
      </a:spPr>
      <a:bodyPr/>
      <a:lstStyle/>
    </a:lnDef>
    <a:txDef>
      <a:spPr>
        <a:noFill/>
      </a:spPr>
      <a:bodyPr wrap="none" lIns="0" rIns="0" rtlCol="0">
        <a:spAutoFit/>
      </a:bodyPr>
      <a:lstStyle>
        <a:defPPr algn="l">
          <a:spcBef>
            <a:spcPts val="600"/>
          </a:spcBef>
          <a:defRPr dirty="0" smtClean="0"/>
        </a:defPPr>
      </a:lstStyle>
    </a:txDef>
  </a:objectDefaults>
  <a:extraClrSchemeLst/>
  <a:custClrLst>
    <a:custClr name="Gartner Blue">
      <a:srgbClr val="002869"/>
    </a:custClr>
    <a:custClr name="Cobalt">
      <a:srgbClr val="0057AF"/>
    </a:custClr>
    <a:custClr name="Opal">
      <a:srgbClr val="1F96FF"/>
    </a:custClr>
    <a:custClr name="Sapphire">
      <a:srgbClr val="167ACB"/>
    </a:custClr>
    <a:custClr name="Topaz">
      <a:srgbClr val="4C8CD2"/>
    </a:custClr>
    <a:custClr name="White">
      <a:srgbClr val="FFFFFF"/>
    </a:custClr>
    <a:custClr name="Moonstone">
      <a:srgbClr val="B8DEFF"/>
    </a:custClr>
    <a:custClr name="Sunstone">
      <a:srgbClr val="E36135"/>
    </a:custClr>
    <a:custClr name="Onyx">
      <a:srgbClr val="00002D"/>
    </a:custClr>
    <a:custClr name="Error Red">
      <a:srgbClr val="DE0A01"/>
    </a:custClr>
    <a:custClr name="Granite">
      <a:srgbClr val="5A798C"/>
    </a:custClr>
    <a:custClr name="Amethyst">
      <a:srgbClr val="9673BE"/>
    </a:custClr>
    <a:custClr name="Lapis">
      <a:srgbClr val="6872B6"/>
    </a:custClr>
    <a:custClr name="Aquamarine">
      <a:srgbClr val="3C92B5"/>
    </a:custClr>
    <a:custClr name="Emerald">
      <a:srgbClr val="0A8F74"/>
    </a:custClr>
    <a:custClr name="White">
      <a:srgbClr val="FFFFFF"/>
    </a:custClr>
    <a:custClr name="Crystal">
      <a:srgbClr val="E0F1FF"/>
    </a:custClr>
    <a:custClr name="Border Gray">
      <a:srgbClr val="707996"/>
    </a:custClr>
    <a:custClr name="White">
      <a:srgbClr val="FFFFFF"/>
    </a:custClr>
    <a:custClr name="Warning Yellow">
      <a:srgbClr val="F5AB23"/>
    </a:custClr>
    <a:custClr name="Jade">
      <a:srgbClr val="589384"/>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Success Green">
      <a:srgbClr val="00A76D"/>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Link Blue">
      <a:srgbClr val="006AC7"/>
    </a:custClr>
  </a:custClrLst>
  <a:extLst>
    <a:ext uri="{05A4C25C-085E-4340-85A3-A5531E510DB2}">
      <thm15:themeFamily xmlns:thm15="http://schemas.microsoft.com/office/thememl/2012/main" name="Presentation1" id="{AEC50898-E3D9-4949-8FBE-445064EAE36B}" vid="{D8F2B47A-9B41-4434-9B73-5A44EB567CAA}"/>
    </a:ext>
  </a:extLst>
</a:theme>
</file>

<file path=ppt/theme/theme4.xml><?xml version="1.0" encoding="utf-8"?>
<a:theme xmlns:a="http://schemas.openxmlformats.org/drawingml/2006/main" name="Office Theme">
  <a:themeElements>
    <a:clrScheme name="2026 Brand">
      <a:dk1>
        <a:srgbClr val="000000"/>
      </a:dk1>
      <a:lt1>
        <a:srgbClr val="FFFFFF"/>
      </a:lt1>
      <a:dk2>
        <a:srgbClr val="002869"/>
      </a:dk2>
      <a:lt2>
        <a:srgbClr val="FFFFFF"/>
      </a:lt2>
      <a:accent1>
        <a:srgbClr val="002869"/>
      </a:accent1>
      <a:accent2>
        <a:srgbClr val="0057AF"/>
      </a:accent2>
      <a:accent3>
        <a:srgbClr val="1F96FF"/>
      </a:accent3>
      <a:accent4>
        <a:srgbClr val="167ACB"/>
      </a:accent4>
      <a:accent5>
        <a:srgbClr val="4C8CD2"/>
      </a:accent5>
      <a:accent6>
        <a:srgbClr val="5A798C"/>
      </a:accent6>
      <a:hlink>
        <a:srgbClr val="006AC7"/>
      </a:hlink>
      <a:folHlink>
        <a:srgbClr val="003569"/>
      </a:folHlink>
    </a:clrScheme>
    <a:fontScheme name="Gartner Sans">
      <a:majorFont>
        <a:latin typeface="Gartner Sans Semibold"/>
        <a:ea typeface=""/>
        <a:cs typeface=""/>
      </a:majorFont>
      <a:minorFont>
        <a:latin typeface="Gartner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2026 Brand">
      <a:dk1>
        <a:srgbClr val="000000"/>
      </a:dk1>
      <a:lt1>
        <a:srgbClr val="FFFFFF"/>
      </a:lt1>
      <a:dk2>
        <a:srgbClr val="002869"/>
      </a:dk2>
      <a:lt2>
        <a:srgbClr val="FFFFFF"/>
      </a:lt2>
      <a:accent1>
        <a:srgbClr val="002869"/>
      </a:accent1>
      <a:accent2>
        <a:srgbClr val="0057AF"/>
      </a:accent2>
      <a:accent3>
        <a:srgbClr val="1F96FF"/>
      </a:accent3>
      <a:accent4>
        <a:srgbClr val="167ACB"/>
      </a:accent4>
      <a:accent5>
        <a:srgbClr val="4C8CD2"/>
      </a:accent5>
      <a:accent6>
        <a:srgbClr val="5A798C"/>
      </a:accent6>
      <a:hlink>
        <a:srgbClr val="006AC7"/>
      </a:hlink>
      <a:folHlink>
        <a:srgbClr val="003569"/>
      </a:folHlink>
    </a:clrScheme>
    <a:fontScheme name="Gartner Sans">
      <a:majorFont>
        <a:latin typeface="Gartner Sans Semibold"/>
        <a:ea typeface=""/>
        <a:cs typeface=""/>
      </a:majorFont>
      <a:minorFont>
        <a:latin typeface="Gartner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1EA3FEACD19E6439244E363F135C194" ma:contentTypeVersion="12" ma:contentTypeDescription="Create a new document." ma:contentTypeScope="" ma:versionID="984db70c91bc1ce350d458cdbf144cff">
  <xsd:schema xmlns:xsd="http://www.w3.org/2001/XMLSchema" xmlns:xs="http://www.w3.org/2001/XMLSchema" xmlns:p="http://schemas.microsoft.com/office/2006/metadata/properties" xmlns:ns2="e8db9336-2e0a-439c-92aa-d25193e77693" xmlns:ns3="46ff2192-0632-4167-b1a0-ac835fd9053a" targetNamespace="http://schemas.microsoft.com/office/2006/metadata/properties" ma:root="true" ma:fieldsID="ba3081cdf05a781212d04efb0a14c994" ns2:_="" ns3:_="">
    <xsd:import namespace="e8db9336-2e0a-439c-92aa-d25193e77693"/>
    <xsd:import namespace="46ff2192-0632-4167-b1a0-ac835fd9053a"/>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SearchProperties" minOccurs="0"/>
                <xsd:element ref="ns3:MediaServiceDateTaken" minOccurs="0"/>
                <xsd:element ref="ns3:MediaServiceGenerationTime" minOccurs="0"/>
                <xsd:element ref="ns3:MediaServiceEventHashCode" minOccurs="0"/>
                <xsd:element ref="ns3:lcf76f155ced4ddcb4097134ff3c332f" minOccurs="0"/>
                <xsd:element ref="ns2:TaxCatchAll" minOccurs="0"/>
                <xsd:element ref="ns3:MediaServiceOCR" minOccurs="0"/>
                <xsd:element ref="ns3:MediaLengthInSecond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db9336-2e0a-439c-92aa-d25193e77693"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TaxCatchAll" ma:index="19" nillable="true" ma:displayName="Taxonomy Catch All Column" ma:hidden="true" ma:list="{32c8e763-947f-4803-ba9d-cbc104102e97}" ma:internalName="TaxCatchAll" ma:showField="CatchAllData" ma:web="e8db9336-2e0a-439c-92aa-d25193e7769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6ff2192-0632-4167-b1a0-ac835fd9053a"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8af5e99b-f45a-473e-9035-af188538fb08"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LengthInSeconds" ma:index="21" nillable="true" ma:displayName="MediaLengthInSeconds" ma:hidden="true" ma:internalName="MediaLengthInSeconds" ma:readOnly="true">
      <xsd:simpleType>
        <xsd:restriction base="dms:Unknown"/>
      </xsd:simpleType>
    </xsd:element>
    <xsd:element name="MediaServiceLocation" ma:index="22"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46ff2192-0632-4167-b1a0-ac835fd9053a">
      <Terms xmlns="http://schemas.microsoft.com/office/infopath/2007/PartnerControls"/>
    </lcf76f155ced4ddcb4097134ff3c332f>
    <TaxCatchAll xmlns="e8db9336-2e0a-439c-92aa-d25193e77693" xsi:nil="true"/>
    <_dlc_DocIdPersistId xmlns="e8db9336-2e0a-439c-92aa-d25193e77693">false</_dlc_DocIdPersistId>
    <_dlc_DocId xmlns="e8db9336-2e0a-439c-92aa-d25193e77693">C5KERXYYQTZJ-1016146396-10206</_dlc_DocId>
    <_dlc_DocIdUrl xmlns="e8db9336-2e0a-439c-92aa-d25193e77693">
      <Url>https://gartner365.sharepoint.com/sites/Launchpad/_layouts/15/DocIdRedir.aspx?ID=C5KERXYYQTZJ-1016146396-10206</Url>
      <Description>C5KERXYYQTZJ-1016146396-10206</Description>
    </_dlc_DocIdUrl>
  </documentManagement>
</p:properties>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DD58161F-F219-4A24-851A-E0789092BA88}">
  <ds:schemaRefs>
    <ds:schemaRef ds:uri="http://schemas.microsoft.com/sharepoint/v3/contenttype/forms"/>
  </ds:schemaRefs>
</ds:datastoreItem>
</file>

<file path=customXml/itemProps2.xml><?xml version="1.0" encoding="utf-8"?>
<ds:datastoreItem xmlns:ds="http://schemas.openxmlformats.org/officeDocument/2006/customXml" ds:itemID="{D42FCC91-8265-4995-A8EA-98CD064DB059}">
  <ds:schemaRefs>
    <ds:schemaRef ds:uri="46ff2192-0632-4167-b1a0-ac835fd9053a"/>
    <ds:schemaRef ds:uri="e8db9336-2e0a-439c-92aa-d25193e7769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49EAD55-449F-4D7E-ADE7-D5D587B8A89C}">
  <ds:schemaRefs>
    <ds:schemaRef ds:uri="46ff2192-0632-4167-b1a0-ac835fd9053a"/>
    <ds:schemaRef ds:uri="http://schemas.openxmlformats.org/package/2006/metadata/core-properties"/>
    <ds:schemaRef ds:uri="e8db9336-2e0a-439c-92aa-d25193e77693"/>
    <ds:schemaRef ds:uri="http://schemas.microsoft.com/office/2006/metadata/properties"/>
    <ds:schemaRef ds:uri="http://purl.org/dc/elements/1.1/"/>
    <ds:schemaRef ds:uri="http://schemas.microsoft.com/office/2006/documentManagement/types"/>
    <ds:schemaRef ds:uri="http://purl.org/dc/terms/"/>
    <ds:schemaRef ds:uri="http://schemas.microsoft.com/office/infopath/2007/PartnerControls"/>
    <ds:schemaRef ds:uri="http://www.w3.org/XML/1998/namespace"/>
    <ds:schemaRef ds:uri="http://purl.org/dc/dcmitype/"/>
  </ds:schemaRefs>
</ds:datastoreItem>
</file>

<file path=customXml/itemProps4.xml><?xml version="1.0" encoding="utf-8"?>
<ds:datastoreItem xmlns:ds="http://schemas.openxmlformats.org/officeDocument/2006/customXml" ds:itemID="{C7B1B2A6-5775-49D5-84BB-6A91F2EC879A}">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emplate>White bkgrnd master</Template>
  <TotalTime>133</TotalTime>
  <Words>7428</Words>
  <Application>Microsoft Office PowerPoint</Application>
  <PresentationFormat>Widescreen</PresentationFormat>
  <Paragraphs>550</Paragraphs>
  <Slides>23</Slides>
  <Notes>2</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23</vt:i4>
      </vt:variant>
    </vt:vector>
  </HeadingPairs>
  <TitlesOfParts>
    <vt:vector size="29" baseType="lpstr">
      <vt:lpstr>Gartner Sans Semibold</vt:lpstr>
      <vt:lpstr>Gartner Sans</vt:lpstr>
      <vt:lpstr>Arial</vt:lpstr>
      <vt:lpstr>White bkgrnd master</vt:lpstr>
      <vt:lpstr>Blue bkgrnd master</vt:lpstr>
      <vt:lpstr>Crystal bkgrnd master</vt:lpstr>
      <vt:lpstr>Tool: AI Roadmap for HR</vt:lpstr>
      <vt:lpstr>How to Use This Tool</vt:lpstr>
      <vt:lpstr>AI Roadmap for the HR Function at a Glance</vt:lpstr>
      <vt:lpstr>AI Strategy for the HR Function Illustrative Roadmap</vt:lpstr>
      <vt:lpstr>AI Value for the HR Function Roadmap Activities</vt:lpstr>
      <vt:lpstr>AI Impact on Work in the HR Function Roadmap Activities</vt:lpstr>
      <vt:lpstr>AI People and Culture for the HR Function Roadmap Activities</vt:lpstr>
      <vt:lpstr>AI Governance for the HR Function Roadmap Activities</vt:lpstr>
      <vt:lpstr>AI Data and Systems for the HR Function Roadmap Activities</vt:lpstr>
      <vt:lpstr>Appendix: Detailed Task Descriptions</vt:lpstr>
      <vt:lpstr>AI Strategy for HR Function: Detailed Activities</vt:lpstr>
      <vt:lpstr>AI Value for HR Function: Detailed Activities</vt:lpstr>
      <vt:lpstr>AI Impact on Work for HR Function: Detailed Activities (1 of 2)</vt:lpstr>
      <vt:lpstr>AI Impact on Work for HR Function: Detailed Activities (2 of 2)</vt:lpstr>
      <vt:lpstr>AI People and Culture for HR Function: Detailed Activities (1 of 2)</vt:lpstr>
      <vt:lpstr>AI People and Culture for HR Function: Detailed Activities (2 of 2)</vt:lpstr>
      <vt:lpstr>AI Governance for HR Function: Detailed Activities (1 of 3) </vt:lpstr>
      <vt:lpstr>AI Governance for HR Function: Detailed Activities (2 of 3)</vt:lpstr>
      <vt:lpstr>AI Governance for HR Function: Detailed Activities (3 of 3)</vt:lpstr>
      <vt:lpstr>AI Data and Systems for HR Function: Detailed Activities (1 of 4)</vt:lpstr>
      <vt:lpstr>AI Data and Systems for HR Function: Detailed Activities (2 of 4)</vt:lpstr>
      <vt:lpstr>AI Data and Systems for HR Function: Detailed Activities (3 of 4)</vt:lpstr>
      <vt:lpstr>AI Data and Systems for HR Function: Detailed Activities (4 of 4)</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Preeti Yadav</dc:creator>
  <cp:keywords/>
  <dc:description/>
  <cp:lastModifiedBy>Neha Patel</cp:lastModifiedBy>
  <cp:revision>8</cp:revision>
  <dcterms:created xsi:type="dcterms:W3CDTF">2026-04-08T08:09:28Z</dcterms:created>
  <dcterms:modified xsi:type="dcterms:W3CDTF">2026-04-20T17:13:14Z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0x01010001EA3FEACD19E6439244E363F135C194</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dlc_DocIdItemGuid">
    <vt:lpwstr>5c2c6001-a1f4-41e1-bc90-f61ff632aeba</vt:lpwstr>
  </property>
  <property fmtid="{D5CDD505-2E9C-101B-9397-08002B2CF9AE}" pid="8" name="_ExtendedDescription">
    <vt:lpwstr/>
  </property>
  <property fmtid="{D5CDD505-2E9C-101B-9397-08002B2CF9AE}" pid="9" name="TriggerFlowInfo">
    <vt:lpwstr/>
  </property>
  <property fmtid="{D5CDD505-2E9C-101B-9397-08002B2CF9AE}" pid="10" name="xd_Signature">
    <vt:bool>false</vt:bool>
  </property>
  <property fmtid="{D5CDD505-2E9C-101B-9397-08002B2CF9AE}" pid="11" name="_dlc_DocIdPersistId">
    <vt:bool>false</vt:bool>
  </property>
</Properties>
</file>